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to Demo Day. Doors are open, the gallery is on the second screen, and check-in is at the door. Please find the photo-choice sheet and tell a lead what you are comfortable with: photos, recordings, neither. While people settle in, I am going to leave this slide up. Presenters: if you have not told a lead your slot yet, do it now, and open your recorded backup in a spare tab. Everything tonight runs on devnet or recorded data: no real funds, no seed phrases on any screen.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Ten weeks ago this program started with a question: could a group of students build real agentic trading projects on Solana in one semester? Tonight you answer it. There were three lanes. Agent: a trading agent or strategy with honest validation. Exchange: a venue part, such as an order book, matching, or a deposit and custody flow. Tooling: anything that helps the trading process, like data collection, a backtester, a monitor, a risk guard or a dashboard. Whatever your lane, tonight is the same test: show it working, show how you know, and tell us what is still weak.</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[18:12] Here is the shape of the evening. We are in the welcome now. At 18:20 the demos start: three minutes to show, two for questions, up to seven slots, back to back until 18:55. Then the peer gallery until 19:10, where you try each other's work. Then feedback, then community build time, then a short retrospective. If you are here to watch, you are in the right place: every project has a gallery card you can open on your own laptop. Food is only provided if the budget is approved, so do not count on it.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on the second screen, 18:13 if you want to talk through it] This is the project gallery. It is built from one file, projects.json. Each card shows the lane, the team, the repo and demo links, test results and devnet evidence. Use the lane buttons to filter. The three cards you see in the template are labelled EXAMPLE: they are not real projects, they show what a good entry looks like. On the day the leads replace them with the real file. Try it yourself at the link on the slide, and switch Live on to see the real Solana slot move and to have your browser check a transaction signature on devnet, read only. If Live is slow, stay on Recorded: it is the same page with captured data. Test counts on the cards are what each team reports; the judges re-run them.</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[18:14] Four rules. One: devnet only. Everything you run tonight is devnet or recorded data, and no seed phrase or key should be on a screen. Two: the timer decides. Three minutes to demo, two for questions, and when it ends I will thank you and we move on, so the next team gets their full time. Three: ask for evidence. The best questions start with which command, which test, where can I see it. Four: photos by choice. You told a lead at the door, and we will respect it. Questions about the rules? Good. Presenters, this is the last time I talk for a while.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[18:15] The clock. You start at 0:00 and your first sentence says what it does. At 2:30 I give you a signal, so there are no surprises, and at 3:00 the demo ends and questions start. At 5:00 the slot ends and the next presenter is already at the laptop. There is no changeover buffer, because seven slots fit exactly between 18:20 and 18:55, so please hand over the laptop quickly. Keep your recorded backup open in another tab: if the network or the demo fails, switch to it and keep talking. A calm switch to the backup is a good demo.</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[18:16] A structure you can borrow. Problem, in one sentence: what hurt. Failed attempt: what did not work, and show it if you can. Useful change: what you changed and what it does now. Test: the exact command and its result. Limitation: what is still weak. The times on the slide are a suggestion: about 30 seconds, 30 seconds, a minute, 40 seconds, 20 seconds. A clear negative result is valuable. If your agent failed on stale prices and you caught it, that is a good story, tell it. We do not score returns, so you do not need a profit chart.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[18:17, then stays on screen] This slide is a placeholder for the order. The seven slot times are real: 18:20, 18:25, 18:30, 18:35, 18:40, 18:45 and 18:50, each with 3 minutes to demo and 2 for questions. The leads fill in the project and team for each slot from the final list before the doors open, and read it out. If there are more than seven projects, the extra ones take a lightning slot or go to the peer gallery. The run-of-show timer on the second display uses these same slots: Space starts and pauses it. The link is on the slide, and the timer has a Live switch that shows the real Solana slot; that strip is not part of the timer.</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[18:18] This is the published review criteria. Five things, 100 points. Utility, 30: would someone else use this or learn from it. Reproducible tests, 25: can a stranger run the tests from a clean clone and get the same result. Devnet evidence, 25: is there a devnet transaction or program anyone can check. Clear explanation, 10: was the story clear. Sustained contribution, 10: did the work grow over the semester, with commits from the whole team. The weights are a proposal that the leads confirm before tonight. And the line at the bottom: simulated returns, profit claims and backtest return charts are never scored. We are not announcing prizes or funding tonight; if that changes, the leads will say so.</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[18:19] What counts as devnet evidence. A signature on a slide is a claim. A signature that devnet confirms is evidence. So: show the transaction signature in your README or on screen; we ask devnet, which is a read-only call that sends nothing; and we read the answer, a status such as finalized and a slot, or not found. The sample on this slide is a real check we made on 22 October 2026 on a devnet transaction that does not belong to any student. One caution: devnet keeps recent history only, so a very old signature can come back not found. Freeze a transaction you can still show on the day, and note it in your demo pack.</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18:20, for the judges] This is the scorecard the judges use. Pick a project, and five sliders from 0 to 4 give a total out of 100. Tests and devnet start from the evidence on the card; the judge sets the rest. Watch the bottom right: there is a toggle for a team showing a returns chart, and when you press it the total does not move, because returns are not scored. Practice scores stay in this browser tab. The scorecard also names the weakest criterion with a question to ask: that is the feedback, not a ranking. Live mode shows the Solana slot and re-checks the signature on devnet. If it is slow, Recorded is identical.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[18:55] Demos are done, thank you all. Now the peer gallery until 19:10. Everyone: open a project that is not yours from the gallery, follow its README, run its demo or its tests, and leave one question that evidence can answer. Three examples on the slide: which command did you run and what did you see; where is the test for the failure case; can I check that transaction on devnet. The goal is that everyone reproduces at least one thing before 19:10. If many laptops hit the same public endpoint at once it can rate limit, so use the recorded data first and go live one at a time.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[19:10] The rest of the evening is voluntary. At 19:10, feedback and next steps: tell us what you would use or contribute to, and what you would test before relying on it. At 19:20, community build time: reproduce a demo, open an issue on a project, or agree a small next experiment with the team. At 19:45, a short retrospective: what changed after a failed attempt, and who wants to keep building. If anyone is interested in helping mentor the next cohort, tell a lead. Any mention of referrals, guests or opportunities after tonight: only say what the leads have confirmed with the Solana Foundation. Nothing else.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[19:20, community build time] A practical tool for the build time. It reads a project folder and tells you if a stranger can clone it, run it and trust it. Eleven checks, seven required: a run command in the README, a test command, test files, no keys or secrets, no transaction sent on mainnet, a devnet signature or link written down, and a recorded backup. The demo runs it on two example repos: one ready, one with gaps. Click any row to ask what if. Run it on your own repo with the command on the slide, fix every required gap, and rerun. It only reads files and never runs your code. It is a set of heuristics, so it can miss things.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[19:45] Everything you saw tonight is public: the gallery, the scorecard, the timer and the ship-readiness check. Scan the code or open the link on your laptop. No install. The same files are in the repo and open from disk. Each one has a Live switch that reads real Solana data from your own browser, read only, and falls back to recorded data if an endpoint is slow.</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[19:46] After tonight, in your own time. Beginner: run a peer's project from its README and write down every step that failed. Standard: open an issue on that repo with the command, the output and what you expected. Advanced: add a test or a fix for it, or run the ship-readiness check on your own repo and close every required gap. The point of the semester was a project a stranger can use. Reproducing someone else's work is the quickest way to learn what makes that possible.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[19:48] Three things. Tonight, before you leave: leave one evidence-based question for a peer, on the card or in the group chat. This week: send your repo link and demo pack to the leads, they need it for the 48-hour report. Any time: keep your repo public and tell the group when you ship a fix. The shared GitHub organisation and the group chat stay open after tonight.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[19:50] The code behind the tools is in the public repo, in the folder on the slide. Two commands from the demo slash code folder: npm install, then npm run demo with the recorded flag. You get a validator for projects.json, the gallery, the schedule and the ship-readiness check. Node 24, no keys, no AI credits, recorded data bundled. Reads use public mainnet data, and every write is devnet only, with no real funds. Scan the code to open the folder.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[19:52] If you want to keep in touch, scan the QR codes. LinkedIn on the left, Telegram on the right: linkedin.com/in/travisim and t.me/travisim. For program questions, Aaron Solanki is the Solana University contact on Telegram. Thank you for ten weeks of work.</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[19:55] Thank you, everyone. That is Demo Day. Leave this slide up while people leave and the leads collect repo links, photos and the last check-in scan.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6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69.pn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72.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Demo Day"/>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Demo Day</a:t>
            </a:r>
          </a:p>
        </p:txBody>
      </p:sp>
      <p:sp>
        <p:nvSpPr>
          <p:cNvPr id="4" name="text:Student projects, shown with evidenc"/>
          <p:cNvSpPr txBox="1"/>
          <p:nvPr/>
        </p:nvSpPr>
        <p:spPr>
          <a:xfrm>
            <a:off x="5257800" y="1417320"/>
            <a:ext cx="3566160" cy="109728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Student projects,</a:t>
            </a:r>
          </a:p>
          <a:p>
            <a:pPr>
              <a:lnSpc>
                <a:spcPct val="106000"/>
              </a:lnSpc>
              <a:spcAft>
                <a:spcPts val="400"/>
              </a:spcAft>
              <a:defRPr sz="2200" b="0">
                <a:solidFill>
                  <a:srgbClr val="F2F5F8"/>
                </a:solidFill>
                <a:latin typeface="Helvetica Neue"/>
              </a:defRPr>
            </a:pPr>
            <a:r>
              <a:t>shown with evidence</a:t>
            </a:r>
          </a:p>
        </p:txBody>
      </p:sp>
      <p:sp>
        <p:nvSpPr>
          <p:cNvPr id="5" name="text:Agent, exchange and tooling projects"/>
          <p:cNvSpPr txBox="1"/>
          <p:nvPr/>
        </p:nvSpPr>
        <p:spPr>
          <a:xfrm>
            <a:off x="5257800" y="2514600"/>
            <a:ext cx="3383280" cy="82296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Agent, exchange and tooling projects, shown with tests and devnet evidence.</a:t>
            </a:r>
          </a:p>
        </p:txBody>
      </p:sp>
      <p:sp>
        <p:nvSpPr>
          <p:cNvPr id="6" name="text:Hosted by 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Hosted by 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18 Feb 2027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18 Feb 2027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en weeks, three lan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Ten weeks, three lanes</a:t>
            </a:r>
          </a:p>
        </p:txBody>
      </p:sp>
      <p:sp>
        <p:nvSpPr>
          <p:cNvPr id="3" name="text:Tonight every project shows evidenc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Tonight every project shows evidence, not just a pitch.</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691640"/>
            <a:ext cx="2560320" cy="2286000"/>
          </a:xfrm>
          <a:prstGeom prst="roundRect">
            <a:avLst>
              <a:gd name="adj" fmla="val 560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92807"/>
            <a:ext cx="100584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AGENT"/>
          <p:cNvSpPr txBox="1"/>
          <p:nvPr/>
        </p:nvSpPr>
        <p:spPr>
          <a:xfrm>
            <a:off x="749808" y="1911095"/>
            <a:ext cx="100584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AGENT</a:t>
            </a:r>
          </a:p>
        </p:txBody>
      </p:sp>
      <p:sp>
        <p:nvSpPr>
          <p:cNvPr id="8" name="text:A trading agent or strategy with hon"/>
          <p:cNvSpPr txBox="1"/>
          <p:nvPr/>
        </p:nvSpPr>
        <p:spPr>
          <a:xfrm>
            <a:off x="749808" y="2377440"/>
            <a:ext cx="2194560" cy="137160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trading agent or strategy with honest validation.</a:t>
            </a:r>
          </a:p>
        </p:txBody>
      </p:sp>
      <p:sp>
        <p:nvSpPr>
          <p:cNvPr id="9" name="text:LANE 1 OF 3"/>
          <p:cNvSpPr txBox="1"/>
          <p:nvPr/>
        </p:nvSpPr>
        <p:spPr>
          <a:xfrm>
            <a:off x="749808" y="3657600"/>
            <a:ext cx="201168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LANE 1 OF 3</a:t>
            </a:r>
          </a:p>
        </p:txBody>
      </p:sp>
      <p:sp>
        <p:nvSpPr>
          <p:cNvPr id="10" name="Rounded Rectangle 9"/>
          <p:cNvSpPr/>
          <p:nvPr/>
        </p:nvSpPr>
        <p:spPr>
          <a:xfrm>
            <a:off x="3337560" y="1691640"/>
            <a:ext cx="2560320" cy="2286000"/>
          </a:xfrm>
          <a:prstGeom prst="roundRect">
            <a:avLst>
              <a:gd name="adj" fmla="val 5600"/>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38728" y="1892807"/>
            <a:ext cx="100584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EXCHANGE"/>
          <p:cNvSpPr txBox="1"/>
          <p:nvPr/>
        </p:nvSpPr>
        <p:spPr>
          <a:xfrm>
            <a:off x="3538728" y="1911095"/>
            <a:ext cx="100584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EXCHANGE</a:t>
            </a:r>
          </a:p>
        </p:txBody>
      </p:sp>
      <p:sp>
        <p:nvSpPr>
          <p:cNvPr id="13" name="text:A venue part: order book, matching, "/>
          <p:cNvSpPr txBox="1"/>
          <p:nvPr/>
        </p:nvSpPr>
        <p:spPr>
          <a:xfrm>
            <a:off x="3538728" y="2377440"/>
            <a:ext cx="2194560" cy="137160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venue part: order book, matching, deposit or custody flow.</a:t>
            </a:r>
          </a:p>
        </p:txBody>
      </p:sp>
      <p:sp>
        <p:nvSpPr>
          <p:cNvPr id="14" name="text:LANE 2 OF 3"/>
          <p:cNvSpPr txBox="1"/>
          <p:nvPr/>
        </p:nvSpPr>
        <p:spPr>
          <a:xfrm>
            <a:off x="3538728" y="3657600"/>
            <a:ext cx="201168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LANE 2 OF 3</a:t>
            </a:r>
          </a:p>
        </p:txBody>
      </p:sp>
      <p:sp>
        <p:nvSpPr>
          <p:cNvPr id="15" name="Rounded Rectangle 14"/>
          <p:cNvSpPr/>
          <p:nvPr/>
        </p:nvSpPr>
        <p:spPr>
          <a:xfrm>
            <a:off x="6126479" y="1691640"/>
            <a:ext cx="2560320" cy="2286000"/>
          </a:xfrm>
          <a:prstGeom prst="roundRect">
            <a:avLst>
              <a:gd name="adj" fmla="val 5600"/>
            </a:avLst>
          </a:prstGeom>
          <a:noFill/>
          <a:ln w="15240">
            <a:solidFill>
              <a:srgbClr val="FFC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27647" y="1892807"/>
            <a:ext cx="1005840" cy="246888"/>
          </a:xfrm>
          <a:prstGeom prst="roundRect">
            <a:avLst>
              <a:gd name="adj" fmla="val 44444"/>
            </a:avLst>
          </a:prstGeom>
          <a:noFill/>
          <a:ln w="10160">
            <a:solidFill>
              <a:srgbClr val="FFC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TOOLING"/>
          <p:cNvSpPr txBox="1"/>
          <p:nvPr/>
        </p:nvSpPr>
        <p:spPr>
          <a:xfrm>
            <a:off x="6327647" y="1911095"/>
            <a:ext cx="100584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FC15A"/>
                </a:solidFill>
                <a:latin typeface="Helvetica Neue"/>
              </a:defRPr>
            </a:pPr>
            <a:r>
              <a:t>TOOLING</a:t>
            </a:r>
          </a:p>
        </p:txBody>
      </p:sp>
      <p:sp>
        <p:nvSpPr>
          <p:cNvPr id="18" name="text:Data collection, backtesting, monito"/>
          <p:cNvSpPr txBox="1"/>
          <p:nvPr/>
        </p:nvSpPr>
        <p:spPr>
          <a:xfrm>
            <a:off x="6327647" y="2377440"/>
            <a:ext cx="2194560" cy="137160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Data collection, backtesting, monitors, risk guards, dashboards.</a:t>
            </a:r>
          </a:p>
        </p:txBody>
      </p:sp>
      <p:sp>
        <p:nvSpPr>
          <p:cNvPr id="19" name="text:LANE 3 OF 3"/>
          <p:cNvSpPr txBox="1"/>
          <p:nvPr/>
        </p:nvSpPr>
        <p:spPr>
          <a:xfrm>
            <a:off x="6327647" y="3657600"/>
            <a:ext cx="201168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LANE 3 OF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nigh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Tonight</a:t>
            </a:r>
          </a:p>
        </p:txBody>
      </p:sp>
      <p:sp>
        <p:nvSpPr>
          <p:cNvPr id="3" name="text:18:00 to 20:00. Most of it is you sh"/>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Most of it is you showing and trying work.</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Rounded Rectangle 4"/>
          <p:cNvSpPr/>
          <p:nvPr/>
        </p:nvSpPr>
        <p:spPr>
          <a:xfrm>
            <a:off x="548640" y="1508760"/>
            <a:ext cx="19202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00"/>
          <p:cNvSpPr txBox="1"/>
          <p:nvPr/>
        </p:nvSpPr>
        <p:spPr>
          <a:xfrm>
            <a:off x="713232" y="1645919"/>
            <a:ext cx="109728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18:00</a:t>
            </a:r>
          </a:p>
        </p:txBody>
      </p:sp>
      <p:sp>
        <p:nvSpPr>
          <p:cNvPr id="7" name="text:10 min"/>
          <p:cNvSpPr txBox="1"/>
          <p:nvPr/>
        </p:nvSpPr>
        <p:spPr>
          <a:xfrm>
            <a:off x="1554480" y="1709928"/>
            <a:ext cx="822960" cy="22860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10 min</a:t>
            </a:r>
          </a:p>
        </p:txBody>
      </p:sp>
      <p:sp>
        <p:nvSpPr>
          <p:cNvPr id="8" name="text:Doors"/>
          <p:cNvSpPr txBox="1"/>
          <p:nvPr/>
        </p:nvSpPr>
        <p:spPr>
          <a:xfrm>
            <a:off x="713232" y="2130552"/>
            <a:ext cx="16459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Doors</a:t>
            </a:r>
          </a:p>
        </p:txBody>
      </p:sp>
      <p:sp>
        <p:nvSpPr>
          <p:cNvPr id="9" name="text:check-in, gallery open"/>
          <p:cNvSpPr txBox="1"/>
          <p:nvPr/>
        </p:nvSpPr>
        <p:spPr>
          <a:xfrm>
            <a:off x="713232" y="2423160"/>
            <a:ext cx="164592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check-in, gallery open</a:t>
            </a:r>
          </a:p>
        </p:txBody>
      </p:sp>
      <p:sp>
        <p:nvSpPr>
          <p:cNvPr id="10" name="Rounded Rectangle 9"/>
          <p:cNvSpPr/>
          <p:nvPr/>
        </p:nvSpPr>
        <p:spPr>
          <a:xfrm>
            <a:off x="2606040" y="1508760"/>
            <a:ext cx="19202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10"/>
          <p:cNvSpPr txBox="1"/>
          <p:nvPr/>
        </p:nvSpPr>
        <p:spPr>
          <a:xfrm>
            <a:off x="2770632" y="1645919"/>
            <a:ext cx="109728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18:10</a:t>
            </a:r>
          </a:p>
        </p:txBody>
      </p:sp>
      <p:sp>
        <p:nvSpPr>
          <p:cNvPr id="12" name="text:10 min"/>
          <p:cNvSpPr txBox="1"/>
          <p:nvPr/>
        </p:nvSpPr>
        <p:spPr>
          <a:xfrm>
            <a:off x="3611880" y="1709928"/>
            <a:ext cx="822960" cy="22860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10 min</a:t>
            </a:r>
          </a:p>
        </p:txBody>
      </p:sp>
      <p:sp>
        <p:nvSpPr>
          <p:cNvPr id="13" name="text:Welcome"/>
          <p:cNvSpPr txBox="1"/>
          <p:nvPr/>
        </p:nvSpPr>
        <p:spPr>
          <a:xfrm>
            <a:off x="2770632" y="2130552"/>
            <a:ext cx="16459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Welcome</a:t>
            </a:r>
          </a:p>
        </p:txBody>
      </p:sp>
      <p:sp>
        <p:nvSpPr>
          <p:cNvPr id="14" name="text:the format and how projects are judg"/>
          <p:cNvSpPr txBox="1"/>
          <p:nvPr/>
        </p:nvSpPr>
        <p:spPr>
          <a:xfrm>
            <a:off x="2770632" y="2423160"/>
            <a:ext cx="164592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the format and how projects are judged</a:t>
            </a:r>
          </a:p>
        </p:txBody>
      </p:sp>
      <p:sp>
        <p:nvSpPr>
          <p:cNvPr id="15" name="Rounded Rectangle 14"/>
          <p:cNvSpPr/>
          <p:nvPr/>
        </p:nvSpPr>
        <p:spPr>
          <a:xfrm>
            <a:off x="4663440" y="1508760"/>
            <a:ext cx="1920240" cy="1417320"/>
          </a:xfrm>
          <a:prstGeom prst="roundRect">
            <a:avLst>
              <a:gd name="adj" fmla="val 9032"/>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8:20"/>
          <p:cNvSpPr txBox="1"/>
          <p:nvPr/>
        </p:nvSpPr>
        <p:spPr>
          <a:xfrm>
            <a:off x="4828031" y="1645919"/>
            <a:ext cx="109728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18:20</a:t>
            </a:r>
          </a:p>
        </p:txBody>
      </p:sp>
      <p:sp>
        <p:nvSpPr>
          <p:cNvPr id="17" name="text:35 min"/>
          <p:cNvSpPr txBox="1"/>
          <p:nvPr/>
        </p:nvSpPr>
        <p:spPr>
          <a:xfrm>
            <a:off x="5669279" y="1709928"/>
            <a:ext cx="822960" cy="22860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35 min</a:t>
            </a:r>
          </a:p>
        </p:txBody>
      </p:sp>
      <p:sp>
        <p:nvSpPr>
          <p:cNvPr id="18" name="text:Demos"/>
          <p:cNvSpPr txBox="1"/>
          <p:nvPr/>
        </p:nvSpPr>
        <p:spPr>
          <a:xfrm>
            <a:off x="4828031" y="2130552"/>
            <a:ext cx="16459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Demos</a:t>
            </a:r>
          </a:p>
        </p:txBody>
      </p:sp>
      <p:sp>
        <p:nvSpPr>
          <p:cNvPr id="19" name="text:3 minutes, then 2 for questions"/>
          <p:cNvSpPr txBox="1"/>
          <p:nvPr/>
        </p:nvSpPr>
        <p:spPr>
          <a:xfrm>
            <a:off x="4828031" y="2423160"/>
            <a:ext cx="164592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3 minutes, then 2 for questions</a:t>
            </a:r>
          </a:p>
        </p:txBody>
      </p:sp>
      <p:sp>
        <p:nvSpPr>
          <p:cNvPr id="20" name="Rounded Rectangle 19"/>
          <p:cNvSpPr/>
          <p:nvPr/>
        </p:nvSpPr>
        <p:spPr>
          <a:xfrm>
            <a:off x="6720840" y="1508760"/>
            <a:ext cx="19202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8:55"/>
          <p:cNvSpPr txBox="1"/>
          <p:nvPr/>
        </p:nvSpPr>
        <p:spPr>
          <a:xfrm>
            <a:off x="6885431" y="1645919"/>
            <a:ext cx="109728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18:55</a:t>
            </a:r>
          </a:p>
        </p:txBody>
      </p:sp>
      <p:sp>
        <p:nvSpPr>
          <p:cNvPr id="22" name="text:15 min"/>
          <p:cNvSpPr txBox="1"/>
          <p:nvPr/>
        </p:nvSpPr>
        <p:spPr>
          <a:xfrm>
            <a:off x="7726679" y="1709928"/>
            <a:ext cx="822960" cy="22860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15 min</a:t>
            </a:r>
          </a:p>
        </p:txBody>
      </p:sp>
      <p:sp>
        <p:nvSpPr>
          <p:cNvPr id="23" name="text:Peer gallery"/>
          <p:cNvSpPr txBox="1"/>
          <p:nvPr/>
        </p:nvSpPr>
        <p:spPr>
          <a:xfrm>
            <a:off x="6885431" y="2130552"/>
            <a:ext cx="16459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Peer gallery</a:t>
            </a:r>
          </a:p>
        </p:txBody>
      </p:sp>
      <p:sp>
        <p:nvSpPr>
          <p:cNvPr id="24" name="text:try demos, leave one question"/>
          <p:cNvSpPr txBox="1"/>
          <p:nvPr/>
        </p:nvSpPr>
        <p:spPr>
          <a:xfrm>
            <a:off x="6885431" y="2423160"/>
            <a:ext cx="164592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try demos, leave one question</a:t>
            </a:r>
          </a:p>
        </p:txBody>
      </p:sp>
      <p:sp>
        <p:nvSpPr>
          <p:cNvPr id="25" name="Rounded Rectangle 24"/>
          <p:cNvSpPr/>
          <p:nvPr/>
        </p:nvSpPr>
        <p:spPr>
          <a:xfrm>
            <a:off x="548640" y="3063239"/>
            <a:ext cx="19202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10"/>
          <p:cNvSpPr txBox="1"/>
          <p:nvPr/>
        </p:nvSpPr>
        <p:spPr>
          <a:xfrm>
            <a:off x="713232" y="3200399"/>
            <a:ext cx="109728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19:10</a:t>
            </a:r>
          </a:p>
        </p:txBody>
      </p:sp>
      <p:sp>
        <p:nvSpPr>
          <p:cNvPr id="27" name="text:10 min"/>
          <p:cNvSpPr txBox="1"/>
          <p:nvPr/>
        </p:nvSpPr>
        <p:spPr>
          <a:xfrm>
            <a:off x="1554480" y="3264408"/>
            <a:ext cx="822960" cy="22860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10 min</a:t>
            </a:r>
          </a:p>
        </p:txBody>
      </p:sp>
      <p:sp>
        <p:nvSpPr>
          <p:cNvPr id="28" name="text:Feedback"/>
          <p:cNvSpPr txBox="1"/>
          <p:nvPr/>
        </p:nvSpPr>
        <p:spPr>
          <a:xfrm>
            <a:off x="713232" y="3685031"/>
            <a:ext cx="16459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Feedback</a:t>
            </a:r>
          </a:p>
        </p:txBody>
      </p:sp>
      <p:sp>
        <p:nvSpPr>
          <p:cNvPr id="29" name="text:feedback and next steps"/>
          <p:cNvSpPr txBox="1"/>
          <p:nvPr/>
        </p:nvSpPr>
        <p:spPr>
          <a:xfrm>
            <a:off x="713232" y="3977639"/>
            <a:ext cx="164592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feedback and next steps</a:t>
            </a:r>
          </a:p>
        </p:txBody>
      </p:sp>
      <p:sp>
        <p:nvSpPr>
          <p:cNvPr id="30" name="Rounded Rectangle 29"/>
          <p:cNvSpPr/>
          <p:nvPr/>
        </p:nvSpPr>
        <p:spPr>
          <a:xfrm>
            <a:off x="2606040" y="3063239"/>
            <a:ext cx="19202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19:20"/>
          <p:cNvSpPr txBox="1"/>
          <p:nvPr/>
        </p:nvSpPr>
        <p:spPr>
          <a:xfrm>
            <a:off x="2770632" y="3200399"/>
            <a:ext cx="109728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19:20</a:t>
            </a:r>
          </a:p>
        </p:txBody>
      </p:sp>
      <p:sp>
        <p:nvSpPr>
          <p:cNvPr id="32" name="text:25 min"/>
          <p:cNvSpPr txBox="1"/>
          <p:nvPr/>
        </p:nvSpPr>
        <p:spPr>
          <a:xfrm>
            <a:off x="3611880" y="3264408"/>
            <a:ext cx="822960" cy="22860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25 min</a:t>
            </a:r>
          </a:p>
        </p:txBody>
      </p:sp>
      <p:sp>
        <p:nvSpPr>
          <p:cNvPr id="33" name="text:Community build"/>
          <p:cNvSpPr txBox="1"/>
          <p:nvPr/>
        </p:nvSpPr>
        <p:spPr>
          <a:xfrm>
            <a:off x="2770632" y="3685031"/>
            <a:ext cx="16459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Community build</a:t>
            </a:r>
          </a:p>
        </p:txBody>
      </p:sp>
      <p:sp>
        <p:nvSpPr>
          <p:cNvPr id="34" name="text:reproduce, file an issue, plan"/>
          <p:cNvSpPr txBox="1"/>
          <p:nvPr/>
        </p:nvSpPr>
        <p:spPr>
          <a:xfrm>
            <a:off x="2770632" y="3977639"/>
            <a:ext cx="164592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reproduce, file an issue, plan</a:t>
            </a:r>
          </a:p>
        </p:txBody>
      </p:sp>
      <p:sp>
        <p:nvSpPr>
          <p:cNvPr id="35" name="Rounded Rectangle 34"/>
          <p:cNvSpPr/>
          <p:nvPr/>
        </p:nvSpPr>
        <p:spPr>
          <a:xfrm>
            <a:off x="4663440" y="3063239"/>
            <a:ext cx="19202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19:45"/>
          <p:cNvSpPr txBox="1"/>
          <p:nvPr/>
        </p:nvSpPr>
        <p:spPr>
          <a:xfrm>
            <a:off x="4828031" y="3200399"/>
            <a:ext cx="109728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19:45</a:t>
            </a:r>
          </a:p>
        </p:txBody>
      </p:sp>
      <p:sp>
        <p:nvSpPr>
          <p:cNvPr id="37" name="text:15 min"/>
          <p:cNvSpPr txBox="1"/>
          <p:nvPr/>
        </p:nvSpPr>
        <p:spPr>
          <a:xfrm>
            <a:off x="5669279" y="3264408"/>
            <a:ext cx="822960" cy="22860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15 min</a:t>
            </a:r>
          </a:p>
        </p:txBody>
      </p:sp>
      <p:sp>
        <p:nvSpPr>
          <p:cNvPr id="38" name="text:Retrospective"/>
          <p:cNvSpPr txBox="1"/>
          <p:nvPr/>
        </p:nvSpPr>
        <p:spPr>
          <a:xfrm>
            <a:off x="4828031" y="3685031"/>
            <a:ext cx="16459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Retrospective</a:t>
            </a:r>
          </a:p>
        </p:txBody>
      </p:sp>
      <p:sp>
        <p:nvSpPr>
          <p:cNvPr id="39" name="text:what changed, what continues"/>
          <p:cNvSpPr txBox="1"/>
          <p:nvPr/>
        </p:nvSpPr>
        <p:spPr>
          <a:xfrm>
            <a:off x="4828031" y="3977639"/>
            <a:ext cx="1645920" cy="45720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what changed, what continues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 ON SCREEN DURING DOORS"/>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 · ON SCREEN DURING DOORS</a:t>
            </a:r>
          </a:p>
        </p:txBody>
      </p:sp>
      <p:sp>
        <p:nvSpPr>
          <p:cNvPr id="3" name="text:Demo: project gallery"/>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project gallery</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project would you open first, "/>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project would you open first, and what evidence would you look for?</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one card per project, with its lane"/>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one card per project, with its lane</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ests and devnet evidence on each ca"/>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tests and devnet evidence on each card</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data is the defau"/>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data is the default. No network needed.</a:t>
            </a:r>
          </a:p>
        </p:txBody>
      </p:sp>
      <p:pic>
        <p:nvPicPr>
          <p:cNvPr id="18" name="Picture 17" descr="01-project-gallery.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Demo Day demo, runs from disk, reco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Demo Day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https://nus-solana-demos.vercel.app/0010/01-project-gallery.html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Demo Day demos on recorded data; the three projects are EXAMPLE entries)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ules of the room"/>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Rules of the room</a:t>
            </a:r>
          </a:p>
        </p:txBody>
      </p:sp>
      <p:sp>
        <p:nvSpPr>
          <p:cNvPr id="3" name="text:Four rules, so every project gets a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Four rules, so every project gets a fair five minutes.</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Rounded Rectangle 4"/>
          <p:cNvSpPr/>
          <p:nvPr/>
        </p:nvSpPr>
        <p:spPr>
          <a:xfrm>
            <a:off x="548640" y="1508760"/>
            <a:ext cx="3977639" cy="1371600"/>
          </a:xfrm>
          <a:prstGeom prst="roundRect">
            <a:avLst>
              <a:gd name="adj" fmla="val 933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49808" y="1673351"/>
            <a:ext cx="457200" cy="45720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a:t>
            </a:r>
          </a:p>
        </p:txBody>
      </p:sp>
      <p:sp>
        <p:nvSpPr>
          <p:cNvPr id="7" name="text:Devnet only"/>
          <p:cNvSpPr txBox="1"/>
          <p:nvPr/>
        </p:nvSpPr>
        <p:spPr>
          <a:xfrm>
            <a:off x="1280160" y="1691639"/>
            <a:ext cx="310896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Devnet only</a:t>
            </a:r>
          </a:p>
        </p:txBody>
      </p:sp>
      <p:sp>
        <p:nvSpPr>
          <p:cNvPr id="8" name="text:Everything shown runs on devnet or r"/>
          <p:cNvSpPr txBox="1"/>
          <p:nvPr/>
        </p:nvSpPr>
        <p:spPr>
          <a:xfrm>
            <a:off x="1280160" y="2103120"/>
            <a:ext cx="3108960" cy="73152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Everything shown runs on devnet or recorded data. No real funds, no seed phrases on screen.</a:t>
            </a:r>
          </a:p>
        </p:txBody>
      </p:sp>
      <p:sp>
        <p:nvSpPr>
          <p:cNvPr id="9" name="Rounded Rectangle 8"/>
          <p:cNvSpPr/>
          <p:nvPr/>
        </p:nvSpPr>
        <p:spPr>
          <a:xfrm>
            <a:off x="4663440" y="1508760"/>
            <a:ext cx="3977639" cy="1371600"/>
          </a:xfrm>
          <a:prstGeom prst="roundRect">
            <a:avLst>
              <a:gd name="adj" fmla="val 9333"/>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4864607" y="1673351"/>
            <a:ext cx="457200" cy="45720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2</a:t>
            </a:r>
          </a:p>
        </p:txBody>
      </p:sp>
      <p:sp>
        <p:nvSpPr>
          <p:cNvPr id="11" name="text:The timer decides"/>
          <p:cNvSpPr txBox="1"/>
          <p:nvPr/>
        </p:nvSpPr>
        <p:spPr>
          <a:xfrm>
            <a:off x="5394959" y="1691639"/>
            <a:ext cx="310896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The timer decides</a:t>
            </a:r>
          </a:p>
        </p:txBody>
      </p:sp>
      <p:sp>
        <p:nvSpPr>
          <p:cNvPr id="12" name="text:Three minutes to demo, two for quest"/>
          <p:cNvSpPr txBox="1"/>
          <p:nvPr/>
        </p:nvSpPr>
        <p:spPr>
          <a:xfrm>
            <a:off x="5394959" y="2103120"/>
            <a:ext cx="3108960" cy="73152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Three minutes to demo, two for questions. When it ends we thank the presenter and move on.</a:t>
            </a:r>
          </a:p>
        </p:txBody>
      </p:sp>
      <p:sp>
        <p:nvSpPr>
          <p:cNvPr id="13" name="Rounded Rectangle 12"/>
          <p:cNvSpPr/>
          <p:nvPr/>
        </p:nvSpPr>
        <p:spPr>
          <a:xfrm>
            <a:off x="548640" y="3063239"/>
            <a:ext cx="3977639" cy="1371600"/>
          </a:xfrm>
          <a:prstGeom prst="roundRect">
            <a:avLst>
              <a:gd name="adj" fmla="val 933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749808" y="3227832"/>
            <a:ext cx="457200" cy="45720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3</a:t>
            </a:r>
          </a:p>
        </p:txBody>
      </p:sp>
      <p:sp>
        <p:nvSpPr>
          <p:cNvPr id="15" name="text:Ask for evidence"/>
          <p:cNvSpPr txBox="1"/>
          <p:nvPr/>
        </p:nvSpPr>
        <p:spPr>
          <a:xfrm>
            <a:off x="1280160" y="3246120"/>
            <a:ext cx="310896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Ask for evidence</a:t>
            </a:r>
          </a:p>
        </p:txBody>
      </p:sp>
      <p:sp>
        <p:nvSpPr>
          <p:cNvPr id="16" name="text:Good questions start with: which com"/>
          <p:cNvSpPr txBox="1"/>
          <p:nvPr/>
        </p:nvSpPr>
        <p:spPr>
          <a:xfrm>
            <a:off x="1280160" y="3657599"/>
            <a:ext cx="3108960" cy="73152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Good questions start with: which command, which test, where can I see it.</a:t>
            </a:r>
          </a:p>
        </p:txBody>
      </p:sp>
      <p:sp>
        <p:nvSpPr>
          <p:cNvPr id="17" name="Rounded Rectangle 16"/>
          <p:cNvSpPr/>
          <p:nvPr/>
        </p:nvSpPr>
        <p:spPr>
          <a:xfrm>
            <a:off x="4663440" y="3063239"/>
            <a:ext cx="3977639" cy="1371600"/>
          </a:xfrm>
          <a:prstGeom prst="roundRect">
            <a:avLst>
              <a:gd name="adj" fmla="val 9333"/>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4"/>
          <p:cNvSpPr txBox="1"/>
          <p:nvPr/>
        </p:nvSpPr>
        <p:spPr>
          <a:xfrm>
            <a:off x="4864607" y="3227832"/>
            <a:ext cx="457200" cy="45720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4</a:t>
            </a:r>
          </a:p>
        </p:txBody>
      </p:sp>
      <p:sp>
        <p:nvSpPr>
          <p:cNvPr id="19" name="text:Photos by choice"/>
          <p:cNvSpPr txBox="1"/>
          <p:nvPr/>
        </p:nvSpPr>
        <p:spPr>
          <a:xfrm>
            <a:off x="5394959" y="3246120"/>
            <a:ext cx="310896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Photos by choice</a:t>
            </a:r>
          </a:p>
        </p:txBody>
      </p:sp>
      <p:sp>
        <p:nvSpPr>
          <p:cNvPr id="20" name="text:Photo and recording choices are made"/>
          <p:cNvSpPr txBox="1"/>
          <p:nvPr/>
        </p:nvSpPr>
        <p:spPr>
          <a:xfrm>
            <a:off x="5394959" y="3657599"/>
            <a:ext cx="3108960" cy="73152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Photo and recording choices are made at the door. Nobody is filmed without saying yes.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minutes, then two"/>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minutes, then two</a:t>
            </a:r>
          </a:p>
        </p:txBody>
      </p:sp>
      <p:sp>
        <p:nvSpPr>
          <p:cNvPr id="3" name="text:Seven slots, 18:20 to 18:55, back to"/>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Seven slots, 18:20 to 18:55, back to back.</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Rounded Rectangle 4"/>
          <p:cNvSpPr/>
          <p:nvPr/>
        </p:nvSpPr>
        <p:spPr>
          <a:xfrm>
            <a:off x="548640" y="1554480"/>
            <a:ext cx="4828031" cy="548640"/>
          </a:xfrm>
          <a:prstGeom prst="roundRect">
            <a:avLst>
              <a:gd name="adj" fmla="val 23333"/>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DEMO · 3 minutes"/>
          <p:cNvSpPr txBox="1"/>
          <p:nvPr/>
        </p:nvSpPr>
        <p:spPr>
          <a:xfrm>
            <a:off x="731520" y="1554480"/>
            <a:ext cx="2743200" cy="548640"/>
          </a:xfrm>
          <a:prstGeom prst="rect">
            <a:avLst/>
          </a:prstGeom>
          <a:noFill/>
        </p:spPr>
        <p:txBody>
          <a:bodyPr wrap="square" lIns="9144" rIns="9144" tIns="0" bIns="0" anchor="ctr">
            <a:spAutoFit/>
          </a:bodyPr>
          <a:lstStyle/>
          <a:p>
            <a:pPr>
              <a:lnSpc>
                <a:spcPct val="106000"/>
              </a:lnSpc>
              <a:spcAft>
                <a:spcPts val="400"/>
              </a:spcAft>
              <a:defRPr sz="1500" b="0">
                <a:solidFill>
                  <a:srgbClr val="3DDC97"/>
                </a:solidFill>
                <a:latin typeface="Helvetica Neue"/>
              </a:defRPr>
            </a:pPr>
            <a:r>
              <a:t>DEMO · 3 minutes</a:t>
            </a:r>
          </a:p>
        </p:txBody>
      </p:sp>
      <p:sp>
        <p:nvSpPr>
          <p:cNvPr id="7" name="Rounded Rectangle 6"/>
          <p:cNvSpPr/>
          <p:nvPr/>
        </p:nvSpPr>
        <p:spPr>
          <a:xfrm>
            <a:off x="5431536" y="1554480"/>
            <a:ext cx="3209544" cy="548640"/>
          </a:xfrm>
          <a:prstGeom prst="roundRect">
            <a:avLst>
              <a:gd name="adj" fmla="val 23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QUESTIONS · 2 minutes"/>
          <p:cNvSpPr txBox="1"/>
          <p:nvPr/>
        </p:nvSpPr>
        <p:spPr>
          <a:xfrm>
            <a:off x="5614416" y="1554480"/>
            <a:ext cx="2743200" cy="548640"/>
          </a:xfrm>
          <a:prstGeom prst="rect">
            <a:avLst/>
          </a:prstGeom>
          <a:noFill/>
        </p:spPr>
        <p:txBody>
          <a:bodyPr wrap="square" lIns="9144" rIns="9144" tIns="0" bIns="0" anchor="ctr">
            <a:spAutoFit/>
          </a:bodyPr>
          <a:lstStyle/>
          <a:p>
            <a:pPr>
              <a:lnSpc>
                <a:spcPct val="106000"/>
              </a:lnSpc>
              <a:spcAft>
                <a:spcPts val="400"/>
              </a:spcAft>
              <a:defRPr sz="1500" b="0">
                <a:solidFill>
                  <a:srgbClr val="B3A5FF"/>
                </a:solidFill>
                <a:latin typeface="Helvetica Neue"/>
              </a:defRPr>
            </a:pPr>
            <a:r>
              <a:t>QUESTIONS · 2 minutes</a:t>
            </a:r>
          </a:p>
        </p:txBody>
      </p:sp>
      <p:cxnSp>
        <p:nvCxnSpPr>
          <p:cNvPr id="9" name="Connector 8"/>
          <p:cNvCxnSpPr/>
          <p:nvPr/>
        </p:nvCxnSpPr>
        <p:spPr>
          <a:xfrm>
            <a:off x="548640" y="2103120"/>
            <a:ext cx="0" cy="292608"/>
          </a:xfrm>
          <a:prstGeom prst="line">
            <a:avLst/>
          </a:prstGeom>
          <a:ln w="10160">
            <a:solidFill>
              <a:srgbClr val="9A9AA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2468880"/>
            <a:ext cx="1920240" cy="1508760"/>
          </a:xfrm>
          <a:prstGeom prst="roundRect">
            <a:avLst>
              <a:gd name="adj" fmla="val 848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0:00"/>
          <p:cNvSpPr txBox="1"/>
          <p:nvPr/>
        </p:nvSpPr>
        <p:spPr>
          <a:xfrm>
            <a:off x="713232" y="2578608"/>
            <a:ext cx="137160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0:00</a:t>
            </a:r>
          </a:p>
        </p:txBody>
      </p:sp>
      <p:sp>
        <p:nvSpPr>
          <p:cNvPr id="12" name="text:Demo starts"/>
          <p:cNvSpPr txBox="1"/>
          <p:nvPr/>
        </p:nvSpPr>
        <p:spPr>
          <a:xfrm>
            <a:off x="713232" y="3017520"/>
            <a:ext cx="164592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Demo starts</a:t>
            </a:r>
          </a:p>
        </p:txBody>
      </p:sp>
      <p:sp>
        <p:nvSpPr>
          <p:cNvPr id="13" name="text:the first sentence says what it does"/>
          <p:cNvSpPr txBox="1"/>
          <p:nvPr/>
        </p:nvSpPr>
        <p:spPr>
          <a:xfrm>
            <a:off x="713232" y="3337560"/>
            <a:ext cx="1645920" cy="5943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the first sentence says what it does</a:t>
            </a:r>
          </a:p>
        </p:txBody>
      </p:sp>
      <p:cxnSp>
        <p:nvCxnSpPr>
          <p:cNvPr id="14" name="Connector 13"/>
          <p:cNvCxnSpPr/>
          <p:nvPr/>
        </p:nvCxnSpPr>
        <p:spPr>
          <a:xfrm>
            <a:off x="4594859" y="2103120"/>
            <a:ext cx="0" cy="292608"/>
          </a:xfrm>
          <a:prstGeom prst="line">
            <a:avLst/>
          </a:prstGeom>
          <a:ln w="10160">
            <a:solidFill>
              <a:srgbClr val="9A9AA2"/>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606040" y="2468880"/>
            <a:ext cx="1920240" cy="1508760"/>
          </a:xfrm>
          <a:prstGeom prst="roundRect">
            <a:avLst>
              <a:gd name="adj" fmla="val 848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2:30"/>
          <p:cNvSpPr txBox="1"/>
          <p:nvPr/>
        </p:nvSpPr>
        <p:spPr>
          <a:xfrm>
            <a:off x="2770632" y="2578608"/>
            <a:ext cx="1371600" cy="365760"/>
          </a:xfrm>
          <a:prstGeom prst="rect">
            <a:avLst/>
          </a:prstGeom>
          <a:noFill/>
        </p:spPr>
        <p:txBody>
          <a:bodyPr wrap="square" lIns="9144" rIns="9144" tIns="0" bIns="0">
            <a:spAutoFit/>
          </a:bodyPr>
          <a:lstStyle/>
          <a:p>
            <a:pPr>
              <a:lnSpc>
                <a:spcPct val="106000"/>
              </a:lnSpc>
              <a:spcAft>
                <a:spcPts val="400"/>
              </a:spcAft>
              <a:defRPr sz="2200" b="0">
                <a:solidFill>
                  <a:srgbClr val="FFC15A"/>
                </a:solidFill>
                <a:latin typeface="Helvetica Neue"/>
              </a:defRPr>
            </a:pPr>
            <a:r>
              <a:t>2:30</a:t>
            </a:r>
          </a:p>
        </p:txBody>
      </p:sp>
      <p:sp>
        <p:nvSpPr>
          <p:cNvPr id="17" name="text:30 seconds left"/>
          <p:cNvSpPr txBox="1"/>
          <p:nvPr/>
        </p:nvSpPr>
        <p:spPr>
          <a:xfrm>
            <a:off x="2770632" y="3017520"/>
            <a:ext cx="164592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30 seconds left</a:t>
            </a:r>
          </a:p>
        </p:txBody>
      </p:sp>
      <p:sp>
        <p:nvSpPr>
          <p:cNvPr id="18" name="text:a signal from the host, no surprise"/>
          <p:cNvSpPr txBox="1"/>
          <p:nvPr/>
        </p:nvSpPr>
        <p:spPr>
          <a:xfrm>
            <a:off x="2770632" y="3337560"/>
            <a:ext cx="1645920" cy="5943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a signal from the host, no surprise</a:t>
            </a:r>
          </a:p>
        </p:txBody>
      </p:sp>
      <p:cxnSp>
        <p:nvCxnSpPr>
          <p:cNvPr id="19" name="Connector 18"/>
          <p:cNvCxnSpPr/>
          <p:nvPr/>
        </p:nvCxnSpPr>
        <p:spPr>
          <a:xfrm>
            <a:off x="5404103" y="2103120"/>
            <a:ext cx="0" cy="292608"/>
          </a:xfrm>
          <a:prstGeom prst="line">
            <a:avLst/>
          </a:prstGeom>
          <a:ln w="10160">
            <a:solidFill>
              <a:srgbClr val="9A9AA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663440" y="2468880"/>
            <a:ext cx="1920240" cy="1508760"/>
          </a:xfrm>
          <a:prstGeom prst="roundRect">
            <a:avLst>
              <a:gd name="adj" fmla="val 848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3:00"/>
          <p:cNvSpPr txBox="1"/>
          <p:nvPr/>
        </p:nvSpPr>
        <p:spPr>
          <a:xfrm>
            <a:off x="4828031" y="2578608"/>
            <a:ext cx="137160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3:00</a:t>
            </a:r>
          </a:p>
        </p:txBody>
      </p:sp>
      <p:sp>
        <p:nvSpPr>
          <p:cNvPr id="22" name="text:Demo ends"/>
          <p:cNvSpPr txBox="1"/>
          <p:nvPr/>
        </p:nvSpPr>
        <p:spPr>
          <a:xfrm>
            <a:off x="4828031" y="3017520"/>
            <a:ext cx="164592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Demo ends</a:t>
            </a:r>
          </a:p>
        </p:txBody>
      </p:sp>
      <p:sp>
        <p:nvSpPr>
          <p:cNvPr id="23" name="text:questions start"/>
          <p:cNvSpPr txBox="1"/>
          <p:nvPr/>
        </p:nvSpPr>
        <p:spPr>
          <a:xfrm>
            <a:off x="4828031" y="3337560"/>
            <a:ext cx="1645920" cy="5943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questions start</a:t>
            </a:r>
          </a:p>
        </p:txBody>
      </p:sp>
      <p:cxnSp>
        <p:nvCxnSpPr>
          <p:cNvPr id="24" name="Connector 23"/>
          <p:cNvCxnSpPr/>
          <p:nvPr/>
        </p:nvCxnSpPr>
        <p:spPr>
          <a:xfrm>
            <a:off x="8631936" y="2103120"/>
            <a:ext cx="0" cy="292608"/>
          </a:xfrm>
          <a:prstGeom prst="line">
            <a:avLst/>
          </a:prstGeom>
          <a:ln w="10160">
            <a:solidFill>
              <a:srgbClr val="9A9AA2"/>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20840" y="2468880"/>
            <a:ext cx="1920240" cy="1508760"/>
          </a:xfrm>
          <a:prstGeom prst="roundRect">
            <a:avLst>
              <a:gd name="adj" fmla="val 848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5:00"/>
          <p:cNvSpPr txBox="1"/>
          <p:nvPr/>
        </p:nvSpPr>
        <p:spPr>
          <a:xfrm>
            <a:off x="6885431" y="2578608"/>
            <a:ext cx="1371600" cy="365760"/>
          </a:xfrm>
          <a:prstGeom prst="rect">
            <a:avLst/>
          </a:prstGeom>
          <a:noFill/>
        </p:spPr>
        <p:txBody>
          <a:bodyPr wrap="square" lIns="9144" rIns="9144" tIns="0" bIns="0">
            <a:spAutoFit/>
          </a:bodyPr>
          <a:lstStyle/>
          <a:p>
            <a:pPr>
              <a:lnSpc>
                <a:spcPct val="106000"/>
              </a:lnSpc>
              <a:spcAft>
                <a:spcPts val="400"/>
              </a:spcAft>
              <a:defRPr sz="2200" b="0">
                <a:solidFill>
                  <a:srgbClr val="3DDC97"/>
                </a:solidFill>
                <a:latin typeface="Helvetica Neue"/>
              </a:defRPr>
            </a:pPr>
            <a:r>
              <a:t>5:00</a:t>
            </a:r>
          </a:p>
        </p:txBody>
      </p:sp>
      <p:sp>
        <p:nvSpPr>
          <p:cNvPr id="27" name="text:Slot ends"/>
          <p:cNvSpPr txBox="1"/>
          <p:nvPr/>
        </p:nvSpPr>
        <p:spPr>
          <a:xfrm>
            <a:off x="6885431" y="3017520"/>
            <a:ext cx="164592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Slot ends</a:t>
            </a:r>
          </a:p>
        </p:txBody>
      </p:sp>
      <p:sp>
        <p:nvSpPr>
          <p:cNvPr id="28" name="text:the next presenter is already at the"/>
          <p:cNvSpPr txBox="1"/>
          <p:nvPr/>
        </p:nvSpPr>
        <p:spPr>
          <a:xfrm>
            <a:off x="6885431" y="3337560"/>
            <a:ext cx="1645920" cy="5943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the next presenter is already at the laptop</a:t>
            </a:r>
          </a:p>
        </p:txBody>
      </p:sp>
      <p:sp>
        <p:nvSpPr>
          <p:cNvPr id="29" name="Rounded Rectangle 28"/>
          <p:cNvSpPr/>
          <p:nvPr/>
        </p:nvSpPr>
        <p:spPr>
          <a:xfrm>
            <a:off x="548640" y="4114800"/>
            <a:ext cx="8092440" cy="475488"/>
          </a:xfrm>
          <a:prstGeom prst="roundRect">
            <a:avLst>
              <a:gd name="adj" fmla="val 2692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Have the recorded backup open in ano"/>
          <p:cNvSpPr txBox="1"/>
          <p:nvPr/>
        </p:nvSpPr>
        <p:spPr>
          <a:xfrm>
            <a:off x="731520" y="4114800"/>
            <a:ext cx="7772400" cy="475488"/>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Have the recorded backup open in another tab before you start.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at three minutes hold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What three minutes holds</a:t>
            </a:r>
          </a:p>
        </p:txBody>
      </p:sp>
      <p:sp>
        <p:nvSpPr>
          <p:cNvPr id="3" name="text:An evidence-based story: problem, f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An evidence-based story: problem, failed attempt, useful change, test, limitation.</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Rounded Rectangle 4"/>
          <p:cNvSpPr/>
          <p:nvPr/>
        </p:nvSpPr>
        <p:spPr>
          <a:xfrm>
            <a:off x="548640" y="1554480"/>
            <a:ext cx="1527048" cy="2331720"/>
          </a:xfrm>
          <a:prstGeom prst="roundRect">
            <a:avLst>
              <a:gd name="adj" fmla="val 838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694944" y="1664208"/>
            <a:ext cx="365760" cy="41148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1</a:t>
            </a:r>
          </a:p>
        </p:txBody>
      </p:sp>
      <p:sp>
        <p:nvSpPr>
          <p:cNvPr id="7" name="Rounded Rectangle 6"/>
          <p:cNvSpPr/>
          <p:nvPr/>
        </p:nvSpPr>
        <p:spPr>
          <a:xfrm>
            <a:off x="1417320" y="1737360"/>
            <a:ext cx="530352" cy="219456"/>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30 s"/>
          <p:cNvSpPr txBox="1"/>
          <p:nvPr/>
        </p:nvSpPr>
        <p:spPr>
          <a:xfrm>
            <a:off x="1417320" y="1755648"/>
            <a:ext cx="530352" cy="201168"/>
          </a:xfrm>
          <a:prstGeom prst="rect">
            <a:avLst/>
          </a:prstGeom>
          <a:noFill/>
        </p:spPr>
        <p:txBody>
          <a:bodyPr wrap="square" lIns="9144" rIns="9144" tIns="0" bIns="0" anchor="ctr">
            <a:spAutoFit/>
          </a:bodyPr>
          <a:lstStyle/>
          <a:p>
            <a:pPr algn="ctr">
              <a:lnSpc>
                <a:spcPct val="106000"/>
              </a:lnSpc>
              <a:spcAft>
                <a:spcPts val="400"/>
              </a:spcAft>
              <a:defRPr sz="850" b="0">
                <a:solidFill>
                  <a:srgbClr val="B3A5FF"/>
                </a:solidFill>
                <a:latin typeface="Helvetica Neue"/>
              </a:defRPr>
            </a:pPr>
            <a:r>
              <a:t>30 s</a:t>
            </a:r>
          </a:p>
        </p:txBody>
      </p:sp>
      <p:sp>
        <p:nvSpPr>
          <p:cNvPr id="9" name="text:Problem"/>
          <p:cNvSpPr txBox="1"/>
          <p:nvPr/>
        </p:nvSpPr>
        <p:spPr>
          <a:xfrm>
            <a:off x="694944" y="2240280"/>
            <a:ext cx="1252728" cy="5029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Problem</a:t>
            </a:r>
          </a:p>
        </p:txBody>
      </p:sp>
      <p:sp>
        <p:nvSpPr>
          <p:cNvPr id="10" name="text:What hurt, in one sentence."/>
          <p:cNvSpPr txBox="1"/>
          <p:nvPr/>
        </p:nvSpPr>
        <p:spPr>
          <a:xfrm>
            <a:off x="694944" y="2743200"/>
            <a:ext cx="1252728" cy="10515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What hurt, in one sentence.</a:t>
            </a:r>
          </a:p>
        </p:txBody>
      </p:sp>
      <p:sp>
        <p:nvSpPr>
          <p:cNvPr id="11" name="Rounded Rectangle 10"/>
          <p:cNvSpPr/>
          <p:nvPr/>
        </p:nvSpPr>
        <p:spPr>
          <a:xfrm>
            <a:off x="2189988" y="1554480"/>
            <a:ext cx="1527048" cy="2331720"/>
          </a:xfrm>
          <a:prstGeom prst="roundRect">
            <a:avLst>
              <a:gd name="adj" fmla="val 838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2336292" y="1664208"/>
            <a:ext cx="365760" cy="41148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2</a:t>
            </a:r>
          </a:p>
        </p:txBody>
      </p:sp>
      <p:sp>
        <p:nvSpPr>
          <p:cNvPr id="13" name="Rounded Rectangle 12"/>
          <p:cNvSpPr/>
          <p:nvPr/>
        </p:nvSpPr>
        <p:spPr>
          <a:xfrm>
            <a:off x="3058668" y="1737360"/>
            <a:ext cx="530352" cy="219456"/>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0 s"/>
          <p:cNvSpPr txBox="1"/>
          <p:nvPr/>
        </p:nvSpPr>
        <p:spPr>
          <a:xfrm>
            <a:off x="3058668" y="1755648"/>
            <a:ext cx="530352" cy="201168"/>
          </a:xfrm>
          <a:prstGeom prst="rect">
            <a:avLst/>
          </a:prstGeom>
          <a:noFill/>
        </p:spPr>
        <p:txBody>
          <a:bodyPr wrap="square" lIns="9144" rIns="9144" tIns="0" bIns="0" anchor="ctr">
            <a:spAutoFit/>
          </a:bodyPr>
          <a:lstStyle/>
          <a:p>
            <a:pPr algn="ctr">
              <a:lnSpc>
                <a:spcPct val="106000"/>
              </a:lnSpc>
              <a:spcAft>
                <a:spcPts val="400"/>
              </a:spcAft>
              <a:defRPr sz="850" b="0">
                <a:solidFill>
                  <a:srgbClr val="B3A5FF"/>
                </a:solidFill>
                <a:latin typeface="Helvetica Neue"/>
              </a:defRPr>
            </a:pPr>
            <a:r>
              <a:t>30 s</a:t>
            </a:r>
          </a:p>
        </p:txBody>
      </p:sp>
      <p:sp>
        <p:nvSpPr>
          <p:cNvPr id="15" name="text:Failed attempt"/>
          <p:cNvSpPr txBox="1"/>
          <p:nvPr/>
        </p:nvSpPr>
        <p:spPr>
          <a:xfrm>
            <a:off x="2336292" y="2240280"/>
            <a:ext cx="1252728" cy="5029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Failed attempt</a:t>
            </a:r>
          </a:p>
        </p:txBody>
      </p:sp>
      <p:sp>
        <p:nvSpPr>
          <p:cNvPr id="16" name="text:What did not work, shown or told."/>
          <p:cNvSpPr txBox="1"/>
          <p:nvPr/>
        </p:nvSpPr>
        <p:spPr>
          <a:xfrm>
            <a:off x="2336292" y="2743200"/>
            <a:ext cx="1252728" cy="10515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What did not work, shown or told.</a:t>
            </a:r>
          </a:p>
        </p:txBody>
      </p:sp>
      <p:sp>
        <p:nvSpPr>
          <p:cNvPr id="17" name="Rounded Rectangle 16"/>
          <p:cNvSpPr/>
          <p:nvPr/>
        </p:nvSpPr>
        <p:spPr>
          <a:xfrm>
            <a:off x="3831335" y="1554480"/>
            <a:ext cx="1527048" cy="2331720"/>
          </a:xfrm>
          <a:prstGeom prst="roundRect">
            <a:avLst>
              <a:gd name="adj" fmla="val 838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3"/>
          <p:cNvSpPr txBox="1"/>
          <p:nvPr/>
        </p:nvSpPr>
        <p:spPr>
          <a:xfrm>
            <a:off x="3977639" y="1664208"/>
            <a:ext cx="365760" cy="41148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3</a:t>
            </a:r>
          </a:p>
        </p:txBody>
      </p:sp>
      <p:sp>
        <p:nvSpPr>
          <p:cNvPr id="19" name="Rounded Rectangle 18"/>
          <p:cNvSpPr/>
          <p:nvPr/>
        </p:nvSpPr>
        <p:spPr>
          <a:xfrm>
            <a:off x="4700016" y="1737360"/>
            <a:ext cx="530352" cy="219456"/>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60 s"/>
          <p:cNvSpPr txBox="1"/>
          <p:nvPr/>
        </p:nvSpPr>
        <p:spPr>
          <a:xfrm>
            <a:off x="4700016" y="1755648"/>
            <a:ext cx="530352" cy="201168"/>
          </a:xfrm>
          <a:prstGeom prst="rect">
            <a:avLst/>
          </a:prstGeom>
          <a:noFill/>
        </p:spPr>
        <p:txBody>
          <a:bodyPr wrap="square" lIns="9144" rIns="9144" tIns="0" bIns="0" anchor="ctr">
            <a:spAutoFit/>
          </a:bodyPr>
          <a:lstStyle/>
          <a:p>
            <a:pPr algn="ctr">
              <a:lnSpc>
                <a:spcPct val="106000"/>
              </a:lnSpc>
              <a:spcAft>
                <a:spcPts val="400"/>
              </a:spcAft>
              <a:defRPr sz="850" b="0">
                <a:solidFill>
                  <a:srgbClr val="B3A5FF"/>
                </a:solidFill>
                <a:latin typeface="Helvetica Neue"/>
              </a:defRPr>
            </a:pPr>
            <a:r>
              <a:t>60 s</a:t>
            </a:r>
          </a:p>
        </p:txBody>
      </p:sp>
      <p:sp>
        <p:nvSpPr>
          <p:cNvPr id="21" name="text:Useful change"/>
          <p:cNvSpPr txBox="1"/>
          <p:nvPr/>
        </p:nvSpPr>
        <p:spPr>
          <a:xfrm>
            <a:off x="3977639" y="2240280"/>
            <a:ext cx="1252728" cy="5029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Useful change</a:t>
            </a:r>
          </a:p>
        </p:txBody>
      </p:sp>
      <p:sp>
        <p:nvSpPr>
          <p:cNvPr id="22" name="text:What you changed and what it does no"/>
          <p:cNvSpPr txBox="1"/>
          <p:nvPr/>
        </p:nvSpPr>
        <p:spPr>
          <a:xfrm>
            <a:off x="3977639" y="2743200"/>
            <a:ext cx="1252728" cy="10515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What you changed and what it does now.</a:t>
            </a:r>
          </a:p>
        </p:txBody>
      </p:sp>
      <p:sp>
        <p:nvSpPr>
          <p:cNvPr id="23" name="Rounded Rectangle 22"/>
          <p:cNvSpPr/>
          <p:nvPr/>
        </p:nvSpPr>
        <p:spPr>
          <a:xfrm>
            <a:off x="5472683" y="1554480"/>
            <a:ext cx="1527048" cy="2331720"/>
          </a:xfrm>
          <a:prstGeom prst="roundRect">
            <a:avLst>
              <a:gd name="adj" fmla="val 838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4"/>
          <p:cNvSpPr txBox="1"/>
          <p:nvPr/>
        </p:nvSpPr>
        <p:spPr>
          <a:xfrm>
            <a:off x="5618988" y="1664208"/>
            <a:ext cx="365760" cy="41148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4</a:t>
            </a:r>
          </a:p>
        </p:txBody>
      </p:sp>
      <p:sp>
        <p:nvSpPr>
          <p:cNvPr id="25" name="Rounded Rectangle 24"/>
          <p:cNvSpPr/>
          <p:nvPr/>
        </p:nvSpPr>
        <p:spPr>
          <a:xfrm>
            <a:off x="6341364" y="1737360"/>
            <a:ext cx="530352" cy="219456"/>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40 s"/>
          <p:cNvSpPr txBox="1"/>
          <p:nvPr/>
        </p:nvSpPr>
        <p:spPr>
          <a:xfrm>
            <a:off x="6341364" y="1755648"/>
            <a:ext cx="530352" cy="201168"/>
          </a:xfrm>
          <a:prstGeom prst="rect">
            <a:avLst/>
          </a:prstGeom>
          <a:noFill/>
        </p:spPr>
        <p:txBody>
          <a:bodyPr wrap="square" lIns="9144" rIns="9144" tIns="0" bIns="0" anchor="ctr">
            <a:spAutoFit/>
          </a:bodyPr>
          <a:lstStyle/>
          <a:p>
            <a:pPr algn="ctr">
              <a:lnSpc>
                <a:spcPct val="106000"/>
              </a:lnSpc>
              <a:spcAft>
                <a:spcPts val="400"/>
              </a:spcAft>
              <a:defRPr sz="850" b="0">
                <a:solidFill>
                  <a:srgbClr val="B3A5FF"/>
                </a:solidFill>
                <a:latin typeface="Helvetica Neue"/>
              </a:defRPr>
            </a:pPr>
            <a:r>
              <a:t>40 s</a:t>
            </a:r>
          </a:p>
        </p:txBody>
      </p:sp>
      <p:sp>
        <p:nvSpPr>
          <p:cNvPr id="27" name="text:Test"/>
          <p:cNvSpPr txBox="1"/>
          <p:nvPr/>
        </p:nvSpPr>
        <p:spPr>
          <a:xfrm>
            <a:off x="5618988" y="2240280"/>
            <a:ext cx="1252728" cy="5029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Test</a:t>
            </a:r>
          </a:p>
        </p:txBody>
      </p:sp>
      <p:sp>
        <p:nvSpPr>
          <p:cNvPr id="28" name="text:The command, and its result."/>
          <p:cNvSpPr txBox="1"/>
          <p:nvPr/>
        </p:nvSpPr>
        <p:spPr>
          <a:xfrm>
            <a:off x="5618988" y="2743200"/>
            <a:ext cx="1252728" cy="10515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The command, and its result.</a:t>
            </a:r>
          </a:p>
        </p:txBody>
      </p:sp>
      <p:sp>
        <p:nvSpPr>
          <p:cNvPr id="29" name="Rounded Rectangle 28"/>
          <p:cNvSpPr/>
          <p:nvPr/>
        </p:nvSpPr>
        <p:spPr>
          <a:xfrm>
            <a:off x="7114031" y="1554480"/>
            <a:ext cx="1527048" cy="2331720"/>
          </a:xfrm>
          <a:prstGeom prst="roundRect">
            <a:avLst>
              <a:gd name="adj" fmla="val 838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5"/>
          <p:cNvSpPr txBox="1"/>
          <p:nvPr/>
        </p:nvSpPr>
        <p:spPr>
          <a:xfrm>
            <a:off x="7260336" y="1664208"/>
            <a:ext cx="365760" cy="41148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5</a:t>
            </a:r>
          </a:p>
        </p:txBody>
      </p:sp>
      <p:sp>
        <p:nvSpPr>
          <p:cNvPr id="31" name="Rounded Rectangle 30"/>
          <p:cNvSpPr/>
          <p:nvPr/>
        </p:nvSpPr>
        <p:spPr>
          <a:xfrm>
            <a:off x="7982711" y="1737360"/>
            <a:ext cx="530352" cy="219456"/>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20 s"/>
          <p:cNvSpPr txBox="1"/>
          <p:nvPr/>
        </p:nvSpPr>
        <p:spPr>
          <a:xfrm>
            <a:off x="7982711" y="1755648"/>
            <a:ext cx="530352" cy="201168"/>
          </a:xfrm>
          <a:prstGeom prst="rect">
            <a:avLst/>
          </a:prstGeom>
          <a:noFill/>
        </p:spPr>
        <p:txBody>
          <a:bodyPr wrap="square" lIns="9144" rIns="9144" tIns="0" bIns="0" anchor="ctr">
            <a:spAutoFit/>
          </a:bodyPr>
          <a:lstStyle/>
          <a:p>
            <a:pPr algn="ctr">
              <a:lnSpc>
                <a:spcPct val="106000"/>
              </a:lnSpc>
              <a:spcAft>
                <a:spcPts val="400"/>
              </a:spcAft>
              <a:defRPr sz="850" b="0">
                <a:solidFill>
                  <a:srgbClr val="B3A5FF"/>
                </a:solidFill>
                <a:latin typeface="Helvetica Neue"/>
              </a:defRPr>
            </a:pPr>
            <a:r>
              <a:t>20 s</a:t>
            </a:r>
          </a:p>
        </p:txBody>
      </p:sp>
      <p:sp>
        <p:nvSpPr>
          <p:cNvPr id="33" name="text:Limitation"/>
          <p:cNvSpPr txBox="1"/>
          <p:nvPr/>
        </p:nvSpPr>
        <p:spPr>
          <a:xfrm>
            <a:off x="7260336" y="2240280"/>
            <a:ext cx="1252728" cy="5029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Limitation</a:t>
            </a:r>
          </a:p>
        </p:txBody>
      </p:sp>
      <p:sp>
        <p:nvSpPr>
          <p:cNvPr id="34" name="text:What is still weak."/>
          <p:cNvSpPr txBox="1"/>
          <p:nvPr/>
        </p:nvSpPr>
        <p:spPr>
          <a:xfrm>
            <a:off x="7260336" y="2743200"/>
            <a:ext cx="1252728" cy="10515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What is still weak.</a:t>
            </a:r>
          </a:p>
        </p:txBody>
      </p:sp>
      <p:sp>
        <p:nvSpPr>
          <p:cNvPr id="35" name="Rounded Rectangle 34"/>
          <p:cNvSpPr/>
          <p:nvPr/>
        </p:nvSpPr>
        <p:spPr>
          <a:xfrm>
            <a:off x="548640" y="4023360"/>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A clear negative result is valuable."/>
          <p:cNvSpPr txBox="1"/>
          <p:nvPr/>
        </p:nvSpPr>
        <p:spPr>
          <a:xfrm>
            <a:off x="731520" y="4023360"/>
            <a:ext cx="7772400" cy="566928"/>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 clear negative result is valuable. Say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rder of presenter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Order of presenters</a:t>
            </a:r>
          </a:p>
        </p:txBody>
      </p:sp>
      <p:sp>
        <p:nvSpPr>
          <p:cNvPr id="3" name="text:Filled in by the leads on the day, f"/>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Filled in by the leads on the day, from the final project list.</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5760720" y="91440"/>
            <a:ext cx="2880360" cy="274320"/>
          </a:xfrm>
          <a:prstGeom prst="roundRect">
            <a:avLst>
              <a:gd name="adj" fmla="val 46666"/>
            </a:avLst>
          </a:prstGeom>
          <a:noFill/>
          <a:ln w="10160">
            <a:solidFill>
              <a:srgbClr val="FD51F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LACEHOLDER: leads fill this on the "/>
          <p:cNvSpPr txBox="1"/>
          <p:nvPr/>
        </p:nvSpPr>
        <p:spPr>
          <a:xfrm>
            <a:off x="5760720" y="128016"/>
            <a:ext cx="2880360" cy="228600"/>
          </a:xfrm>
          <a:prstGeom prst="rect">
            <a:avLst/>
          </a:prstGeom>
          <a:noFill/>
        </p:spPr>
        <p:txBody>
          <a:bodyPr wrap="square" lIns="9144" rIns="9144" tIns="0" bIns="0">
            <a:spAutoFit/>
          </a:bodyPr>
          <a:lstStyle/>
          <a:p>
            <a:pPr algn="ctr">
              <a:lnSpc>
                <a:spcPct val="106000"/>
              </a:lnSpc>
              <a:spcAft>
                <a:spcPts val="400"/>
              </a:spcAft>
              <a:defRPr sz="850" b="0">
                <a:solidFill>
                  <a:srgbClr val="FD51FC"/>
                </a:solidFill>
                <a:latin typeface="Helvetica Neue"/>
              </a:defRPr>
            </a:pPr>
            <a:r>
              <a:t>PLACEHOLDER: leads fill this on the day</a:t>
            </a:r>
          </a:p>
        </p:txBody>
      </p:sp>
      <p:sp>
        <p:nvSpPr>
          <p:cNvPr id="7" name="Rounded Rectangle 6"/>
          <p:cNvSpPr/>
          <p:nvPr/>
        </p:nvSpPr>
        <p:spPr>
          <a:xfrm>
            <a:off x="548640" y="1463040"/>
            <a:ext cx="1920240" cy="1234440"/>
          </a:xfrm>
          <a:prstGeom prst="roundRect">
            <a:avLst>
              <a:gd name="adj" fmla="val 10370"/>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SLOT 1"/>
          <p:cNvSpPr txBox="1"/>
          <p:nvPr/>
        </p:nvSpPr>
        <p:spPr>
          <a:xfrm>
            <a:off x="713232" y="1572768"/>
            <a:ext cx="1097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SLOT 1</a:t>
            </a:r>
          </a:p>
        </p:txBody>
      </p:sp>
      <p:sp>
        <p:nvSpPr>
          <p:cNvPr id="9" name="text:18:20"/>
          <p:cNvSpPr txBox="1"/>
          <p:nvPr/>
        </p:nvSpPr>
        <p:spPr>
          <a:xfrm>
            <a:off x="713232" y="1783080"/>
            <a:ext cx="118872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18:20</a:t>
            </a:r>
          </a:p>
        </p:txBody>
      </p:sp>
      <p:sp>
        <p:nvSpPr>
          <p:cNvPr id="10" name="text:to 18:25"/>
          <p:cNvSpPr txBox="1"/>
          <p:nvPr/>
        </p:nvSpPr>
        <p:spPr>
          <a:xfrm>
            <a:off x="1600200" y="1883664"/>
            <a:ext cx="777240" cy="18288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to 18:25</a:t>
            </a:r>
          </a:p>
        </p:txBody>
      </p:sp>
      <p:sp>
        <p:nvSpPr>
          <p:cNvPr id="11" name="text:Project and team to be added"/>
          <p:cNvSpPr txBox="1"/>
          <p:nvPr/>
        </p:nvSpPr>
        <p:spPr>
          <a:xfrm>
            <a:off x="713232" y="2267712"/>
            <a:ext cx="1645920" cy="36576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Project and team to be added</a:t>
            </a:r>
          </a:p>
        </p:txBody>
      </p:sp>
      <p:sp>
        <p:nvSpPr>
          <p:cNvPr id="12" name="Rounded Rectangle 11"/>
          <p:cNvSpPr/>
          <p:nvPr/>
        </p:nvSpPr>
        <p:spPr>
          <a:xfrm>
            <a:off x="2606040" y="1463040"/>
            <a:ext cx="1920240" cy="1234440"/>
          </a:xfrm>
          <a:prstGeom prst="roundRect">
            <a:avLst>
              <a:gd name="adj" fmla="val 10370"/>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SLOT 2"/>
          <p:cNvSpPr txBox="1"/>
          <p:nvPr/>
        </p:nvSpPr>
        <p:spPr>
          <a:xfrm>
            <a:off x="2770632" y="1572768"/>
            <a:ext cx="1097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SLOT 2</a:t>
            </a:r>
          </a:p>
        </p:txBody>
      </p:sp>
      <p:sp>
        <p:nvSpPr>
          <p:cNvPr id="14" name="text:18:25"/>
          <p:cNvSpPr txBox="1"/>
          <p:nvPr/>
        </p:nvSpPr>
        <p:spPr>
          <a:xfrm>
            <a:off x="2770632" y="1783080"/>
            <a:ext cx="118872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18:25</a:t>
            </a:r>
          </a:p>
        </p:txBody>
      </p:sp>
      <p:sp>
        <p:nvSpPr>
          <p:cNvPr id="15" name="text:to 18:30"/>
          <p:cNvSpPr txBox="1"/>
          <p:nvPr/>
        </p:nvSpPr>
        <p:spPr>
          <a:xfrm>
            <a:off x="3657600" y="1883664"/>
            <a:ext cx="777240" cy="18288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to 18:30</a:t>
            </a:r>
          </a:p>
        </p:txBody>
      </p:sp>
      <p:sp>
        <p:nvSpPr>
          <p:cNvPr id="16" name="text:Project and team to be added"/>
          <p:cNvSpPr txBox="1"/>
          <p:nvPr/>
        </p:nvSpPr>
        <p:spPr>
          <a:xfrm>
            <a:off x="2770632" y="2267712"/>
            <a:ext cx="1645920" cy="36576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Project and team to be added</a:t>
            </a:r>
          </a:p>
        </p:txBody>
      </p:sp>
      <p:sp>
        <p:nvSpPr>
          <p:cNvPr id="17" name="Rounded Rectangle 16"/>
          <p:cNvSpPr/>
          <p:nvPr/>
        </p:nvSpPr>
        <p:spPr>
          <a:xfrm>
            <a:off x="4663440" y="1463040"/>
            <a:ext cx="1920240" cy="1234440"/>
          </a:xfrm>
          <a:prstGeom prst="roundRect">
            <a:avLst>
              <a:gd name="adj" fmla="val 10370"/>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SLOT 3"/>
          <p:cNvSpPr txBox="1"/>
          <p:nvPr/>
        </p:nvSpPr>
        <p:spPr>
          <a:xfrm>
            <a:off x="4828031" y="1572768"/>
            <a:ext cx="1097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SLOT 3</a:t>
            </a:r>
          </a:p>
        </p:txBody>
      </p:sp>
      <p:sp>
        <p:nvSpPr>
          <p:cNvPr id="19" name="text:18:30"/>
          <p:cNvSpPr txBox="1"/>
          <p:nvPr/>
        </p:nvSpPr>
        <p:spPr>
          <a:xfrm>
            <a:off x="4828031" y="1783080"/>
            <a:ext cx="118872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18:30</a:t>
            </a:r>
          </a:p>
        </p:txBody>
      </p:sp>
      <p:sp>
        <p:nvSpPr>
          <p:cNvPr id="20" name="text:to 18:35"/>
          <p:cNvSpPr txBox="1"/>
          <p:nvPr/>
        </p:nvSpPr>
        <p:spPr>
          <a:xfrm>
            <a:off x="5715000" y="1883664"/>
            <a:ext cx="777240" cy="18288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to 18:35</a:t>
            </a:r>
          </a:p>
        </p:txBody>
      </p:sp>
      <p:sp>
        <p:nvSpPr>
          <p:cNvPr id="21" name="text:Project and team to be added"/>
          <p:cNvSpPr txBox="1"/>
          <p:nvPr/>
        </p:nvSpPr>
        <p:spPr>
          <a:xfrm>
            <a:off x="4828031" y="2267712"/>
            <a:ext cx="1645920" cy="36576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Project and team to be added</a:t>
            </a:r>
          </a:p>
        </p:txBody>
      </p:sp>
      <p:sp>
        <p:nvSpPr>
          <p:cNvPr id="22" name="Rounded Rectangle 21"/>
          <p:cNvSpPr/>
          <p:nvPr/>
        </p:nvSpPr>
        <p:spPr>
          <a:xfrm>
            <a:off x="6720840" y="1463040"/>
            <a:ext cx="1920240" cy="1234440"/>
          </a:xfrm>
          <a:prstGeom prst="roundRect">
            <a:avLst>
              <a:gd name="adj" fmla="val 10370"/>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SLOT 4"/>
          <p:cNvSpPr txBox="1"/>
          <p:nvPr/>
        </p:nvSpPr>
        <p:spPr>
          <a:xfrm>
            <a:off x="6885431" y="1572768"/>
            <a:ext cx="1097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SLOT 4</a:t>
            </a:r>
          </a:p>
        </p:txBody>
      </p:sp>
      <p:sp>
        <p:nvSpPr>
          <p:cNvPr id="24" name="text:18:35"/>
          <p:cNvSpPr txBox="1"/>
          <p:nvPr/>
        </p:nvSpPr>
        <p:spPr>
          <a:xfrm>
            <a:off x="6885431" y="1783080"/>
            <a:ext cx="118872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18:35</a:t>
            </a:r>
          </a:p>
        </p:txBody>
      </p:sp>
      <p:sp>
        <p:nvSpPr>
          <p:cNvPr id="25" name="text:to 18:40"/>
          <p:cNvSpPr txBox="1"/>
          <p:nvPr/>
        </p:nvSpPr>
        <p:spPr>
          <a:xfrm>
            <a:off x="7772400" y="1883664"/>
            <a:ext cx="777240" cy="18288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to 18:40</a:t>
            </a:r>
          </a:p>
        </p:txBody>
      </p:sp>
      <p:sp>
        <p:nvSpPr>
          <p:cNvPr id="26" name="text:Project and team to be added"/>
          <p:cNvSpPr txBox="1"/>
          <p:nvPr/>
        </p:nvSpPr>
        <p:spPr>
          <a:xfrm>
            <a:off x="6885431" y="2267712"/>
            <a:ext cx="1645920" cy="36576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Project and team to be added</a:t>
            </a:r>
          </a:p>
        </p:txBody>
      </p:sp>
      <p:sp>
        <p:nvSpPr>
          <p:cNvPr id="27" name="Rounded Rectangle 26"/>
          <p:cNvSpPr/>
          <p:nvPr/>
        </p:nvSpPr>
        <p:spPr>
          <a:xfrm>
            <a:off x="548640" y="2834640"/>
            <a:ext cx="1920240" cy="1234440"/>
          </a:xfrm>
          <a:prstGeom prst="roundRect">
            <a:avLst>
              <a:gd name="adj" fmla="val 10370"/>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SLOT 5"/>
          <p:cNvSpPr txBox="1"/>
          <p:nvPr/>
        </p:nvSpPr>
        <p:spPr>
          <a:xfrm>
            <a:off x="713232" y="2944368"/>
            <a:ext cx="1097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SLOT 5</a:t>
            </a:r>
          </a:p>
        </p:txBody>
      </p:sp>
      <p:sp>
        <p:nvSpPr>
          <p:cNvPr id="29" name="text:18:40"/>
          <p:cNvSpPr txBox="1"/>
          <p:nvPr/>
        </p:nvSpPr>
        <p:spPr>
          <a:xfrm>
            <a:off x="713232" y="3154680"/>
            <a:ext cx="118872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18:40</a:t>
            </a:r>
          </a:p>
        </p:txBody>
      </p:sp>
      <p:sp>
        <p:nvSpPr>
          <p:cNvPr id="30" name="text:to 18:45"/>
          <p:cNvSpPr txBox="1"/>
          <p:nvPr/>
        </p:nvSpPr>
        <p:spPr>
          <a:xfrm>
            <a:off x="1600200" y="3255264"/>
            <a:ext cx="777240" cy="18288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to 18:45</a:t>
            </a:r>
          </a:p>
        </p:txBody>
      </p:sp>
      <p:sp>
        <p:nvSpPr>
          <p:cNvPr id="31" name="text:Project and team to be added"/>
          <p:cNvSpPr txBox="1"/>
          <p:nvPr/>
        </p:nvSpPr>
        <p:spPr>
          <a:xfrm>
            <a:off x="713232" y="3639312"/>
            <a:ext cx="1645920" cy="36576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Project and team to be added</a:t>
            </a:r>
          </a:p>
        </p:txBody>
      </p:sp>
      <p:sp>
        <p:nvSpPr>
          <p:cNvPr id="32" name="Rounded Rectangle 31"/>
          <p:cNvSpPr/>
          <p:nvPr/>
        </p:nvSpPr>
        <p:spPr>
          <a:xfrm>
            <a:off x="2606040" y="2834640"/>
            <a:ext cx="1920240" cy="1234440"/>
          </a:xfrm>
          <a:prstGeom prst="roundRect">
            <a:avLst>
              <a:gd name="adj" fmla="val 10370"/>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SLOT 6"/>
          <p:cNvSpPr txBox="1"/>
          <p:nvPr/>
        </p:nvSpPr>
        <p:spPr>
          <a:xfrm>
            <a:off x="2770632" y="2944368"/>
            <a:ext cx="1097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SLOT 6</a:t>
            </a:r>
          </a:p>
        </p:txBody>
      </p:sp>
      <p:sp>
        <p:nvSpPr>
          <p:cNvPr id="34" name="text:18:45"/>
          <p:cNvSpPr txBox="1"/>
          <p:nvPr/>
        </p:nvSpPr>
        <p:spPr>
          <a:xfrm>
            <a:off x="2770632" y="3154680"/>
            <a:ext cx="118872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18:45</a:t>
            </a:r>
          </a:p>
        </p:txBody>
      </p:sp>
      <p:sp>
        <p:nvSpPr>
          <p:cNvPr id="35" name="text:to 18:50"/>
          <p:cNvSpPr txBox="1"/>
          <p:nvPr/>
        </p:nvSpPr>
        <p:spPr>
          <a:xfrm>
            <a:off x="3657600" y="3255264"/>
            <a:ext cx="777240" cy="18288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to 18:50</a:t>
            </a:r>
          </a:p>
        </p:txBody>
      </p:sp>
      <p:sp>
        <p:nvSpPr>
          <p:cNvPr id="36" name="text:Project and team to be added"/>
          <p:cNvSpPr txBox="1"/>
          <p:nvPr/>
        </p:nvSpPr>
        <p:spPr>
          <a:xfrm>
            <a:off x="2770632" y="3639312"/>
            <a:ext cx="1645920" cy="36576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Project and team to be added</a:t>
            </a:r>
          </a:p>
        </p:txBody>
      </p:sp>
      <p:sp>
        <p:nvSpPr>
          <p:cNvPr id="37" name="Rounded Rectangle 36"/>
          <p:cNvSpPr/>
          <p:nvPr/>
        </p:nvSpPr>
        <p:spPr>
          <a:xfrm>
            <a:off x="4663440" y="2834640"/>
            <a:ext cx="1920240" cy="1234440"/>
          </a:xfrm>
          <a:prstGeom prst="roundRect">
            <a:avLst>
              <a:gd name="adj" fmla="val 10370"/>
            </a:avLst>
          </a:prstGeom>
          <a:noFill/>
          <a:ln w="10160">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SLOT 7"/>
          <p:cNvSpPr txBox="1"/>
          <p:nvPr/>
        </p:nvSpPr>
        <p:spPr>
          <a:xfrm>
            <a:off x="4828031" y="2944368"/>
            <a:ext cx="1097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SLOT 7</a:t>
            </a:r>
          </a:p>
        </p:txBody>
      </p:sp>
      <p:sp>
        <p:nvSpPr>
          <p:cNvPr id="39" name="text:18:50"/>
          <p:cNvSpPr txBox="1"/>
          <p:nvPr/>
        </p:nvSpPr>
        <p:spPr>
          <a:xfrm>
            <a:off x="4828031" y="3154680"/>
            <a:ext cx="118872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18:50</a:t>
            </a:r>
          </a:p>
        </p:txBody>
      </p:sp>
      <p:sp>
        <p:nvSpPr>
          <p:cNvPr id="40" name="text:to 18:55"/>
          <p:cNvSpPr txBox="1"/>
          <p:nvPr/>
        </p:nvSpPr>
        <p:spPr>
          <a:xfrm>
            <a:off x="5715000" y="3255264"/>
            <a:ext cx="777240" cy="18288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to 18:55</a:t>
            </a:r>
          </a:p>
        </p:txBody>
      </p:sp>
      <p:sp>
        <p:nvSpPr>
          <p:cNvPr id="41" name="text:Project and team to be added"/>
          <p:cNvSpPr txBox="1"/>
          <p:nvPr/>
        </p:nvSpPr>
        <p:spPr>
          <a:xfrm>
            <a:off x="4828031" y="3639312"/>
            <a:ext cx="1645920" cy="36576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Project and team to be added</a:t>
            </a:r>
          </a:p>
        </p:txBody>
      </p:sp>
      <p:sp>
        <p:nvSpPr>
          <p:cNvPr id="42" name="Rounded Rectangle 41"/>
          <p:cNvSpPr/>
          <p:nvPr/>
        </p:nvSpPr>
        <p:spPr>
          <a:xfrm>
            <a:off x="6720840" y="2834640"/>
            <a:ext cx="1920240" cy="1234440"/>
          </a:xfrm>
          <a:prstGeom prst="roundRect">
            <a:avLst>
              <a:gd name="adj" fmla="val 103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Seven slots of 3 + 2 minutes. More t"/>
          <p:cNvSpPr txBox="1"/>
          <p:nvPr/>
        </p:nvSpPr>
        <p:spPr>
          <a:xfrm>
            <a:off x="6858000" y="2926080"/>
            <a:ext cx="1645920" cy="10972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Seven slots of 3 + 2 minutes. More than seven projects: the rest go to a lightning slot or the peer gallery.</a:t>
            </a:r>
          </a:p>
        </p:txBody>
      </p:sp>
      <p:sp>
        <p:nvSpPr>
          <p:cNvPr id="44" name="text:Run-of-show timer: https://nus-solan"/>
          <p:cNvSpPr txBox="1"/>
          <p:nvPr/>
        </p:nvSpPr>
        <p:spPr>
          <a:xfrm>
            <a:off x="548640" y="4251960"/>
            <a:ext cx="8092440" cy="228600"/>
          </a:xfrm>
          <a:prstGeom prst="rect">
            <a:avLst/>
          </a:prstGeom>
          <a:noFill/>
        </p:spPr>
        <p:txBody>
          <a:bodyPr wrap="square" lIns="9144" rIns="9144" tIns="0" bIns="0">
            <a:spAutoFit/>
          </a:bodyPr>
          <a:lstStyle/>
          <a:p>
            <a:pPr>
              <a:lnSpc>
                <a:spcPct val="106000"/>
              </a:lnSpc>
              <a:spcAft>
                <a:spcPts val="400"/>
              </a:spcAft>
              <a:defRPr sz="950" b="0">
                <a:solidFill>
                  <a:srgbClr val="B3A5FF"/>
                </a:solidFill>
                <a:latin typeface="Menlo"/>
              </a:defRPr>
            </a:pPr>
            <a:r>
              <a:t>Run-of-show timer: https://nus-solana-demos.vercel.app/0010/03-run-of-show-timer.html</a:t>
            </a:r>
          </a:p>
        </p:txBody>
      </p:sp>
      <p:sp>
        <p:nvSpPr>
          <p:cNvPr id="45" name="text:Live mode: switch it on to watch rea"/>
          <p:cNvSpPr txBox="1"/>
          <p:nvPr/>
        </p:nvSpPr>
        <p:spPr>
          <a:xfrm>
            <a:off x="548640" y="4480560"/>
            <a:ext cx="809244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46" name="text:Source: demo-repo/code/out/schedul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demo-repo/code/out/schedule.json (18:20 to 18:55, 3 + 2 minutes per slot). No project names: filled in by the leads.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How projects are judged"/>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How projects are judged</a:t>
            </a:r>
          </a:p>
        </p:txBody>
      </p:sp>
      <p:sp>
        <p:nvSpPr>
          <p:cNvPr id="3" name="text:Five criteria, 100 points, published"/>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Five criteria, 100 points, published before tonight.</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sp>
        <p:nvSpPr>
          <p:cNvPr id="5" name="Rounded Rectangle 4"/>
          <p:cNvSpPr/>
          <p:nvPr/>
        </p:nvSpPr>
        <p:spPr>
          <a:xfrm>
            <a:off x="548640" y="1417320"/>
            <a:ext cx="1527048" cy="2103120"/>
          </a:xfrm>
          <a:prstGeom prst="roundRect">
            <a:avLst>
              <a:gd name="adj" fmla="val 838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30"/>
          <p:cNvSpPr txBox="1"/>
          <p:nvPr/>
        </p:nvSpPr>
        <p:spPr>
          <a:xfrm>
            <a:off x="694944" y="1481328"/>
            <a:ext cx="1097280" cy="50292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30</a:t>
            </a:r>
          </a:p>
        </p:txBody>
      </p:sp>
      <p:sp>
        <p:nvSpPr>
          <p:cNvPr id="7" name="text:points"/>
          <p:cNvSpPr txBox="1"/>
          <p:nvPr/>
        </p:nvSpPr>
        <p:spPr>
          <a:xfrm>
            <a:off x="694944" y="2011680"/>
            <a:ext cx="10972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points</a:t>
            </a:r>
          </a:p>
        </p:txBody>
      </p:sp>
      <p:sp>
        <p:nvSpPr>
          <p:cNvPr id="8" name="text:Utility"/>
          <p:cNvSpPr txBox="1"/>
          <p:nvPr/>
        </p:nvSpPr>
        <p:spPr>
          <a:xfrm>
            <a:off x="694944" y="2212848"/>
            <a:ext cx="1252728" cy="411480"/>
          </a:xfrm>
          <a:prstGeom prst="rect">
            <a:avLst/>
          </a:prstGeom>
          <a:noFill/>
        </p:spPr>
        <p:txBody>
          <a:bodyPr wrap="square" lIns="9144" rIns="9144" tIns="0" bIns="0">
            <a:spAutoFit/>
          </a:bodyPr>
          <a:lstStyle/>
          <a:p>
            <a:pPr>
              <a:lnSpc>
                <a:spcPct val="106000"/>
              </a:lnSpc>
              <a:spcAft>
                <a:spcPts val="400"/>
              </a:spcAft>
              <a:defRPr sz="1200" b="0">
                <a:solidFill>
                  <a:srgbClr val="3DDC97"/>
                </a:solidFill>
                <a:latin typeface="Helvetica Neue"/>
              </a:defRPr>
            </a:pPr>
            <a:r>
              <a:t>Utility</a:t>
            </a:r>
          </a:p>
        </p:txBody>
      </p:sp>
      <p:sp>
        <p:nvSpPr>
          <p:cNvPr id="9" name="text:Would someone else use this, or lear"/>
          <p:cNvSpPr txBox="1"/>
          <p:nvPr/>
        </p:nvSpPr>
        <p:spPr>
          <a:xfrm>
            <a:off x="694944" y="2724912"/>
            <a:ext cx="1252728" cy="77724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Would someone else use this, or learn from it?</a:t>
            </a:r>
          </a:p>
        </p:txBody>
      </p:sp>
      <p:sp>
        <p:nvSpPr>
          <p:cNvPr id="10" name="Rounded Rectangle 9"/>
          <p:cNvSpPr/>
          <p:nvPr/>
        </p:nvSpPr>
        <p:spPr>
          <a:xfrm>
            <a:off x="2189988" y="1417320"/>
            <a:ext cx="1527048" cy="2103120"/>
          </a:xfrm>
          <a:prstGeom prst="roundRect">
            <a:avLst>
              <a:gd name="adj" fmla="val 838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5"/>
          <p:cNvSpPr txBox="1"/>
          <p:nvPr/>
        </p:nvSpPr>
        <p:spPr>
          <a:xfrm>
            <a:off x="2336292" y="1481328"/>
            <a:ext cx="1097280" cy="50292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25</a:t>
            </a:r>
          </a:p>
        </p:txBody>
      </p:sp>
      <p:sp>
        <p:nvSpPr>
          <p:cNvPr id="12" name="text:points"/>
          <p:cNvSpPr txBox="1"/>
          <p:nvPr/>
        </p:nvSpPr>
        <p:spPr>
          <a:xfrm>
            <a:off x="2336292" y="2011680"/>
            <a:ext cx="10972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points</a:t>
            </a:r>
          </a:p>
        </p:txBody>
      </p:sp>
      <p:sp>
        <p:nvSpPr>
          <p:cNvPr id="13" name="text:Reproducible tests"/>
          <p:cNvSpPr txBox="1"/>
          <p:nvPr/>
        </p:nvSpPr>
        <p:spPr>
          <a:xfrm>
            <a:off x="2336292" y="2212848"/>
            <a:ext cx="1252728" cy="411480"/>
          </a:xfrm>
          <a:prstGeom prst="rect">
            <a:avLst/>
          </a:prstGeom>
          <a:noFill/>
        </p:spPr>
        <p:txBody>
          <a:bodyPr wrap="square" lIns="9144" rIns="9144" tIns="0" bIns="0">
            <a:spAutoFit/>
          </a:bodyPr>
          <a:lstStyle/>
          <a:p>
            <a:pPr>
              <a:lnSpc>
                <a:spcPct val="106000"/>
              </a:lnSpc>
              <a:spcAft>
                <a:spcPts val="400"/>
              </a:spcAft>
              <a:defRPr sz="1200" b="0">
                <a:solidFill>
                  <a:srgbClr val="3DDC97"/>
                </a:solidFill>
                <a:latin typeface="Helvetica Neue"/>
              </a:defRPr>
            </a:pPr>
            <a:r>
              <a:t>Reproducible tests</a:t>
            </a:r>
          </a:p>
        </p:txBody>
      </p:sp>
      <p:sp>
        <p:nvSpPr>
          <p:cNvPr id="14" name="text:Can a stranger run the tests from a "/>
          <p:cNvSpPr txBox="1"/>
          <p:nvPr/>
        </p:nvSpPr>
        <p:spPr>
          <a:xfrm>
            <a:off x="2336292" y="2724912"/>
            <a:ext cx="1252728" cy="77724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Can a stranger run the tests from a clean clone and get the same result?</a:t>
            </a:r>
          </a:p>
        </p:txBody>
      </p:sp>
      <p:sp>
        <p:nvSpPr>
          <p:cNvPr id="15" name="Rounded Rectangle 14"/>
          <p:cNvSpPr/>
          <p:nvPr/>
        </p:nvSpPr>
        <p:spPr>
          <a:xfrm>
            <a:off x="3831335" y="1417320"/>
            <a:ext cx="1527048" cy="2103120"/>
          </a:xfrm>
          <a:prstGeom prst="roundRect">
            <a:avLst>
              <a:gd name="adj" fmla="val 838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25"/>
          <p:cNvSpPr txBox="1"/>
          <p:nvPr/>
        </p:nvSpPr>
        <p:spPr>
          <a:xfrm>
            <a:off x="3977639" y="1481328"/>
            <a:ext cx="1097280" cy="50292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25</a:t>
            </a:r>
          </a:p>
        </p:txBody>
      </p:sp>
      <p:sp>
        <p:nvSpPr>
          <p:cNvPr id="17" name="text:points"/>
          <p:cNvSpPr txBox="1"/>
          <p:nvPr/>
        </p:nvSpPr>
        <p:spPr>
          <a:xfrm>
            <a:off x="3977639" y="2011680"/>
            <a:ext cx="10972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points</a:t>
            </a:r>
          </a:p>
        </p:txBody>
      </p:sp>
      <p:sp>
        <p:nvSpPr>
          <p:cNvPr id="18" name="text:Devnet evidence"/>
          <p:cNvSpPr txBox="1"/>
          <p:nvPr/>
        </p:nvSpPr>
        <p:spPr>
          <a:xfrm>
            <a:off x="3977639" y="2212848"/>
            <a:ext cx="1252728" cy="411480"/>
          </a:xfrm>
          <a:prstGeom prst="rect">
            <a:avLst/>
          </a:prstGeom>
          <a:noFill/>
        </p:spPr>
        <p:txBody>
          <a:bodyPr wrap="square" lIns="9144" rIns="9144" tIns="0" bIns="0">
            <a:spAutoFit/>
          </a:bodyPr>
          <a:lstStyle/>
          <a:p>
            <a:pPr>
              <a:lnSpc>
                <a:spcPct val="106000"/>
              </a:lnSpc>
              <a:spcAft>
                <a:spcPts val="400"/>
              </a:spcAft>
              <a:defRPr sz="1200" b="0">
                <a:solidFill>
                  <a:srgbClr val="3DDC97"/>
                </a:solidFill>
                <a:latin typeface="Helvetica Neue"/>
              </a:defRPr>
            </a:pPr>
            <a:r>
              <a:t>Devnet evidence</a:t>
            </a:r>
          </a:p>
        </p:txBody>
      </p:sp>
      <p:sp>
        <p:nvSpPr>
          <p:cNvPr id="19" name="text:Is there a devnet transaction or pro"/>
          <p:cNvSpPr txBox="1"/>
          <p:nvPr/>
        </p:nvSpPr>
        <p:spPr>
          <a:xfrm>
            <a:off x="3977639" y="2724912"/>
            <a:ext cx="1252728" cy="77724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Is there a devnet transaction or program anyone can check?</a:t>
            </a:r>
          </a:p>
        </p:txBody>
      </p:sp>
      <p:sp>
        <p:nvSpPr>
          <p:cNvPr id="20" name="Rounded Rectangle 19"/>
          <p:cNvSpPr/>
          <p:nvPr/>
        </p:nvSpPr>
        <p:spPr>
          <a:xfrm>
            <a:off x="5472683" y="1417320"/>
            <a:ext cx="1527048" cy="2103120"/>
          </a:xfrm>
          <a:prstGeom prst="roundRect">
            <a:avLst>
              <a:gd name="adj" fmla="val 838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0"/>
          <p:cNvSpPr txBox="1"/>
          <p:nvPr/>
        </p:nvSpPr>
        <p:spPr>
          <a:xfrm>
            <a:off x="5618988" y="1481328"/>
            <a:ext cx="1097280" cy="50292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10</a:t>
            </a:r>
          </a:p>
        </p:txBody>
      </p:sp>
      <p:sp>
        <p:nvSpPr>
          <p:cNvPr id="22" name="text:points"/>
          <p:cNvSpPr txBox="1"/>
          <p:nvPr/>
        </p:nvSpPr>
        <p:spPr>
          <a:xfrm>
            <a:off x="5618988" y="2011680"/>
            <a:ext cx="10972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points</a:t>
            </a:r>
          </a:p>
        </p:txBody>
      </p:sp>
      <p:sp>
        <p:nvSpPr>
          <p:cNvPr id="23" name="text:Clear explanation"/>
          <p:cNvSpPr txBox="1"/>
          <p:nvPr/>
        </p:nvSpPr>
        <p:spPr>
          <a:xfrm>
            <a:off x="5618988" y="2212848"/>
            <a:ext cx="1252728" cy="41148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Clear explanation</a:t>
            </a:r>
          </a:p>
        </p:txBody>
      </p:sp>
      <p:sp>
        <p:nvSpPr>
          <p:cNvPr id="24" name="text:Problem, failed attempt, useful chan"/>
          <p:cNvSpPr txBox="1"/>
          <p:nvPr/>
        </p:nvSpPr>
        <p:spPr>
          <a:xfrm>
            <a:off x="5618988" y="2724912"/>
            <a:ext cx="1252728" cy="77724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Problem, failed attempt, useful change, test, limitation: was the story clear?</a:t>
            </a:r>
          </a:p>
        </p:txBody>
      </p:sp>
      <p:sp>
        <p:nvSpPr>
          <p:cNvPr id="25" name="Rounded Rectangle 24"/>
          <p:cNvSpPr/>
          <p:nvPr/>
        </p:nvSpPr>
        <p:spPr>
          <a:xfrm>
            <a:off x="7114031" y="1417320"/>
            <a:ext cx="1527048" cy="2103120"/>
          </a:xfrm>
          <a:prstGeom prst="roundRect">
            <a:avLst>
              <a:gd name="adj" fmla="val 838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0"/>
          <p:cNvSpPr txBox="1"/>
          <p:nvPr/>
        </p:nvSpPr>
        <p:spPr>
          <a:xfrm>
            <a:off x="7260336" y="1481328"/>
            <a:ext cx="1097280" cy="50292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10</a:t>
            </a:r>
          </a:p>
        </p:txBody>
      </p:sp>
      <p:sp>
        <p:nvSpPr>
          <p:cNvPr id="27" name="text:points"/>
          <p:cNvSpPr txBox="1"/>
          <p:nvPr/>
        </p:nvSpPr>
        <p:spPr>
          <a:xfrm>
            <a:off x="7260336" y="2011680"/>
            <a:ext cx="10972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points</a:t>
            </a:r>
          </a:p>
        </p:txBody>
      </p:sp>
      <p:sp>
        <p:nvSpPr>
          <p:cNvPr id="28" name="text:Sustained contribution"/>
          <p:cNvSpPr txBox="1"/>
          <p:nvPr/>
        </p:nvSpPr>
        <p:spPr>
          <a:xfrm>
            <a:off x="7260336" y="2212848"/>
            <a:ext cx="1252728" cy="41148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Sustained contribution</a:t>
            </a:r>
          </a:p>
        </p:txBody>
      </p:sp>
      <p:sp>
        <p:nvSpPr>
          <p:cNvPr id="29" name="text:Did the work grow over the semester,"/>
          <p:cNvSpPr txBox="1"/>
          <p:nvPr/>
        </p:nvSpPr>
        <p:spPr>
          <a:xfrm>
            <a:off x="7260336" y="2724912"/>
            <a:ext cx="1252728" cy="77724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Did the work grow over the semester, with commits from the whole team?</a:t>
            </a:r>
          </a:p>
        </p:txBody>
      </p:sp>
      <p:sp>
        <p:nvSpPr>
          <p:cNvPr id="30" name="Rounded Rectangle 29"/>
          <p:cNvSpPr/>
          <p:nvPr/>
        </p:nvSpPr>
        <p:spPr>
          <a:xfrm>
            <a:off x="548640" y="3566160"/>
            <a:ext cx="2400300" cy="201168"/>
          </a:xfrm>
          <a:prstGeom prst="roundRect">
            <a:avLst>
              <a:gd name="adj" fmla="val 22727"/>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76372" y="3566160"/>
            <a:ext cx="1995678" cy="201168"/>
          </a:xfrm>
          <a:prstGeom prst="roundRect">
            <a:avLst>
              <a:gd name="adj" fmla="val 22727"/>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999481" y="3566160"/>
            <a:ext cx="1995678" cy="201168"/>
          </a:xfrm>
          <a:prstGeom prst="roundRect">
            <a:avLst>
              <a:gd name="adj" fmla="val 22727"/>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022592" y="3566160"/>
            <a:ext cx="781812" cy="201168"/>
          </a:xfrm>
          <a:prstGeom prst="roundRect">
            <a:avLst>
              <a:gd name="adj" fmla="val 22727"/>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831836" y="3566160"/>
            <a:ext cx="781812" cy="201168"/>
          </a:xfrm>
          <a:prstGeom prst="roundRect">
            <a:avLst>
              <a:gd name="adj" fmla="val 22727"/>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Weights add up to 100. Utility, test"/>
          <p:cNvSpPr txBox="1"/>
          <p:nvPr/>
        </p:nvSpPr>
        <p:spPr>
          <a:xfrm>
            <a:off x="548640" y="3794760"/>
            <a:ext cx="809244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Weights add up to 100. Utility, tests and devnet evidence carry 80.</a:t>
            </a:r>
          </a:p>
        </p:txBody>
      </p:sp>
      <p:sp>
        <p:nvSpPr>
          <p:cNvPr id="36" name="Rounded Rectangle 35"/>
          <p:cNvSpPr/>
          <p:nvPr/>
        </p:nvSpPr>
        <p:spPr>
          <a:xfrm>
            <a:off x="548640" y="4069080"/>
            <a:ext cx="8092440" cy="530352"/>
          </a:xfrm>
          <a:prstGeom prst="roundRect">
            <a:avLst>
              <a:gd name="adj" fmla="val 24137"/>
            </a:avLst>
          </a:prstGeom>
          <a:solidFill>
            <a:srgbClr val="100821"/>
          </a:solid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Never scored: simulated returns, pro"/>
          <p:cNvSpPr txBox="1"/>
          <p:nvPr/>
        </p:nvSpPr>
        <p:spPr>
          <a:xfrm>
            <a:off x="731520" y="4069080"/>
            <a:ext cx="7772400" cy="530352"/>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Never scored: simulated returns, profit claims, backtest return charts.</a:t>
            </a:r>
          </a:p>
        </p:txBody>
      </p:sp>
      <p:sp>
        <p:nvSpPr>
          <p:cNvPr id="38" name="text:Source: demo-repo/code/out/rubric.j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demo-repo/code/out/rubric.json. Weights are a proposal for the leads to confirm.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vnet evidence you can che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Devnet evidence you can check</a:t>
            </a:r>
          </a:p>
        </p:txBody>
      </p:sp>
      <p:sp>
        <p:nvSpPr>
          <p:cNvPr id="3" name="text:A signature on a slide is a claim. 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signature on a slide is a claim. A signature devnet confirms is evidence.</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548640" y="150876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618488"/>
            <a:ext cx="365760" cy="45720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a:t>
            </a:r>
          </a:p>
        </p:txBody>
      </p:sp>
      <p:sp>
        <p:nvSpPr>
          <p:cNvPr id="7" name="text:Show it"/>
          <p:cNvSpPr txBox="1"/>
          <p:nvPr/>
        </p:nvSpPr>
        <p:spPr>
          <a:xfrm>
            <a:off x="1234440" y="1691640"/>
            <a:ext cx="173736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Show it</a:t>
            </a:r>
          </a:p>
        </p:txBody>
      </p:sp>
      <p:sp>
        <p:nvSpPr>
          <p:cNvPr id="8" name="text:The transaction signature, in the RE"/>
          <p:cNvSpPr txBox="1"/>
          <p:nvPr/>
        </p:nvSpPr>
        <p:spPr>
          <a:xfrm>
            <a:off x="731520" y="2194560"/>
            <a:ext cx="2240280" cy="64008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transaction signature, in the README or on screen.</a:t>
            </a:r>
          </a:p>
        </p:txBody>
      </p:sp>
      <p:cxnSp>
        <p:nvCxnSpPr>
          <p:cNvPr id="9" name="Connector 8"/>
          <p:cNvCxnSpPr/>
          <p:nvPr/>
        </p:nvCxnSpPr>
        <p:spPr>
          <a:xfrm>
            <a:off x="3136392" y="2194560"/>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37560" y="150876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3520440" y="1618488"/>
            <a:ext cx="365760" cy="45720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2</a:t>
            </a:r>
          </a:p>
        </p:txBody>
      </p:sp>
      <p:sp>
        <p:nvSpPr>
          <p:cNvPr id="12" name="text:We ask devnet"/>
          <p:cNvSpPr txBox="1"/>
          <p:nvPr/>
        </p:nvSpPr>
        <p:spPr>
          <a:xfrm>
            <a:off x="4023360" y="1691640"/>
            <a:ext cx="173736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We ask devnet</a:t>
            </a:r>
          </a:p>
        </p:txBody>
      </p:sp>
      <p:sp>
        <p:nvSpPr>
          <p:cNvPr id="13" name="text:A read-only check. Nothing is sent."/>
          <p:cNvSpPr txBox="1"/>
          <p:nvPr/>
        </p:nvSpPr>
        <p:spPr>
          <a:xfrm>
            <a:off x="3520440" y="2194560"/>
            <a:ext cx="2240280" cy="64008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A read-only check. Nothing is sent.</a:t>
            </a:r>
          </a:p>
        </p:txBody>
      </p:sp>
      <p:cxnSp>
        <p:nvCxnSpPr>
          <p:cNvPr id="14" name="Connector 13"/>
          <p:cNvCxnSpPr/>
          <p:nvPr/>
        </p:nvCxnSpPr>
        <p:spPr>
          <a:xfrm>
            <a:off x="5925312" y="2194560"/>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26479" y="1508760"/>
            <a:ext cx="2560320" cy="1371600"/>
          </a:xfrm>
          <a:prstGeom prst="roundRect">
            <a:avLst>
              <a:gd name="adj" fmla="val 933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6309359" y="1618488"/>
            <a:ext cx="365760" cy="45720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3</a:t>
            </a:r>
          </a:p>
        </p:txBody>
      </p:sp>
      <p:sp>
        <p:nvSpPr>
          <p:cNvPr id="17" name="text:Read the answer"/>
          <p:cNvSpPr txBox="1"/>
          <p:nvPr/>
        </p:nvSpPr>
        <p:spPr>
          <a:xfrm>
            <a:off x="6812279" y="1691640"/>
            <a:ext cx="173736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Read the answer</a:t>
            </a:r>
          </a:p>
        </p:txBody>
      </p:sp>
      <p:sp>
        <p:nvSpPr>
          <p:cNvPr id="18" name="text:Status and slot, or not found."/>
          <p:cNvSpPr txBox="1"/>
          <p:nvPr/>
        </p:nvSpPr>
        <p:spPr>
          <a:xfrm>
            <a:off x="6309359" y="2194560"/>
            <a:ext cx="2240280" cy="64008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Status and slot, or not found.</a:t>
            </a:r>
          </a:p>
        </p:txBody>
      </p:sp>
      <p:sp>
        <p:nvSpPr>
          <p:cNvPr id="19" name="Rounded Rectangle 18"/>
          <p:cNvSpPr/>
          <p:nvPr/>
        </p:nvSpPr>
        <p:spPr>
          <a:xfrm>
            <a:off x="548640" y="3063240"/>
            <a:ext cx="5120640" cy="1508760"/>
          </a:xfrm>
          <a:prstGeom prst="roundRect">
            <a:avLst>
              <a:gd name="adj" fmla="val 8484"/>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SAMPLE CHECK (REAL, 22 OCT 2026, NOT"/>
          <p:cNvSpPr txBox="1"/>
          <p:nvPr/>
        </p:nvSpPr>
        <p:spPr>
          <a:xfrm>
            <a:off x="731520" y="3154680"/>
            <a:ext cx="484632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SAMPLE CHECK (REAL, 22 OCT 2026, NOT A STUDENT TRANSACTION)</a:t>
            </a:r>
          </a:p>
        </p:txBody>
      </p:sp>
      <p:sp>
        <p:nvSpPr>
          <p:cNvPr id="21" name="text:signature  2eGnTvKi...krTXY6"/>
          <p:cNvSpPr txBox="1"/>
          <p:nvPr/>
        </p:nvSpPr>
        <p:spPr>
          <a:xfrm>
            <a:off x="731520" y="3429000"/>
            <a:ext cx="4846320"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Menlo"/>
              </a:defRPr>
            </a:pPr>
            <a:r>
              <a:t>signature  2eGnTvKi...krTXY6</a:t>
            </a:r>
          </a:p>
        </p:txBody>
      </p:sp>
      <p:sp>
        <p:nvSpPr>
          <p:cNvPr id="22" name="text:status     finalized"/>
          <p:cNvSpPr txBox="1"/>
          <p:nvPr/>
        </p:nvSpPr>
        <p:spPr>
          <a:xfrm>
            <a:off x="731520" y="3721608"/>
            <a:ext cx="4846320" cy="274320"/>
          </a:xfrm>
          <a:prstGeom prst="rect">
            <a:avLst/>
          </a:prstGeom>
          <a:noFill/>
        </p:spPr>
        <p:txBody>
          <a:bodyPr wrap="square" lIns="9144" rIns="9144" tIns="0" bIns="0">
            <a:spAutoFit/>
          </a:bodyPr>
          <a:lstStyle/>
          <a:p>
            <a:pPr>
              <a:lnSpc>
                <a:spcPct val="106000"/>
              </a:lnSpc>
              <a:spcAft>
                <a:spcPts val="400"/>
              </a:spcAft>
              <a:defRPr sz="1200" b="0">
                <a:solidFill>
                  <a:srgbClr val="3DDC97"/>
                </a:solidFill>
                <a:latin typeface="Menlo"/>
              </a:defRPr>
            </a:pPr>
            <a:r>
              <a:t>status     finalized</a:t>
            </a:r>
          </a:p>
        </p:txBody>
      </p:sp>
      <p:sp>
        <p:nvSpPr>
          <p:cNvPr id="23" name="text:devnet slot 513,629,343"/>
          <p:cNvSpPr txBox="1"/>
          <p:nvPr/>
        </p:nvSpPr>
        <p:spPr>
          <a:xfrm>
            <a:off x="731520" y="4014215"/>
            <a:ext cx="4846320"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Menlo"/>
              </a:defRPr>
            </a:pPr>
            <a:r>
              <a:t>devnet slot 513,629,343</a:t>
            </a:r>
          </a:p>
        </p:txBody>
      </p:sp>
      <p:sp>
        <p:nvSpPr>
          <p:cNvPr id="24" name="text:read only: getSignatureStatuses"/>
          <p:cNvSpPr txBox="1"/>
          <p:nvPr/>
        </p:nvSpPr>
        <p:spPr>
          <a:xfrm>
            <a:off x="731520" y="4297680"/>
            <a:ext cx="484632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Menlo"/>
              </a:defRPr>
            </a:pPr>
            <a:r>
              <a:t>read only: getSignatureStatuses</a:t>
            </a:r>
          </a:p>
        </p:txBody>
      </p:sp>
      <p:sp>
        <p:nvSpPr>
          <p:cNvPr id="25" name="Rounded Rectangle 24"/>
          <p:cNvSpPr/>
          <p:nvPr/>
        </p:nvSpPr>
        <p:spPr>
          <a:xfrm>
            <a:off x="5852160" y="3063240"/>
            <a:ext cx="2788920" cy="1508760"/>
          </a:xfrm>
          <a:prstGeom prst="roundRect">
            <a:avLst>
              <a:gd name="adj" fmla="val 8484"/>
            </a:avLst>
          </a:prstGeom>
          <a:noFill/>
          <a:ln w="10160">
            <a:solidFill>
              <a:srgbClr val="FFC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HEADS UP"/>
          <p:cNvSpPr txBox="1"/>
          <p:nvPr/>
        </p:nvSpPr>
        <p:spPr>
          <a:xfrm>
            <a:off x="6016752" y="3154680"/>
            <a:ext cx="2286000" cy="182880"/>
          </a:xfrm>
          <a:prstGeom prst="rect">
            <a:avLst/>
          </a:prstGeom>
          <a:noFill/>
        </p:spPr>
        <p:txBody>
          <a:bodyPr wrap="square" lIns="9144" rIns="9144" tIns="0" bIns="0">
            <a:spAutoFit/>
          </a:bodyPr>
          <a:lstStyle/>
          <a:p>
            <a:pPr>
              <a:lnSpc>
                <a:spcPct val="106000"/>
              </a:lnSpc>
              <a:spcAft>
                <a:spcPts val="400"/>
              </a:spcAft>
              <a:defRPr sz="900" b="0">
                <a:solidFill>
                  <a:srgbClr val="FFC15A"/>
                </a:solidFill>
                <a:latin typeface="Helvetica Neue"/>
              </a:defRPr>
            </a:pPr>
            <a:r>
              <a:t>HEADS UP</a:t>
            </a:r>
          </a:p>
        </p:txBody>
      </p:sp>
      <p:sp>
        <p:nvSpPr>
          <p:cNvPr id="27" name="text:Devnet keeps recent history, so free"/>
          <p:cNvSpPr txBox="1"/>
          <p:nvPr/>
        </p:nvSpPr>
        <p:spPr>
          <a:xfrm>
            <a:off x="6016752" y="3429000"/>
            <a:ext cx="2468880" cy="109728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Devnet keeps recent history, so freeze a transaction you can still show on the day.</a:t>
            </a:r>
          </a:p>
        </p:txBody>
      </p:sp>
      <p:sp>
        <p:nvSpPr>
          <p:cNvPr id="28" name="text:Source: demo-repo/code/recorded/sign"/>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demo-repo/code/recorded/signature-checks.json (devnet getSignatureStatuses, captured 22 Oct 2026 03:35 SGT).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Demo: judging scorecard"/>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judging scorecard</a:t>
            </a:r>
          </a:p>
        </p:txBody>
      </p:sp>
      <p:sp>
        <p:nvSpPr>
          <p:cNvPr id="4"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criterion will cost most teams"/>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criterion will cost most teams the most points?</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five sliders, weighted to 100"/>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five sliders, weighted to 100</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 returns chart that adds zero point"/>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returns chart that adds zero points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The sc"/>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scores are practice scores.</a:t>
            </a:r>
          </a:p>
        </p:txBody>
      </p:sp>
      <p:pic>
        <p:nvPicPr>
          <p:cNvPr id="18" name="Picture 17" descr="02-judging-scorecard.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Demo Day demo, runs from disk, reco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Demo Day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https://nus-solana-demos.vercel.app/0010/02-judging-scorecard.html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Demo Day demos on recorded data; the three projects are EXAMPLE entries)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Peer gallery"/>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Peer gallery</a:t>
            </a:r>
          </a:p>
        </p:txBody>
      </p:sp>
      <p:sp>
        <p:nvSpPr>
          <p:cNvPr id="3" name="text:18:55 to 19:10. Try a demo and leav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18:55 to 19:10. Try a demo and leave one question.</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Rounded Rectangle 4"/>
          <p:cNvSpPr/>
          <p:nvPr/>
        </p:nvSpPr>
        <p:spPr>
          <a:xfrm>
            <a:off x="548640" y="1463040"/>
            <a:ext cx="3840480" cy="731520"/>
          </a:xfrm>
          <a:prstGeom prst="roundRect">
            <a:avLst>
              <a:gd name="adj" fmla="val 175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463040"/>
            <a:ext cx="365760" cy="731520"/>
          </a:xfrm>
          <a:prstGeom prst="rect">
            <a:avLst/>
          </a:prstGeom>
          <a:noFill/>
        </p:spPr>
        <p:txBody>
          <a:bodyPr wrap="square" lIns="9144" rIns="9144" tIns="0" bIns="0" anchor="ctr">
            <a:spAutoFit/>
          </a:bodyPr>
          <a:lstStyle/>
          <a:p>
            <a:pPr>
              <a:lnSpc>
                <a:spcPct val="106000"/>
              </a:lnSpc>
              <a:spcAft>
                <a:spcPts val="400"/>
              </a:spcAft>
              <a:defRPr sz="2400" b="0">
                <a:solidFill>
                  <a:srgbClr val="3DDC97"/>
                </a:solidFill>
                <a:latin typeface="Helvetica Neue"/>
              </a:defRPr>
            </a:pPr>
            <a:r>
              <a:t>1</a:t>
            </a:r>
          </a:p>
        </p:txBody>
      </p:sp>
      <p:sp>
        <p:nvSpPr>
          <p:cNvPr id="7" name="text:Open"/>
          <p:cNvSpPr txBox="1"/>
          <p:nvPr/>
        </p:nvSpPr>
        <p:spPr>
          <a:xfrm>
            <a:off x="1188720" y="1554480"/>
            <a:ext cx="91440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Open</a:t>
            </a:r>
          </a:p>
        </p:txBody>
      </p:sp>
      <p:sp>
        <p:nvSpPr>
          <p:cNvPr id="8" name="text:A project from the gallery that is n"/>
          <p:cNvSpPr txBox="1"/>
          <p:nvPr/>
        </p:nvSpPr>
        <p:spPr>
          <a:xfrm>
            <a:off x="1188720" y="1828800"/>
            <a:ext cx="3108960" cy="347472"/>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A project from the gallery that is not yours.</a:t>
            </a:r>
          </a:p>
        </p:txBody>
      </p:sp>
      <p:sp>
        <p:nvSpPr>
          <p:cNvPr id="9" name="Rounded Rectangle 8"/>
          <p:cNvSpPr/>
          <p:nvPr/>
        </p:nvSpPr>
        <p:spPr>
          <a:xfrm>
            <a:off x="548640" y="2304288"/>
            <a:ext cx="3840480" cy="731520"/>
          </a:xfrm>
          <a:prstGeom prst="roundRect">
            <a:avLst>
              <a:gd name="adj" fmla="val 175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731520" y="2304288"/>
            <a:ext cx="365760" cy="731520"/>
          </a:xfrm>
          <a:prstGeom prst="rect">
            <a:avLst/>
          </a:prstGeom>
          <a:noFill/>
        </p:spPr>
        <p:txBody>
          <a:bodyPr wrap="square" lIns="9144" rIns="9144" tIns="0" bIns="0" anchor="ctr">
            <a:spAutoFit/>
          </a:bodyPr>
          <a:lstStyle/>
          <a:p>
            <a:pPr>
              <a:lnSpc>
                <a:spcPct val="106000"/>
              </a:lnSpc>
              <a:spcAft>
                <a:spcPts val="400"/>
              </a:spcAft>
              <a:defRPr sz="2400" b="0">
                <a:solidFill>
                  <a:srgbClr val="3DDC97"/>
                </a:solidFill>
                <a:latin typeface="Helvetica Neue"/>
              </a:defRPr>
            </a:pPr>
            <a:r>
              <a:t>2</a:t>
            </a:r>
          </a:p>
        </p:txBody>
      </p:sp>
      <p:sp>
        <p:nvSpPr>
          <p:cNvPr id="11" name="text:Try"/>
          <p:cNvSpPr txBox="1"/>
          <p:nvPr/>
        </p:nvSpPr>
        <p:spPr>
          <a:xfrm>
            <a:off x="1188720" y="2395728"/>
            <a:ext cx="91440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Try</a:t>
            </a:r>
          </a:p>
        </p:txBody>
      </p:sp>
      <p:sp>
        <p:nvSpPr>
          <p:cNvPr id="12" name="text:Follow its README, run its demo or i"/>
          <p:cNvSpPr txBox="1"/>
          <p:nvPr/>
        </p:nvSpPr>
        <p:spPr>
          <a:xfrm>
            <a:off x="1188720" y="2670048"/>
            <a:ext cx="3108960" cy="347472"/>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Follow its README, run its demo or its tests.</a:t>
            </a:r>
          </a:p>
        </p:txBody>
      </p:sp>
      <p:sp>
        <p:nvSpPr>
          <p:cNvPr id="13" name="Rounded Rectangle 12"/>
          <p:cNvSpPr/>
          <p:nvPr/>
        </p:nvSpPr>
        <p:spPr>
          <a:xfrm>
            <a:off x="548640" y="3145536"/>
            <a:ext cx="3840480" cy="731520"/>
          </a:xfrm>
          <a:prstGeom prst="roundRect">
            <a:avLst>
              <a:gd name="adj" fmla="val 175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731520" y="3145536"/>
            <a:ext cx="365760" cy="731520"/>
          </a:xfrm>
          <a:prstGeom prst="rect">
            <a:avLst/>
          </a:prstGeom>
          <a:noFill/>
        </p:spPr>
        <p:txBody>
          <a:bodyPr wrap="square" lIns="9144" rIns="9144" tIns="0" bIns="0" anchor="ctr">
            <a:spAutoFit/>
          </a:bodyPr>
          <a:lstStyle/>
          <a:p>
            <a:pPr>
              <a:lnSpc>
                <a:spcPct val="106000"/>
              </a:lnSpc>
              <a:spcAft>
                <a:spcPts val="400"/>
              </a:spcAft>
              <a:defRPr sz="2400" b="0">
                <a:solidFill>
                  <a:srgbClr val="3DDC97"/>
                </a:solidFill>
                <a:latin typeface="Helvetica Neue"/>
              </a:defRPr>
            </a:pPr>
            <a:r>
              <a:t>3</a:t>
            </a:r>
          </a:p>
        </p:txBody>
      </p:sp>
      <p:sp>
        <p:nvSpPr>
          <p:cNvPr id="15" name="text:Ask"/>
          <p:cNvSpPr txBox="1"/>
          <p:nvPr/>
        </p:nvSpPr>
        <p:spPr>
          <a:xfrm>
            <a:off x="1188720" y="3236976"/>
            <a:ext cx="91440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Ask</a:t>
            </a:r>
          </a:p>
        </p:txBody>
      </p:sp>
      <p:sp>
        <p:nvSpPr>
          <p:cNvPr id="16" name="text:Leave one question that evidence can"/>
          <p:cNvSpPr txBox="1"/>
          <p:nvPr/>
        </p:nvSpPr>
        <p:spPr>
          <a:xfrm>
            <a:off x="1188720" y="3511296"/>
            <a:ext cx="3108960" cy="347472"/>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Leave one question that evidence can answer.</a:t>
            </a:r>
          </a:p>
        </p:txBody>
      </p:sp>
      <p:sp>
        <p:nvSpPr>
          <p:cNvPr id="17" name="Rounded Rectangle 16"/>
          <p:cNvSpPr/>
          <p:nvPr/>
        </p:nvSpPr>
        <p:spPr>
          <a:xfrm>
            <a:off x="4617720" y="1463040"/>
            <a:ext cx="4023360" cy="2432304"/>
          </a:xfrm>
          <a:prstGeom prst="roundRect">
            <a:avLst>
              <a:gd name="adj" fmla="val 526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QUESTIONS THAT EVIDENCE CAN ANSWER"/>
          <p:cNvSpPr txBox="1"/>
          <p:nvPr/>
        </p:nvSpPr>
        <p:spPr>
          <a:xfrm>
            <a:off x="4800600" y="1572768"/>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QUESTIONS THAT EVIDENCE CAN ANSWER</a:t>
            </a:r>
          </a:p>
        </p:txBody>
      </p:sp>
      <p:sp>
        <p:nvSpPr>
          <p:cNvPr id="19" name="text:Which command did you run, and what "/>
          <p:cNvSpPr txBox="1"/>
          <p:nvPr/>
        </p:nvSpPr>
        <p:spPr>
          <a:xfrm>
            <a:off x="4800600" y="1920240"/>
            <a:ext cx="3657600" cy="54864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Which command did you run, and what did you see?</a:t>
            </a:r>
          </a:p>
        </p:txBody>
      </p:sp>
      <p:sp>
        <p:nvSpPr>
          <p:cNvPr id="20" name="text:Where is the test for the failure ca"/>
          <p:cNvSpPr txBox="1"/>
          <p:nvPr/>
        </p:nvSpPr>
        <p:spPr>
          <a:xfrm>
            <a:off x="4800600" y="2560320"/>
            <a:ext cx="3657600" cy="54864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Where is the test for the failure case?</a:t>
            </a:r>
          </a:p>
        </p:txBody>
      </p:sp>
      <p:sp>
        <p:nvSpPr>
          <p:cNvPr id="21" name="text:Can I check that transaction on devn"/>
          <p:cNvSpPr txBox="1"/>
          <p:nvPr/>
        </p:nvSpPr>
        <p:spPr>
          <a:xfrm>
            <a:off x="4800600" y="3200400"/>
            <a:ext cx="3657600" cy="54864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Can I check that transaction on devnet?</a:t>
            </a:r>
          </a:p>
        </p:txBody>
      </p:sp>
      <p:sp>
        <p:nvSpPr>
          <p:cNvPr id="22" name="Rounded Rectangle 21"/>
          <p:cNvSpPr/>
          <p:nvPr/>
        </p:nvSpPr>
        <p:spPr>
          <a:xfrm>
            <a:off x="548640" y="4069080"/>
            <a:ext cx="8092440" cy="530352"/>
          </a:xfrm>
          <a:prstGeom prst="roundRect">
            <a:avLst>
              <a:gd name="adj" fmla="val 24137"/>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Everyone should reproduce at least o"/>
          <p:cNvSpPr txBox="1"/>
          <p:nvPr/>
        </p:nvSpPr>
        <p:spPr>
          <a:xfrm>
            <a:off x="731520" y="4069080"/>
            <a:ext cx="7772400" cy="530352"/>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Everyone should reproduce at least one thing before 19:10.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at happens nex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What happens next</a:t>
            </a:r>
          </a:p>
        </p:txBody>
      </p:sp>
      <p:sp>
        <p:nvSpPr>
          <p:cNvPr id="3" name="text:19:10 to 20:00. Voluntary, and your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19:10 to 20:00. Voluntary, and yours to shape.</a:t>
            </a:r>
          </a:p>
        </p:txBody>
      </p:sp>
      <p:sp>
        <p:nvSpPr>
          <p:cNvPr id="4"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5" name="Rounded Rectangle 4"/>
          <p:cNvSpPr/>
          <p:nvPr/>
        </p:nvSpPr>
        <p:spPr>
          <a:xfrm>
            <a:off x="548640" y="1600200"/>
            <a:ext cx="2560320" cy="2651760"/>
          </a:xfrm>
          <a:prstGeom prst="roundRect">
            <a:avLst>
              <a:gd name="adj" fmla="val 5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9:10"/>
          <p:cNvSpPr txBox="1"/>
          <p:nvPr/>
        </p:nvSpPr>
        <p:spPr>
          <a:xfrm>
            <a:off x="749808" y="1737360"/>
            <a:ext cx="1463040" cy="41148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19:10</a:t>
            </a:r>
          </a:p>
        </p:txBody>
      </p:sp>
      <p:sp>
        <p:nvSpPr>
          <p:cNvPr id="7" name="text:Feedback and next steps"/>
          <p:cNvSpPr txBox="1"/>
          <p:nvPr/>
        </p:nvSpPr>
        <p:spPr>
          <a:xfrm>
            <a:off x="749808" y="2331720"/>
            <a:ext cx="2194560" cy="5486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Feedback and next steps</a:t>
            </a:r>
          </a:p>
        </p:txBody>
      </p:sp>
      <p:sp>
        <p:nvSpPr>
          <p:cNvPr id="8" name="text:Tell us what you would use or contri"/>
          <p:cNvSpPr txBox="1"/>
          <p:nvPr/>
        </p:nvSpPr>
        <p:spPr>
          <a:xfrm>
            <a:off x="749808" y="2971800"/>
            <a:ext cx="2194560" cy="118872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Tell us what you would use or contribute to, and what to test first.</a:t>
            </a:r>
          </a:p>
        </p:txBody>
      </p:sp>
      <p:sp>
        <p:nvSpPr>
          <p:cNvPr id="9" name="Rounded Rectangle 8"/>
          <p:cNvSpPr/>
          <p:nvPr/>
        </p:nvSpPr>
        <p:spPr>
          <a:xfrm>
            <a:off x="3337560" y="1600200"/>
            <a:ext cx="2560320" cy="2651760"/>
          </a:xfrm>
          <a:prstGeom prst="roundRect">
            <a:avLst>
              <a:gd name="adj" fmla="val 500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19:20"/>
          <p:cNvSpPr txBox="1"/>
          <p:nvPr/>
        </p:nvSpPr>
        <p:spPr>
          <a:xfrm>
            <a:off x="3538728" y="1737360"/>
            <a:ext cx="1463040" cy="41148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19:20</a:t>
            </a:r>
          </a:p>
        </p:txBody>
      </p:sp>
      <p:sp>
        <p:nvSpPr>
          <p:cNvPr id="11" name="text:Community build time"/>
          <p:cNvSpPr txBox="1"/>
          <p:nvPr/>
        </p:nvSpPr>
        <p:spPr>
          <a:xfrm>
            <a:off x="3538728" y="2331720"/>
            <a:ext cx="2194560" cy="5486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Community build time</a:t>
            </a:r>
          </a:p>
        </p:txBody>
      </p:sp>
      <p:sp>
        <p:nvSpPr>
          <p:cNvPr id="12" name="text:Reproduce a demo, open an issue, or "/>
          <p:cNvSpPr txBox="1"/>
          <p:nvPr/>
        </p:nvSpPr>
        <p:spPr>
          <a:xfrm>
            <a:off x="3538728" y="2971800"/>
            <a:ext cx="2194560" cy="118872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Reproduce a demo, open an issue, or agree a small next experiment.</a:t>
            </a:r>
          </a:p>
        </p:txBody>
      </p:sp>
      <p:sp>
        <p:nvSpPr>
          <p:cNvPr id="13" name="Rounded Rectangle 12"/>
          <p:cNvSpPr/>
          <p:nvPr/>
        </p:nvSpPr>
        <p:spPr>
          <a:xfrm>
            <a:off x="6126479" y="1600200"/>
            <a:ext cx="2560320" cy="2651760"/>
          </a:xfrm>
          <a:prstGeom prst="roundRect">
            <a:avLst>
              <a:gd name="adj" fmla="val 5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19:45"/>
          <p:cNvSpPr txBox="1"/>
          <p:nvPr/>
        </p:nvSpPr>
        <p:spPr>
          <a:xfrm>
            <a:off x="6327647" y="1737360"/>
            <a:ext cx="1463040" cy="41148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19:45</a:t>
            </a:r>
          </a:p>
        </p:txBody>
      </p:sp>
      <p:sp>
        <p:nvSpPr>
          <p:cNvPr id="15" name="text:Retrospective"/>
          <p:cNvSpPr txBox="1"/>
          <p:nvPr/>
        </p:nvSpPr>
        <p:spPr>
          <a:xfrm>
            <a:off x="6327647" y="2331720"/>
            <a:ext cx="2194560" cy="5486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Retrospective</a:t>
            </a:r>
          </a:p>
        </p:txBody>
      </p:sp>
      <p:sp>
        <p:nvSpPr>
          <p:cNvPr id="16" name="text:What changed after a failed attempt,"/>
          <p:cNvSpPr txBox="1"/>
          <p:nvPr/>
        </p:nvSpPr>
        <p:spPr>
          <a:xfrm>
            <a:off x="6327647" y="2971800"/>
            <a:ext cx="2194560" cy="118872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What changed after a failed attempt, and who wants to keep building.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3 · COMMUNITY BUILD TIME"/>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3 · COMMUNITY BUILD TIME</a:t>
            </a:r>
          </a:p>
        </p:txBody>
      </p:sp>
      <p:sp>
        <p:nvSpPr>
          <p:cNvPr id="3" name="text:Demo: ship-readiness che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ship-readiness check</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required check do most repos f"/>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required check do most repos fail first?</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ship -- --dir ../my-projec"/>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000" b="0">
                <a:solidFill>
                  <a:srgbClr val="3DDC97"/>
                </a:solidFill>
                <a:latin typeface="Menlo"/>
              </a:defRPr>
            </a:pPr>
            <a:r>
              <a:t>$ npm run ship -- --dir ../my-project</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leven checks, seven required"/>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eleven checks, seven required</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 clear fix for every failure"/>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clear fix for every failure</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results for two e"/>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results for two example repos. No network needed.</a:t>
            </a:r>
          </a:p>
        </p:txBody>
      </p:sp>
      <p:pic>
        <p:nvPicPr>
          <p:cNvPr id="18" name="Picture 17" descr="04-ship-readiness.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Demo Day demo, runs from disk, reco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Demo Day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https://nus-solana-demos.vercel.app/0010/04-ship-readiness.html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Demo Day demos on recorded data; the three projects are EXAMPLE entries)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Try the demos yourself</a:t>
            </a:r>
          </a:p>
        </p:txBody>
      </p:sp>
      <p:sp>
        <p:nvSpPr>
          <p:cNvPr id="3"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4" name="Rounded Rectangle 3"/>
          <p:cNvSpPr/>
          <p:nvPr/>
        </p:nvSpPr>
        <p:spPr>
          <a:xfrm>
            <a:off x="5394960" y="132588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demos-0010.png"/>
          <p:cNvPicPr>
            <a:picLocks noChangeAspect="1"/>
          </p:cNvPicPr>
          <p:nvPr/>
        </p:nvPicPr>
        <p:blipFill>
          <a:blip r:embed="rId3"/>
          <a:stretch>
            <a:fillRect/>
          </a:stretch>
        </p:blipFill>
        <p:spPr>
          <a:xfrm>
            <a:off x="5532120" y="1463040"/>
            <a:ext cx="2560320" cy="2560320"/>
          </a:xfrm>
          <a:prstGeom prst="rect">
            <a:avLst/>
          </a:prstGeom>
        </p:spPr>
      </p:pic>
      <p:sp>
        <p:nvSpPr>
          <p:cNvPr id="6" name="text:Scan to open the demos"/>
          <p:cNvSpPr txBox="1"/>
          <p:nvPr/>
        </p:nvSpPr>
        <p:spPr>
          <a:xfrm>
            <a:off x="5394960" y="425196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
        <p:nvSpPr>
          <p:cNvPr id="7" name="Rounded Rectangle 6"/>
          <p:cNvSpPr/>
          <p:nvPr/>
        </p:nvSpPr>
        <p:spPr>
          <a:xfrm>
            <a:off x="548640" y="1554480"/>
            <a:ext cx="448056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DEMOS"/>
          <p:cNvSpPr txBox="1"/>
          <p:nvPr/>
        </p:nvSpPr>
        <p:spPr>
          <a:xfrm>
            <a:off x="731520" y="162763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DEMOS</a:t>
            </a:r>
          </a:p>
        </p:txBody>
      </p:sp>
      <p:sp>
        <p:nvSpPr>
          <p:cNvPr id="9" name="text:nus-solana-demos.vercel.app/0010/"/>
          <p:cNvSpPr txBox="1"/>
          <p:nvPr/>
        </p:nvSpPr>
        <p:spPr>
          <a:xfrm>
            <a:off x="731520" y="1874519"/>
            <a:ext cx="4206240" cy="3200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Menlo"/>
              </a:defRPr>
            </a:pPr>
            <a:r>
              <a:t>nus-solana-demos.vercel.app/0010/</a:t>
            </a:r>
          </a:p>
        </p:txBody>
      </p:sp>
      <p:sp>
        <p:nvSpPr>
          <p:cNvPr id="10" name="text:Open the gallery and the scorecard o"/>
          <p:cNvSpPr txBox="1"/>
          <p:nvPr/>
        </p:nvSpPr>
        <p:spPr>
          <a:xfrm>
            <a:off x="548640" y="2651760"/>
            <a:ext cx="4480560" cy="91440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Open the gallery and the scorecard on your laptop.</a:t>
            </a:r>
          </a:p>
        </p:txBody>
      </p:sp>
      <p:sp>
        <p:nvSpPr>
          <p:cNvPr id="11" name="text:No install. The same files are in th"/>
          <p:cNvSpPr txBox="1"/>
          <p:nvPr/>
        </p:nvSpPr>
        <p:spPr>
          <a:xfrm>
            <a:off x="548640" y="3749039"/>
            <a:ext cx="448056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No install. The same files are in the repo and open from disk.</a:t>
            </a:r>
          </a:p>
        </p:txBody>
      </p:sp>
      <p:sp>
        <p:nvSpPr>
          <p:cNvPr id="12" name="text:Source: demo-repo/lab (the four Demo"/>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 (the four Demo Day demos, deployed as static pages, recorded data by default)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Branch out</a:t>
            </a:r>
          </a:p>
        </p:txBody>
      </p:sp>
      <p:sp>
        <p:nvSpPr>
          <p:cNvPr id="3" name="text:After tonight, in your own tim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After tonight, in your own time.</a:t>
            </a:r>
          </a:p>
        </p:txBody>
      </p:sp>
      <p:sp>
        <p:nvSpPr>
          <p:cNvPr id="4"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5" name="Rounded Rectangle 4"/>
          <p:cNvSpPr/>
          <p:nvPr/>
        </p:nvSpPr>
        <p:spPr>
          <a:xfrm>
            <a:off x="548640" y="1600200"/>
            <a:ext cx="2560320" cy="2651760"/>
          </a:xfrm>
          <a:prstGeom prst="roundRect">
            <a:avLst>
              <a:gd name="adj" fmla="val 5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Run a peer's project from its README"/>
          <p:cNvSpPr txBox="1"/>
          <p:nvPr/>
        </p:nvSpPr>
        <p:spPr>
          <a:xfrm>
            <a:off x="749808" y="2286000"/>
            <a:ext cx="2194560" cy="192024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Run a peer's project from its README and write down every step that failed.</a:t>
            </a:r>
          </a:p>
        </p:txBody>
      </p:sp>
      <p:sp>
        <p:nvSpPr>
          <p:cNvPr id="9" name="Rounded Rectangle 8"/>
          <p:cNvSpPr/>
          <p:nvPr/>
        </p:nvSpPr>
        <p:spPr>
          <a:xfrm>
            <a:off x="3337560" y="1600200"/>
            <a:ext cx="2560320" cy="2651760"/>
          </a:xfrm>
          <a:prstGeom prst="roundRect">
            <a:avLst>
              <a:gd name="adj" fmla="val 5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Open an issue on that repo with the "/>
          <p:cNvSpPr txBox="1"/>
          <p:nvPr/>
        </p:nvSpPr>
        <p:spPr>
          <a:xfrm>
            <a:off x="3538728" y="2286000"/>
            <a:ext cx="2194560" cy="192024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Open an issue on that repo with the command, the output and what you expected.</a:t>
            </a:r>
          </a:p>
        </p:txBody>
      </p:sp>
      <p:sp>
        <p:nvSpPr>
          <p:cNvPr id="13" name="Rounded Rectangle 12"/>
          <p:cNvSpPr/>
          <p:nvPr/>
        </p:nvSpPr>
        <p:spPr>
          <a:xfrm>
            <a:off x="6126479" y="1600200"/>
            <a:ext cx="2560320" cy="2651760"/>
          </a:xfrm>
          <a:prstGeom prst="roundRect">
            <a:avLst>
              <a:gd name="adj" fmla="val 50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Add a test or a fix for it, or run t"/>
          <p:cNvSpPr txBox="1"/>
          <p:nvPr/>
        </p:nvSpPr>
        <p:spPr>
          <a:xfrm>
            <a:off x="6327647" y="2286000"/>
            <a:ext cx="2194560" cy="192024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Add a test or a fix for it, or run the ship-readiness check on your own repo and close every required gap.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Share back</a:t>
            </a:r>
          </a:p>
        </p:txBody>
      </p:sp>
      <p:sp>
        <p:nvSpPr>
          <p:cNvPr id="3" name="text:Before you leave, and this week."/>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Before you leave, and this week.</a:t>
            </a:r>
          </a:p>
        </p:txBody>
      </p:sp>
      <p:sp>
        <p:nvSpPr>
          <p:cNvPr id="4"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ONIGHT"/>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TONIGHT</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Leave one evidence-based question fo"/>
          <p:cNvSpPr txBox="1"/>
          <p:nvPr/>
        </p:nvSpPr>
        <p:spPr>
          <a:xfrm>
            <a:off x="749808" y="2880360"/>
            <a:ext cx="2194560" cy="86868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Leave one evidence-based question for a peer.</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IS WEEK"/>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THIS WEEK</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Send your repo link and demo pack to"/>
          <p:cNvSpPr txBox="1"/>
          <p:nvPr/>
        </p:nvSpPr>
        <p:spPr>
          <a:xfrm>
            <a:off x="3538728" y="2880360"/>
            <a:ext cx="2194560" cy="86868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Send your repo link and demo pack to the leads.</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ANY TIME"/>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ANY TIME</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Keep the repo public, and tell the g"/>
          <p:cNvSpPr txBox="1"/>
          <p:nvPr/>
        </p:nvSpPr>
        <p:spPr>
          <a:xfrm>
            <a:off x="6327647" y="2880360"/>
            <a:ext cx="2194560" cy="86868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Keep the repo public, and tell the group when you ship a fix.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Get the code</a:t>
            </a:r>
          </a:p>
        </p:txBody>
      </p:sp>
      <p:sp>
        <p:nvSpPr>
          <p:cNvPr id="3"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4" name="Rounded Rectangle 3"/>
          <p:cNvSpPr/>
          <p:nvPr/>
        </p:nvSpPr>
        <p:spPr>
          <a:xfrm>
            <a:off x="548640" y="1371600"/>
            <a:ext cx="4846320" cy="1051560"/>
          </a:xfrm>
          <a:prstGeom prst="roundRect">
            <a:avLst>
              <a:gd name="adj" fmla="val 1217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73352"/>
            <a:ext cx="452628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10-demo-day/demo"/>
          <p:cNvSpPr txBox="1"/>
          <p:nvPr/>
        </p:nvSpPr>
        <p:spPr>
          <a:xfrm>
            <a:off x="731520" y="2011680"/>
            <a:ext cx="4526280" cy="22860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Menlo"/>
              </a:defRPr>
            </a:pPr>
            <a:r>
              <a:t>folder: 0010-demo-day/demo</a:t>
            </a:r>
          </a:p>
        </p:txBody>
      </p:sp>
      <p:sp>
        <p:nvSpPr>
          <p:cNvPr id="8" name="Rounded Rectangle 7"/>
          <p:cNvSpPr/>
          <p:nvPr/>
        </p:nvSpPr>
        <p:spPr>
          <a:xfrm>
            <a:off x="548640" y="260604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60604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npm install"/>
          <p:cNvSpPr txBox="1"/>
          <p:nvPr/>
        </p:nvSpPr>
        <p:spPr>
          <a:xfrm>
            <a:off x="1097280" y="260604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install</a:t>
            </a:r>
          </a:p>
        </p:txBody>
      </p:sp>
      <p:sp>
        <p:nvSpPr>
          <p:cNvPr id="11" name="Rounded Rectangle 10"/>
          <p:cNvSpPr/>
          <p:nvPr/>
        </p:nvSpPr>
        <p:spPr>
          <a:xfrm>
            <a:off x="548640" y="3209544"/>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3209544"/>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run demo -- --recorded"/>
          <p:cNvSpPr txBox="1"/>
          <p:nvPr/>
        </p:nvSpPr>
        <p:spPr>
          <a:xfrm>
            <a:off x="1097280" y="3209544"/>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4" name="text:Run both from the demo/code folder. "/>
          <p:cNvSpPr txBox="1"/>
          <p:nvPr/>
        </p:nvSpPr>
        <p:spPr>
          <a:xfrm>
            <a:off x="548640" y="3931920"/>
            <a:ext cx="484632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Run both from the demo/code folder. Node 24. No keys, no AI credits. Recorded data is bundled.</a:t>
            </a:r>
          </a:p>
        </p:txBody>
      </p:sp>
      <p:sp>
        <p:nvSpPr>
          <p:cNvPr id="15" name="Rounded Rectangle 14"/>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github-0010.png"/>
          <p:cNvPicPr>
            <a:picLocks noChangeAspect="1"/>
          </p:cNvPicPr>
          <p:nvPr/>
        </p:nvPicPr>
        <p:blipFill>
          <a:blip r:embed="rId3"/>
          <a:stretch>
            <a:fillRect/>
          </a:stretch>
        </p:blipFill>
        <p:spPr>
          <a:xfrm>
            <a:off x="5943600" y="1508760"/>
            <a:ext cx="2560320" cy="2560320"/>
          </a:xfrm>
          <a:prstGeom prst="rect">
            <a:avLst/>
          </a:prstGeom>
        </p:spPr>
      </p:pic>
      <p:sp>
        <p:nvSpPr>
          <p:cNvPr id="17" name="text:Scan for this session's code"/>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this session's code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Let's connect</a:t>
            </a:r>
          </a:p>
        </p:txBody>
      </p:sp>
      <p:sp>
        <p:nvSpPr>
          <p:cNvPr id="3"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