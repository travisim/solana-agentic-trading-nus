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back, thanks for coming. I'm Travis. Tonight is build night 2. The plan is the same as last time: a short talk, three demos where you guess the answer first, and then most of the time you build. Tonight's topic: data bars and change alerts. Two ideas. One, cut trades into bars by how much traded, not by the clock. Two, wake your agent only when something actually changed. If you haven't run the setup yet, no stress, we sort it at the start of the mission.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[18:02] Quick progress circle. Build night 1 was last Thursday: data collection and the risk hook. Tonight is build night 2. Next Thursday the fifth is Workshop 2, labeling trades and forming teams, so what you build tonight can feed your team project. Go round the room, one line each: what did you build or try since Thursday, and is anything stuck? Then the question for tonight, on the slide: how many agent calls does a day of price ticks really need? Keep a guess in your head. We come back to it at the end.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Here is the shape of the night. Ten minutes of talk, twenty minutes of demos, twenty minutes of guided mission where we all do the same small thing, then fifty minutes of free build on whatever you want. Last ten minutes: show and tell and push. In the demos I'll ask you to predict before I run anything. Be wrong out loud, it is more useful than being quietly right.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[18:11] Two ways to cut a stream of trades into bars. A bar is just a summary of a stretch of trades: where the price opened, high, low, closed, and how much traded. Clock bars: one bar every minute, whatever happened. Quiet minute, you still get a bar, with almost nothing in it. Busy minute, everything is squeezed into one bar. Activity bars: one bar every X dollars traded. A quiet hour gives you a few bars, a busy minute gives you many. The idea: each bar then carries a similar amount of information. Which one is better is not obvious yet, so let's draw it.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[18:12] Same trades the whole way through, they stay in place. Each stick is one trade, taller means more dollars. The first picture is time bars, one per minute, so ten equal boxes. Look at the left: a minute with one small trade still gets a full bar. Now look at the busy stretch in the middle: lots of big trades, but they land in just a few bars. We lose the detail exactly where the action is. Illustrative trades here, real ones in a minute.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[18:13] Now I add dollar bars, below. A dollar bar closes when a set amount has traded, here three thousand dollars, no matter how long that took. So the boxes have different widths. In the quiet stretch one bar takes several minutes to fill, so it is wide. In the busy stretch bars fill fast, so they are narrow and there are more of them. The last box on the right is still filling, it is not closed yet. Same trades, different way to cut them.</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[18:14] Both together. Count the bars in the busy stretch: time bars give you a few, dollar bars give you more, narrower ones. Count the bars in the quiet stretch: time bars give you one for every minute, dollar bars give you hardly any. Total bar counts are on the slide. Say it out loud: dollar bars spend their bars where the trading is. For an agent that means fewer empty rows and less noise, and more detail when it matters. Predict question for later: on real swaps, which makes more bars?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[18:15] Second idea: a change alert. Top chart is a price, moving a little each tick. Below is the CUSUM filter, a running total of those moves. Up moves add, down moves subtract, and most of them cancel out, so the total wanders around zero. There are really two totals, one for up and one for down, we call them sPos and sNeg. Nothing exciting yet. The interesting bit is what happens when one of them gets big.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Now the threshold, the dashed lines. Think of two buckets, one filling with up moves, one with down moves. Nothing happens while they are below the line. The moment one crosses it, we fire an event and empty the buckets. The marks on the price chart are the events. So the filter does not say the price is high or low. It says: enough change has piled up in one direction, something happened. A noisy wiggle that goes up and down never fills a bucket. A real move does.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[18:17] Why do we care? Every call to an agent costs money and time, and most ticks do not matter. Top row: an agent that wakes on every tick, one call per dot. Bottom row: an agent that wakes only on events. Look at the numbers on the right, they come from our recorded data: the same series, the call count with and without the filter. Be honest about the trade: a higher threshold saves more calls but you catch the move later, and you may miss a small one. That is the knob you will turn in the mission. It's a simulation on recorded data, not advice.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[18:18] Third idea, and a nasty one: a feed that stops. Pyth gives you a price with a publish time and the slot it was posted in. If the oracle stops updating, the price still sits there looking perfectly normal. You catch it from the data. Check one: age, now minus publish time, in seconds. Check two: slots behind, current slot minus the slot it was posted in. A slot is about 0.4 seconds, so seventy-five slots is about thirty seconds. If either is over its limit, treat the price as stale. Same lesson as last week: a smart agent on an old price is confidently wrong.</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Real numbers now. These are real swaps on the Orca SOL/USDC pool, read over public mainnet RPC, recorded on the date in the source line. The cards show how many swaps, how many dollars traded, and how many bars each method made from the very same swaps. Read the counts: the two methods disagree, and that is the point. Then the safety line, read it out: reads use public mainnet data; every write is devnet only; no real funds. Nobody needs a wallet tonight. Quick note: a bar here is a summary of swaps, nothing more.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This is what the bar builder looks like. It is short. Walk through the swaps in order. Keep a running dollar total. When it reaches the threshold, close the bar with its open, high, low, close and volume, and start the next one. That's the whole trick. Change one number, the threshold, and you change how many bars you get. In the mission you will change that number and predict the new bar count before you run it.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Demo one. First, predict. From the same recorded swaps, which makes more bars, the clock or the dollars? By how many? Shout a number. Then I run the command. Default is recorded data so it works without wifi. Then open the bars demo: move the threshold slider and watch the dollar bars change, hover a bar to see its open, high, low, close and volume. Look for the quiet and busy stretches. The bonus demo, bar sizes, shows how long each dollar bar took to fill. If the run fails: recorded flag, nothing else changes. Then flip the demo to Live mode: new real Orca swaps arrive and you can watch a dollar bar close when the dollars add up, while the time bar waits for the clock. Live swaps arrive slowly, so lower the dollar bar size to see bars close, and be ready to say the live age uses your own laptop clock.</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[18:27] Demo two. Before I run: how many agent calls will the filter save, and roughly where will it fire? Guess a percentage. Then run it. The output shows the number of calls if the agent wakes every tick, and the number if it wakes on events only. In the lab demo, drag the threshold slider and watch the buckets fill and empty and the call counter move. Ask the room: who would pick a lower threshold, and what is the price of that? Same fallback: recorded data, same events every run. Then switch Live mode on: the real price ticks feed the same buckets, so watch for an alert firing when the total crosses the threshold, and for how quiet most ticks are.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[18:34] Demo three. Pyth publish time against the current slot. The data underneath is real Pyth reads, one every five seconds. Then comes the part I have to be honest about: the freeze is simulated, I repeat the last value on top of the real data to mimic a feed that stopped. It's labelled as such in the demo. Predict: how many seconds until the staleness check turns red? Press the button and see. Then move the limits and watch what the agent would have done on the stale price: it would have acted. That is the point of the check. Then switch Live mode on: it reads the real Pyth price account, so look at the age and slots behind; while the feed is healthy they stay small, and be ready: the real feed sometimes goes over the 30 second limit on its own (we have seen 67 seconds), so it may turn red without the button, which is the check doing its job. The age uses your laptop clock. The freeze button is simulated.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Before the mission: all the demos are online, so you can open them on your own laptop, no install. Scan the QR or type the short link. Open the first one, move the sliders, hover the bars. This is the quickest way to get a feel for the threshold before you touch any code. If your wifi is slow, the same files are in the repo and open from disk.</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Mission, twenty minutes, everyone together. One: run the sample bar builder on recorded data. Two: before you look at the output, predict the bar count. Three: change one thing, the threshold or the token. Four: chart the result, before and after. The finish line is one chart with a before and an after. If you don't have a coding agent, you can still do it: hand edit the threshold number, rerun, compare. I'll walk around; hands up if stuck.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Free build for about fifty minutes. Four ideas if you don't have your own. Beginner: bars for another token. Standard: a CUSUM alert bot, or a staleness monitor. Advanced: wire bars into an earlier strategy and compare agent calls. If you have your own project, bring the change alert into it, that's a great use of the time. Show and tell at 19:50, so have something to show, even if small.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[19:50] Three things. Activity bars carry more even information than clock bars. A CUSUM filter wakes the agent only on a real change, so it makes fewer calls. And check how old a price is, in seconds and in slots. Back to the question from the start: how many agent calls does a day of ticks really need? Two or three answers from the room. And: what did your threshold change do to the bar count, and to the calls?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[19:53] If you want to keep going after tonight. Beginner: run the bar builder on another token, or halve the threshold, and compare the bar counts. Standard: try three CUSUM thresholds and chart calls against the events you catch. Advanced: feed your bars into an earlier strategy and compare agent calls. Everything stays on recorded data.</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Share back. Tonight: push your branch to your own repo. Thursday the fifth, Workshop 2: bring your chart, we start with those, and it feeds the team matching. Any time: send your repo link to the leads, we use it for our reporting. Thank you. See you next Thursday.</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[19:57] Here's the code. The QR goes to tonight's folder in the one shared repo on GitHub, scan it now. Two commands, from the demo slash code folder: npm install, then npm run demo with the recorded flag. That's it. No keys, no AI credits, no wallet. Node is the only requirement. The slides are in the same folder under slides. If you haven't cloned it yet, do it now before you leave.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If you want to talk trading, Solana or this series, here is how to reach me. LinkedIn on the left, Telegram on the right. Scan now, or take a photo of the slide.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That's it for tonight. Push your branch before you leave, keep building if you want to, and bring your chart to Workshop 2 next Thursday. Thanks for coming. If you have questions or want help setting up, find me or one of the leads, or message us on Telegram.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6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69.png"/><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72.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Build night 2"/>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Build night 2</a:t>
            </a:r>
          </a:p>
        </p:txBody>
      </p:sp>
      <p:sp>
        <p:nvSpPr>
          <p:cNvPr id="4" name="text:Data Bars and Change Alerts"/>
          <p:cNvSpPr txBox="1"/>
          <p:nvPr/>
        </p:nvSpPr>
        <p:spPr>
          <a:xfrm>
            <a:off x="5257800" y="1417320"/>
            <a:ext cx="3566160" cy="109728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Data Bars</a:t>
            </a:r>
          </a:p>
          <a:p>
            <a:pPr>
              <a:lnSpc>
                <a:spcPct val="106000"/>
              </a:lnSpc>
              <a:spcAft>
                <a:spcPts val="400"/>
              </a:spcAft>
              <a:defRPr sz="2200" b="0">
                <a:solidFill>
                  <a:srgbClr val="F2F5F8"/>
                </a:solidFill>
                <a:latin typeface="Helvetica Neue"/>
              </a:defRPr>
            </a:pPr>
            <a:r>
              <a:t>and Change Alerts</a:t>
            </a:r>
          </a:p>
        </p:txBody>
      </p:sp>
      <p:sp>
        <p:nvSpPr>
          <p:cNvPr id="5" name="text:Bars from activity, not the clock. A"/>
          <p:cNvSpPr txBox="1"/>
          <p:nvPr/>
        </p:nvSpPr>
        <p:spPr>
          <a:xfrm>
            <a:off x="5257800" y="2514600"/>
            <a:ext cx="3383280" cy="82296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Bars from activity, not the clock. An agent that wakes only when something changes.</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29 Oct 2026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29 Oct 2026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re we ar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Where we are</a:t>
            </a:r>
          </a:p>
        </p:txBody>
      </p:sp>
      <p:sp>
        <p:nvSpPr>
          <p:cNvPr id="3" name="text:Tonight's question: how many agent c"/>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Tonight's question: how many agent calls does a day of price ticks really need?</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783080"/>
            <a:ext cx="2560320" cy="2331720"/>
          </a:xfrm>
          <a:prstGeom prst="roundRect">
            <a:avLst>
              <a:gd name="adj" fmla="val 549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92807"/>
            <a:ext cx="619963" cy="219456"/>
          </a:xfrm>
          <a:prstGeom prst="roundRect">
            <a:avLst>
              <a:gd name="adj" fmla="val 5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DONE"/>
          <p:cNvSpPr txBox="1"/>
          <p:nvPr/>
        </p:nvSpPr>
        <p:spPr>
          <a:xfrm>
            <a:off x="74980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DONE</a:t>
            </a:r>
          </a:p>
        </p:txBody>
      </p:sp>
      <p:sp>
        <p:nvSpPr>
          <p:cNvPr id="8" name="text:Build night 1"/>
          <p:cNvSpPr txBox="1"/>
          <p:nvPr/>
        </p:nvSpPr>
        <p:spPr>
          <a:xfrm>
            <a:off x="74980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1</a:t>
            </a:r>
          </a:p>
        </p:txBody>
      </p:sp>
      <p:sp>
        <p:nvSpPr>
          <p:cNvPr id="9" name="text:Thu 22 Oct"/>
          <p:cNvSpPr txBox="1"/>
          <p:nvPr/>
        </p:nvSpPr>
        <p:spPr>
          <a:xfrm>
            <a:off x="74980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Thu 22 Oct</a:t>
            </a:r>
          </a:p>
        </p:txBody>
      </p:sp>
      <p:sp>
        <p:nvSpPr>
          <p:cNvPr id="10" name="text:Data collection and the risk hook"/>
          <p:cNvSpPr txBox="1"/>
          <p:nvPr/>
        </p:nvSpPr>
        <p:spPr>
          <a:xfrm>
            <a:off x="74980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Data collection and the risk hook</a:t>
            </a:r>
          </a:p>
        </p:txBody>
      </p:sp>
      <p:cxnSp>
        <p:nvCxnSpPr>
          <p:cNvPr id="11" name="Connector 10"/>
          <p:cNvCxnSpPr/>
          <p:nvPr/>
        </p:nvCxnSpPr>
        <p:spPr>
          <a:xfrm>
            <a:off x="313639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83080"/>
            <a:ext cx="2560320" cy="2331720"/>
          </a:xfrm>
          <a:prstGeom prst="roundRect">
            <a:avLst>
              <a:gd name="adj" fmla="val 549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38728" y="1892807"/>
            <a:ext cx="879195" cy="219456"/>
          </a:xfrm>
          <a:prstGeom prst="roundRect">
            <a:avLst>
              <a:gd name="adj" fmla="val 50000"/>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ONIGHT"/>
          <p:cNvSpPr txBox="1"/>
          <p:nvPr/>
        </p:nvSpPr>
        <p:spPr>
          <a:xfrm>
            <a:off x="3538728" y="1911095"/>
            <a:ext cx="879195"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TONIGHT</a:t>
            </a:r>
          </a:p>
        </p:txBody>
      </p:sp>
      <p:sp>
        <p:nvSpPr>
          <p:cNvPr id="15" name="text:Build night 2"/>
          <p:cNvSpPr txBox="1"/>
          <p:nvPr/>
        </p:nvSpPr>
        <p:spPr>
          <a:xfrm>
            <a:off x="353872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2</a:t>
            </a:r>
          </a:p>
        </p:txBody>
      </p:sp>
      <p:sp>
        <p:nvSpPr>
          <p:cNvPr id="16" name="text:Thu 29 Oct"/>
          <p:cNvSpPr txBox="1"/>
          <p:nvPr/>
        </p:nvSpPr>
        <p:spPr>
          <a:xfrm>
            <a:off x="353872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Thu 29 Oct</a:t>
            </a:r>
          </a:p>
        </p:txBody>
      </p:sp>
      <p:sp>
        <p:nvSpPr>
          <p:cNvPr id="17" name="text:Data bars and change alerts"/>
          <p:cNvSpPr txBox="1"/>
          <p:nvPr/>
        </p:nvSpPr>
        <p:spPr>
          <a:xfrm>
            <a:off x="353872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Data bars and change alerts</a:t>
            </a:r>
          </a:p>
        </p:txBody>
      </p:sp>
      <p:cxnSp>
        <p:nvCxnSpPr>
          <p:cNvPr id="18" name="Connector 17"/>
          <p:cNvCxnSpPr/>
          <p:nvPr/>
        </p:nvCxnSpPr>
        <p:spPr>
          <a:xfrm>
            <a:off x="592531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783080"/>
            <a:ext cx="2560320" cy="2331720"/>
          </a:xfrm>
          <a:prstGeom prst="roundRect">
            <a:avLst>
              <a:gd name="adj" fmla="val 549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27648" y="1892807"/>
            <a:ext cx="619963" cy="219456"/>
          </a:xfrm>
          <a:prstGeom prst="roundRect">
            <a:avLst>
              <a:gd name="adj" fmla="val 50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NEXT"/>
          <p:cNvSpPr txBox="1"/>
          <p:nvPr/>
        </p:nvSpPr>
        <p:spPr>
          <a:xfrm>
            <a:off x="632764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NEXT</a:t>
            </a:r>
          </a:p>
        </p:txBody>
      </p:sp>
      <p:sp>
        <p:nvSpPr>
          <p:cNvPr id="22" name="text:Workshop 2"/>
          <p:cNvSpPr txBox="1"/>
          <p:nvPr/>
        </p:nvSpPr>
        <p:spPr>
          <a:xfrm>
            <a:off x="632764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2</a:t>
            </a:r>
          </a:p>
        </p:txBody>
      </p:sp>
      <p:sp>
        <p:nvSpPr>
          <p:cNvPr id="23" name="text:Thu 5 Nov"/>
          <p:cNvSpPr txBox="1"/>
          <p:nvPr/>
        </p:nvSpPr>
        <p:spPr>
          <a:xfrm>
            <a:off x="632764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Thu 5 Nov</a:t>
            </a:r>
          </a:p>
        </p:txBody>
      </p:sp>
      <p:sp>
        <p:nvSpPr>
          <p:cNvPr id="24" name="text:Labeling trades and forming teams"/>
          <p:cNvSpPr txBox="1"/>
          <p:nvPr/>
        </p:nvSpPr>
        <p:spPr>
          <a:xfrm>
            <a:off x="632764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Labeling trades and forming teams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Tonight</a:t>
            </a:r>
          </a:p>
        </p:txBody>
      </p:sp>
      <p:sp>
        <p:nvSpPr>
          <p:cNvPr id="3" name="text:18:00 to 20:00, mostly hands o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mostly hands on.</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00"/>
          <p:cNvSpPr txBox="1"/>
          <p:nvPr/>
        </p:nvSpPr>
        <p:spPr>
          <a:xfrm>
            <a:off x="73152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18:00</a:t>
            </a:r>
          </a:p>
        </p:txBody>
      </p:sp>
      <p:sp>
        <p:nvSpPr>
          <p:cNvPr id="7" name="text:10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8" name="text:Progress circle"/>
          <p:cNvSpPr txBox="1"/>
          <p:nvPr/>
        </p:nvSpPr>
        <p:spPr>
          <a:xfrm>
            <a:off x="73152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Progress circle</a:t>
            </a:r>
          </a:p>
        </p:txBody>
      </p:sp>
      <p:sp>
        <p:nvSpPr>
          <p:cNvPr id="9" name="text:last result and tonight's question"/>
          <p:cNvSpPr txBox="1"/>
          <p:nvPr/>
        </p:nvSpPr>
        <p:spPr>
          <a:xfrm>
            <a:off x="73152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last result and tonight's question</a:t>
            </a:r>
          </a:p>
        </p:txBody>
      </p:sp>
      <p:sp>
        <p:nvSpPr>
          <p:cNvPr id="10" name="Rounded Rectangle 9"/>
          <p:cNvSpPr/>
          <p:nvPr/>
        </p:nvSpPr>
        <p:spPr>
          <a:xfrm>
            <a:off x="333756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10"/>
          <p:cNvSpPr txBox="1"/>
          <p:nvPr/>
        </p:nvSpPr>
        <p:spPr>
          <a:xfrm>
            <a:off x="352044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18:10</a:t>
            </a:r>
          </a:p>
        </p:txBody>
      </p:sp>
      <p:sp>
        <p:nvSpPr>
          <p:cNvPr id="12" name="text:10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13" name="text:Mini-talk"/>
          <p:cNvSpPr txBox="1"/>
          <p:nvPr/>
        </p:nvSpPr>
        <p:spPr>
          <a:xfrm>
            <a:off x="352044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Mini-talk</a:t>
            </a:r>
          </a:p>
        </p:txBody>
      </p:sp>
      <p:sp>
        <p:nvSpPr>
          <p:cNvPr id="14" name="text:clock bars, dollar bars, the CUSUM f"/>
          <p:cNvSpPr txBox="1"/>
          <p:nvPr/>
        </p:nvSpPr>
        <p:spPr>
          <a:xfrm>
            <a:off x="352044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clock bars, dollar bars, the CUSUM filter</a:t>
            </a:r>
          </a:p>
        </p:txBody>
      </p:sp>
      <p:sp>
        <p:nvSpPr>
          <p:cNvPr id="15" name="Rounded Rectangle 14"/>
          <p:cNvSpPr/>
          <p:nvPr/>
        </p:nvSpPr>
        <p:spPr>
          <a:xfrm>
            <a:off x="6126479"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8:20"/>
          <p:cNvSpPr txBox="1"/>
          <p:nvPr/>
        </p:nvSpPr>
        <p:spPr>
          <a:xfrm>
            <a:off x="6309359"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18:20</a:t>
            </a:r>
          </a:p>
        </p:txBody>
      </p:sp>
      <p:sp>
        <p:nvSpPr>
          <p:cNvPr id="17" name="text:20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18" name="text:Demo tour"/>
          <p:cNvSpPr txBox="1"/>
          <p:nvPr/>
        </p:nvSpPr>
        <p:spPr>
          <a:xfrm>
            <a:off x="6309359"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Demo tour</a:t>
            </a:r>
          </a:p>
        </p:txBody>
      </p:sp>
      <p:sp>
        <p:nvSpPr>
          <p:cNvPr id="19" name="text:you predict, then we run it"/>
          <p:cNvSpPr txBox="1"/>
          <p:nvPr/>
        </p:nvSpPr>
        <p:spPr>
          <a:xfrm>
            <a:off x="6309359"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 predict, then we run it</a:t>
            </a:r>
          </a:p>
        </p:txBody>
      </p:sp>
      <p:sp>
        <p:nvSpPr>
          <p:cNvPr id="20" name="Rounded Rectangle 19"/>
          <p:cNvSpPr/>
          <p:nvPr/>
        </p:nvSpPr>
        <p:spPr>
          <a:xfrm>
            <a:off x="54864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8:40"/>
          <p:cNvSpPr txBox="1"/>
          <p:nvPr/>
        </p:nvSpPr>
        <p:spPr>
          <a:xfrm>
            <a:off x="73152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18:40</a:t>
            </a:r>
          </a:p>
        </p:txBody>
      </p:sp>
      <p:sp>
        <p:nvSpPr>
          <p:cNvPr id="22" name="text:20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23" name="text:Guided mission"/>
          <p:cNvSpPr txBox="1"/>
          <p:nvPr/>
        </p:nvSpPr>
        <p:spPr>
          <a:xfrm>
            <a:off x="73152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Guided mission</a:t>
            </a:r>
          </a:p>
        </p:txBody>
      </p:sp>
      <p:sp>
        <p:nvSpPr>
          <p:cNvPr id="24" name="text:run it, predict, change, chart"/>
          <p:cNvSpPr txBox="1"/>
          <p:nvPr/>
        </p:nvSpPr>
        <p:spPr>
          <a:xfrm>
            <a:off x="73152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run it, predict, change, chart</a:t>
            </a:r>
          </a:p>
        </p:txBody>
      </p:sp>
      <p:sp>
        <p:nvSpPr>
          <p:cNvPr id="25" name="Rounded Rectangle 24"/>
          <p:cNvSpPr/>
          <p:nvPr/>
        </p:nvSpPr>
        <p:spPr>
          <a:xfrm>
            <a:off x="3337560" y="315468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00"/>
          <p:cNvSpPr txBox="1"/>
          <p:nvPr/>
        </p:nvSpPr>
        <p:spPr>
          <a:xfrm>
            <a:off x="352044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19:00</a:t>
            </a:r>
          </a:p>
        </p:txBody>
      </p:sp>
      <p:sp>
        <p:nvSpPr>
          <p:cNvPr id="27" name="text:50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50 min</a:t>
            </a:r>
          </a:p>
        </p:txBody>
      </p:sp>
      <p:sp>
        <p:nvSpPr>
          <p:cNvPr id="28" name="text:Free build"/>
          <p:cNvSpPr txBox="1"/>
          <p:nvPr/>
        </p:nvSpPr>
        <p:spPr>
          <a:xfrm>
            <a:off x="352044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Free build</a:t>
            </a:r>
          </a:p>
        </p:txBody>
      </p:sp>
      <p:sp>
        <p:nvSpPr>
          <p:cNvPr id="29" name="text:your own project"/>
          <p:cNvSpPr txBox="1"/>
          <p:nvPr/>
        </p:nvSpPr>
        <p:spPr>
          <a:xfrm>
            <a:off x="352044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your own project</a:t>
            </a:r>
          </a:p>
        </p:txBody>
      </p:sp>
      <p:sp>
        <p:nvSpPr>
          <p:cNvPr id="30" name="Rounded Rectangle 29"/>
          <p:cNvSpPr/>
          <p:nvPr/>
        </p:nvSpPr>
        <p:spPr>
          <a:xfrm>
            <a:off x="6126479"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50"/>
          <p:cNvSpPr txBox="1"/>
          <p:nvPr/>
        </p:nvSpPr>
        <p:spPr>
          <a:xfrm>
            <a:off x="6309359"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19:50</a:t>
            </a:r>
          </a:p>
        </p:txBody>
      </p:sp>
      <p:sp>
        <p:nvSpPr>
          <p:cNvPr id="32" name="text:10 min"/>
          <p:cNvSpPr txBox="1"/>
          <p:nvPr/>
        </p:nvSpPr>
        <p:spPr>
          <a:xfrm>
            <a:off x="7589519"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33" name="text:Show and tell"/>
          <p:cNvSpPr txBox="1"/>
          <p:nvPr/>
        </p:nvSpPr>
        <p:spPr>
          <a:xfrm>
            <a:off x="6309359"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Show and tell</a:t>
            </a:r>
          </a:p>
        </p:txBody>
      </p:sp>
      <p:sp>
        <p:nvSpPr>
          <p:cNvPr id="34" name="text:push, one line on next step"/>
          <p:cNvSpPr txBox="1"/>
          <p:nvPr/>
        </p:nvSpPr>
        <p:spPr>
          <a:xfrm>
            <a:off x="6309359"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push, one line on next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Clock versus activity"/>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Clock versus activity</a:t>
            </a:r>
          </a:p>
        </p:txBody>
      </p:sp>
      <p:sp>
        <p:nvSpPr>
          <p:cNvPr id="3" name="text:Two ways to cut a stream of trades i"/>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Two ways to cut a stream of trades into bars.</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554480"/>
            <a:ext cx="3886200" cy="3017520"/>
          </a:xfrm>
          <a:prstGeom prst="roundRect">
            <a:avLst>
              <a:gd name="adj" fmla="val 4242"/>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CLOCK BARS"/>
          <p:cNvSpPr txBox="1"/>
          <p:nvPr/>
        </p:nvSpPr>
        <p:spPr>
          <a:xfrm>
            <a:off x="777240" y="1737360"/>
            <a:ext cx="347472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CLOCK BARS</a:t>
            </a:r>
          </a:p>
        </p:txBody>
      </p:sp>
      <p:sp>
        <p:nvSpPr>
          <p:cNvPr id="7" name="text:1 bar per minute"/>
          <p:cNvSpPr txBox="1"/>
          <p:nvPr/>
        </p:nvSpPr>
        <p:spPr>
          <a:xfrm>
            <a:off x="777240" y="2011680"/>
            <a:ext cx="352044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1 bar per minute</a:t>
            </a:r>
          </a:p>
        </p:txBody>
      </p:sp>
      <p:sp>
        <p:nvSpPr>
          <p:cNvPr id="8" name="Rounded Rectangle 7"/>
          <p:cNvSpPr/>
          <p:nvPr/>
        </p:nvSpPr>
        <p:spPr>
          <a:xfrm>
            <a:off x="777240" y="2697480"/>
            <a:ext cx="541020" cy="457200"/>
          </a:xfrm>
          <a:prstGeom prst="roundRect">
            <a:avLst>
              <a:gd name="adj" fmla="val 12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354836" y="2697480"/>
            <a:ext cx="541020" cy="457200"/>
          </a:xfrm>
          <a:prstGeom prst="roundRect">
            <a:avLst>
              <a:gd name="adj" fmla="val 12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932432" y="2697480"/>
            <a:ext cx="541020" cy="457200"/>
          </a:xfrm>
          <a:prstGeom prst="roundRect">
            <a:avLst>
              <a:gd name="adj" fmla="val 12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10028" y="2697480"/>
            <a:ext cx="541020" cy="457200"/>
          </a:xfrm>
          <a:prstGeom prst="roundRect">
            <a:avLst>
              <a:gd name="adj" fmla="val 12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87624" y="2697480"/>
            <a:ext cx="541020" cy="457200"/>
          </a:xfrm>
          <a:prstGeom prst="roundRect">
            <a:avLst>
              <a:gd name="adj" fmla="val 12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65220" y="2697480"/>
            <a:ext cx="541020" cy="457200"/>
          </a:xfrm>
          <a:prstGeom prst="roundRect">
            <a:avLst>
              <a:gd name="adj" fmla="val 12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 quiet minute still makes a bar. A "/>
          <p:cNvSpPr txBox="1"/>
          <p:nvPr/>
        </p:nvSpPr>
        <p:spPr>
          <a:xfrm>
            <a:off x="777240" y="3429000"/>
            <a:ext cx="3429000" cy="822960"/>
          </a:xfrm>
          <a:prstGeom prst="rect">
            <a:avLst/>
          </a:prstGeom>
          <a:noFill/>
        </p:spPr>
        <p:txBody>
          <a:bodyPr wrap="square" lIns="9144" rIns="9144" tIns="0" bIns="0">
            <a:spAutoFit/>
          </a:bodyPr>
          <a:lstStyle/>
          <a:p>
            <a:pPr>
              <a:lnSpc>
                <a:spcPct val="106000"/>
              </a:lnSpc>
              <a:spcAft>
                <a:spcPts val="400"/>
              </a:spcAft>
              <a:defRPr sz="1400" b="0">
                <a:solidFill>
                  <a:srgbClr val="9A9AA2"/>
                </a:solidFill>
                <a:latin typeface="Helvetica Neue"/>
              </a:defRPr>
            </a:pPr>
            <a:r>
              <a:t>A quiet minute still makes a bar. A busy minute is squeezed into one.</a:t>
            </a:r>
          </a:p>
        </p:txBody>
      </p:sp>
      <p:sp>
        <p:nvSpPr>
          <p:cNvPr id="15" name="Rounded Rectangle 14"/>
          <p:cNvSpPr/>
          <p:nvPr/>
        </p:nvSpPr>
        <p:spPr>
          <a:xfrm>
            <a:off x="4709160" y="1554480"/>
            <a:ext cx="3886200" cy="3017520"/>
          </a:xfrm>
          <a:prstGeom prst="roundRect">
            <a:avLst>
              <a:gd name="adj" fmla="val 4242"/>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ACTIVITY BARS"/>
          <p:cNvSpPr txBox="1"/>
          <p:nvPr/>
        </p:nvSpPr>
        <p:spPr>
          <a:xfrm>
            <a:off x="4937760" y="1737360"/>
            <a:ext cx="3474720" cy="22860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ACTIVITY BARS</a:t>
            </a:r>
          </a:p>
        </p:txBody>
      </p:sp>
      <p:sp>
        <p:nvSpPr>
          <p:cNvPr id="17" name="text:1 bar per $X traded"/>
          <p:cNvSpPr txBox="1"/>
          <p:nvPr/>
        </p:nvSpPr>
        <p:spPr>
          <a:xfrm>
            <a:off x="4937760" y="2011680"/>
            <a:ext cx="352044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1 bar per $X traded</a:t>
            </a:r>
          </a:p>
        </p:txBody>
      </p:sp>
      <p:sp>
        <p:nvSpPr>
          <p:cNvPr id="18" name="Rounded Rectangle 17"/>
          <p:cNvSpPr/>
          <p:nvPr/>
        </p:nvSpPr>
        <p:spPr>
          <a:xfrm>
            <a:off x="4937760" y="2697480"/>
            <a:ext cx="906908" cy="457200"/>
          </a:xfrm>
          <a:prstGeom prst="roundRect">
            <a:avLst>
              <a:gd name="adj" fmla="val 1200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1244" y="2697480"/>
            <a:ext cx="755757" cy="457200"/>
          </a:xfrm>
          <a:prstGeom prst="roundRect">
            <a:avLst>
              <a:gd name="adj" fmla="val 1200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73577" y="2697480"/>
            <a:ext cx="188939" cy="457200"/>
          </a:xfrm>
          <a:prstGeom prst="roundRect">
            <a:avLst>
              <a:gd name="adj" fmla="val 2903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99092" y="2697480"/>
            <a:ext cx="151151" cy="457200"/>
          </a:xfrm>
          <a:prstGeom prst="roundRect">
            <a:avLst>
              <a:gd name="adj" fmla="val 3629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86820" y="2697480"/>
            <a:ext cx="151151" cy="457200"/>
          </a:xfrm>
          <a:prstGeom prst="roundRect">
            <a:avLst>
              <a:gd name="adj" fmla="val 3629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74547" y="2697480"/>
            <a:ext cx="151151" cy="457200"/>
          </a:xfrm>
          <a:prstGeom prst="roundRect">
            <a:avLst>
              <a:gd name="adj" fmla="val 3629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62275" y="2697480"/>
            <a:ext cx="151151" cy="457200"/>
          </a:xfrm>
          <a:prstGeom prst="roundRect">
            <a:avLst>
              <a:gd name="adj" fmla="val 3629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650002" y="2697480"/>
            <a:ext cx="226727" cy="457200"/>
          </a:xfrm>
          <a:prstGeom prst="roundRect">
            <a:avLst>
              <a:gd name="adj" fmla="val 24198"/>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13305" y="2697480"/>
            <a:ext cx="453454" cy="457200"/>
          </a:xfrm>
          <a:prstGeom prst="roundRect">
            <a:avLst>
              <a:gd name="adj" fmla="val 12099"/>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A quiet hour makes few bars. A busy "/>
          <p:cNvSpPr txBox="1"/>
          <p:nvPr/>
        </p:nvSpPr>
        <p:spPr>
          <a:xfrm>
            <a:off x="4937760" y="3429000"/>
            <a:ext cx="3429000" cy="822960"/>
          </a:xfrm>
          <a:prstGeom prst="rect">
            <a:avLst/>
          </a:prstGeom>
          <a:noFill/>
        </p:spPr>
        <p:txBody>
          <a:bodyPr wrap="square" lIns="9144" rIns="9144" tIns="0" bIns="0">
            <a:spAutoFit/>
          </a:bodyPr>
          <a:lstStyle/>
          <a:p>
            <a:pPr>
              <a:lnSpc>
                <a:spcPct val="106000"/>
              </a:lnSpc>
              <a:spcAft>
                <a:spcPts val="400"/>
              </a:spcAft>
              <a:defRPr sz="1400" b="0">
                <a:solidFill>
                  <a:srgbClr val="9A9AA2"/>
                </a:solidFill>
                <a:latin typeface="Helvetica Neue"/>
              </a:defRPr>
            </a:pPr>
            <a:r>
              <a:t>A quiet hour makes few bars. A busy minute makes many.</a:t>
            </a:r>
          </a:p>
        </p:txBody>
      </p:sp>
      <p:sp>
        <p:nvSpPr>
          <p:cNvPr id="28" name="text:Illustrativ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ime ba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Time bars</a:t>
            </a:r>
          </a:p>
        </p:txBody>
      </p:sp>
      <p:sp>
        <p:nvSpPr>
          <p:cNvPr id="3" name="text:Same trades, cut by the clock."/>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Same trades, cut by the clock.</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text:One bar every minute, whatever happe"/>
          <p:cNvSpPr txBox="1"/>
          <p:nvPr/>
        </p:nvSpPr>
        <p:spPr>
          <a:xfrm>
            <a:off x="548640" y="1371600"/>
            <a:ext cx="809244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One bar every minute, whatever happened in it.</a:t>
            </a:r>
          </a:p>
        </p:txBody>
      </p:sp>
      <p:sp>
        <p:nvSpPr>
          <p:cNvPr id="6" name="text:TRADES"/>
          <p:cNvSpPr txBox="1"/>
          <p:nvPr/>
        </p:nvSpPr>
        <p:spPr>
          <a:xfrm>
            <a:off x="548640" y="2468880"/>
            <a:ext cx="10058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TRADES</a:t>
            </a:r>
          </a:p>
        </p:txBody>
      </p:sp>
      <p:sp>
        <p:nvSpPr>
          <p:cNvPr id="7" name="text:taller = more dollars"/>
          <p:cNvSpPr txBox="1"/>
          <p:nvPr/>
        </p:nvSpPr>
        <p:spPr>
          <a:xfrm>
            <a:off x="548640" y="2651760"/>
            <a:ext cx="1005840" cy="320040"/>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taller = more dollars</a:t>
            </a:r>
          </a:p>
        </p:txBody>
      </p:sp>
      <p:cxnSp>
        <p:nvCxnSpPr>
          <p:cNvPr id="8" name="Connector 7"/>
          <p:cNvCxnSpPr/>
          <p:nvPr/>
        </p:nvCxnSpPr>
        <p:spPr>
          <a:xfrm>
            <a:off x="1600200" y="2926080"/>
            <a:ext cx="704088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881835" y="2809494"/>
            <a:ext cx="0" cy="11658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515514" y="2731770"/>
            <a:ext cx="0" cy="19431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430828" y="2828925"/>
            <a:ext cx="0" cy="9715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064508" y="2770632"/>
            <a:ext cx="0" cy="15544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486960" y="2498598"/>
            <a:ext cx="0" cy="42748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27778" y="2343150"/>
            <a:ext cx="0" cy="58293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98187" y="2576322"/>
            <a:ext cx="0" cy="34975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839004" y="2265426"/>
            <a:ext cx="0" cy="66065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09413"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050231" y="2187702"/>
            <a:ext cx="0" cy="73837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120640" y="2537460"/>
            <a:ext cx="0" cy="38862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261457" y="2382012"/>
            <a:ext cx="0" cy="54406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331866" y="2226564"/>
            <a:ext cx="0" cy="69951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472684"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543092" y="2304288"/>
            <a:ext cx="0" cy="62179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683910" y="2537460"/>
            <a:ext cx="0" cy="38862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824728" y="2187702"/>
            <a:ext cx="0" cy="73837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895136" y="2420874"/>
            <a:ext cx="0" cy="50520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35954" y="2343150"/>
            <a:ext cx="0" cy="58293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76772" y="2498598"/>
            <a:ext cx="0" cy="42748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317589" y="2265426"/>
            <a:ext cx="0" cy="66065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458407"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669633" y="2576322"/>
            <a:ext cx="0" cy="34975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73721" y="2790063"/>
            <a:ext cx="0" cy="13601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007400" y="2751201"/>
            <a:ext cx="0" cy="17487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500262" y="2809494"/>
            <a:ext cx="0" cy="11658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sp>
        <p:nvSpPr>
          <p:cNvPr id="35" name="text:TIME BARS"/>
          <p:cNvSpPr txBox="1"/>
          <p:nvPr/>
        </p:nvSpPr>
        <p:spPr>
          <a:xfrm>
            <a:off x="548640" y="3200400"/>
            <a:ext cx="10058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TIME BARS</a:t>
            </a:r>
          </a:p>
        </p:txBody>
      </p:sp>
      <p:sp>
        <p:nvSpPr>
          <p:cNvPr id="36" name="Rounded Rectangle 35"/>
          <p:cNvSpPr/>
          <p:nvPr/>
        </p:nvSpPr>
        <p:spPr>
          <a:xfrm>
            <a:off x="1613916"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0-1"/>
          <p:cNvSpPr txBox="1"/>
          <p:nvPr/>
        </p:nvSpPr>
        <p:spPr>
          <a:xfrm>
            <a:off x="1600200"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0-1</a:t>
            </a:r>
          </a:p>
        </p:txBody>
      </p:sp>
      <p:sp>
        <p:nvSpPr>
          <p:cNvPr id="38" name="Rounded Rectangle 37"/>
          <p:cNvSpPr/>
          <p:nvPr/>
        </p:nvSpPr>
        <p:spPr>
          <a:xfrm>
            <a:off x="2318004"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2"/>
          <p:cNvSpPr txBox="1"/>
          <p:nvPr/>
        </p:nvSpPr>
        <p:spPr>
          <a:xfrm>
            <a:off x="2304288"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1-2</a:t>
            </a:r>
          </a:p>
        </p:txBody>
      </p:sp>
      <p:sp>
        <p:nvSpPr>
          <p:cNvPr id="40" name="Rounded Rectangle 39"/>
          <p:cNvSpPr/>
          <p:nvPr/>
        </p:nvSpPr>
        <p:spPr>
          <a:xfrm>
            <a:off x="3022092"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2-3"/>
          <p:cNvSpPr txBox="1"/>
          <p:nvPr/>
        </p:nvSpPr>
        <p:spPr>
          <a:xfrm>
            <a:off x="3008376"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2-3</a:t>
            </a:r>
          </a:p>
        </p:txBody>
      </p:sp>
      <p:sp>
        <p:nvSpPr>
          <p:cNvPr id="42" name="Rounded Rectangle 41"/>
          <p:cNvSpPr/>
          <p:nvPr/>
        </p:nvSpPr>
        <p:spPr>
          <a:xfrm>
            <a:off x="3726180"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3-4"/>
          <p:cNvSpPr txBox="1"/>
          <p:nvPr/>
        </p:nvSpPr>
        <p:spPr>
          <a:xfrm>
            <a:off x="3712464"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3-4</a:t>
            </a:r>
          </a:p>
        </p:txBody>
      </p:sp>
      <p:sp>
        <p:nvSpPr>
          <p:cNvPr id="44" name="Rounded Rectangle 43"/>
          <p:cNvSpPr/>
          <p:nvPr/>
        </p:nvSpPr>
        <p:spPr>
          <a:xfrm>
            <a:off x="4430268"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4-5"/>
          <p:cNvSpPr txBox="1"/>
          <p:nvPr/>
        </p:nvSpPr>
        <p:spPr>
          <a:xfrm>
            <a:off x="4416552"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4-5</a:t>
            </a:r>
          </a:p>
        </p:txBody>
      </p:sp>
      <p:sp>
        <p:nvSpPr>
          <p:cNvPr id="46" name="Rounded Rectangle 45"/>
          <p:cNvSpPr/>
          <p:nvPr/>
        </p:nvSpPr>
        <p:spPr>
          <a:xfrm>
            <a:off x="5134355"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5-6"/>
          <p:cNvSpPr txBox="1"/>
          <p:nvPr/>
        </p:nvSpPr>
        <p:spPr>
          <a:xfrm>
            <a:off x="5120640"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5-6</a:t>
            </a:r>
          </a:p>
        </p:txBody>
      </p:sp>
      <p:sp>
        <p:nvSpPr>
          <p:cNvPr id="48" name="Rounded Rectangle 47"/>
          <p:cNvSpPr/>
          <p:nvPr/>
        </p:nvSpPr>
        <p:spPr>
          <a:xfrm>
            <a:off x="5838444"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6-7"/>
          <p:cNvSpPr txBox="1"/>
          <p:nvPr/>
        </p:nvSpPr>
        <p:spPr>
          <a:xfrm>
            <a:off x="5824728"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6-7</a:t>
            </a:r>
          </a:p>
        </p:txBody>
      </p:sp>
      <p:sp>
        <p:nvSpPr>
          <p:cNvPr id="50" name="Rounded Rectangle 49"/>
          <p:cNvSpPr/>
          <p:nvPr/>
        </p:nvSpPr>
        <p:spPr>
          <a:xfrm>
            <a:off x="6542531"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7-8"/>
          <p:cNvSpPr txBox="1"/>
          <p:nvPr/>
        </p:nvSpPr>
        <p:spPr>
          <a:xfrm>
            <a:off x="6528816"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7-8</a:t>
            </a:r>
          </a:p>
        </p:txBody>
      </p:sp>
      <p:sp>
        <p:nvSpPr>
          <p:cNvPr id="52" name="Rounded Rectangle 51"/>
          <p:cNvSpPr/>
          <p:nvPr/>
        </p:nvSpPr>
        <p:spPr>
          <a:xfrm>
            <a:off x="7246620"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8-9"/>
          <p:cNvSpPr txBox="1"/>
          <p:nvPr/>
        </p:nvSpPr>
        <p:spPr>
          <a:xfrm>
            <a:off x="7232904"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8-9</a:t>
            </a:r>
          </a:p>
        </p:txBody>
      </p:sp>
      <p:sp>
        <p:nvSpPr>
          <p:cNvPr id="54" name="Rounded Rectangle 53"/>
          <p:cNvSpPr/>
          <p:nvPr/>
        </p:nvSpPr>
        <p:spPr>
          <a:xfrm>
            <a:off x="7950708"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9-10"/>
          <p:cNvSpPr txBox="1"/>
          <p:nvPr/>
        </p:nvSpPr>
        <p:spPr>
          <a:xfrm>
            <a:off x="7936992"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9-10</a:t>
            </a:r>
          </a:p>
        </p:txBody>
      </p:sp>
      <p:sp>
        <p:nvSpPr>
          <p:cNvPr id="56" name="text:Quiet minutes hold one trade. The bu"/>
          <p:cNvSpPr txBox="1"/>
          <p:nvPr/>
        </p:nvSpPr>
        <p:spPr>
          <a:xfrm>
            <a:off x="548640" y="4224528"/>
            <a:ext cx="809244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Quiet minutes hold one trade. The busy stretch is squeezed into a few bars.</a:t>
            </a:r>
          </a:p>
        </p:txBody>
      </p:sp>
      <p:sp>
        <p:nvSpPr>
          <p:cNvPr id="57" name="text:Illustrative trades, $3,000 per doll"/>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trades, $3,000 per dollar bar.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ollar ba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Dollar bars</a:t>
            </a:r>
          </a:p>
        </p:txBody>
      </p:sp>
      <p:sp>
        <p:nvSpPr>
          <p:cNvPr id="3" name="text:Same trades, cut by money traded."/>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Same trades, cut by money traded.</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text:A bar closes when $X has traded, not"/>
          <p:cNvSpPr txBox="1"/>
          <p:nvPr/>
        </p:nvSpPr>
        <p:spPr>
          <a:xfrm>
            <a:off x="548640" y="1371600"/>
            <a:ext cx="809244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bar closes when $X has traded, not when a minute has passed.</a:t>
            </a:r>
          </a:p>
        </p:txBody>
      </p:sp>
      <p:sp>
        <p:nvSpPr>
          <p:cNvPr id="6" name="text:TRADES"/>
          <p:cNvSpPr txBox="1"/>
          <p:nvPr/>
        </p:nvSpPr>
        <p:spPr>
          <a:xfrm>
            <a:off x="548640" y="2468880"/>
            <a:ext cx="10058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TRADES</a:t>
            </a:r>
          </a:p>
        </p:txBody>
      </p:sp>
      <p:sp>
        <p:nvSpPr>
          <p:cNvPr id="7" name="text:taller = more dollars"/>
          <p:cNvSpPr txBox="1"/>
          <p:nvPr/>
        </p:nvSpPr>
        <p:spPr>
          <a:xfrm>
            <a:off x="548640" y="2651760"/>
            <a:ext cx="1005840" cy="320040"/>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taller = more dollars</a:t>
            </a:r>
          </a:p>
        </p:txBody>
      </p:sp>
      <p:cxnSp>
        <p:nvCxnSpPr>
          <p:cNvPr id="8" name="Connector 7"/>
          <p:cNvCxnSpPr/>
          <p:nvPr/>
        </p:nvCxnSpPr>
        <p:spPr>
          <a:xfrm>
            <a:off x="1600200" y="2926080"/>
            <a:ext cx="704088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881835" y="2809494"/>
            <a:ext cx="0" cy="11658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515514" y="2731770"/>
            <a:ext cx="0" cy="19431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430828" y="2828925"/>
            <a:ext cx="0" cy="9715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064508" y="2770632"/>
            <a:ext cx="0" cy="15544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486960" y="2498598"/>
            <a:ext cx="0" cy="42748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27778" y="2343150"/>
            <a:ext cx="0" cy="58293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98187" y="2576322"/>
            <a:ext cx="0" cy="34975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839004" y="2265426"/>
            <a:ext cx="0" cy="66065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09413"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050231" y="2187702"/>
            <a:ext cx="0" cy="73837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120640" y="2537460"/>
            <a:ext cx="0" cy="38862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261457" y="2382012"/>
            <a:ext cx="0" cy="54406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331866" y="2226564"/>
            <a:ext cx="0" cy="69951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472684"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543092" y="2304288"/>
            <a:ext cx="0" cy="62179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683910" y="2537460"/>
            <a:ext cx="0" cy="38862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824728" y="2187702"/>
            <a:ext cx="0" cy="73837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895136" y="2420874"/>
            <a:ext cx="0" cy="50520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35954" y="2343150"/>
            <a:ext cx="0" cy="58293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76772" y="2498598"/>
            <a:ext cx="0" cy="42748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317589" y="2265426"/>
            <a:ext cx="0" cy="66065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458407"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669633" y="2576322"/>
            <a:ext cx="0" cy="34975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73721" y="2790063"/>
            <a:ext cx="0" cy="13601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007400" y="2751201"/>
            <a:ext cx="0" cy="17487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500262" y="2809494"/>
            <a:ext cx="0" cy="11658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sp>
        <p:nvSpPr>
          <p:cNvPr id="35" name="text:TIME BARS"/>
          <p:cNvSpPr txBox="1"/>
          <p:nvPr/>
        </p:nvSpPr>
        <p:spPr>
          <a:xfrm>
            <a:off x="548640" y="3200400"/>
            <a:ext cx="10058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TIME BARS</a:t>
            </a:r>
          </a:p>
        </p:txBody>
      </p:sp>
      <p:sp>
        <p:nvSpPr>
          <p:cNvPr id="36" name="Rounded Rectangle 35"/>
          <p:cNvSpPr/>
          <p:nvPr/>
        </p:nvSpPr>
        <p:spPr>
          <a:xfrm>
            <a:off x="1613916"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0-1"/>
          <p:cNvSpPr txBox="1"/>
          <p:nvPr/>
        </p:nvSpPr>
        <p:spPr>
          <a:xfrm>
            <a:off x="1600200"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0-1</a:t>
            </a:r>
          </a:p>
        </p:txBody>
      </p:sp>
      <p:sp>
        <p:nvSpPr>
          <p:cNvPr id="38" name="Rounded Rectangle 37"/>
          <p:cNvSpPr/>
          <p:nvPr/>
        </p:nvSpPr>
        <p:spPr>
          <a:xfrm>
            <a:off x="2318004"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2"/>
          <p:cNvSpPr txBox="1"/>
          <p:nvPr/>
        </p:nvSpPr>
        <p:spPr>
          <a:xfrm>
            <a:off x="2304288"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1-2</a:t>
            </a:r>
          </a:p>
        </p:txBody>
      </p:sp>
      <p:sp>
        <p:nvSpPr>
          <p:cNvPr id="40" name="Rounded Rectangle 39"/>
          <p:cNvSpPr/>
          <p:nvPr/>
        </p:nvSpPr>
        <p:spPr>
          <a:xfrm>
            <a:off x="3022092"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2-3"/>
          <p:cNvSpPr txBox="1"/>
          <p:nvPr/>
        </p:nvSpPr>
        <p:spPr>
          <a:xfrm>
            <a:off x="3008376"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2-3</a:t>
            </a:r>
          </a:p>
        </p:txBody>
      </p:sp>
      <p:sp>
        <p:nvSpPr>
          <p:cNvPr id="42" name="Rounded Rectangle 41"/>
          <p:cNvSpPr/>
          <p:nvPr/>
        </p:nvSpPr>
        <p:spPr>
          <a:xfrm>
            <a:off x="3726180"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3-4"/>
          <p:cNvSpPr txBox="1"/>
          <p:nvPr/>
        </p:nvSpPr>
        <p:spPr>
          <a:xfrm>
            <a:off x="3712464"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3-4</a:t>
            </a:r>
          </a:p>
        </p:txBody>
      </p:sp>
      <p:sp>
        <p:nvSpPr>
          <p:cNvPr id="44" name="Rounded Rectangle 43"/>
          <p:cNvSpPr/>
          <p:nvPr/>
        </p:nvSpPr>
        <p:spPr>
          <a:xfrm>
            <a:off x="4430268"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4-5"/>
          <p:cNvSpPr txBox="1"/>
          <p:nvPr/>
        </p:nvSpPr>
        <p:spPr>
          <a:xfrm>
            <a:off x="4416552"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4-5</a:t>
            </a:r>
          </a:p>
        </p:txBody>
      </p:sp>
      <p:sp>
        <p:nvSpPr>
          <p:cNvPr id="46" name="Rounded Rectangle 45"/>
          <p:cNvSpPr/>
          <p:nvPr/>
        </p:nvSpPr>
        <p:spPr>
          <a:xfrm>
            <a:off x="5134355"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5-6"/>
          <p:cNvSpPr txBox="1"/>
          <p:nvPr/>
        </p:nvSpPr>
        <p:spPr>
          <a:xfrm>
            <a:off x="5120640"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5-6</a:t>
            </a:r>
          </a:p>
        </p:txBody>
      </p:sp>
      <p:sp>
        <p:nvSpPr>
          <p:cNvPr id="48" name="Rounded Rectangle 47"/>
          <p:cNvSpPr/>
          <p:nvPr/>
        </p:nvSpPr>
        <p:spPr>
          <a:xfrm>
            <a:off x="5838444"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6-7"/>
          <p:cNvSpPr txBox="1"/>
          <p:nvPr/>
        </p:nvSpPr>
        <p:spPr>
          <a:xfrm>
            <a:off x="5824728"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6-7</a:t>
            </a:r>
          </a:p>
        </p:txBody>
      </p:sp>
      <p:sp>
        <p:nvSpPr>
          <p:cNvPr id="50" name="Rounded Rectangle 49"/>
          <p:cNvSpPr/>
          <p:nvPr/>
        </p:nvSpPr>
        <p:spPr>
          <a:xfrm>
            <a:off x="6542531"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7-8"/>
          <p:cNvSpPr txBox="1"/>
          <p:nvPr/>
        </p:nvSpPr>
        <p:spPr>
          <a:xfrm>
            <a:off x="6528816"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7-8</a:t>
            </a:r>
          </a:p>
        </p:txBody>
      </p:sp>
      <p:sp>
        <p:nvSpPr>
          <p:cNvPr id="52" name="Rounded Rectangle 51"/>
          <p:cNvSpPr/>
          <p:nvPr/>
        </p:nvSpPr>
        <p:spPr>
          <a:xfrm>
            <a:off x="7246620"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8-9"/>
          <p:cNvSpPr txBox="1"/>
          <p:nvPr/>
        </p:nvSpPr>
        <p:spPr>
          <a:xfrm>
            <a:off x="7232904"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8-9</a:t>
            </a:r>
          </a:p>
        </p:txBody>
      </p:sp>
      <p:sp>
        <p:nvSpPr>
          <p:cNvPr id="54" name="Rounded Rectangle 53"/>
          <p:cNvSpPr/>
          <p:nvPr/>
        </p:nvSpPr>
        <p:spPr>
          <a:xfrm>
            <a:off x="7950708"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9-10"/>
          <p:cNvSpPr txBox="1"/>
          <p:nvPr/>
        </p:nvSpPr>
        <p:spPr>
          <a:xfrm>
            <a:off x="7936992"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9-10</a:t>
            </a:r>
          </a:p>
        </p:txBody>
      </p:sp>
      <p:sp>
        <p:nvSpPr>
          <p:cNvPr id="56" name="text:DOLLAR BARS"/>
          <p:cNvSpPr txBox="1"/>
          <p:nvPr/>
        </p:nvSpPr>
        <p:spPr>
          <a:xfrm>
            <a:off x="548640" y="3749039"/>
            <a:ext cx="100584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DOLLAR BARS</a:t>
            </a:r>
          </a:p>
        </p:txBody>
      </p:sp>
      <p:sp>
        <p:nvSpPr>
          <p:cNvPr id="57" name="Rounded Rectangle 56"/>
          <p:cNvSpPr/>
          <p:nvPr/>
        </p:nvSpPr>
        <p:spPr>
          <a:xfrm>
            <a:off x="1613916" y="3657600"/>
            <a:ext cx="3000146" cy="411480"/>
          </a:xfrm>
          <a:prstGeom prst="roundRect">
            <a:avLst>
              <a:gd name="adj" fmla="val 11111"/>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3k"/>
          <p:cNvSpPr txBox="1"/>
          <p:nvPr/>
        </p:nvSpPr>
        <p:spPr>
          <a:xfrm>
            <a:off x="1600200" y="3657600"/>
            <a:ext cx="302757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59" name="Rounded Rectangle 58"/>
          <p:cNvSpPr/>
          <p:nvPr/>
        </p:nvSpPr>
        <p:spPr>
          <a:xfrm>
            <a:off x="4641494" y="3657600"/>
            <a:ext cx="254203" cy="411480"/>
          </a:xfrm>
          <a:prstGeom prst="roundRect">
            <a:avLst>
              <a:gd name="adj" fmla="val 17985"/>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3k"/>
          <p:cNvSpPr txBox="1"/>
          <p:nvPr/>
        </p:nvSpPr>
        <p:spPr>
          <a:xfrm>
            <a:off x="4627778" y="3657600"/>
            <a:ext cx="281635"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1" name="Rounded Rectangle 60"/>
          <p:cNvSpPr/>
          <p:nvPr/>
        </p:nvSpPr>
        <p:spPr>
          <a:xfrm>
            <a:off x="4923129" y="3657600"/>
            <a:ext cx="324612" cy="411480"/>
          </a:xfrm>
          <a:prstGeom prst="roundRect">
            <a:avLst>
              <a:gd name="adj" fmla="val 14084"/>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3k"/>
          <p:cNvSpPr txBox="1"/>
          <p:nvPr/>
        </p:nvSpPr>
        <p:spPr>
          <a:xfrm>
            <a:off x="4909413" y="3657600"/>
            <a:ext cx="352044"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3" name="Rounded Rectangle 62"/>
          <p:cNvSpPr/>
          <p:nvPr/>
        </p:nvSpPr>
        <p:spPr>
          <a:xfrm>
            <a:off x="5275173" y="3657600"/>
            <a:ext cx="183794" cy="411480"/>
          </a:xfrm>
          <a:prstGeom prst="roundRect">
            <a:avLst>
              <a:gd name="adj" fmla="val 24875"/>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3k"/>
          <p:cNvSpPr txBox="1"/>
          <p:nvPr/>
        </p:nvSpPr>
        <p:spPr>
          <a:xfrm>
            <a:off x="5261457" y="3657600"/>
            <a:ext cx="211226"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5" name="Rounded Rectangle 64"/>
          <p:cNvSpPr/>
          <p:nvPr/>
        </p:nvSpPr>
        <p:spPr>
          <a:xfrm>
            <a:off x="5486400" y="3657600"/>
            <a:ext cx="324612" cy="411480"/>
          </a:xfrm>
          <a:prstGeom prst="roundRect">
            <a:avLst>
              <a:gd name="adj" fmla="val 14084"/>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3k"/>
          <p:cNvSpPr txBox="1"/>
          <p:nvPr/>
        </p:nvSpPr>
        <p:spPr>
          <a:xfrm>
            <a:off x="5472684" y="3657600"/>
            <a:ext cx="352044"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7" name="Rounded Rectangle 66"/>
          <p:cNvSpPr/>
          <p:nvPr/>
        </p:nvSpPr>
        <p:spPr>
          <a:xfrm>
            <a:off x="5838444" y="3657600"/>
            <a:ext cx="324612" cy="411480"/>
          </a:xfrm>
          <a:prstGeom prst="roundRect">
            <a:avLst>
              <a:gd name="adj" fmla="val 14084"/>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3k"/>
          <p:cNvSpPr txBox="1"/>
          <p:nvPr/>
        </p:nvSpPr>
        <p:spPr>
          <a:xfrm>
            <a:off x="5824728" y="3657600"/>
            <a:ext cx="352044"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9" name="Rounded Rectangle 68"/>
          <p:cNvSpPr/>
          <p:nvPr/>
        </p:nvSpPr>
        <p:spPr>
          <a:xfrm>
            <a:off x="6190488" y="3657600"/>
            <a:ext cx="465429" cy="411480"/>
          </a:xfrm>
          <a:prstGeom prst="roundRect">
            <a:avLst>
              <a:gd name="adj" fmla="val 11111"/>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3k"/>
          <p:cNvSpPr txBox="1"/>
          <p:nvPr/>
        </p:nvSpPr>
        <p:spPr>
          <a:xfrm>
            <a:off x="6176772" y="3657600"/>
            <a:ext cx="492861"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71" name="Rounded Rectangle 70"/>
          <p:cNvSpPr/>
          <p:nvPr/>
        </p:nvSpPr>
        <p:spPr>
          <a:xfrm>
            <a:off x="6683349" y="3657600"/>
            <a:ext cx="1944014" cy="411480"/>
          </a:xfrm>
          <a:prstGeom prst="roundRect">
            <a:avLst>
              <a:gd name="adj" fmla="val 11111"/>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filling"/>
          <p:cNvSpPr txBox="1"/>
          <p:nvPr/>
        </p:nvSpPr>
        <p:spPr>
          <a:xfrm>
            <a:off x="6669633" y="3657600"/>
            <a:ext cx="1971446"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filling</a:t>
            </a:r>
          </a:p>
        </p:txBody>
      </p:sp>
      <p:sp>
        <p:nvSpPr>
          <p:cNvPr id="73" name="text:Quiet periods give few bars, busy pe"/>
          <p:cNvSpPr txBox="1"/>
          <p:nvPr/>
        </p:nvSpPr>
        <p:spPr>
          <a:xfrm>
            <a:off x="548640" y="4224528"/>
            <a:ext cx="809244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Quiet periods give few bars, busy periods give many.</a:t>
            </a:r>
          </a:p>
        </p:txBody>
      </p:sp>
      <p:sp>
        <p:nvSpPr>
          <p:cNvPr id="74" name="text:Illustrative trades, $3,000 per doll"/>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trades, $3,000 per dollar bar.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ame trades, both way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Same trades, both ways</a:t>
            </a:r>
          </a:p>
        </p:txBody>
      </p:sp>
      <p:sp>
        <p:nvSpPr>
          <p:cNvPr id="3" name="text:Count the bars in the busy stretch."/>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Count the bars in the busy stretch.</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text:The same 26 trades, cut two ways."/>
          <p:cNvSpPr txBox="1"/>
          <p:nvPr/>
        </p:nvSpPr>
        <p:spPr>
          <a:xfrm>
            <a:off x="548640" y="1371600"/>
            <a:ext cx="809244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same 26 trades, cut two ways.</a:t>
            </a:r>
          </a:p>
        </p:txBody>
      </p:sp>
      <p:sp>
        <p:nvSpPr>
          <p:cNvPr id="6" name="text:TRADES"/>
          <p:cNvSpPr txBox="1"/>
          <p:nvPr/>
        </p:nvSpPr>
        <p:spPr>
          <a:xfrm>
            <a:off x="548640" y="2468880"/>
            <a:ext cx="10058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TRADES</a:t>
            </a:r>
          </a:p>
        </p:txBody>
      </p:sp>
      <p:sp>
        <p:nvSpPr>
          <p:cNvPr id="7" name="text:taller = more dollars"/>
          <p:cNvSpPr txBox="1"/>
          <p:nvPr/>
        </p:nvSpPr>
        <p:spPr>
          <a:xfrm>
            <a:off x="548640" y="2651760"/>
            <a:ext cx="1005840" cy="320040"/>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taller = more dollars</a:t>
            </a:r>
          </a:p>
        </p:txBody>
      </p:sp>
      <p:cxnSp>
        <p:nvCxnSpPr>
          <p:cNvPr id="8" name="Connector 7"/>
          <p:cNvCxnSpPr/>
          <p:nvPr/>
        </p:nvCxnSpPr>
        <p:spPr>
          <a:xfrm>
            <a:off x="1600200" y="2926080"/>
            <a:ext cx="704088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881835" y="2809494"/>
            <a:ext cx="0" cy="11658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515514" y="2731770"/>
            <a:ext cx="0" cy="19431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430828" y="2828925"/>
            <a:ext cx="0" cy="9715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064508" y="2770632"/>
            <a:ext cx="0" cy="15544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486960" y="2498598"/>
            <a:ext cx="0" cy="42748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27778" y="2343150"/>
            <a:ext cx="0" cy="58293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98187" y="2576322"/>
            <a:ext cx="0" cy="34975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839004" y="2265426"/>
            <a:ext cx="0" cy="66065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09413"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050231" y="2187702"/>
            <a:ext cx="0" cy="73837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120640" y="2537460"/>
            <a:ext cx="0" cy="38862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261457" y="2382012"/>
            <a:ext cx="0" cy="54406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331866" y="2226564"/>
            <a:ext cx="0" cy="69951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472684"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543092" y="2304288"/>
            <a:ext cx="0" cy="62179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683910" y="2537460"/>
            <a:ext cx="0" cy="38862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824728" y="2187702"/>
            <a:ext cx="0" cy="73837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895136" y="2420874"/>
            <a:ext cx="0" cy="50520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35954" y="2343150"/>
            <a:ext cx="0" cy="58293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76772" y="2498598"/>
            <a:ext cx="0" cy="42748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317589" y="2265426"/>
            <a:ext cx="0" cy="66065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458407" y="2459736"/>
            <a:ext cx="0" cy="4663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669633" y="2576322"/>
            <a:ext cx="0" cy="34975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73721" y="2790063"/>
            <a:ext cx="0" cy="13601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007400" y="2751201"/>
            <a:ext cx="0" cy="17487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500262" y="2809494"/>
            <a:ext cx="0" cy="116586"/>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sp>
        <p:nvSpPr>
          <p:cNvPr id="35" name="text:TIME BARS"/>
          <p:cNvSpPr txBox="1"/>
          <p:nvPr/>
        </p:nvSpPr>
        <p:spPr>
          <a:xfrm>
            <a:off x="548640" y="3200400"/>
            <a:ext cx="10058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TIME BARS</a:t>
            </a:r>
          </a:p>
        </p:txBody>
      </p:sp>
      <p:sp>
        <p:nvSpPr>
          <p:cNvPr id="36" name="Rounded Rectangle 35"/>
          <p:cNvSpPr/>
          <p:nvPr/>
        </p:nvSpPr>
        <p:spPr>
          <a:xfrm>
            <a:off x="1613916"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0-1"/>
          <p:cNvSpPr txBox="1"/>
          <p:nvPr/>
        </p:nvSpPr>
        <p:spPr>
          <a:xfrm>
            <a:off x="1600200"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0-1</a:t>
            </a:r>
          </a:p>
        </p:txBody>
      </p:sp>
      <p:sp>
        <p:nvSpPr>
          <p:cNvPr id="38" name="Rounded Rectangle 37"/>
          <p:cNvSpPr/>
          <p:nvPr/>
        </p:nvSpPr>
        <p:spPr>
          <a:xfrm>
            <a:off x="2318004"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2"/>
          <p:cNvSpPr txBox="1"/>
          <p:nvPr/>
        </p:nvSpPr>
        <p:spPr>
          <a:xfrm>
            <a:off x="2304288"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1-2</a:t>
            </a:r>
          </a:p>
        </p:txBody>
      </p:sp>
      <p:sp>
        <p:nvSpPr>
          <p:cNvPr id="40" name="Rounded Rectangle 39"/>
          <p:cNvSpPr/>
          <p:nvPr/>
        </p:nvSpPr>
        <p:spPr>
          <a:xfrm>
            <a:off x="3022092"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2-3"/>
          <p:cNvSpPr txBox="1"/>
          <p:nvPr/>
        </p:nvSpPr>
        <p:spPr>
          <a:xfrm>
            <a:off x="3008376"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2-3</a:t>
            </a:r>
          </a:p>
        </p:txBody>
      </p:sp>
      <p:sp>
        <p:nvSpPr>
          <p:cNvPr id="42" name="Rounded Rectangle 41"/>
          <p:cNvSpPr/>
          <p:nvPr/>
        </p:nvSpPr>
        <p:spPr>
          <a:xfrm>
            <a:off x="3726180"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3-4"/>
          <p:cNvSpPr txBox="1"/>
          <p:nvPr/>
        </p:nvSpPr>
        <p:spPr>
          <a:xfrm>
            <a:off x="3712464"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3-4</a:t>
            </a:r>
          </a:p>
        </p:txBody>
      </p:sp>
      <p:sp>
        <p:nvSpPr>
          <p:cNvPr id="44" name="Rounded Rectangle 43"/>
          <p:cNvSpPr/>
          <p:nvPr/>
        </p:nvSpPr>
        <p:spPr>
          <a:xfrm>
            <a:off x="4430268"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4-5"/>
          <p:cNvSpPr txBox="1"/>
          <p:nvPr/>
        </p:nvSpPr>
        <p:spPr>
          <a:xfrm>
            <a:off x="4416552"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4-5</a:t>
            </a:r>
          </a:p>
        </p:txBody>
      </p:sp>
      <p:sp>
        <p:nvSpPr>
          <p:cNvPr id="46" name="Rounded Rectangle 45"/>
          <p:cNvSpPr/>
          <p:nvPr/>
        </p:nvSpPr>
        <p:spPr>
          <a:xfrm>
            <a:off x="5134355"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5-6"/>
          <p:cNvSpPr txBox="1"/>
          <p:nvPr/>
        </p:nvSpPr>
        <p:spPr>
          <a:xfrm>
            <a:off x="5120640"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5-6</a:t>
            </a:r>
          </a:p>
        </p:txBody>
      </p:sp>
      <p:sp>
        <p:nvSpPr>
          <p:cNvPr id="48" name="Rounded Rectangle 47"/>
          <p:cNvSpPr/>
          <p:nvPr/>
        </p:nvSpPr>
        <p:spPr>
          <a:xfrm>
            <a:off x="5838444"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6-7"/>
          <p:cNvSpPr txBox="1"/>
          <p:nvPr/>
        </p:nvSpPr>
        <p:spPr>
          <a:xfrm>
            <a:off x="5824728"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6-7</a:t>
            </a:r>
          </a:p>
        </p:txBody>
      </p:sp>
      <p:sp>
        <p:nvSpPr>
          <p:cNvPr id="50" name="Rounded Rectangle 49"/>
          <p:cNvSpPr/>
          <p:nvPr/>
        </p:nvSpPr>
        <p:spPr>
          <a:xfrm>
            <a:off x="6542531"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7-8"/>
          <p:cNvSpPr txBox="1"/>
          <p:nvPr/>
        </p:nvSpPr>
        <p:spPr>
          <a:xfrm>
            <a:off x="6528816"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7-8</a:t>
            </a:r>
          </a:p>
        </p:txBody>
      </p:sp>
      <p:sp>
        <p:nvSpPr>
          <p:cNvPr id="52" name="Rounded Rectangle 51"/>
          <p:cNvSpPr/>
          <p:nvPr/>
        </p:nvSpPr>
        <p:spPr>
          <a:xfrm>
            <a:off x="7246620"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8-9"/>
          <p:cNvSpPr txBox="1"/>
          <p:nvPr/>
        </p:nvSpPr>
        <p:spPr>
          <a:xfrm>
            <a:off x="7232904"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8-9</a:t>
            </a:r>
          </a:p>
        </p:txBody>
      </p:sp>
      <p:sp>
        <p:nvSpPr>
          <p:cNvPr id="54" name="Rounded Rectangle 53"/>
          <p:cNvSpPr/>
          <p:nvPr/>
        </p:nvSpPr>
        <p:spPr>
          <a:xfrm>
            <a:off x="7950708" y="3108960"/>
            <a:ext cx="676656" cy="411480"/>
          </a:xfrm>
          <a:prstGeom prst="roundRect">
            <a:avLst>
              <a:gd name="adj" fmla="val 1111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9-10"/>
          <p:cNvSpPr txBox="1"/>
          <p:nvPr/>
        </p:nvSpPr>
        <p:spPr>
          <a:xfrm>
            <a:off x="7936992" y="3108960"/>
            <a:ext cx="70408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9-10</a:t>
            </a:r>
          </a:p>
        </p:txBody>
      </p:sp>
      <p:sp>
        <p:nvSpPr>
          <p:cNvPr id="56" name="text:DOLLAR BARS"/>
          <p:cNvSpPr txBox="1"/>
          <p:nvPr/>
        </p:nvSpPr>
        <p:spPr>
          <a:xfrm>
            <a:off x="548640" y="3749039"/>
            <a:ext cx="100584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DOLLAR BARS</a:t>
            </a:r>
          </a:p>
        </p:txBody>
      </p:sp>
      <p:sp>
        <p:nvSpPr>
          <p:cNvPr id="57" name="Rounded Rectangle 56"/>
          <p:cNvSpPr/>
          <p:nvPr/>
        </p:nvSpPr>
        <p:spPr>
          <a:xfrm>
            <a:off x="1613916" y="3657600"/>
            <a:ext cx="3000146" cy="411480"/>
          </a:xfrm>
          <a:prstGeom prst="roundRect">
            <a:avLst>
              <a:gd name="adj" fmla="val 11111"/>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3k"/>
          <p:cNvSpPr txBox="1"/>
          <p:nvPr/>
        </p:nvSpPr>
        <p:spPr>
          <a:xfrm>
            <a:off x="1600200" y="3657600"/>
            <a:ext cx="3027578"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59" name="Rounded Rectangle 58"/>
          <p:cNvSpPr/>
          <p:nvPr/>
        </p:nvSpPr>
        <p:spPr>
          <a:xfrm>
            <a:off x="4641494" y="3657600"/>
            <a:ext cx="254203" cy="411480"/>
          </a:xfrm>
          <a:prstGeom prst="roundRect">
            <a:avLst>
              <a:gd name="adj" fmla="val 17985"/>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3k"/>
          <p:cNvSpPr txBox="1"/>
          <p:nvPr/>
        </p:nvSpPr>
        <p:spPr>
          <a:xfrm>
            <a:off x="4627778" y="3657600"/>
            <a:ext cx="281635"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1" name="Rounded Rectangle 60"/>
          <p:cNvSpPr/>
          <p:nvPr/>
        </p:nvSpPr>
        <p:spPr>
          <a:xfrm>
            <a:off x="4923129" y="3657600"/>
            <a:ext cx="324612" cy="411480"/>
          </a:xfrm>
          <a:prstGeom prst="roundRect">
            <a:avLst>
              <a:gd name="adj" fmla="val 14084"/>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3k"/>
          <p:cNvSpPr txBox="1"/>
          <p:nvPr/>
        </p:nvSpPr>
        <p:spPr>
          <a:xfrm>
            <a:off x="4909413" y="3657600"/>
            <a:ext cx="352044"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3" name="Rounded Rectangle 62"/>
          <p:cNvSpPr/>
          <p:nvPr/>
        </p:nvSpPr>
        <p:spPr>
          <a:xfrm>
            <a:off x="5275173" y="3657600"/>
            <a:ext cx="183794" cy="411480"/>
          </a:xfrm>
          <a:prstGeom prst="roundRect">
            <a:avLst>
              <a:gd name="adj" fmla="val 24875"/>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3k"/>
          <p:cNvSpPr txBox="1"/>
          <p:nvPr/>
        </p:nvSpPr>
        <p:spPr>
          <a:xfrm>
            <a:off x="5261457" y="3657600"/>
            <a:ext cx="211226"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5" name="Rounded Rectangle 64"/>
          <p:cNvSpPr/>
          <p:nvPr/>
        </p:nvSpPr>
        <p:spPr>
          <a:xfrm>
            <a:off x="5486400" y="3657600"/>
            <a:ext cx="324612" cy="411480"/>
          </a:xfrm>
          <a:prstGeom prst="roundRect">
            <a:avLst>
              <a:gd name="adj" fmla="val 14084"/>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3k"/>
          <p:cNvSpPr txBox="1"/>
          <p:nvPr/>
        </p:nvSpPr>
        <p:spPr>
          <a:xfrm>
            <a:off x="5472684" y="3657600"/>
            <a:ext cx="352044"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7" name="Rounded Rectangle 66"/>
          <p:cNvSpPr/>
          <p:nvPr/>
        </p:nvSpPr>
        <p:spPr>
          <a:xfrm>
            <a:off x="5838444" y="3657600"/>
            <a:ext cx="324612" cy="411480"/>
          </a:xfrm>
          <a:prstGeom prst="roundRect">
            <a:avLst>
              <a:gd name="adj" fmla="val 14084"/>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3k"/>
          <p:cNvSpPr txBox="1"/>
          <p:nvPr/>
        </p:nvSpPr>
        <p:spPr>
          <a:xfrm>
            <a:off x="5824728" y="3657600"/>
            <a:ext cx="352044"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69" name="Rounded Rectangle 68"/>
          <p:cNvSpPr/>
          <p:nvPr/>
        </p:nvSpPr>
        <p:spPr>
          <a:xfrm>
            <a:off x="6190488" y="3657600"/>
            <a:ext cx="465429" cy="411480"/>
          </a:xfrm>
          <a:prstGeom prst="roundRect">
            <a:avLst>
              <a:gd name="adj" fmla="val 11111"/>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3k"/>
          <p:cNvSpPr txBox="1"/>
          <p:nvPr/>
        </p:nvSpPr>
        <p:spPr>
          <a:xfrm>
            <a:off x="6176772" y="3657600"/>
            <a:ext cx="492861"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$3k</a:t>
            </a:r>
          </a:p>
        </p:txBody>
      </p:sp>
      <p:sp>
        <p:nvSpPr>
          <p:cNvPr id="71" name="Rounded Rectangle 70"/>
          <p:cNvSpPr/>
          <p:nvPr/>
        </p:nvSpPr>
        <p:spPr>
          <a:xfrm>
            <a:off x="6683349" y="3657600"/>
            <a:ext cx="1944014" cy="411480"/>
          </a:xfrm>
          <a:prstGeom prst="roundRect">
            <a:avLst>
              <a:gd name="adj" fmla="val 11111"/>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filling"/>
          <p:cNvSpPr txBox="1"/>
          <p:nvPr/>
        </p:nvSpPr>
        <p:spPr>
          <a:xfrm>
            <a:off x="6669633" y="3657600"/>
            <a:ext cx="1971446" cy="411480"/>
          </a:xfrm>
          <a:prstGeom prst="rect">
            <a:avLst/>
          </a:prstGeom>
          <a:noFill/>
        </p:spPr>
        <p:txBody>
          <a:bodyPr wrap="square" lIns="9144" rIns="9144" tIns="0" bIns="0" anchor="ctr">
            <a:spAutoFit/>
          </a:bodyPr>
          <a:lstStyle/>
          <a:p>
            <a:pPr algn="ctr">
              <a:lnSpc>
                <a:spcPct val="106000"/>
              </a:lnSpc>
              <a:spcAft>
                <a:spcPts val="400"/>
              </a:spcAft>
              <a:defRPr sz="800" b="0">
                <a:solidFill>
                  <a:srgbClr val="9A9AA2"/>
                </a:solidFill>
                <a:latin typeface="Helvetica Neue"/>
              </a:defRPr>
            </a:pPr>
            <a:r>
              <a:t>filling</a:t>
            </a:r>
          </a:p>
        </p:txBody>
      </p:sp>
      <p:sp>
        <p:nvSpPr>
          <p:cNvPr id="73" name="text:10 bars"/>
          <p:cNvSpPr txBox="1"/>
          <p:nvPr/>
        </p:nvSpPr>
        <p:spPr>
          <a:xfrm>
            <a:off x="548640" y="3401568"/>
            <a:ext cx="100584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10 bars</a:t>
            </a:r>
          </a:p>
        </p:txBody>
      </p:sp>
      <p:sp>
        <p:nvSpPr>
          <p:cNvPr id="74" name="text:7 bars"/>
          <p:cNvSpPr txBox="1"/>
          <p:nvPr/>
        </p:nvSpPr>
        <p:spPr>
          <a:xfrm>
            <a:off x="548640" y="3950208"/>
            <a:ext cx="100584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7 bars</a:t>
            </a:r>
          </a:p>
        </p:txBody>
      </p:sp>
      <p:cxnSp>
        <p:nvCxnSpPr>
          <p:cNvPr id="75" name="Connector 74"/>
          <p:cNvCxnSpPr/>
          <p:nvPr/>
        </p:nvCxnSpPr>
        <p:spPr>
          <a:xfrm>
            <a:off x="1627632" y="1828800"/>
            <a:ext cx="2761488" cy="0"/>
          </a:xfrm>
          <a:prstGeom prst="line">
            <a:avLst/>
          </a:prstGeom>
          <a:ln w="15240">
            <a:solidFill>
              <a:srgbClr val="9A9AA2"/>
            </a:solidFill>
          </a:ln>
        </p:spPr>
        <p:style>
          <a:lnRef idx="2">
            <a:schemeClr val="accent1"/>
          </a:lnRef>
          <a:fillRef idx="0">
            <a:schemeClr val="accent1"/>
          </a:fillRef>
          <a:effectRef idx="1">
            <a:schemeClr val="accent1"/>
          </a:effectRef>
          <a:fontRef idx="minor">
            <a:schemeClr val="tx1"/>
          </a:fontRef>
        </p:style>
      </p:cxnSp>
      <p:sp>
        <p:nvSpPr>
          <p:cNvPr id="76" name="text:QUIET: 4 small trades"/>
          <p:cNvSpPr txBox="1"/>
          <p:nvPr/>
        </p:nvSpPr>
        <p:spPr>
          <a:xfrm>
            <a:off x="1600200" y="1892807"/>
            <a:ext cx="2816352" cy="182880"/>
          </a:xfrm>
          <a:prstGeom prst="rect">
            <a:avLst/>
          </a:prstGeom>
          <a:noFill/>
        </p:spPr>
        <p:txBody>
          <a:bodyPr wrap="square" lIns="9144" rIns="9144" tIns="0" bIns="0">
            <a:spAutoFit/>
          </a:bodyPr>
          <a:lstStyle/>
          <a:p>
            <a:pPr algn="ctr">
              <a:lnSpc>
                <a:spcPct val="106000"/>
              </a:lnSpc>
              <a:spcAft>
                <a:spcPts val="400"/>
              </a:spcAft>
              <a:defRPr sz="900" b="0">
                <a:solidFill>
                  <a:srgbClr val="9A9AA2"/>
                </a:solidFill>
                <a:latin typeface="Helvetica Neue"/>
              </a:defRPr>
            </a:pPr>
            <a:r>
              <a:t>QUIET: 4 small trades</a:t>
            </a:r>
          </a:p>
        </p:txBody>
      </p:sp>
      <p:cxnSp>
        <p:nvCxnSpPr>
          <p:cNvPr id="77" name="Connector 76"/>
          <p:cNvCxnSpPr/>
          <p:nvPr/>
        </p:nvCxnSpPr>
        <p:spPr>
          <a:xfrm>
            <a:off x="4443984" y="1828800"/>
            <a:ext cx="2268626" cy="0"/>
          </a:xfrm>
          <a:prstGeom prst="line">
            <a:avLst/>
          </a:prstGeom>
          <a:ln w="15240">
            <a:solidFill>
              <a:srgbClr val="B3A5FF"/>
            </a:solidFill>
          </a:ln>
        </p:spPr>
        <p:style>
          <a:lnRef idx="2">
            <a:schemeClr val="accent1"/>
          </a:lnRef>
          <a:fillRef idx="0">
            <a:schemeClr val="accent1"/>
          </a:fillRef>
          <a:effectRef idx="1">
            <a:schemeClr val="accent1"/>
          </a:effectRef>
          <a:fontRef idx="minor">
            <a:schemeClr val="tx1"/>
          </a:fontRef>
        </p:style>
      </p:cxnSp>
      <p:sp>
        <p:nvSpPr>
          <p:cNvPr id="78" name="text:BUSY: 19 big trades"/>
          <p:cNvSpPr txBox="1"/>
          <p:nvPr/>
        </p:nvSpPr>
        <p:spPr>
          <a:xfrm>
            <a:off x="4416552" y="1892807"/>
            <a:ext cx="2323490" cy="182880"/>
          </a:xfrm>
          <a:prstGeom prst="rect">
            <a:avLst/>
          </a:prstGeom>
          <a:noFill/>
        </p:spPr>
        <p:txBody>
          <a:bodyPr wrap="square" lIns="9144" rIns="9144" tIns="0" bIns="0">
            <a:spAutoFit/>
          </a:bodyPr>
          <a:lstStyle/>
          <a:p>
            <a:pPr algn="ctr">
              <a:lnSpc>
                <a:spcPct val="106000"/>
              </a:lnSpc>
              <a:spcAft>
                <a:spcPts val="400"/>
              </a:spcAft>
              <a:defRPr sz="900" b="0">
                <a:solidFill>
                  <a:srgbClr val="B3A5FF"/>
                </a:solidFill>
                <a:latin typeface="Helvetica Neue"/>
              </a:defRPr>
            </a:pPr>
            <a:r>
              <a:t>BUSY: 19 big trades</a:t>
            </a:r>
          </a:p>
        </p:txBody>
      </p:sp>
      <p:cxnSp>
        <p:nvCxnSpPr>
          <p:cNvPr id="79" name="Connector 78"/>
          <p:cNvCxnSpPr/>
          <p:nvPr/>
        </p:nvCxnSpPr>
        <p:spPr>
          <a:xfrm>
            <a:off x="6767474" y="1828800"/>
            <a:ext cx="1846174" cy="0"/>
          </a:xfrm>
          <a:prstGeom prst="line">
            <a:avLst/>
          </a:prstGeom>
          <a:ln w="15240">
            <a:solidFill>
              <a:srgbClr val="9A9AA2"/>
            </a:solidFill>
          </a:ln>
        </p:spPr>
        <p:style>
          <a:lnRef idx="2">
            <a:schemeClr val="accent1"/>
          </a:lnRef>
          <a:fillRef idx="0">
            <a:schemeClr val="accent1"/>
          </a:fillRef>
          <a:effectRef idx="1">
            <a:schemeClr val="accent1"/>
          </a:effectRef>
          <a:fontRef idx="minor">
            <a:schemeClr val="tx1"/>
          </a:fontRef>
        </p:style>
      </p:cxnSp>
      <p:sp>
        <p:nvSpPr>
          <p:cNvPr id="80" name="text:QUIET: 3 small trades"/>
          <p:cNvSpPr txBox="1"/>
          <p:nvPr/>
        </p:nvSpPr>
        <p:spPr>
          <a:xfrm>
            <a:off x="6740042" y="1892807"/>
            <a:ext cx="1901037" cy="182880"/>
          </a:xfrm>
          <a:prstGeom prst="rect">
            <a:avLst/>
          </a:prstGeom>
          <a:noFill/>
        </p:spPr>
        <p:txBody>
          <a:bodyPr wrap="square" lIns="9144" rIns="9144" tIns="0" bIns="0">
            <a:spAutoFit/>
          </a:bodyPr>
          <a:lstStyle/>
          <a:p>
            <a:pPr algn="ctr">
              <a:lnSpc>
                <a:spcPct val="106000"/>
              </a:lnSpc>
              <a:spcAft>
                <a:spcPts val="400"/>
              </a:spcAft>
              <a:defRPr sz="900" b="0">
                <a:solidFill>
                  <a:srgbClr val="9A9AA2"/>
                </a:solidFill>
                <a:latin typeface="Helvetica Neue"/>
              </a:defRPr>
            </a:pPr>
            <a:r>
              <a:t>QUIET: 3 small trades</a:t>
            </a:r>
          </a:p>
        </p:txBody>
      </p:sp>
      <p:sp>
        <p:nvSpPr>
          <p:cNvPr id="81" name="Rounded Rectangle 80"/>
          <p:cNvSpPr/>
          <p:nvPr/>
        </p:nvSpPr>
        <p:spPr>
          <a:xfrm>
            <a:off x="4416552" y="2148840"/>
            <a:ext cx="2323490" cy="2011680"/>
          </a:xfrm>
          <a:prstGeom prst="roundRect">
            <a:avLst>
              <a:gd name="adj" fmla="val 3636"/>
            </a:avLst>
          </a:prstGeom>
          <a:noFill/>
          <a:ln w="10160">
            <a:solidFill>
              <a:srgbClr val="B3A5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usy stretch: 4 time bars, 7 dollar "/>
          <p:cNvSpPr txBox="1"/>
          <p:nvPr/>
        </p:nvSpPr>
        <p:spPr>
          <a:xfrm>
            <a:off x="548640" y="4224528"/>
            <a:ext cx="5486400" cy="2286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Busy stretch: 4 time bars, 7 dollar bars</a:t>
            </a:r>
          </a:p>
        </p:txBody>
      </p:sp>
      <p:sp>
        <p:nvSpPr>
          <p:cNvPr id="83" name="text:Same trades. The dollar bars put the"/>
          <p:cNvSpPr txBox="1"/>
          <p:nvPr/>
        </p:nvSpPr>
        <p:spPr>
          <a:xfrm>
            <a:off x="548640" y="4480560"/>
            <a:ext cx="809244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Same trades. The dollar bars put their detail where the trading was.</a:t>
            </a:r>
          </a:p>
        </p:txBody>
      </p:sp>
      <p:sp>
        <p:nvSpPr>
          <p:cNvPr id="84" name="text:Illustrative trades, $3,000 per doll"/>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trades, $3,000 per dollar 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Changes add up"/>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Changes add up</a:t>
            </a:r>
          </a:p>
        </p:txBody>
      </p:sp>
      <p:sp>
        <p:nvSpPr>
          <p:cNvPr id="3" name="text:A change filter keeps a running tot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change filter keeps a running total of price moves.</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475488" y="1417320"/>
            <a:ext cx="4855464" cy="1417320"/>
          </a:xfrm>
          <a:prstGeom prst="roundRect">
            <a:avLst>
              <a:gd name="adj" fmla="val 5161"/>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5488" y="2880360"/>
            <a:ext cx="4855464" cy="1143000"/>
          </a:xfrm>
          <a:prstGeom prst="roundRect">
            <a:avLst>
              <a:gd name="adj" fmla="val 6400"/>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PRICE"/>
          <p:cNvSpPr txBox="1"/>
          <p:nvPr/>
        </p:nvSpPr>
        <p:spPr>
          <a:xfrm>
            <a:off x="548640" y="1463040"/>
            <a:ext cx="9144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PRICE</a:t>
            </a:r>
          </a:p>
        </p:txBody>
      </p:sp>
      <p:sp>
        <p:nvSpPr>
          <p:cNvPr id="8" name="text:RUNNING TOTALS"/>
          <p:cNvSpPr txBox="1"/>
          <p:nvPr/>
        </p:nvSpPr>
        <p:spPr>
          <a:xfrm>
            <a:off x="548640" y="2926080"/>
            <a:ext cx="10972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RUNNING TOTALS</a:t>
            </a:r>
          </a:p>
        </p:txBody>
      </p:sp>
      <p:sp>
        <p:nvSpPr>
          <p:cNvPr id="9" name="text:up"/>
          <p:cNvSpPr txBox="1"/>
          <p:nvPr/>
        </p:nvSpPr>
        <p:spPr>
          <a:xfrm>
            <a:off x="1600200" y="2926080"/>
            <a:ext cx="365760" cy="164592"/>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up</a:t>
            </a:r>
          </a:p>
        </p:txBody>
      </p:sp>
      <p:sp>
        <p:nvSpPr>
          <p:cNvPr id="10" name="text:down"/>
          <p:cNvSpPr txBox="1"/>
          <p:nvPr/>
        </p:nvSpPr>
        <p:spPr>
          <a:xfrm>
            <a:off x="1920240" y="2926080"/>
            <a:ext cx="457200" cy="164592"/>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down</a:t>
            </a:r>
          </a:p>
        </p:txBody>
      </p:sp>
      <p:sp>
        <p:nvSpPr>
          <p:cNvPr id="11" name="text:reset to zero when one fires"/>
          <p:cNvSpPr txBox="1"/>
          <p:nvPr/>
        </p:nvSpPr>
        <p:spPr>
          <a:xfrm>
            <a:off x="2468880" y="2926080"/>
            <a:ext cx="2286000" cy="164592"/>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reset to zero when one fires</a:t>
            </a:r>
          </a:p>
        </p:txBody>
      </p:sp>
      <p:cxnSp>
        <p:nvCxnSpPr>
          <p:cNvPr id="12" name="Connector 11"/>
          <p:cNvCxnSpPr/>
          <p:nvPr/>
        </p:nvCxnSpPr>
        <p:spPr>
          <a:xfrm>
            <a:off x="548640"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44745"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850" y="247840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36955" y="247840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33061" y="2478405"/>
            <a:ext cx="96105"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29166"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125271" y="252222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221377" y="243459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17482" y="243459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13587" y="2346960"/>
            <a:ext cx="96106"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509693" y="225933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605798" y="212788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701903" y="204025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798008" y="1864995"/>
            <a:ext cx="96106"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894114" y="173355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990219"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86324" y="16897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182430" y="16459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278535" y="16459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374640" y="16897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70746"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566851"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662956" y="1689735"/>
            <a:ext cx="96106"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759062" y="168973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855167" y="177736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951272" y="1908810"/>
            <a:ext cx="96105"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047377" y="2084070"/>
            <a:ext cx="96106"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143483" y="217170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239588" y="230314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335693" y="2434590"/>
            <a:ext cx="96106"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431799" y="2522220"/>
            <a:ext cx="96105"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527904" y="265366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624009" y="265366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720115" y="260985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816220" y="260985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912325" y="260985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008431" y="260985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104536" y="265366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200641" y="2653665"/>
            <a:ext cx="96105"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296746" y="260985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392852" y="260985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488957" y="256603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585062" y="25660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681168" y="25222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777273" y="239077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73378" y="2215515"/>
            <a:ext cx="96106"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969484" y="208407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065589" y="199644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161694" y="1996440"/>
            <a:ext cx="96106"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48640" y="3456432"/>
            <a:ext cx="470916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48640"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48640"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44745"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44745"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40850"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4085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36955"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36955"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3061" y="3383279"/>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3061"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29166"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29166"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125271" y="3419856"/>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125271" y="3493008"/>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21377" y="3346703"/>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21377"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17482" y="3346703"/>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17482"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413587" y="3273551"/>
            <a:ext cx="96106" cy="109728"/>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13587"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509693" y="3200400"/>
            <a:ext cx="96105" cy="73151"/>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50969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605798" y="3090672"/>
            <a:ext cx="96105" cy="109728"/>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605798"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701903" y="3017520"/>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70190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798008" y="3310127"/>
            <a:ext cx="96106" cy="146305"/>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798008"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894114" y="3200400"/>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89411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990219"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990219"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2086324" y="3163824"/>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2086324"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182430" y="3127248"/>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18243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2278535" y="3127248"/>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2278535"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374640" y="3163824"/>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374640" y="3493008"/>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2470746"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2470746"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566851"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566851"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2662956" y="3163824"/>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2662956" y="3493008"/>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2759062" y="3163824"/>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2759062" y="3493008"/>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2855167" y="3236976"/>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2855167" y="3566160"/>
            <a:ext cx="96105" cy="109727"/>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2951272" y="3346703"/>
            <a:ext cx="96105" cy="109729"/>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2951272" y="3675887"/>
            <a:ext cx="96105" cy="146304"/>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3047377" y="3456432"/>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3047377" y="3822191"/>
            <a:ext cx="96106" cy="73153"/>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3143483"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3143483" y="3456432"/>
            <a:ext cx="96105" cy="109728"/>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239588"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3239588" y="3566160"/>
            <a:ext cx="96105" cy="109727"/>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3335693" y="3456432"/>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335693" y="3675887"/>
            <a:ext cx="96106"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3431799"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3431799" y="3749039"/>
            <a:ext cx="96105" cy="146305"/>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527904"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52790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3624009" y="3419856"/>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3624009"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720115"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720115"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3816220"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381622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912325"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912325"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4008431"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4008431"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104536"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104536"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4200641" y="3419856"/>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4200641" y="3493008"/>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296746"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296746"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4392852"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4392852"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488957" y="3346703"/>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488957"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4585062" y="3346703"/>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4585062"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681168" y="3310127"/>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681168"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777273" y="3200400"/>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477727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73378" y="3054096"/>
            <a:ext cx="96106" cy="146304"/>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4873378"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969484" y="3346703"/>
            <a:ext cx="96105" cy="109729"/>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496948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5065589" y="3273551"/>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065589"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161694" y="3273551"/>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161694"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sp>
        <p:nvSpPr>
          <p:cNvPr id="160" name="Rounded Rectangle 159"/>
          <p:cNvSpPr/>
          <p:nvPr/>
        </p:nvSpPr>
        <p:spPr>
          <a:xfrm>
            <a:off x="5577840" y="1417320"/>
            <a:ext cx="3063240" cy="3200400"/>
          </a:xfrm>
          <a:prstGeom prst="roundRect">
            <a:avLst>
              <a:gd name="adj" fmla="val 417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STEP 1 OF 2"/>
          <p:cNvSpPr txBox="1"/>
          <p:nvPr/>
        </p:nvSpPr>
        <p:spPr>
          <a:xfrm>
            <a:off x="5779007" y="1600200"/>
            <a:ext cx="22860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STEP 1 OF 2</a:t>
            </a:r>
          </a:p>
        </p:txBody>
      </p:sp>
      <p:sp>
        <p:nvSpPr>
          <p:cNvPr id="162" name="text:Each tick moves the price a little. "/>
          <p:cNvSpPr txBox="1"/>
          <p:nvPr/>
        </p:nvSpPr>
        <p:spPr>
          <a:xfrm>
            <a:off x="5779007" y="1920240"/>
            <a:ext cx="2660904" cy="17373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Each tick moves the price a little. Add the moves up. Most ticks cancel out.</a:t>
            </a:r>
          </a:p>
        </p:txBody>
      </p:sp>
      <p:sp>
        <p:nvSpPr>
          <p:cNvPr id="163" name="text:IN THE CODE"/>
          <p:cNvSpPr txBox="1"/>
          <p:nvPr/>
        </p:nvSpPr>
        <p:spPr>
          <a:xfrm>
            <a:off x="5779007" y="3840480"/>
            <a:ext cx="1828800" cy="164592"/>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IN THE CODE</a:t>
            </a:r>
          </a:p>
        </p:txBody>
      </p:sp>
      <p:sp>
        <p:nvSpPr>
          <p:cNvPr id="164" name="text:sPos, sNeg"/>
          <p:cNvSpPr txBox="1"/>
          <p:nvPr/>
        </p:nvSpPr>
        <p:spPr>
          <a:xfrm>
            <a:off x="5779007" y="4069080"/>
            <a:ext cx="2660904"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sPos, sNeg</a:t>
            </a:r>
          </a:p>
        </p:txBody>
      </p:sp>
      <p:sp>
        <p:nvSpPr>
          <p:cNvPr id="165" name="text:Illustrative price move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price moves.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bucket fir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bucket fires</a:t>
            </a:r>
          </a:p>
        </p:txBody>
      </p:sp>
      <p:sp>
        <p:nvSpPr>
          <p:cNvPr id="3" name="text:Cross the threshold, fire an event,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Cross the threshold, fire an event, empty the bucket.</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475488" y="1417320"/>
            <a:ext cx="4855464" cy="1417320"/>
          </a:xfrm>
          <a:prstGeom prst="roundRect">
            <a:avLst>
              <a:gd name="adj" fmla="val 5161"/>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5488" y="2880360"/>
            <a:ext cx="4855464" cy="1143000"/>
          </a:xfrm>
          <a:prstGeom prst="roundRect">
            <a:avLst>
              <a:gd name="adj" fmla="val 6400"/>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PRICE"/>
          <p:cNvSpPr txBox="1"/>
          <p:nvPr/>
        </p:nvSpPr>
        <p:spPr>
          <a:xfrm>
            <a:off x="548640" y="1463040"/>
            <a:ext cx="9144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PRICE</a:t>
            </a:r>
          </a:p>
        </p:txBody>
      </p:sp>
      <p:sp>
        <p:nvSpPr>
          <p:cNvPr id="8" name="text:RUNNING TOTALS"/>
          <p:cNvSpPr txBox="1"/>
          <p:nvPr/>
        </p:nvSpPr>
        <p:spPr>
          <a:xfrm>
            <a:off x="548640" y="2926080"/>
            <a:ext cx="10972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RUNNING TOTALS</a:t>
            </a:r>
          </a:p>
        </p:txBody>
      </p:sp>
      <p:sp>
        <p:nvSpPr>
          <p:cNvPr id="9" name="text:up"/>
          <p:cNvSpPr txBox="1"/>
          <p:nvPr/>
        </p:nvSpPr>
        <p:spPr>
          <a:xfrm>
            <a:off x="1600200" y="2926080"/>
            <a:ext cx="365760" cy="164592"/>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up</a:t>
            </a:r>
          </a:p>
        </p:txBody>
      </p:sp>
      <p:sp>
        <p:nvSpPr>
          <p:cNvPr id="10" name="text:down"/>
          <p:cNvSpPr txBox="1"/>
          <p:nvPr/>
        </p:nvSpPr>
        <p:spPr>
          <a:xfrm>
            <a:off x="1920240" y="2926080"/>
            <a:ext cx="457200" cy="164592"/>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down</a:t>
            </a:r>
          </a:p>
        </p:txBody>
      </p:sp>
      <p:sp>
        <p:nvSpPr>
          <p:cNvPr id="11" name="text:reset to zero when one fires"/>
          <p:cNvSpPr txBox="1"/>
          <p:nvPr/>
        </p:nvSpPr>
        <p:spPr>
          <a:xfrm>
            <a:off x="2468880" y="2926080"/>
            <a:ext cx="2286000" cy="164592"/>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reset to zero when one fires</a:t>
            </a:r>
          </a:p>
        </p:txBody>
      </p:sp>
      <p:cxnSp>
        <p:nvCxnSpPr>
          <p:cNvPr id="12" name="Connector 11"/>
          <p:cNvCxnSpPr/>
          <p:nvPr/>
        </p:nvCxnSpPr>
        <p:spPr>
          <a:xfrm>
            <a:off x="548640"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44745"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850" y="247840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36955" y="247840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33061" y="2478405"/>
            <a:ext cx="96105"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29166"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125271" y="252222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221377" y="243459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17482" y="243459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13587" y="2346960"/>
            <a:ext cx="96106"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509693" y="225933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605798" y="212788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701903" y="204025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798008" y="1864995"/>
            <a:ext cx="96106"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894114" y="173355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990219"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86324" y="16897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182430" y="16459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278535" y="16459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374640" y="16897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70746"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566851"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662956" y="1689735"/>
            <a:ext cx="96106"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759062" y="168973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855167" y="177736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951272" y="1908810"/>
            <a:ext cx="96105"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047377" y="2084070"/>
            <a:ext cx="96106"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143483" y="217170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239588" y="230314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335693" y="2434590"/>
            <a:ext cx="96106"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431799" y="2522220"/>
            <a:ext cx="96105"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527904" y="265366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624009" y="265366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720115" y="260985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816220" y="260985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912325" y="260985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008431" y="260985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104536" y="265366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200641" y="2653665"/>
            <a:ext cx="96105"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296746" y="260985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392852" y="260985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488957" y="256603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585062" y="25660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681168" y="25222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777273" y="239077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73378" y="2215515"/>
            <a:ext cx="96106"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969484" y="208407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065589" y="199644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161694" y="1996440"/>
            <a:ext cx="96106"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48640" y="3456432"/>
            <a:ext cx="470916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48640"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48640"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44745"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44745"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40850"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4085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36955"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36955"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3061" y="3383279"/>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3061"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29166"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29166"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125271" y="3419856"/>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125271" y="3493008"/>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21377" y="3346703"/>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21377"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17482" y="3346703"/>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17482"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413587" y="3273551"/>
            <a:ext cx="96106" cy="109728"/>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13587"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509693" y="3200400"/>
            <a:ext cx="96105" cy="73151"/>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50969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605798" y="3090672"/>
            <a:ext cx="96105" cy="109728"/>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605798"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701903" y="3017520"/>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70190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798008" y="3310127"/>
            <a:ext cx="96106" cy="146305"/>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798008"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894114" y="3200400"/>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89411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990219"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990219"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2086324" y="3163824"/>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2086324"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182430" y="3127248"/>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18243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2278535" y="3127248"/>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2278535"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374640" y="3163824"/>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374640" y="3493008"/>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2470746"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2470746"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566851"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566851"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2662956" y="3163824"/>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2662956" y="3493008"/>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2759062" y="3163824"/>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2759062" y="3493008"/>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2855167" y="3236976"/>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2855167" y="3566160"/>
            <a:ext cx="96105" cy="109727"/>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2951272" y="3346703"/>
            <a:ext cx="96105" cy="109729"/>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2951272" y="3675887"/>
            <a:ext cx="96105" cy="146304"/>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3047377" y="3456432"/>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3047377" y="3822191"/>
            <a:ext cx="96106" cy="73153"/>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3143483"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3143483" y="3456432"/>
            <a:ext cx="96105" cy="109728"/>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239588"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3239588" y="3566160"/>
            <a:ext cx="96105" cy="109727"/>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3335693" y="3456432"/>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335693" y="3675887"/>
            <a:ext cx="96106"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3431799"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3431799" y="3749039"/>
            <a:ext cx="96105" cy="146305"/>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527904"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52790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3624009" y="3419856"/>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3624009"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720115"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720115"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3816220"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381622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912325"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912325"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4008431"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4008431"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104536"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104536"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4200641" y="3419856"/>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4200641" y="3493008"/>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296746"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296746"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4392852"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4392852"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488957" y="3346703"/>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488957"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4585062" y="3346703"/>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4585062"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681168" y="3310127"/>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681168"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777273" y="3200400"/>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477727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73378" y="3054096"/>
            <a:ext cx="96106" cy="146304"/>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4873378"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969484" y="3346703"/>
            <a:ext cx="96105" cy="109729"/>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496948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5065589" y="3273551"/>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065589"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161694" y="3273551"/>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161694"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548640" y="3090672"/>
            <a:ext cx="4709160" cy="0"/>
          </a:xfrm>
          <a:prstGeom prst="line">
            <a:avLst/>
          </a:prstGeom>
          <a:ln w="11430">
            <a:solidFill>
              <a:srgbClr val="9A9AA2"/>
            </a:solidFill>
            <a:prstDash val="dash"/>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548640" y="3822191"/>
            <a:ext cx="4709160" cy="0"/>
          </a:xfrm>
          <a:prstGeom prst="line">
            <a:avLst/>
          </a:prstGeom>
          <a:ln w="11430">
            <a:solidFill>
              <a:srgbClr val="9A9AA2"/>
            </a:solidFill>
            <a:prstDash val="dash"/>
          </a:ln>
        </p:spPr>
        <p:style>
          <a:lnRef idx="2">
            <a:schemeClr val="accent1"/>
          </a:lnRef>
          <a:fillRef idx="0">
            <a:schemeClr val="accent1"/>
          </a:fillRef>
          <a:effectRef idx="1">
            <a:schemeClr val="accent1"/>
          </a:effectRef>
          <a:fontRef idx="minor">
            <a:schemeClr val="tx1"/>
          </a:fontRef>
        </p:style>
      </p:cxnSp>
      <p:sp>
        <p:nvSpPr>
          <p:cNvPr id="162" name="text:threshold"/>
          <p:cNvSpPr txBox="1"/>
          <p:nvPr/>
        </p:nvSpPr>
        <p:spPr>
          <a:xfrm>
            <a:off x="4343400" y="3840479"/>
            <a:ext cx="91440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threshold</a:t>
            </a:r>
          </a:p>
        </p:txBody>
      </p:sp>
      <p:cxnSp>
        <p:nvCxnSpPr>
          <p:cNvPr id="163" name="Connector 162"/>
          <p:cNvCxnSpPr/>
          <p:nvPr/>
        </p:nvCxnSpPr>
        <p:spPr>
          <a:xfrm>
            <a:off x="1798008"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64" name="Oval 163"/>
          <p:cNvSpPr/>
          <p:nvPr/>
        </p:nvSpPr>
        <p:spPr>
          <a:xfrm>
            <a:off x="1743144" y="1985391"/>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a:off x="3143483"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66" name="Oval 165"/>
          <p:cNvSpPr/>
          <p:nvPr/>
        </p:nvSpPr>
        <p:spPr>
          <a:xfrm>
            <a:off x="3088619" y="2116836"/>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7" name="Connector 166"/>
          <p:cNvCxnSpPr/>
          <p:nvPr/>
        </p:nvCxnSpPr>
        <p:spPr>
          <a:xfrm>
            <a:off x="3527904"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68" name="Oval 167"/>
          <p:cNvSpPr/>
          <p:nvPr/>
        </p:nvSpPr>
        <p:spPr>
          <a:xfrm>
            <a:off x="3473040" y="2642616"/>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9" name="Connector 168"/>
          <p:cNvCxnSpPr/>
          <p:nvPr/>
        </p:nvCxnSpPr>
        <p:spPr>
          <a:xfrm>
            <a:off x="4969484"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70" name="Oval 169"/>
          <p:cNvSpPr/>
          <p:nvPr/>
        </p:nvSpPr>
        <p:spPr>
          <a:xfrm>
            <a:off x="4914620" y="2160651"/>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ounded Rectangle 170"/>
          <p:cNvSpPr/>
          <p:nvPr/>
        </p:nvSpPr>
        <p:spPr>
          <a:xfrm>
            <a:off x="5577840" y="1417320"/>
            <a:ext cx="3063240" cy="3200400"/>
          </a:xfrm>
          <a:prstGeom prst="roundRect">
            <a:avLst>
              <a:gd name="adj" fmla="val 4179"/>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STEP 2 OF 2"/>
          <p:cNvSpPr txBox="1"/>
          <p:nvPr/>
        </p:nvSpPr>
        <p:spPr>
          <a:xfrm>
            <a:off x="5779007" y="1600200"/>
            <a:ext cx="22860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STEP 2 OF 2</a:t>
            </a:r>
          </a:p>
        </p:txBody>
      </p:sp>
      <p:sp>
        <p:nvSpPr>
          <p:cNvPr id="173" name="text:Up moves fill one bucket, down moves"/>
          <p:cNvSpPr txBox="1"/>
          <p:nvPr/>
        </p:nvSpPr>
        <p:spPr>
          <a:xfrm>
            <a:off x="5779007" y="1920240"/>
            <a:ext cx="2660904" cy="17373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Up moves fill one bucket, down moves fill the other. Nothing happens until one is full.</a:t>
            </a:r>
          </a:p>
        </p:txBody>
      </p:sp>
      <p:sp>
        <p:nvSpPr>
          <p:cNvPr id="174" name="text:IN THE CODE"/>
          <p:cNvSpPr txBox="1"/>
          <p:nvPr/>
        </p:nvSpPr>
        <p:spPr>
          <a:xfrm>
            <a:off x="5779007" y="3840480"/>
            <a:ext cx="1828800" cy="164592"/>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IN THE CODE</a:t>
            </a:r>
          </a:p>
        </p:txBody>
      </p:sp>
      <p:sp>
        <p:nvSpPr>
          <p:cNvPr id="175" name="text:threshold"/>
          <p:cNvSpPr txBox="1"/>
          <p:nvPr/>
        </p:nvSpPr>
        <p:spPr>
          <a:xfrm>
            <a:off x="5779007" y="4069080"/>
            <a:ext cx="2660904"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threshold</a:t>
            </a:r>
          </a:p>
        </p:txBody>
      </p:sp>
      <p:sp>
        <p:nvSpPr>
          <p:cNvPr id="176" name="text:Illustrative price move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price moves.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agent wakes only on event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agent wakes only on events</a:t>
            </a:r>
          </a:p>
        </p:txBody>
      </p:sp>
      <p:sp>
        <p:nvSpPr>
          <p:cNvPr id="3" name="text:Every call to an agent costs money 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Every call to an agent costs money and time.</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475488" y="1417320"/>
            <a:ext cx="4855464" cy="1417320"/>
          </a:xfrm>
          <a:prstGeom prst="roundRect">
            <a:avLst>
              <a:gd name="adj" fmla="val 5161"/>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5488" y="2880360"/>
            <a:ext cx="4855464" cy="1143000"/>
          </a:xfrm>
          <a:prstGeom prst="roundRect">
            <a:avLst>
              <a:gd name="adj" fmla="val 6400"/>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PRICE"/>
          <p:cNvSpPr txBox="1"/>
          <p:nvPr/>
        </p:nvSpPr>
        <p:spPr>
          <a:xfrm>
            <a:off x="548640" y="1463040"/>
            <a:ext cx="9144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PRICE</a:t>
            </a:r>
          </a:p>
        </p:txBody>
      </p:sp>
      <p:sp>
        <p:nvSpPr>
          <p:cNvPr id="8" name="text:RUNNING TOTALS"/>
          <p:cNvSpPr txBox="1"/>
          <p:nvPr/>
        </p:nvSpPr>
        <p:spPr>
          <a:xfrm>
            <a:off x="548640" y="2926080"/>
            <a:ext cx="10972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RUNNING TOTALS</a:t>
            </a:r>
          </a:p>
        </p:txBody>
      </p:sp>
      <p:sp>
        <p:nvSpPr>
          <p:cNvPr id="9" name="text:up"/>
          <p:cNvSpPr txBox="1"/>
          <p:nvPr/>
        </p:nvSpPr>
        <p:spPr>
          <a:xfrm>
            <a:off x="1600200" y="2926080"/>
            <a:ext cx="365760" cy="164592"/>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up</a:t>
            </a:r>
          </a:p>
        </p:txBody>
      </p:sp>
      <p:sp>
        <p:nvSpPr>
          <p:cNvPr id="10" name="text:down"/>
          <p:cNvSpPr txBox="1"/>
          <p:nvPr/>
        </p:nvSpPr>
        <p:spPr>
          <a:xfrm>
            <a:off x="1920240" y="2926080"/>
            <a:ext cx="457200" cy="164592"/>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down</a:t>
            </a:r>
          </a:p>
        </p:txBody>
      </p:sp>
      <p:sp>
        <p:nvSpPr>
          <p:cNvPr id="11" name="text:reset to zero when one fires"/>
          <p:cNvSpPr txBox="1"/>
          <p:nvPr/>
        </p:nvSpPr>
        <p:spPr>
          <a:xfrm>
            <a:off x="2468880" y="2926080"/>
            <a:ext cx="2286000" cy="164592"/>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reset to zero when one fires</a:t>
            </a:r>
          </a:p>
        </p:txBody>
      </p:sp>
      <p:cxnSp>
        <p:nvCxnSpPr>
          <p:cNvPr id="12" name="Connector 11"/>
          <p:cNvCxnSpPr/>
          <p:nvPr/>
        </p:nvCxnSpPr>
        <p:spPr>
          <a:xfrm>
            <a:off x="548640"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44745"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850" y="247840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36955" y="247840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33061" y="2478405"/>
            <a:ext cx="96105"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29166" y="247840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125271" y="252222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221377" y="243459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17482" y="243459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13587" y="2346960"/>
            <a:ext cx="96106"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509693" y="225933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605798" y="212788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701903" y="204025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798008" y="1864995"/>
            <a:ext cx="96106"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894114" y="173355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990219"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86324" y="16897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182430" y="16459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278535" y="16459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374640" y="16897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70746"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566851" y="168973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662956" y="1689735"/>
            <a:ext cx="96106"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759062" y="168973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855167" y="177736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951272" y="1908810"/>
            <a:ext cx="96105"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047377" y="2084070"/>
            <a:ext cx="96106"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143483" y="217170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239588" y="230314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335693" y="2434590"/>
            <a:ext cx="96106"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431799" y="2522220"/>
            <a:ext cx="96105"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527904" y="265366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624009" y="265366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720115" y="260985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816220" y="260985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912325" y="260985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008431" y="260985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104536" y="2653665"/>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200641" y="2653665"/>
            <a:ext cx="96105"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296746" y="2609850"/>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392852" y="2609850"/>
            <a:ext cx="96105"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488957" y="2566035"/>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585062" y="2566035"/>
            <a:ext cx="96106" cy="4381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681168" y="252222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777273" y="2390775"/>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73378" y="2215515"/>
            <a:ext cx="96106" cy="17526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969484" y="2084070"/>
            <a:ext cx="96105" cy="131445"/>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065589" y="1996440"/>
            <a:ext cx="96105" cy="8763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161694" y="1996440"/>
            <a:ext cx="96106" cy="0"/>
          </a:xfrm>
          <a:prstGeom prst="line">
            <a:avLst/>
          </a:prstGeom>
          <a:ln w="1524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48640" y="3456432"/>
            <a:ext cx="470916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48640"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48640"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44745"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44745"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40850"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4085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36955"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36955"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3061" y="3383279"/>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3061"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29166"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29166"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125271" y="3419856"/>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125271" y="3493008"/>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21377" y="3346703"/>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21377"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17482" y="3346703"/>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17482"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413587" y="3273551"/>
            <a:ext cx="96106" cy="109728"/>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13587"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509693" y="3200400"/>
            <a:ext cx="96105" cy="73151"/>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50969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605798" y="3090672"/>
            <a:ext cx="96105" cy="109728"/>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605798"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701903" y="3017520"/>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70190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798008" y="3310127"/>
            <a:ext cx="96106" cy="146305"/>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798008"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894114" y="3200400"/>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89411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990219"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990219"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2086324" y="3163824"/>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2086324"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182430" y="3127248"/>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18243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2278535" y="3127248"/>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2278535"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374640" y="3163824"/>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374640" y="3493008"/>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2470746"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2470746"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566851" y="3163824"/>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566851"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2662956" y="3163824"/>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2662956" y="3493008"/>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2759062" y="3163824"/>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2759062" y="3493008"/>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2855167" y="3236976"/>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2855167" y="3566160"/>
            <a:ext cx="96105" cy="109727"/>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2951272" y="3346703"/>
            <a:ext cx="96105" cy="109729"/>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2951272" y="3675887"/>
            <a:ext cx="96105" cy="146304"/>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3047377" y="3456432"/>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3047377" y="3822191"/>
            <a:ext cx="96106" cy="73153"/>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3143483"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3143483" y="3456432"/>
            <a:ext cx="96105" cy="109728"/>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239588"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3239588" y="3566160"/>
            <a:ext cx="96105" cy="109727"/>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3335693" y="3456432"/>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335693" y="3675887"/>
            <a:ext cx="96106"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3431799" y="3456432"/>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3431799" y="3749039"/>
            <a:ext cx="96105" cy="146305"/>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527904"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52790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3624009" y="3419856"/>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3624009"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720115"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720115"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3816220"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3816220"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912325"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912325"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4008431" y="3383279"/>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4008431" y="3456432"/>
            <a:ext cx="96105" cy="73152"/>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104536" y="3419856"/>
            <a:ext cx="96105"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104536" y="3493008"/>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4200641" y="3419856"/>
            <a:ext cx="96105"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4200641" y="3493008"/>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296746" y="3383279"/>
            <a:ext cx="96106"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296746"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4392852" y="3383279"/>
            <a:ext cx="96105" cy="3657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4392852"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488957" y="3346703"/>
            <a:ext cx="96105" cy="73153"/>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488957"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4585062" y="3346703"/>
            <a:ext cx="96106" cy="36576"/>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4585062" y="3456432"/>
            <a:ext cx="96106"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681168" y="3310127"/>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681168" y="3456432"/>
            <a:ext cx="96105" cy="36576"/>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777273" y="3200400"/>
            <a:ext cx="96105" cy="109727"/>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4777273"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73378" y="3054096"/>
            <a:ext cx="96106" cy="146304"/>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4873378"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969484" y="3346703"/>
            <a:ext cx="96105" cy="109729"/>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4969484"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5065589" y="3273551"/>
            <a:ext cx="96105" cy="73152"/>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065589" y="3456432"/>
            <a:ext cx="96105"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161694" y="3273551"/>
            <a:ext cx="96106"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161694" y="3456432"/>
            <a:ext cx="96106"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548640" y="3090672"/>
            <a:ext cx="4709160" cy="0"/>
          </a:xfrm>
          <a:prstGeom prst="line">
            <a:avLst/>
          </a:prstGeom>
          <a:ln w="11430">
            <a:solidFill>
              <a:srgbClr val="9A9AA2"/>
            </a:solidFill>
            <a:prstDash val="dash"/>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548640" y="3822191"/>
            <a:ext cx="4709160" cy="0"/>
          </a:xfrm>
          <a:prstGeom prst="line">
            <a:avLst/>
          </a:prstGeom>
          <a:ln w="11430">
            <a:solidFill>
              <a:srgbClr val="9A9AA2"/>
            </a:solidFill>
            <a:prstDash val="dash"/>
          </a:ln>
        </p:spPr>
        <p:style>
          <a:lnRef idx="2">
            <a:schemeClr val="accent1"/>
          </a:lnRef>
          <a:fillRef idx="0">
            <a:schemeClr val="accent1"/>
          </a:fillRef>
          <a:effectRef idx="1">
            <a:schemeClr val="accent1"/>
          </a:effectRef>
          <a:fontRef idx="minor">
            <a:schemeClr val="tx1"/>
          </a:fontRef>
        </p:style>
      </p:cxnSp>
      <p:sp>
        <p:nvSpPr>
          <p:cNvPr id="162" name="text:threshold"/>
          <p:cNvSpPr txBox="1"/>
          <p:nvPr/>
        </p:nvSpPr>
        <p:spPr>
          <a:xfrm>
            <a:off x="4343400" y="3840479"/>
            <a:ext cx="91440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threshold</a:t>
            </a:r>
          </a:p>
        </p:txBody>
      </p:sp>
      <p:cxnSp>
        <p:nvCxnSpPr>
          <p:cNvPr id="163" name="Connector 162"/>
          <p:cNvCxnSpPr/>
          <p:nvPr/>
        </p:nvCxnSpPr>
        <p:spPr>
          <a:xfrm>
            <a:off x="1798008"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64" name="Oval 163"/>
          <p:cNvSpPr/>
          <p:nvPr/>
        </p:nvSpPr>
        <p:spPr>
          <a:xfrm>
            <a:off x="1743144" y="1985391"/>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a:off x="3143483"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66" name="Oval 165"/>
          <p:cNvSpPr/>
          <p:nvPr/>
        </p:nvSpPr>
        <p:spPr>
          <a:xfrm>
            <a:off x="3088619" y="2116836"/>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7" name="Connector 166"/>
          <p:cNvCxnSpPr/>
          <p:nvPr/>
        </p:nvCxnSpPr>
        <p:spPr>
          <a:xfrm>
            <a:off x="3527904"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68" name="Oval 167"/>
          <p:cNvSpPr/>
          <p:nvPr/>
        </p:nvSpPr>
        <p:spPr>
          <a:xfrm>
            <a:off x="3473040" y="2642616"/>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9" name="Connector 168"/>
          <p:cNvCxnSpPr/>
          <p:nvPr/>
        </p:nvCxnSpPr>
        <p:spPr>
          <a:xfrm>
            <a:off x="4969484" y="1554480"/>
            <a:ext cx="0" cy="237744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170" name="Oval 169"/>
          <p:cNvSpPr/>
          <p:nvPr/>
        </p:nvSpPr>
        <p:spPr>
          <a:xfrm>
            <a:off x="4914620" y="2160651"/>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ounded Rectangle 170"/>
          <p:cNvSpPr/>
          <p:nvPr/>
        </p:nvSpPr>
        <p:spPr>
          <a:xfrm>
            <a:off x="475488" y="4114800"/>
            <a:ext cx="4855464" cy="566928"/>
          </a:xfrm>
          <a:prstGeom prst="roundRect">
            <a:avLst>
              <a:gd name="adj" fmla="val 12903"/>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EVERY TICK"/>
          <p:cNvSpPr txBox="1"/>
          <p:nvPr/>
        </p:nvSpPr>
        <p:spPr>
          <a:xfrm>
            <a:off x="548640" y="4151376"/>
            <a:ext cx="109728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EVERY TICK</a:t>
            </a:r>
          </a:p>
        </p:txBody>
      </p:sp>
      <p:sp>
        <p:nvSpPr>
          <p:cNvPr id="173" name="text:EVENTS ONLY"/>
          <p:cNvSpPr txBox="1"/>
          <p:nvPr/>
        </p:nvSpPr>
        <p:spPr>
          <a:xfrm>
            <a:off x="548640" y="4407408"/>
            <a:ext cx="1097280" cy="164592"/>
          </a:xfrm>
          <a:prstGeom prst="rect">
            <a:avLst/>
          </a:prstGeom>
          <a:noFill/>
        </p:spPr>
        <p:txBody>
          <a:bodyPr wrap="square" lIns="9144" rIns="9144" tIns="0" bIns="0">
            <a:spAutoFit/>
          </a:bodyPr>
          <a:lstStyle/>
          <a:p>
            <a:pPr>
              <a:lnSpc>
                <a:spcPct val="106000"/>
              </a:lnSpc>
              <a:spcAft>
                <a:spcPts val="400"/>
              </a:spcAft>
              <a:defRPr sz="800" b="0">
                <a:solidFill>
                  <a:srgbClr val="3DDC97"/>
                </a:solidFill>
                <a:latin typeface="Helvetica Neue"/>
              </a:defRPr>
            </a:pPr>
            <a:r>
              <a:t>EVENTS ONLY</a:t>
            </a:r>
          </a:p>
        </p:txBody>
      </p:sp>
      <p:sp>
        <p:nvSpPr>
          <p:cNvPr id="174" name="Oval 173"/>
          <p:cNvSpPr/>
          <p:nvPr/>
        </p:nvSpPr>
        <p:spPr>
          <a:xfrm>
            <a:off x="1527048"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1600759"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1674471"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1748183"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1821895"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1895607"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1969319"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2043030"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2116742"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2190454"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2264166"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2337878"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2411590"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2485301"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2467013" y="4462272"/>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2559013"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2632725"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2706437"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2780149"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2853861"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2927572"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3001284"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3074996"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3148708"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3222420"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3296132"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3369843"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3443555"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3517267"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3498979" y="4462272"/>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3590979"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3664691"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3738403"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3812114"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3793826" y="4462272"/>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3885826"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3959538"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033250"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106962"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180674"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254385"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328097"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401809"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4475521"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549233"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4622945"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696656"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770368"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844080"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917792"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899504" y="4462272"/>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4991504"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5065216"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5138928" y="4206240"/>
            <a:ext cx="54864" cy="54864"/>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ounded Rectangle 227"/>
          <p:cNvSpPr/>
          <p:nvPr/>
        </p:nvSpPr>
        <p:spPr>
          <a:xfrm>
            <a:off x="5577840" y="1417320"/>
            <a:ext cx="3063240" cy="1051560"/>
          </a:xfrm>
          <a:prstGeom prst="roundRect">
            <a:avLst>
              <a:gd name="adj" fmla="val 1217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AGENT CALLS: EVERY TICK"/>
          <p:cNvSpPr txBox="1"/>
          <p:nvPr/>
        </p:nvSpPr>
        <p:spPr>
          <a:xfrm>
            <a:off x="5760720" y="1527048"/>
            <a:ext cx="2697480" cy="164592"/>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AGENT CALLS: EVERY TICK</a:t>
            </a:r>
          </a:p>
        </p:txBody>
      </p:sp>
      <p:sp>
        <p:nvSpPr>
          <p:cNvPr id="230" name="text:681"/>
          <p:cNvSpPr txBox="1"/>
          <p:nvPr/>
        </p:nvSpPr>
        <p:spPr>
          <a:xfrm>
            <a:off x="5760720" y="1709928"/>
            <a:ext cx="1463040" cy="502920"/>
          </a:xfrm>
          <a:prstGeom prst="rect">
            <a:avLst/>
          </a:prstGeom>
          <a:noFill/>
        </p:spPr>
        <p:txBody>
          <a:bodyPr wrap="square" lIns="9144" rIns="9144" tIns="0" bIns="0">
            <a:spAutoFit/>
          </a:bodyPr>
          <a:lstStyle/>
          <a:p>
            <a:pPr>
              <a:lnSpc>
                <a:spcPct val="106000"/>
              </a:lnSpc>
              <a:spcAft>
                <a:spcPts val="400"/>
              </a:spcAft>
              <a:defRPr sz="3200" b="0">
                <a:solidFill>
                  <a:srgbClr val="F2F5F8"/>
                </a:solidFill>
                <a:latin typeface="Helvetica Neue"/>
              </a:defRPr>
            </a:pPr>
            <a:r>
              <a:t>681</a:t>
            </a:r>
          </a:p>
        </p:txBody>
      </p:sp>
      <p:sp>
        <p:nvSpPr>
          <p:cNvPr id="231" name="text:wakes on every price tick"/>
          <p:cNvSpPr txBox="1"/>
          <p:nvPr/>
        </p:nvSpPr>
        <p:spPr>
          <a:xfrm>
            <a:off x="5760720" y="2221992"/>
            <a:ext cx="26974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wakes on every price tick</a:t>
            </a:r>
          </a:p>
        </p:txBody>
      </p:sp>
      <p:sp>
        <p:nvSpPr>
          <p:cNvPr id="232" name="Rounded Rectangle 231"/>
          <p:cNvSpPr/>
          <p:nvPr/>
        </p:nvSpPr>
        <p:spPr>
          <a:xfrm>
            <a:off x="5577840" y="2606040"/>
            <a:ext cx="3063240" cy="1051560"/>
          </a:xfrm>
          <a:prstGeom prst="roundRect">
            <a:avLst>
              <a:gd name="adj" fmla="val 1217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AGENT CALLS: EVENTS ONLY"/>
          <p:cNvSpPr txBox="1"/>
          <p:nvPr/>
        </p:nvSpPr>
        <p:spPr>
          <a:xfrm>
            <a:off x="5760720" y="2715768"/>
            <a:ext cx="2697480" cy="164592"/>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AGENT CALLS: EVENTS ONLY</a:t>
            </a:r>
          </a:p>
        </p:txBody>
      </p:sp>
      <p:sp>
        <p:nvSpPr>
          <p:cNvPr id="234" name="text:24"/>
          <p:cNvSpPr txBox="1"/>
          <p:nvPr/>
        </p:nvSpPr>
        <p:spPr>
          <a:xfrm>
            <a:off x="5760720" y="2898648"/>
            <a:ext cx="1463040" cy="502920"/>
          </a:xfrm>
          <a:prstGeom prst="rect">
            <a:avLst/>
          </a:prstGeom>
          <a:noFill/>
        </p:spPr>
        <p:txBody>
          <a:bodyPr wrap="square" lIns="9144" rIns="9144" tIns="0" bIns="0">
            <a:spAutoFit/>
          </a:bodyPr>
          <a:lstStyle/>
          <a:p>
            <a:pPr>
              <a:lnSpc>
                <a:spcPct val="106000"/>
              </a:lnSpc>
              <a:spcAft>
                <a:spcPts val="400"/>
              </a:spcAft>
              <a:defRPr sz="3200" b="0">
                <a:solidFill>
                  <a:srgbClr val="F2F5F8"/>
                </a:solidFill>
                <a:latin typeface="Helvetica Neue"/>
              </a:defRPr>
            </a:pPr>
            <a:r>
              <a:t>24</a:t>
            </a:r>
          </a:p>
        </p:txBody>
      </p:sp>
      <p:sp>
        <p:nvSpPr>
          <p:cNvPr id="235" name="text:wakes at the threshold (15 bps)"/>
          <p:cNvSpPr txBox="1"/>
          <p:nvPr/>
        </p:nvSpPr>
        <p:spPr>
          <a:xfrm>
            <a:off x="5760720" y="3410712"/>
            <a:ext cx="26974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wakes at the threshold (15 bps)</a:t>
            </a:r>
          </a:p>
        </p:txBody>
      </p:sp>
      <p:sp>
        <p:nvSpPr>
          <p:cNvPr id="236" name="Rounded Rectangle 235"/>
          <p:cNvSpPr/>
          <p:nvPr/>
        </p:nvSpPr>
        <p:spPr>
          <a:xfrm>
            <a:off x="5577840" y="3794760"/>
            <a:ext cx="3063240" cy="822960"/>
          </a:xfrm>
          <a:prstGeom prst="roundRect">
            <a:avLst>
              <a:gd name="adj" fmla="val 15555"/>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96% fewer calls"/>
          <p:cNvSpPr txBox="1"/>
          <p:nvPr/>
        </p:nvSpPr>
        <p:spPr>
          <a:xfrm>
            <a:off x="5760720" y="3794760"/>
            <a:ext cx="2697480" cy="457200"/>
          </a:xfrm>
          <a:prstGeom prst="rect">
            <a:avLst/>
          </a:prstGeom>
          <a:noFill/>
        </p:spPr>
        <p:txBody>
          <a:bodyPr wrap="square" lIns="9144" rIns="9144" tIns="0" bIns="0" anchor="ctr">
            <a:spAutoFit/>
          </a:bodyPr>
          <a:lstStyle/>
          <a:p>
            <a:pPr>
              <a:lnSpc>
                <a:spcPct val="106000"/>
              </a:lnSpc>
              <a:spcAft>
                <a:spcPts val="400"/>
              </a:spcAft>
              <a:defRPr sz="2200" b="0">
                <a:solidFill>
                  <a:srgbClr val="3DDC97"/>
                </a:solidFill>
                <a:latin typeface="Helvetica Neue"/>
              </a:defRPr>
            </a:pPr>
            <a:r>
              <a:t>96% fewer calls</a:t>
            </a:r>
          </a:p>
        </p:txBody>
      </p:sp>
      <p:sp>
        <p:nvSpPr>
          <p:cNvPr id="238" name="text:Simulated, on recorded data; not adv"/>
          <p:cNvSpPr txBox="1"/>
          <p:nvPr/>
        </p:nvSpPr>
        <p:spPr>
          <a:xfrm>
            <a:off x="5760720" y="4279392"/>
            <a:ext cx="26974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Simulated, on recorded data; not advice.</a:t>
            </a:r>
          </a:p>
        </p:txBody>
      </p:sp>
      <p:sp>
        <p:nvSpPr>
          <p:cNvPr id="239" name="text:Illustrative chart; counts from demo"/>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chart; counts from demo-repo/code/out/cusum.json.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frozen fee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frozen feed</a:t>
            </a:r>
          </a:p>
        </p:txBody>
      </p:sp>
      <p:sp>
        <p:nvSpPr>
          <p:cNvPr id="3" name="text:Pyth carries a publish time and a sl"/>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Pyth carries a publish time and a slot. Compare both with now.</a:t>
            </a:r>
          </a:p>
        </p:txBody>
      </p:sp>
      <p:sp>
        <p:nvSpPr>
          <p:cNvPr id="4"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5" name="Rounded Rectangle 4"/>
          <p:cNvSpPr/>
          <p:nvPr/>
        </p:nvSpPr>
        <p:spPr>
          <a:xfrm>
            <a:off x="548640" y="1508760"/>
            <a:ext cx="4206240" cy="2514600"/>
          </a:xfrm>
          <a:prstGeom prst="roundRect">
            <a:avLst>
              <a:gd name="adj" fmla="val 509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YTH PRICE OVER TIME (illustrative)"/>
          <p:cNvSpPr txBox="1"/>
          <p:nvPr/>
        </p:nvSpPr>
        <p:spPr>
          <a:xfrm>
            <a:off x="731520" y="1600200"/>
            <a:ext cx="36576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PYTH PRICE OVER TIME (illustrative)</a:t>
            </a:r>
          </a:p>
        </p:txBody>
      </p:sp>
      <p:cxnSp>
        <p:nvCxnSpPr>
          <p:cNvPr id="7" name="Connector 6"/>
          <p:cNvCxnSpPr/>
          <p:nvPr/>
        </p:nvCxnSpPr>
        <p:spPr>
          <a:xfrm flipV="1">
            <a:off x="731520" y="2880360"/>
            <a:ext cx="201168" cy="182880"/>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94944" y="3026664"/>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32688" y="2880360"/>
            <a:ext cx="201168" cy="274320"/>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96112" y="2843784"/>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133856" y="2788920"/>
            <a:ext cx="201168" cy="365760"/>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97280" y="3118104"/>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335024" y="2788920"/>
            <a:ext cx="201168" cy="128016"/>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298448" y="2752344"/>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1536192" y="2660904"/>
            <a:ext cx="201168" cy="256032"/>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499616" y="2880360"/>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737360" y="2660904"/>
            <a:ext cx="201168" cy="182880"/>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700784" y="2624328"/>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1938528" y="2606040"/>
            <a:ext cx="201168" cy="237744"/>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901952" y="2807208"/>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2139696" y="2606040"/>
            <a:ext cx="201168" cy="128016"/>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2103120" y="2569464"/>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2340864" y="2514600"/>
            <a:ext cx="201168" cy="219456"/>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304288" y="2697480"/>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2542032" y="2514600"/>
            <a:ext cx="201168" cy="146304"/>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2505456" y="2478024"/>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V="1">
            <a:off x="2743200" y="2551176"/>
            <a:ext cx="201168" cy="109728"/>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706624" y="2624328"/>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944368" y="2551176"/>
            <a:ext cx="201168" cy="146304"/>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2907791" y="2514600"/>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V="1">
            <a:off x="3145536" y="2587752"/>
            <a:ext cx="201168" cy="109728"/>
          </a:xfrm>
          <a:prstGeom prst="line">
            <a:avLst/>
          </a:prstGeom>
          <a:ln w="16510">
            <a:solidFill>
              <a:srgbClr val="F2F5F8"/>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108960" y="2660904"/>
            <a:ext cx="73152" cy="73152"/>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300984" y="2542032"/>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346704" y="2587752"/>
            <a:ext cx="1133856" cy="0"/>
          </a:xfrm>
          <a:prstGeom prst="line">
            <a:avLst/>
          </a:prstGeom>
          <a:ln w="19050">
            <a:solidFill>
              <a:srgbClr val="FD51F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346704" y="1828800"/>
            <a:ext cx="0" cy="1783080"/>
          </a:xfrm>
          <a:prstGeom prst="line">
            <a:avLst/>
          </a:prstGeom>
          <a:ln w="11430">
            <a:solidFill>
              <a:srgbClr val="3DDC97"/>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480560" y="1828800"/>
            <a:ext cx="0" cy="1783080"/>
          </a:xfrm>
          <a:prstGeom prst="line">
            <a:avLst/>
          </a:prstGeom>
          <a:ln w="11430">
            <a:solidFill>
              <a:srgbClr val="B3A5FF"/>
            </a:solidFill>
            <a:prstDash val="dash"/>
          </a:ln>
        </p:spPr>
        <p:style>
          <a:lnRef idx="2">
            <a:schemeClr val="accent1"/>
          </a:lnRef>
          <a:fillRef idx="0">
            <a:schemeClr val="accent1"/>
          </a:fillRef>
          <a:effectRef idx="1">
            <a:schemeClr val="accent1"/>
          </a:effectRef>
          <a:fontRef idx="minor">
            <a:schemeClr val="tx1"/>
          </a:fontRef>
        </p:style>
      </p:cxnSp>
      <p:sp>
        <p:nvSpPr>
          <p:cNvPr id="37" name="text:last publish"/>
          <p:cNvSpPr txBox="1"/>
          <p:nvPr/>
        </p:nvSpPr>
        <p:spPr>
          <a:xfrm>
            <a:off x="2843784" y="3639312"/>
            <a:ext cx="1097280" cy="164592"/>
          </a:xfrm>
          <a:prstGeom prst="rect">
            <a:avLst/>
          </a:prstGeom>
          <a:noFill/>
        </p:spPr>
        <p:txBody>
          <a:bodyPr wrap="square" lIns="9144" rIns="9144" tIns="0" bIns="0">
            <a:spAutoFit/>
          </a:bodyPr>
          <a:lstStyle/>
          <a:p>
            <a:pPr algn="ctr">
              <a:lnSpc>
                <a:spcPct val="106000"/>
              </a:lnSpc>
              <a:spcAft>
                <a:spcPts val="400"/>
              </a:spcAft>
              <a:defRPr sz="850" b="0">
                <a:solidFill>
                  <a:srgbClr val="3DDC97"/>
                </a:solidFill>
                <a:latin typeface="Helvetica Neue"/>
              </a:defRPr>
            </a:pPr>
            <a:r>
              <a:t>last publish</a:t>
            </a:r>
          </a:p>
        </p:txBody>
      </p:sp>
      <p:sp>
        <p:nvSpPr>
          <p:cNvPr id="38" name="text:now"/>
          <p:cNvSpPr txBox="1"/>
          <p:nvPr/>
        </p:nvSpPr>
        <p:spPr>
          <a:xfrm>
            <a:off x="4023360" y="3639312"/>
            <a:ext cx="822960" cy="164592"/>
          </a:xfrm>
          <a:prstGeom prst="rect">
            <a:avLst/>
          </a:prstGeom>
          <a:noFill/>
        </p:spPr>
        <p:txBody>
          <a:bodyPr wrap="square" lIns="9144" rIns="9144" tIns="0" bIns="0">
            <a:spAutoFit/>
          </a:bodyPr>
          <a:lstStyle/>
          <a:p>
            <a:pPr algn="ctr">
              <a:lnSpc>
                <a:spcPct val="106000"/>
              </a:lnSpc>
              <a:spcAft>
                <a:spcPts val="400"/>
              </a:spcAft>
              <a:defRPr sz="850" b="0">
                <a:solidFill>
                  <a:srgbClr val="B3A5FF"/>
                </a:solidFill>
                <a:latin typeface="Helvetica Neue"/>
              </a:defRPr>
            </a:pPr>
            <a:r>
              <a:t>now</a:t>
            </a:r>
          </a:p>
        </p:txBody>
      </p:sp>
      <p:cxnSp>
        <p:nvCxnSpPr>
          <p:cNvPr id="39" name="Connector 38"/>
          <p:cNvCxnSpPr/>
          <p:nvPr/>
        </p:nvCxnSpPr>
        <p:spPr>
          <a:xfrm>
            <a:off x="3401568" y="2148840"/>
            <a:ext cx="1024128"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3401568" y="2148840"/>
            <a:ext cx="1024128"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age grows"/>
          <p:cNvSpPr txBox="1"/>
          <p:nvPr/>
        </p:nvSpPr>
        <p:spPr>
          <a:xfrm>
            <a:off x="3456432" y="1901952"/>
            <a:ext cx="91440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age grows</a:t>
            </a:r>
          </a:p>
        </p:txBody>
      </p:sp>
      <p:sp>
        <p:nvSpPr>
          <p:cNvPr id="42" name="text:the price still looks normal"/>
          <p:cNvSpPr txBox="1"/>
          <p:nvPr/>
        </p:nvSpPr>
        <p:spPr>
          <a:xfrm>
            <a:off x="1746504" y="3108960"/>
            <a:ext cx="1508760" cy="365760"/>
          </a:xfrm>
          <a:prstGeom prst="rect">
            <a:avLst/>
          </a:prstGeom>
          <a:noFill/>
        </p:spPr>
        <p:txBody>
          <a:bodyPr wrap="square" lIns="9144" rIns="9144" tIns="0" bIns="0">
            <a:spAutoFit/>
          </a:bodyPr>
          <a:lstStyle/>
          <a:p>
            <a:pPr algn="r">
              <a:lnSpc>
                <a:spcPct val="106000"/>
              </a:lnSpc>
              <a:spcAft>
                <a:spcPts val="400"/>
              </a:spcAft>
              <a:defRPr sz="900" b="0">
                <a:solidFill>
                  <a:srgbClr val="FD51FC"/>
                </a:solidFill>
                <a:latin typeface="Helvetica Neue"/>
              </a:defRPr>
            </a:pPr>
            <a:r>
              <a:t>the price still</a:t>
            </a:r>
          </a:p>
          <a:p>
            <a:pPr algn="r">
              <a:lnSpc>
                <a:spcPct val="106000"/>
              </a:lnSpc>
              <a:spcAft>
                <a:spcPts val="400"/>
              </a:spcAft>
              <a:defRPr sz="900" b="0">
                <a:solidFill>
                  <a:srgbClr val="FD51FC"/>
                </a:solidFill>
                <a:latin typeface="Helvetica Neue"/>
              </a:defRPr>
            </a:pPr>
            <a:r>
              <a:t>looks normal</a:t>
            </a:r>
          </a:p>
        </p:txBody>
      </p:sp>
      <p:sp>
        <p:nvSpPr>
          <p:cNvPr id="43" name="Rounded Rectangle 42"/>
          <p:cNvSpPr/>
          <p:nvPr/>
        </p:nvSpPr>
        <p:spPr>
          <a:xfrm>
            <a:off x="4983480" y="1508760"/>
            <a:ext cx="3657600" cy="1143000"/>
          </a:xfrm>
          <a:prstGeom prst="roundRect">
            <a:avLst>
              <a:gd name="adj" fmla="val 112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AGE IN SECONDS"/>
          <p:cNvSpPr txBox="1"/>
          <p:nvPr/>
        </p:nvSpPr>
        <p:spPr>
          <a:xfrm>
            <a:off x="5166360" y="1618488"/>
            <a:ext cx="2286000" cy="182880"/>
          </a:xfrm>
          <a:prstGeom prst="rect">
            <a:avLst/>
          </a:prstGeom>
          <a:noFill/>
        </p:spPr>
        <p:txBody>
          <a:bodyPr wrap="square" lIns="9144" rIns="9144" tIns="0" bIns="0">
            <a:spAutoFit/>
          </a:bodyPr>
          <a:lstStyle/>
          <a:p>
            <a:pPr>
              <a:lnSpc>
                <a:spcPct val="106000"/>
              </a:lnSpc>
              <a:spcAft>
                <a:spcPts val="400"/>
              </a:spcAft>
              <a:defRPr sz="950" b="0">
                <a:solidFill>
                  <a:srgbClr val="B3A5FF"/>
                </a:solidFill>
                <a:latin typeface="Helvetica Neue"/>
              </a:defRPr>
            </a:pPr>
            <a:r>
              <a:t>AGE IN SECONDS</a:t>
            </a:r>
          </a:p>
        </p:txBody>
      </p:sp>
      <p:sp>
        <p:nvSpPr>
          <p:cNvPr id="45" name="text:now minus publish time"/>
          <p:cNvSpPr txBox="1"/>
          <p:nvPr/>
        </p:nvSpPr>
        <p:spPr>
          <a:xfrm>
            <a:off x="5166360" y="1856231"/>
            <a:ext cx="201168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Menlo"/>
              </a:defRPr>
            </a:pPr>
            <a:r>
              <a:t>now minus publish time</a:t>
            </a:r>
          </a:p>
        </p:txBody>
      </p:sp>
      <p:sp>
        <p:nvSpPr>
          <p:cNvPr id="46" name="text:limit 30s"/>
          <p:cNvSpPr txBox="1"/>
          <p:nvPr/>
        </p:nvSpPr>
        <p:spPr>
          <a:xfrm>
            <a:off x="6903720" y="1645919"/>
            <a:ext cx="1645920" cy="411480"/>
          </a:xfrm>
          <a:prstGeom prst="rect">
            <a:avLst/>
          </a:prstGeom>
          <a:noFill/>
        </p:spPr>
        <p:txBody>
          <a:bodyPr wrap="square" lIns="9144" rIns="9144" tIns="0" bIns="0">
            <a:spAutoFit/>
          </a:bodyPr>
          <a:lstStyle/>
          <a:p>
            <a:pPr algn="r">
              <a:lnSpc>
                <a:spcPct val="106000"/>
              </a:lnSpc>
              <a:spcAft>
                <a:spcPts val="400"/>
              </a:spcAft>
              <a:defRPr sz="1800" b="0">
                <a:solidFill>
                  <a:srgbClr val="F2F5F8"/>
                </a:solidFill>
                <a:latin typeface="Helvetica Neue"/>
              </a:defRPr>
            </a:pPr>
            <a:r>
              <a:t>limit 30s</a:t>
            </a:r>
          </a:p>
        </p:txBody>
      </p:sp>
      <p:sp>
        <p:nvSpPr>
          <p:cNvPr id="47" name="text:typical now: 11s"/>
          <p:cNvSpPr txBox="1"/>
          <p:nvPr/>
        </p:nvSpPr>
        <p:spPr>
          <a:xfrm>
            <a:off x="6903720" y="2148839"/>
            <a:ext cx="1645920" cy="182880"/>
          </a:xfrm>
          <a:prstGeom prst="rect">
            <a:avLst/>
          </a:prstGeom>
          <a:noFill/>
        </p:spPr>
        <p:txBody>
          <a:bodyPr wrap="square" lIns="9144" rIns="9144" tIns="0" bIns="0">
            <a:spAutoFit/>
          </a:bodyPr>
          <a:lstStyle/>
          <a:p>
            <a:pPr algn="r">
              <a:lnSpc>
                <a:spcPct val="106000"/>
              </a:lnSpc>
              <a:spcAft>
                <a:spcPts val="400"/>
              </a:spcAft>
              <a:defRPr sz="900" b="0">
                <a:solidFill>
                  <a:srgbClr val="9A9AA2"/>
                </a:solidFill>
                <a:latin typeface="Helvetica Neue"/>
              </a:defRPr>
            </a:pPr>
            <a:r>
              <a:t>typical now: 11s</a:t>
            </a:r>
          </a:p>
        </p:txBody>
      </p:sp>
      <p:sp>
        <p:nvSpPr>
          <p:cNvPr id="48" name="Rounded Rectangle 47"/>
          <p:cNvSpPr/>
          <p:nvPr/>
        </p:nvSpPr>
        <p:spPr>
          <a:xfrm>
            <a:off x="4983480" y="2788920"/>
            <a:ext cx="3657600" cy="1143000"/>
          </a:xfrm>
          <a:prstGeom prst="roundRect">
            <a:avLst>
              <a:gd name="adj" fmla="val 112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SLOTS BEHIND"/>
          <p:cNvSpPr txBox="1"/>
          <p:nvPr/>
        </p:nvSpPr>
        <p:spPr>
          <a:xfrm>
            <a:off x="5166360" y="2898648"/>
            <a:ext cx="228600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SLOTS BEHIND</a:t>
            </a:r>
          </a:p>
        </p:txBody>
      </p:sp>
      <p:sp>
        <p:nvSpPr>
          <p:cNvPr id="50" name="text:current slot minus posted slot"/>
          <p:cNvSpPr txBox="1"/>
          <p:nvPr/>
        </p:nvSpPr>
        <p:spPr>
          <a:xfrm>
            <a:off x="5166360" y="3136391"/>
            <a:ext cx="201168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Menlo"/>
              </a:defRPr>
            </a:pPr>
            <a:r>
              <a:t>current slot minus posted slot</a:t>
            </a:r>
          </a:p>
        </p:txBody>
      </p:sp>
      <p:sp>
        <p:nvSpPr>
          <p:cNvPr id="51" name="text:limit 75 slots"/>
          <p:cNvSpPr txBox="1"/>
          <p:nvPr/>
        </p:nvSpPr>
        <p:spPr>
          <a:xfrm>
            <a:off x="6903720" y="2926079"/>
            <a:ext cx="1645920" cy="411480"/>
          </a:xfrm>
          <a:prstGeom prst="rect">
            <a:avLst/>
          </a:prstGeom>
          <a:noFill/>
        </p:spPr>
        <p:txBody>
          <a:bodyPr wrap="square" lIns="9144" rIns="9144" tIns="0" bIns="0">
            <a:spAutoFit/>
          </a:bodyPr>
          <a:lstStyle/>
          <a:p>
            <a:pPr algn="r">
              <a:lnSpc>
                <a:spcPct val="106000"/>
              </a:lnSpc>
              <a:spcAft>
                <a:spcPts val="400"/>
              </a:spcAft>
              <a:defRPr sz="1800" b="0">
                <a:solidFill>
                  <a:srgbClr val="F2F5F8"/>
                </a:solidFill>
                <a:latin typeface="Helvetica Neue"/>
              </a:defRPr>
            </a:pPr>
            <a:r>
              <a:t>limit 75 slots</a:t>
            </a:r>
          </a:p>
        </p:txBody>
      </p:sp>
      <p:sp>
        <p:nvSpPr>
          <p:cNvPr id="52" name="text:typical now: 37 slots"/>
          <p:cNvSpPr txBox="1"/>
          <p:nvPr/>
        </p:nvSpPr>
        <p:spPr>
          <a:xfrm>
            <a:off x="6903720" y="3429000"/>
            <a:ext cx="1645920" cy="182880"/>
          </a:xfrm>
          <a:prstGeom prst="rect">
            <a:avLst/>
          </a:prstGeom>
          <a:noFill/>
        </p:spPr>
        <p:txBody>
          <a:bodyPr wrap="square" lIns="9144" rIns="9144" tIns="0" bIns="0">
            <a:spAutoFit/>
          </a:bodyPr>
          <a:lstStyle/>
          <a:p>
            <a:pPr algn="r">
              <a:lnSpc>
                <a:spcPct val="106000"/>
              </a:lnSpc>
              <a:spcAft>
                <a:spcPts val="400"/>
              </a:spcAft>
              <a:defRPr sz="900" b="0">
                <a:solidFill>
                  <a:srgbClr val="9A9AA2"/>
                </a:solidFill>
                <a:latin typeface="Helvetica Neue"/>
              </a:defRPr>
            </a:pPr>
            <a:r>
              <a:t>typical now: 37 slots</a:t>
            </a:r>
          </a:p>
        </p:txBody>
      </p:sp>
      <p:sp>
        <p:nvSpPr>
          <p:cNvPr id="53" name="Rounded Rectangle 52"/>
          <p:cNvSpPr/>
          <p:nvPr/>
        </p:nvSpPr>
        <p:spPr>
          <a:xfrm>
            <a:off x="548640" y="4114800"/>
            <a:ext cx="8092440" cy="502920"/>
          </a:xfrm>
          <a:prstGeom prst="roundRect">
            <a:avLst>
              <a:gd name="adj" fmla="val 25454"/>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Either one over its limit: stale. Do"/>
          <p:cNvSpPr txBox="1"/>
          <p:nvPr/>
        </p:nvSpPr>
        <p:spPr>
          <a:xfrm>
            <a:off x="731520" y="4114800"/>
            <a:ext cx="7772400" cy="502920"/>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Either one over its limit: stale. Do not act on it.</a:t>
            </a:r>
          </a:p>
        </p:txBody>
      </p:sp>
      <p:sp>
        <p:nvSpPr>
          <p:cNvPr id="55" name="text:Illustrative chart; limits and typi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chart; limits and typical values from demo-repo/code/out/staleness.json.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al numbe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Real numbers</a:t>
            </a:r>
          </a:p>
        </p:txBody>
      </p:sp>
      <p:sp>
        <p:nvSpPr>
          <p:cNvPr id="3" name="text:Real Orca SOL/USDC swaps, built int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Real Orca SOL/USDC swaps, built into bars.</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508760"/>
            <a:ext cx="182880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REAL SWAPS"/>
          <p:cNvSpPr txBox="1"/>
          <p:nvPr/>
        </p:nvSpPr>
        <p:spPr>
          <a:xfrm>
            <a:off x="713232"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REAL SWAPS</a:t>
            </a:r>
          </a:p>
        </p:txBody>
      </p:sp>
      <p:sp>
        <p:nvSpPr>
          <p:cNvPr id="7" name="text:2,759"/>
          <p:cNvSpPr txBox="1"/>
          <p:nvPr/>
        </p:nvSpPr>
        <p:spPr>
          <a:xfrm>
            <a:off x="713232" y="1920240"/>
            <a:ext cx="155448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2,759</a:t>
            </a:r>
          </a:p>
        </p:txBody>
      </p:sp>
      <p:sp>
        <p:nvSpPr>
          <p:cNvPr id="8" name="text:Orca SOL/USDC pool"/>
          <p:cNvSpPr txBox="1"/>
          <p:nvPr/>
        </p:nvSpPr>
        <p:spPr>
          <a:xfrm>
            <a:off x="713232"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Orca SOL/USDC pool</a:t>
            </a:r>
          </a:p>
        </p:txBody>
      </p:sp>
      <p:sp>
        <p:nvSpPr>
          <p:cNvPr id="9" name="Rounded Rectangle 8"/>
          <p:cNvSpPr/>
          <p:nvPr/>
        </p:nvSpPr>
        <p:spPr>
          <a:xfrm>
            <a:off x="2636215" y="1508760"/>
            <a:ext cx="182880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RADED"/>
          <p:cNvSpPr txBox="1"/>
          <p:nvPr/>
        </p:nvSpPr>
        <p:spPr>
          <a:xfrm>
            <a:off x="2800807"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TRADED</a:t>
            </a:r>
          </a:p>
        </p:txBody>
      </p:sp>
      <p:sp>
        <p:nvSpPr>
          <p:cNvPr id="11" name="text:$2,322,236"/>
          <p:cNvSpPr txBox="1"/>
          <p:nvPr/>
        </p:nvSpPr>
        <p:spPr>
          <a:xfrm>
            <a:off x="2800807" y="1920240"/>
            <a:ext cx="1554480" cy="54864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$2,322,236</a:t>
            </a:r>
          </a:p>
        </p:txBody>
      </p:sp>
      <p:sp>
        <p:nvSpPr>
          <p:cNvPr id="12" name="text:USDC side, same swaps"/>
          <p:cNvSpPr txBox="1"/>
          <p:nvPr/>
        </p:nvSpPr>
        <p:spPr>
          <a:xfrm>
            <a:off x="2800807"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USDC side, same swaps</a:t>
            </a:r>
          </a:p>
        </p:txBody>
      </p:sp>
      <p:sp>
        <p:nvSpPr>
          <p:cNvPr id="13" name="Rounded Rectangle 12"/>
          <p:cNvSpPr/>
          <p:nvPr/>
        </p:nvSpPr>
        <p:spPr>
          <a:xfrm>
            <a:off x="4723790" y="1508760"/>
            <a:ext cx="1828800"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IME BARS"/>
          <p:cNvSpPr txBox="1"/>
          <p:nvPr/>
        </p:nvSpPr>
        <p:spPr>
          <a:xfrm>
            <a:off x="4888382"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TIME BARS</a:t>
            </a:r>
          </a:p>
        </p:txBody>
      </p:sp>
      <p:sp>
        <p:nvSpPr>
          <p:cNvPr id="15" name="text:43"/>
          <p:cNvSpPr txBox="1"/>
          <p:nvPr/>
        </p:nvSpPr>
        <p:spPr>
          <a:xfrm>
            <a:off x="4888382" y="1920240"/>
            <a:ext cx="155448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43</a:t>
            </a:r>
          </a:p>
        </p:txBody>
      </p:sp>
      <p:sp>
        <p:nvSpPr>
          <p:cNvPr id="16" name="text:60 s each, 0 empty"/>
          <p:cNvSpPr txBox="1"/>
          <p:nvPr/>
        </p:nvSpPr>
        <p:spPr>
          <a:xfrm>
            <a:off x="4888382"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60 s each, 0 empty</a:t>
            </a:r>
          </a:p>
        </p:txBody>
      </p:sp>
      <p:sp>
        <p:nvSpPr>
          <p:cNvPr id="17" name="Rounded Rectangle 16"/>
          <p:cNvSpPr/>
          <p:nvPr/>
        </p:nvSpPr>
        <p:spPr>
          <a:xfrm>
            <a:off x="6811365" y="1508760"/>
            <a:ext cx="1828800" cy="1417320"/>
          </a:xfrm>
          <a:prstGeom prst="roundRect">
            <a:avLst>
              <a:gd name="adj" fmla="val 903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DOLLAR BARS"/>
          <p:cNvSpPr txBox="1"/>
          <p:nvPr/>
        </p:nvSpPr>
        <p:spPr>
          <a:xfrm>
            <a:off x="6975957"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DOLLAR BARS</a:t>
            </a:r>
          </a:p>
        </p:txBody>
      </p:sp>
      <p:sp>
        <p:nvSpPr>
          <p:cNvPr id="19" name="text:44"/>
          <p:cNvSpPr txBox="1"/>
          <p:nvPr/>
        </p:nvSpPr>
        <p:spPr>
          <a:xfrm>
            <a:off x="6975957" y="1920240"/>
            <a:ext cx="155448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44</a:t>
            </a:r>
          </a:p>
        </p:txBody>
      </p:sp>
      <p:sp>
        <p:nvSpPr>
          <p:cNvPr id="20" name="text:$50,000 each"/>
          <p:cNvSpPr txBox="1"/>
          <p:nvPr/>
        </p:nvSpPr>
        <p:spPr>
          <a:xfrm>
            <a:off x="6975957"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$50,000 each</a:t>
            </a:r>
          </a:p>
        </p:txBody>
      </p:sp>
      <p:sp>
        <p:nvSpPr>
          <p:cNvPr id="21" name="Rounded Rectangle 20"/>
          <p:cNvSpPr/>
          <p:nvPr/>
        </p:nvSpPr>
        <p:spPr>
          <a:xfrm>
            <a:off x="548640" y="3108960"/>
            <a:ext cx="4892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WINDOW OF REAL SWAPS"/>
          <p:cNvSpPr txBox="1"/>
          <p:nvPr/>
        </p:nvSpPr>
        <p:spPr>
          <a:xfrm>
            <a:off x="731520" y="3200400"/>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WINDOW OF REAL SWAPS</a:t>
            </a:r>
          </a:p>
        </p:txBody>
      </p:sp>
      <p:sp>
        <p:nvSpPr>
          <p:cNvPr id="23" name="text:2026-10-21 17:48 to 18:30 UTC"/>
          <p:cNvSpPr txBox="1"/>
          <p:nvPr/>
        </p:nvSpPr>
        <p:spPr>
          <a:xfrm>
            <a:off x="731520" y="3429000"/>
            <a:ext cx="45720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2026-10-21 17:48 to 18:30 UTC</a:t>
            </a:r>
          </a:p>
        </p:txBody>
      </p:sp>
      <p:sp>
        <p:nvSpPr>
          <p:cNvPr id="24" name="text:= 01:48 to 02:30 Singapore time (42 "/>
          <p:cNvSpPr txBox="1"/>
          <p:nvPr/>
        </p:nvSpPr>
        <p:spPr>
          <a:xfrm>
            <a:off x="731520" y="3730752"/>
            <a:ext cx="4572000" cy="2286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 01:48 to 02:30 Singapore time (42 minutes)</a:t>
            </a:r>
          </a:p>
        </p:txBody>
      </p:sp>
      <p:sp>
        <p:nvSpPr>
          <p:cNvPr id="25" name="Rounded Rectangle 24"/>
          <p:cNvSpPr/>
          <p:nvPr/>
        </p:nvSpPr>
        <p:spPr>
          <a:xfrm>
            <a:off x="5623560" y="3108960"/>
            <a:ext cx="301752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Recorded data; a bar here is a summa"/>
          <p:cNvSpPr txBox="1"/>
          <p:nvPr/>
        </p:nvSpPr>
        <p:spPr>
          <a:xfrm>
            <a:off x="5806440" y="3108960"/>
            <a:ext cx="2697480" cy="914400"/>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Recorded data; a bar here is a summary of swaps.</a:t>
            </a:r>
          </a:p>
        </p:txBody>
      </p:sp>
      <p:sp>
        <p:nvSpPr>
          <p:cNvPr id="27" name="Rounded Rectangle 26"/>
          <p:cNvSpPr/>
          <p:nvPr/>
        </p:nvSpPr>
        <p:spPr>
          <a:xfrm>
            <a:off x="548640" y="4160520"/>
            <a:ext cx="8092440" cy="457200"/>
          </a:xfrm>
          <a:prstGeom prst="roundRect">
            <a:avLst>
              <a:gd name="adj" fmla="val 28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Reads use public mainnet data; every"/>
          <p:cNvSpPr txBox="1"/>
          <p:nvPr/>
        </p:nvSpPr>
        <p:spPr>
          <a:xfrm>
            <a:off x="713232" y="4160520"/>
            <a:ext cx="7818120"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Reads use public mainnet data; every write is devnet only; no real funds.</a:t>
            </a:r>
          </a:p>
        </p:txBody>
      </p:sp>
      <p:sp>
        <p:nvSpPr>
          <p:cNvPr id="29" name="text:Source: code/out/swaps.json and bar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code/out/swaps.json and bars.json, recorded data captured 2026-10-21 19:03:24 UTC. Orca SOL/USDC whirlpool swaps, public mainnet RPC.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bar builder is shor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bar builder is short</a:t>
            </a:r>
          </a:p>
        </p:txBody>
      </p:sp>
      <p:sp>
        <p:nvSpPr>
          <p:cNvPr id="3" name="text:Walk the swaps, add up dollars, clo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Walk the swaps, add up dollars, close a bar at the threshold.</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Rounded Rectangle 4"/>
          <p:cNvSpPr/>
          <p:nvPr/>
        </p:nvSpPr>
        <p:spPr>
          <a:xfrm>
            <a:off x="548640" y="1554480"/>
            <a:ext cx="5257800" cy="3017520"/>
          </a:xfrm>
          <a:prstGeom prst="roundRect">
            <a:avLst>
              <a:gd name="adj" fmla="val 4242"/>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rc/bars.ts"/>
          <p:cNvSpPr txBox="1"/>
          <p:nvPr/>
        </p:nvSpPr>
        <p:spPr>
          <a:xfrm>
            <a:off x="731520" y="1645920"/>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src/bars.ts</a:t>
            </a:r>
          </a:p>
        </p:txBody>
      </p:sp>
      <p:sp>
        <p:nvSpPr>
          <p:cNvPr id="7" name="text:export function dollarBars(swaps: Sw"/>
          <p:cNvSpPr txBox="1"/>
          <p:nvPr/>
        </p:nvSpPr>
        <p:spPr>
          <a:xfrm>
            <a:off x="731520" y="1920240"/>
            <a:ext cx="4983480" cy="2560320"/>
          </a:xfrm>
          <a:prstGeom prst="rect">
            <a:avLst/>
          </a:prstGeom>
          <a:noFill/>
        </p:spPr>
        <p:txBody>
          <a:bodyPr wrap="square" lIns="9144" rIns="9144" tIns="0" bIns="0">
            <a:spAutoFit/>
          </a:bodyPr>
          <a:lstStyle/>
          <a:p>
            <a:pPr>
              <a:lnSpc>
                <a:spcPct val="100000"/>
              </a:lnSpc>
              <a:spcAft>
                <a:spcPts val="400"/>
              </a:spcAft>
              <a:defRPr sz="800" b="0">
                <a:solidFill>
                  <a:srgbClr val="F2F5F8"/>
                </a:solidFill>
                <a:latin typeface="Menlo"/>
              </a:defRPr>
            </a:pPr>
            <a:r>
              <a:t>export function dollarBars(swaps: Swap[], thresholdUsd: number): Bar[] {</a:t>
            </a:r>
          </a:p>
          <a:p>
            <a:pPr>
              <a:lnSpc>
                <a:spcPct val="100000"/>
              </a:lnSpc>
              <a:spcAft>
                <a:spcPts val="400"/>
              </a:spcAft>
              <a:defRPr sz="800" b="0">
                <a:solidFill>
                  <a:srgbClr val="F2F5F8"/>
                </a:solidFill>
                <a:latin typeface="Menlo"/>
              </a:defRPr>
            </a:pPr>
            <a:r>
              <a:t>  if (!(thresholdUsd &gt; 0)) throw new Error("dollar threshold must be &gt; 0");</a:t>
            </a:r>
          </a:p>
          <a:p>
            <a:pPr>
              <a:lnSpc>
                <a:spcPct val="100000"/>
              </a:lnSpc>
              <a:spcAft>
                <a:spcPts val="400"/>
              </a:spcAft>
              <a:defRPr sz="800" b="0">
                <a:solidFill>
                  <a:srgbClr val="F2F5F8"/>
                </a:solidFill>
                <a:latin typeface="Menlo"/>
              </a:defRPr>
            </a:pPr>
            <a:r>
              <a:t>  const bars: Bar[] = [];</a:t>
            </a:r>
          </a:p>
          <a:p>
            <a:pPr>
              <a:lnSpc>
                <a:spcPct val="100000"/>
              </a:lnSpc>
              <a:spcAft>
                <a:spcPts val="400"/>
              </a:spcAft>
              <a:defRPr sz="800" b="0">
                <a:solidFill>
                  <a:srgbClr val="F2F5F8"/>
                </a:solidFill>
                <a:latin typeface="Menlo"/>
              </a:defRPr>
            </a:pPr>
            <a:r>
              <a:t>  let cur: Bar | null = null;</a:t>
            </a:r>
          </a:p>
          <a:p>
            <a:pPr>
              <a:lnSpc>
                <a:spcPct val="100000"/>
              </a:lnSpc>
              <a:spcAft>
                <a:spcPts val="400"/>
              </a:spcAft>
              <a:defRPr sz="800" b="0">
                <a:solidFill>
                  <a:srgbClr val="F2F5F8"/>
                </a:solidFill>
                <a:latin typeface="Menlo"/>
              </a:defRPr>
            </a:pPr>
            <a:r>
              <a:t>  for (const s of swaps) {</a:t>
            </a:r>
          </a:p>
          <a:p>
            <a:pPr>
              <a:lnSpc>
                <a:spcPct val="100000"/>
              </a:lnSpc>
              <a:spcAft>
                <a:spcPts val="400"/>
              </a:spcAft>
              <a:defRPr sz="800" b="0">
                <a:solidFill>
                  <a:srgbClr val="F2F5F8"/>
                </a:solidFill>
                <a:latin typeface="Menlo"/>
              </a:defRPr>
            </a:pPr>
            <a:r>
              <a:t>    if (!cur) {</a:t>
            </a:r>
          </a:p>
          <a:p>
            <a:pPr>
              <a:lnSpc>
                <a:spcPct val="100000"/>
              </a:lnSpc>
              <a:spcAft>
                <a:spcPts val="400"/>
              </a:spcAft>
              <a:defRPr sz="800" b="0">
                <a:solidFill>
                  <a:srgbClr val="F2F5F8"/>
                </a:solidFill>
                <a:latin typeface="Menlo"/>
              </a:defRPr>
            </a:pPr>
            <a:r>
              <a:t>      cur = startBar(s, s.t);</a:t>
            </a:r>
          </a:p>
          <a:p>
            <a:pPr>
              <a:lnSpc>
                <a:spcPct val="100000"/>
              </a:lnSpc>
              <a:spcAft>
                <a:spcPts val="400"/>
              </a:spcAft>
              <a:defRPr sz="800" b="0">
                <a:solidFill>
                  <a:srgbClr val="F2F5F8"/>
                </a:solidFill>
                <a:latin typeface="Menlo"/>
              </a:defRPr>
            </a:pPr>
            <a:r>
              <a:t>      bars.push(cur);</a:t>
            </a:r>
          </a:p>
          <a:p>
            <a:pPr>
              <a:lnSpc>
                <a:spcPct val="100000"/>
              </a:lnSpc>
              <a:spcAft>
                <a:spcPts val="400"/>
              </a:spcAft>
              <a:defRPr sz="800" b="0">
                <a:solidFill>
                  <a:srgbClr val="F2F5F8"/>
                </a:solidFill>
                <a:latin typeface="Menlo"/>
              </a:defRPr>
            </a:pPr>
            <a:r>
              <a:t>    } else addToBar(cur, s);</a:t>
            </a:r>
          </a:p>
          <a:p>
            <a:pPr>
              <a:lnSpc>
                <a:spcPct val="100000"/>
              </a:lnSpc>
              <a:spcAft>
                <a:spcPts val="400"/>
              </a:spcAft>
              <a:defRPr sz="800" b="0">
                <a:solidFill>
                  <a:srgbClr val="F2F5F8"/>
                </a:solidFill>
                <a:latin typeface="Menlo"/>
              </a:defRPr>
            </a:pPr>
            <a:r>
              <a:t>    if (cur.volumeUsd &gt;= thresholdUsd) cur = null;</a:t>
            </a:r>
          </a:p>
          <a:p>
            <a:pPr>
              <a:lnSpc>
                <a:spcPct val="100000"/>
              </a:lnSpc>
              <a:spcAft>
                <a:spcPts val="400"/>
              </a:spcAft>
              <a:defRPr sz="800" b="0">
                <a:solidFill>
                  <a:srgbClr val="F2F5F8"/>
                </a:solidFill>
                <a:latin typeface="Menlo"/>
              </a:defRPr>
            </a:pPr>
            <a:r>
              <a:t>  }</a:t>
            </a:r>
          </a:p>
          <a:p>
            <a:pPr>
              <a:lnSpc>
                <a:spcPct val="100000"/>
              </a:lnSpc>
              <a:spcAft>
                <a:spcPts val="400"/>
              </a:spcAft>
              <a:defRPr sz="800" b="0">
                <a:solidFill>
                  <a:srgbClr val="F2F5F8"/>
                </a:solidFill>
                <a:latin typeface="Menlo"/>
              </a:defRPr>
            </a:pPr>
            <a:r>
              <a:t>  return bars;</a:t>
            </a:r>
          </a:p>
          <a:p>
            <a:pPr>
              <a:lnSpc>
                <a:spcPct val="100000"/>
              </a:lnSpc>
              <a:spcAft>
                <a:spcPts val="400"/>
              </a:spcAft>
              <a:defRPr sz="800" b="0">
                <a:solidFill>
                  <a:srgbClr val="F2F5F8"/>
                </a:solidFill>
                <a:latin typeface="Menlo"/>
              </a:defRPr>
            </a:pPr>
            <a:r>
              <a:t>}</a:t>
            </a:r>
          </a:p>
        </p:txBody>
      </p:sp>
      <p:sp>
        <p:nvSpPr>
          <p:cNvPr id="8" name="Rounded Rectangle 7"/>
          <p:cNvSpPr/>
          <p:nvPr/>
        </p:nvSpPr>
        <p:spPr>
          <a:xfrm>
            <a:off x="6035040" y="1554480"/>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6199632" y="164592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10" name="text:A plain loop"/>
          <p:cNvSpPr txBox="1"/>
          <p:nvPr/>
        </p:nvSpPr>
        <p:spPr>
          <a:xfrm>
            <a:off x="6537960" y="1664207"/>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A plain loop</a:t>
            </a:r>
          </a:p>
        </p:txBody>
      </p:sp>
      <p:sp>
        <p:nvSpPr>
          <p:cNvPr id="11" name="text:Walk the swaps in order, add up the "/>
          <p:cNvSpPr txBox="1"/>
          <p:nvPr/>
        </p:nvSpPr>
        <p:spPr>
          <a:xfrm>
            <a:off x="6537960" y="1938528"/>
            <a:ext cx="20116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Walk the swaps in order, add up the dollars.</a:t>
            </a:r>
          </a:p>
        </p:txBody>
      </p:sp>
      <p:sp>
        <p:nvSpPr>
          <p:cNvPr id="12" name="Rounded Rectangle 11"/>
          <p:cNvSpPr/>
          <p:nvPr/>
        </p:nvSpPr>
        <p:spPr>
          <a:xfrm>
            <a:off x="6035040" y="2578608"/>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2"/>
          <p:cNvSpPr txBox="1"/>
          <p:nvPr/>
        </p:nvSpPr>
        <p:spPr>
          <a:xfrm>
            <a:off x="6199632" y="2670048"/>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4" name="text:One number"/>
          <p:cNvSpPr txBox="1"/>
          <p:nvPr/>
        </p:nvSpPr>
        <p:spPr>
          <a:xfrm>
            <a:off x="6537960" y="2688336"/>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One number</a:t>
            </a:r>
          </a:p>
        </p:txBody>
      </p:sp>
      <p:sp>
        <p:nvSpPr>
          <p:cNvPr id="15" name="text:The threshold sets how big a bar is."/>
          <p:cNvSpPr txBox="1"/>
          <p:nvPr/>
        </p:nvSpPr>
        <p:spPr>
          <a:xfrm>
            <a:off x="6537960" y="2962656"/>
            <a:ext cx="20116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threshold sets how big a bar is.</a:t>
            </a:r>
          </a:p>
        </p:txBody>
      </p:sp>
      <p:sp>
        <p:nvSpPr>
          <p:cNvPr id="16" name="Rounded Rectangle 15"/>
          <p:cNvSpPr/>
          <p:nvPr/>
        </p:nvSpPr>
        <p:spPr>
          <a:xfrm>
            <a:off x="6035040" y="3602736"/>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3"/>
          <p:cNvSpPr txBox="1"/>
          <p:nvPr/>
        </p:nvSpPr>
        <p:spPr>
          <a:xfrm>
            <a:off x="6199632" y="3694176"/>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8" name="text:Nothing lost"/>
          <p:cNvSpPr txBox="1"/>
          <p:nvPr/>
        </p:nvSpPr>
        <p:spPr>
          <a:xfrm>
            <a:off x="6537960" y="3712464"/>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Nothing lost</a:t>
            </a:r>
          </a:p>
        </p:txBody>
      </p:sp>
      <p:sp>
        <p:nvSpPr>
          <p:cNvPr id="19" name="text:Every swap lands in exactly one bar."/>
          <p:cNvSpPr txBox="1"/>
          <p:nvPr/>
        </p:nvSpPr>
        <p:spPr>
          <a:xfrm>
            <a:off x="6537960" y="3986784"/>
            <a:ext cx="20116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Every swap lands in exactly one bar.</a:t>
            </a:r>
          </a:p>
        </p:txBody>
      </p:sp>
      <p:sp>
        <p:nvSpPr>
          <p:cNvPr id="20" name="text:Source: demo-repo/code/src/bars.ts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demo-repo/code/src/bars.ts (excerpt: comments and blank lines removed)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Demo: time bars and dollar ba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time bars and dollar bars</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makes more bars from the same "/>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makes more bars from the same swaps, the clock or the dollars? By how many?</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ar counts for both kinds, from the "/>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bar counts for both kinds, from the same swaps</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one-minute bars that are empty"/>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one-minute bars that are empty</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ata is the defau"/>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data is the default. No network needed.</a:t>
            </a:r>
          </a:p>
        </p:txBody>
      </p:sp>
      <p:pic>
        <p:nvPicPr>
          <p:cNvPr id="18" name="Picture 17" descr="01-time-vs-dollar-bars.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https://nus-solana-demos.vercel.app/0003/01-time-vs-dollar-bars.html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a change aler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a change alert</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How many agent calls does the filter"/>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How many agent calls does the filter save, and where does it fire?</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cusum"/>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demo -- --recorded --cusum-bps 15</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vents marked up or down on the pric"/>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events marked up or down on the price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gent calls: every tick versus event"/>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agent calls: every tick versus events only</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ev"/>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events are the same every run.</a:t>
            </a:r>
          </a:p>
        </p:txBody>
      </p:sp>
      <p:pic>
        <p:nvPicPr>
          <p:cNvPr id="18" name="Picture 17" descr="02-cusum-bucket.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https://nus-solana-demos.vercel.app/0003/02-cusum-bucket.html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a:t>
            </a:r>
          </a:p>
        </p:txBody>
      </p:sp>
      <p:sp>
        <p:nvSpPr>
          <p:cNvPr id="3" name="text:Demo: a frozen fee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a frozen feed</a:t>
            </a:r>
          </a:p>
        </p:txBody>
      </p:sp>
      <p:sp>
        <p:nvSpPr>
          <p:cNvPr id="4"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How many seconds until the staleness"/>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How many seconds until the staleness check turns red?</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max-a"/>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demo -- --recorded --max-age-sec 30</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ge and slots behind, over time"/>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age and slots behind, over time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check turns red when a limit is "/>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check turns red when a limit is crossed</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fa"/>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fault is simulated on top of it.</a:t>
            </a:r>
          </a:p>
        </p:txBody>
      </p:sp>
      <p:pic>
        <p:nvPicPr>
          <p:cNvPr id="18" name="Picture 17" descr="03-frozen-feed.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https://nus-solana-demos.vercel.app/0003/03-frozen-feed.html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4" name="Rounded Rectangle 3"/>
          <p:cNvSpPr/>
          <p:nvPr/>
        </p:nvSpPr>
        <p:spPr>
          <a:xfrm>
            <a:off x="5394960" y="132588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demos-0003.png"/>
          <p:cNvPicPr>
            <a:picLocks noChangeAspect="1"/>
          </p:cNvPicPr>
          <p:nvPr/>
        </p:nvPicPr>
        <p:blipFill>
          <a:blip r:embed="rId3"/>
          <a:stretch>
            <a:fillRect/>
          </a:stretch>
        </p:blipFill>
        <p:spPr>
          <a:xfrm>
            <a:off x="5532120" y="1463040"/>
            <a:ext cx="2560320" cy="2560320"/>
          </a:xfrm>
          <a:prstGeom prst="rect">
            <a:avLst/>
          </a:prstGeom>
        </p:spPr>
      </p:pic>
      <p:sp>
        <p:nvSpPr>
          <p:cNvPr id="6" name="text:Scan to open the demos"/>
          <p:cNvSpPr txBox="1"/>
          <p:nvPr/>
        </p:nvSpPr>
        <p:spPr>
          <a:xfrm>
            <a:off x="5394960" y="425196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
        <p:nvSpPr>
          <p:cNvPr id="7" name="Rounded Rectangle 6"/>
          <p:cNvSpPr/>
          <p:nvPr/>
        </p:nvSpPr>
        <p:spPr>
          <a:xfrm>
            <a:off x="548640" y="1554480"/>
            <a:ext cx="448056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MOS"/>
          <p:cNvSpPr txBox="1"/>
          <p:nvPr/>
        </p:nvSpPr>
        <p:spPr>
          <a:xfrm>
            <a:off x="731520" y="162763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DEMOS</a:t>
            </a:r>
          </a:p>
        </p:txBody>
      </p:sp>
      <p:sp>
        <p:nvSpPr>
          <p:cNvPr id="9" name="text:nus-solana-demos.vercel.app/0003/"/>
          <p:cNvSpPr txBox="1"/>
          <p:nvPr/>
        </p:nvSpPr>
        <p:spPr>
          <a:xfrm>
            <a:off x="731520" y="1874519"/>
            <a:ext cx="4206240" cy="3200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Menlo"/>
              </a:defRPr>
            </a:pPr>
            <a:r>
              <a:t>nus-solana-demos.vercel.app/0003/</a:t>
            </a:r>
          </a:p>
        </p:txBody>
      </p:sp>
      <p:sp>
        <p:nvSpPr>
          <p:cNvPr id="10" name="text:Open on your laptop. Move the slider"/>
          <p:cNvSpPr txBox="1"/>
          <p:nvPr/>
        </p:nvSpPr>
        <p:spPr>
          <a:xfrm>
            <a:off x="548640" y="2651760"/>
            <a:ext cx="4480560" cy="91440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Open on your laptop. Move the sliders.</a:t>
            </a:r>
          </a:p>
        </p:txBody>
      </p:sp>
      <p:sp>
        <p:nvSpPr>
          <p:cNvPr id="11" name="text:No install. The same files are in th"/>
          <p:cNvSpPr txBox="1"/>
          <p:nvPr/>
        </p:nvSpPr>
        <p:spPr>
          <a:xfrm>
            <a:off x="548640" y="3749039"/>
            <a:ext cx="448056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No install. The same files are in the repo and open from disk.</a:t>
            </a:r>
          </a:p>
        </p:txBody>
      </p:sp>
      <p:sp>
        <p:nvSpPr>
          <p:cNvPr id="12" name="text:Source: demo-repo/lab (the four Lea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 (the four Learning Lab demos, deployed as static pages, recorded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Your missio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Your mission</a:t>
            </a:r>
          </a:p>
        </p:txBody>
      </p:sp>
      <p:sp>
        <p:nvSpPr>
          <p:cNvPr id="3" name="text:18:40 to 19:00. Twenty minut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18:40 to 19:00. Twenty minutes.</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Run"/>
          <p:cNvSpPr txBox="1"/>
          <p:nvPr/>
        </p:nvSpPr>
        <p:spPr>
          <a:xfrm>
            <a:off x="7315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Run</a:t>
            </a:r>
          </a:p>
        </p:txBody>
      </p:sp>
      <p:sp>
        <p:nvSpPr>
          <p:cNvPr id="8" name="text:The sample bar builder"/>
          <p:cNvSpPr txBox="1"/>
          <p:nvPr/>
        </p:nvSpPr>
        <p:spPr>
          <a:xfrm>
            <a:off x="7315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sample bar builder</a:t>
            </a:r>
          </a:p>
        </p:txBody>
      </p:sp>
      <p:cxnSp>
        <p:nvCxnSpPr>
          <p:cNvPr id="9" name="Connector 8"/>
          <p:cNvCxnSpPr/>
          <p:nvPr/>
        </p:nvCxnSpPr>
        <p:spPr>
          <a:xfrm>
            <a:off x="24963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Predict"/>
          <p:cNvSpPr txBox="1"/>
          <p:nvPr/>
        </p:nvSpPr>
        <p:spPr>
          <a:xfrm>
            <a:off x="27889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Predict</a:t>
            </a:r>
          </a:p>
        </p:txBody>
      </p:sp>
      <p:sp>
        <p:nvSpPr>
          <p:cNvPr id="13" name="text:The bar count before you look"/>
          <p:cNvSpPr txBox="1"/>
          <p:nvPr/>
        </p:nvSpPr>
        <p:spPr>
          <a:xfrm>
            <a:off x="27889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bar count before you look</a:t>
            </a:r>
          </a:p>
        </p:txBody>
      </p:sp>
      <p:cxnSp>
        <p:nvCxnSpPr>
          <p:cNvPr id="14" name="Connector 13"/>
          <p:cNvCxnSpPr/>
          <p:nvPr/>
        </p:nvCxnSpPr>
        <p:spPr>
          <a:xfrm>
            <a:off x="45537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Change"/>
          <p:cNvSpPr txBox="1"/>
          <p:nvPr/>
        </p:nvSpPr>
        <p:spPr>
          <a:xfrm>
            <a:off x="48463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Change</a:t>
            </a:r>
          </a:p>
        </p:txBody>
      </p:sp>
      <p:sp>
        <p:nvSpPr>
          <p:cNvPr id="18" name="text:The threshold or the token"/>
          <p:cNvSpPr txBox="1"/>
          <p:nvPr/>
        </p:nvSpPr>
        <p:spPr>
          <a:xfrm>
            <a:off x="48463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threshold or the token</a:t>
            </a:r>
          </a:p>
        </p:txBody>
      </p:sp>
      <p:cxnSp>
        <p:nvCxnSpPr>
          <p:cNvPr id="19" name="Connector 18"/>
          <p:cNvCxnSpPr/>
          <p:nvPr/>
        </p:nvCxnSpPr>
        <p:spPr>
          <a:xfrm>
            <a:off x="66111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Chart"/>
          <p:cNvSpPr txBox="1"/>
          <p:nvPr/>
        </p:nvSpPr>
        <p:spPr>
          <a:xfrm>
            <a:off x="69037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Chart</a:t>
            </a:r>
          </a:p>
        </p:txBody>
      </p:sp>
      <p:sp>
        <p:nvSpPr>
          <p:cNvPr id="23" name="text:The result, before and after"/>
          <p:cNvSpPr txBox="1"/>
          <p:nvPr/>
        </p:nvSpPr>
        <p:spPr>
          <a:xfrm>
            <a:off x="69037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result, before and after</a:t>
            </a:r>
          </a:p>
        </p:txBody>
      </p:sp>
      <p:sp>
        <p:nvSpPr>
          <p:cNvPr id="24" name="Rounded Rectangle 23"/>
          <p:cNvSpPr/>
          <p:nvPr/>
        </p:nvSpPr>
        <p:spPr>
          <a:xfrm>
            <a:off x="548640" y="3977639"/>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Finish line: one chart with a before"/>
          <p:cNvSpPr txBox="1"/>
          <p:nvPr/>
        </p:nvSpPr>
        <p:spPr>
          <a:xfrm>
            <a:off x="731520" y="3977639"/>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Finish line: one chart with a before and an after.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uild menu"/>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Build menu</a:t>
            </a:r>
          </a:p>
        </p:txBody>
      </p:sp>
      <p:sp>
        <p:nvSpPr>
          <p:cNvPr id="3" name="text:19:00 to 19:50. Pick one, or bring 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19:00 to 19:50. Pick one, or bring your own project.</a:t>
            </a:r>
          </a:p>
        </p:txBody>
      </p:sp>
      <p:sp>
        <p:nvSpPr>
          <p:cNvPr id="4"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5" name="Rounded Rectangle 4"/>
          <p:cNvSpPr/>
          <p:nvPr/>
        </p:nvSpPr>
        <p:spPr>
          <a:xfrm>
            <a:off x="548640" y="1554480"/>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82495"/>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700784"/>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Bars for another token"/>
          <p:cNvSpPr txBox="1"/>
          <p:nvPr/>
        </p:nvSpPr>
        <p:spPr>
          <a:xfrm>
            <a:off x="1874519" y="1554480"/>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Bars for another token</a:t>
            </a:r>
          </a:p>
        </p:txBody>
      </p:sp>
      <p:sp>
        <p:nvSpPr>
          <p:cNvPr id="9" name="Rounded Rectangle 8"/>
          <p:cNvSpPr/>
          <p:nvPr/>
        </p:nvSpPr>
        <p:spPr>
          <a:xfrm>
            <a:off x="548640" y="2157984"/>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286000"/>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731520" y="2304288"/>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A CUSUM alert bot"/>
          <p:cNvSpPr txBox="1"/>
          <p:nvPr/>
        </p:nvSpPr>
        <p:spPr>
          <a:xfrm>
            <a:off x="1874519" y="2157984"/>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 CUSUM alert bot</a:t>
            </a:r>
          </a:p>
        </p:txBody>
      </p:sp>
      <p:sp>
        <p:nvSpPr>
          <p:cNvPr id="13" name="Rounded Rectangle 12"/>
          <p:cNvSpPr/>
          <p:nvPr/>
        </p:nvSpPr>
        <p:spPr>
          <a:xfrm>
            <a:off x="548640" y="2761488"/>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889504"/>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NDARD"/>
          <p:cNvSpPr txBox="1"/>
          <p:nvPr/>
        </p:nvSpPr>
        <p:spPr>
          <a:xfrm>
            <a:off x="731520" y="2907792"/>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6" name="text:A staleness monitor"/>
          <p:cNvSpPr txBox="1"/>
          <p:nvPr/>
        </p:nvSpPr>
        <p:spPr>
          <a:xfrm>
            <a:off x="1874519" y="2761488"/>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 staleness monitor</a:t>
            </a:r>
          </a:p>
        </p:txBody>
      </p:sp>
      <p:sp>
        <p:nvSpPr>
          <p:cNvPr id="17" name="Rounded Rectangle 16"/>
          <p:cNvSpPr/>
          <p:nvPr/>
        </p:nvSpPr>
        <p:spPr>
          <a:xfrm>
            <a:off x="548640" y="3364991"/>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9300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ADVANCED"/>
          <p:cNvSpPr txBox="1"/>
          <p:nvPr/>
        </p:nvSpPr>
        <p:spPr>
          <a:xfrm>
            <a:off x="731520" y="35112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0" name="text:Wire bars into an earlier strategy a"/>
          <p:cNvSpPr txBox="1"/>
          <p:nvPr/>
        </p:nvSpPr>
        <p:spPr>
          <a:xfrm>
            <a:off x="1874519" y="3364991"/>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Wire bars into an earlier strategy and compare agent calls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takeaway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takeaways</a:t>
            </a:r>
          </a:p>
        </p:txBody>
      </p:sp>
      <p:sp>
        <p:nvSpPr>
          <p:cNvPr id="3"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4" name="Rounded Rectangle 3"/>
          <p:cNvSpPr/>
          <p:nvPr/>
        </p:nvSpPr>
        <p:spPr>
          <a:xfrm>
            <a:off x="548640" y="1417320"/>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1"/>
          <p:cNvSpPr txBox="1"/>
          <p:nvPr/>
        </p:nvSpPr>
        <p:spPr>
          <a:xfrm>
            <a:off x="777240" y="1417320"/>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1</a:t>
            </a:r>
          </a:p>
        </p:txBody>
      </p:sp>
      <p:sp>
        <p:nvSpPr>
          <p:cNvPr id="6" name="text:Activity bars carry more even inform"/>
          <p:cNvSpPr txBox="1"/>
          <p:nvPr/>
        </p:nvSpPr>
        <p:spPr>
          <a:xfrm>
            <a:off x="1371600" y="1417320"/>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Activity bars carry more even information than clock bars.</a:t>
            </a:r>
          </a:p>
        </p:txBody>
      </p:sp>
      <p:sp>
        <p:nvSpPr>
          <p:cNvPr id="7" name="Rounded Rectangle 6"/>
          <p:cNvSpPr/>
          <p:nvPr/>
        </p:nvSpPr>
        <p:spPr>
          <a:xfrm>
            <a:off x="548640" y="2441448"/>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2"/>
          <p:cNvSpPr txBox="1"/>
          <p:nvPr/>
        </p:nvSpPr>
        <p:spPr>
          <a:xfrm>
            <a:off x="777240" y="2441448"/>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2</a:t>
            </a:r>
          </a:p>
        </p:txBody>
      </p:sp>
      <p:sp>
        <p:nvSpPr>
          <p:cNvPr id="9" name="text:A CUSUM filter wakes the agent only "/>
          <p:cNvSpPr txBox="1"/>
          <p:nvPr/>
        </p:nvSpPr>
        <p:spPr>
          <a:xfrm>
            <a:off x="1371600" y="2441448"/>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A CUSUM filter wakes the agent only on a real change, so it makes fewer calls.</a:t>
            </a:r>
          </a:p>
        </p:txBody>
      </p:sp>
      <p:sp>
        <p:nvSpPr>
          <p:cNvPr id="10" name="Rounded Rectangle 9"/>
          <p:cNvSpPr/>
          <p:nvPr/>
        </p:nvSpPr>
        <p:spPr>
          <a:xfrm>
            <a:off x="548640" y="3465576"/>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3"/>
          <p:cNvSpPr txBox="1"/>
          <p:nvPr/>
        </p:nvSpPr>
        <p:spPr>
          <a:xfrm>
            <a:off x="777240" y="3465576"/>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3</a:t>
            </a:r>
          </a:p>
        </p:txBody>
      </p:sp>
      <p:sp>
        <p:nvSpPr>
          <p:cNvPr id="12" name="text:Check how old a price is, in seconds"/>
          <p:cNvSpPr txBox="1"/>
          <p:nvPr/>
        </p:nvSpPr>
        <p:spPr>
          <a:xfrm>
            <a:off x="1371600" y="3465576"/>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Check how old a price is, in seconds and in slots.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After tonight, in your own ti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After tonight, in your own time.</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600200"/>
            <a:ext cx="2560320" cy="2377440"/>
          </a:xfrm>
          <a:prstGeom prst="roundRect">
            <a:avLst>
              <a:gd name="adj" fmla="val 538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Run the bar builder on another token"/>
          <p:cNvSpPr txBox="1"/>
          <p:nvPr/>
        </p:nvSpPr>
        <p:spPr>
          <a:xfrm>
            <a:off x="74980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Run the bar builder on another token, or halve the threshold, and compare the bar counts.</a:t>
            </a:r>
          </a:p>
        </p:txBody>
      </p:sp>
      <p:sp>
        <p:nvSpPr>
          <p:cNvPr id="9" name="Rounded Rectangle 8"/>
          <p:cNvSpPr/>
          <p:nvPr/>
        </p:nvSpPr>
        <p:spPr>
          <a:xfrm>
            <a:off x="3337560" y="1600200"/>
            <a:ext cx="2560320" cy="2377440"/>
          </a:xfrm>
          <a:prstGeom prst="roundRect">
            <a:avLst>
              <a:gd name="adj" fmla="val 538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Try three CUSUM thresholds and chart"/>
          <p:cNvSpPr txBox="1"/>
          <p:nvPr/>
        </p:nvSpPr>
        <p:spPr>
          <a:xfrm>
            <a:off x="353872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Try three CUSUM thresholds and chart agent calls against the events you catch.</a:t>
            </a:r>
          </a:p>
        </p:txBody>
      </p:sp>
      <p:sp>
        <p:nvSpPr>
          <p:cNvPr id="13" name="Rounded Rectangle 12"/>
          <p:cNvSpPr/>
          <p:nvPr/>
        </p:nvSpPr>
        <p:spPr>
          <a:xfrm>
            <a:off x="6126479" y="1600200"/>
            <a:ext cx="2560320" cy="2377440"/>
          </a:xfrm>
          <a:prstGeom prst="roundRect">
            <a:avLst>
              <a:gd name="adj" fmla="val 538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Feed your bars into an earlier strat"/>
          <p:cNvSpPr txBox="1"/>
          <p:nvPr/>
        </p:nvSpPr>
        <p:spPr>
          <a:xfrm>
            <a:off x="6327647"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Feed your bars into an earlier strategy and compare agent calls.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Before you leave, and by next Thursd"/>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you leave, and by next Thursday.</a:t>
            </a:r>
          </a:p>
        </p:txBody>
      </p:sp>
      <p:sp>
        <p:nvSpPr>
          <p:cNvPr id="4"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ONIGHT"/>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TONIGHT</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Push your branch to your own repo."/>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Push your branch to your own repo.</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U 5 NOV"/>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5 NOV</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Bring your chart to Workshop 2."/>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Bring your chart to Workshop 2.</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NY TIME"/>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ANY TIME</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Send your repo link to the leads."/>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Send your repo link to the leads.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4" name="Rounded Rectangle 3"/>
          <p:cNvSpPr/>
          <p:nvPr/>
        </p:nvSpPr>
        <p:spPr>
          <a:xfrm>
            <a:off x="548640" y="1371600"/>
            <a:ext cx="4846320" cy="1051560"/>
          </a:xfrm>
          <a:prstGeom prst="roundRect">
            <a:avLst>
              <a:gd name="adj" fmla="val 1217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73352"/>
            <a:ext cx="45262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3-data-bars-change-alerts"/>
          <p:cNvSpPr txBox="1"/>
          <p:nvPr/>
        </p:nvSpPr>
        <p:spPr>
          <a:xfrm>
            <a:off x="731520" y="2011680"/>
            <a:ext cx="452628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0003-data-bars-change-alerts/demo</a:t>
            </a:r>
          </a:p>
        </p:txBody>
      </p:sp>
      <p:sp>
        <p:nvSpPr>
          <p:cNvPr id="8" name="Rounded Rectangle 7"/>
          <p:cNvSpPr/>
          <p:nvPr/>
        </p:nvSpPr>
        <p:spPr>
          <a:xfrm>
            <a:off x="548640" y="260604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60604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npm install"/>
          <p:cNvSpPr txBox="1"/>
          <p:nvPr/>
        </p:nvSpPr>
        <p:spPr>
          <a:xfrm>
            <a:off x="1097280" y="260604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1" name="Rounded Rectangle 10"/>
          <p:cNvSpPr/>
          <p:nvPr/>
        </p:nvSpPr>
        <p:spPr>
          <a:xfrm>
            <a:off x="548640" y="3209544"/>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3209544"/>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run demo -- --recorded"/>
          <p:cNvSpPr txBox="1"/>
          <p:nvPr/>
        </p:nvSpPr>
        <p:spPr>
          <a:xfrm>
            <a:off x="1097280" y="3209544"/>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4" name="text:Run both from the demo/code folder. "/>
          <p:cNvSpPr txBox="1"/>
          <p:nvPr/>
        </p:nvSpPr>
        <p:spPr>
          <a:xfrm>
            <a:off x="548640" y="3931920"/>
            <a:ext cx="484632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both from the demo/code folder. Node 24. No keys, no AI credits. Recorded data is bundled.</a:t>
            </a:r>
          </a:p>
        </p:txBody>
      </p:sp>
      <p:sp>
        <p:nvSpPr>
          <p:cNvPr id="15" name="Rounded Rectangle 14"/>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github-0003.png"/>
          <p:cNvPicPr>
            <a:picLocks noChangeAspect="1"/>
          </p:cNvPicPr>
          <p:nvPr/>
        </p:nvPicPr>
        <p:blipFill>
          <a:blip r:embed="rId3"/>
          <a:stretch>
            <a:fillRect/>
          </a:stretch>
        </p:blipFill>
        <p:spPr>
          <a:xfrm>
            <a:off x="5943600" y="1508760"/>
            <a:ext cx="2560320" cy="2560320"/>
          </a:xfrm>
          <a:prstGeom prst="rect">
            <a:avLst/>
          </a:prstGeom>
        </p:spPr>
      </p:pic>
      <p:sp>
        <p:nvSpPr>
          <p:cNvPr id="17" name="text:Scan for this session's code"/>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this session's code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2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24</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