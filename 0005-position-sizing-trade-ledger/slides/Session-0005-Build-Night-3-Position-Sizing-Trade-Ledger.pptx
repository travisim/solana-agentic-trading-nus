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 id="280" r:id="rId70"/>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back, thanks for coming. I'm Travis. Tonight is build night 3, the last one before the break. The plan is the same as before: a short talk, four demos where you guess the answer first, then most of the time you build. Tonight's topic is two bits of bookkeeping that decide whether a strategy survives: how big to bet, and how to write down what happened. Three ideas. Bets overlap, so count them together. Size should follow confidence, with caps. And a ledger should be append-only, so it can be replayed and trusted. In the last fifteen minutes everyone freezes a working commit and writes a restart note, so you can pick this up in January.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[18:02] Quick progress circle first. Go round the room, one line each: what did you build or try since the last session, and is anything stuck? Workshop 2 was last week, so some of you now have teams and a brief. Then tonight's question, on the slide: which sizing rule would you trust, and why? Keep an answer in your head, we come back to it at the end. The shape of the night: ten minutes of talk, twenty minutes of demos, twenty minutes of guided mission, fifty minutes of free build with the freeze at 19:35, and ten minutes of show and tell. In the demos I'll ask you to predict before I run anything. Be wrong out loud.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Here is the first idea. A bet is a call you make at a moment, and it stays open for a while, here five minutes. Each bar on this slide is one bet: mint is long, lavender is short. They are made up for the picture, real ones come in a moment. Look at the middle: at one moment, four bars are open at once. If you treat each bet as separate, you count the same price move four times. That is the trap. Open bets overlap in time, so before you size anything you have to ask: how many are open right now?</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[18:12] Same bets, now with the count of how many are open at once, drawn underneath. It rises when signals cluster and falls when bets expire. Now the choice. If you add the bets up, three bets of fifty percent become one hundred and fifty percent, which is over the cap. One idea, counted three times. If you average them, three bets of fifty percent are fifty percent: one shared position that moves when the bets change. We average. The sample code also has the naive sum so you can compare them. Keep that comparison in mind for demo two.</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[18:14] Second idea: how big should a bet be? We want size to grow smoothly with confidence. Take the confidence p, the chance your call is right. At fifty percent you have no edge, so size is zero. Turn it into a z-score, z equals p minus a half, over the square root of p times one minus p, then size is two times the normal curve of z, minus one. In plain words: zero at a coin flip, about sixteen percent of the cap at sixty percent confidence, thirty-four percent at seventy, eighty-two percent at ninety, and it never passes one hundred. Then we round to steps of a tenth of the cap, so a tiny change in confidence does not cause a trade. The confidence in our sample code is a stand-in, a made-up function of the size of a recent move. It is not calibrated. If your model's confidence is not a real probability, this curve will mislead you, so check it.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[18:16] The size is only a proposal. Walk through an example at ninety percent confidence. Smooth size is eighty-two percent of the cap. Rounded to steps, eighty percent. The cap is twenty-five percent of a ten thousand dollar account, so the target position is two thousand dollars. Next the price-impact cap: we ask what Jupiter says the price would move for an order that size. On SOL/USDC that is almost nothing, so no cut. Then the risk hook from build night one: max notional is one thousand dollars, so the order is refused, with the rule and the reason. The sizing proposes, the hook can still say no. Layers, each doing one job.</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[18:18] Third idea: the ledger. Every order and every decision is one row, including the ones the hook refused. A row holds the time, why, the order, the hook's verdict, the fill with fee and slippage, the cash and position after it, and a hash. The hash is a fingerprint of the row and of the previous row's hash, so the rows form a chain. These are the first three rows of tonight's real run. Look at the arrows: each row carries the fingerprint of the one before. And there are only two ways in: append a row, or read them. No update, no delete.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[18:19] Why bother with the chain? Because a reader can replay it. Start from the starting balance, apply every fill, and the cash and position must equal what the last row says. On the left, the real replay of tonight's ledger: it adds up. On the right, someone edits row five, changes one price by a dollar. Replay says: row five, hash does not match the row's contents. Two checks: the chain, and the balance. This is not security against a determined attacker, anyone can recompute all the hashes. It is evidence that tells an honest reader that nothing changed by accident. Later you can post the head hash somewhere public, like a devnet memo, to pin it in time.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[18:19] Real numbers from tonight's run. All simulated, on recorded data, not advice. On the forty-minute window of real prices, a simple momentum rule makes thirty-seven bets, up to seven open at once, four on average. Their average uniqueness is zero point two three, meaning each bet shares most of its move with others. The ledger has thirty-eight rows: thirty-six fills and two refusals, and those two are deliberate test orders we added, an oversized order and a price typed in cents, so you can see the hook say no. Fees were about four dollars twenty. A few dollars either way on a ten thousand dollar account is noise, not a result.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[18:19] This is the Solana part. Inventory comes from real token accounts: we read the Orca SOL/USDC pool's two vault accounts with the RPC. About one hundred seventy-eight thousand SOL and ten point seven million USDC. A thousand dollar order is under one hundredth of a percent of the USDC side. Price impact comes from real Jupiter quotes. For SOL/USDC, a hundred thousand dollar buy moves the price about five thousandths of a basis point. Very deep. For a thinner token we recorded, a hundred thousand dollars moves it about three basis points, and a million moves it twenty-eight. With a five basis point cap, the biggest order is over a million dollars on SOL, about one hundred fifty-nine thousand on the thinner token. The cap only bites on shallow pools. A basis point is one hundredth of a percent.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The sizing really is this short. Two functions. probToSize takes the confidence, makes the z-score, and returns two times the normal curve minus one, with zero for anything at or under a half. discretize rounds a signed size to the nearest step and clamps it to plus or minus one. The normal curve is a short approximation in the same file, no libraries. Everything else tonight is plumbing around these. If you want to change the rule, this is where you start.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Demo one. Predict first: with a ten thousand dollar account, a twenty-five percent cap and a thousand dollar hook limit, at what confidence does the hook start refusing the order? Take a few guesses. Then open the demo, slide confidence up. Answer: the order is accepted up to a size of forty percent of the cap, which is exactly a thousand dollars, and refused from a size of fifty percent, around confidence zero point seven six. Show the six stages on the right, and the sentence naming the limit that bound. Flip to the thinner token and lower the impact cap to show the cut. Then switch Live on: the pool balances are read from the chain right now and the impact comes from a live Jupiter quote. If Jupiter throttles, the page keeps the last quote and says so.</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[18:26] Demo two. Predict: how many bets are open at the busiest moment? Answer from the recorded run: seven. Drag the replay position through the busy stretch. The amber line is the count, the mint line is the averaged size, the amber lower line is the summed size. Toggle Sum and see it hit the cap. Change the bet length to ten minutes and watch the overlap grow and uniqueness fall. In Live mode the same signal runs on the live oracle price, and new bets appear when the price moves enough. That takes a minute or two, so start it and come back.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[18:32] Demo three, the one to take your time on. Predict: edit row five, which check turns red and which row is named? Press Play and watch rows arrive. Point at the refused row, the oversized test order, with the rule and the reason. Then press Edit a row on row five: the hash chain turns red and the message names row five, and the balance check also turns red because the cash no longer matches. Press Delete a row: the chain breaks at the next row. Reset restores it. In Live mode the page appends paper rows from the live oracle and pool price. Nothing is sent anywhere. Every fourth row is an oversized test order so the hook refuses it live.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[18:37] Demo four, and it is the mission in miniature. Predict: what does doubling the fee do to the final equity? Pick the before curve, the no-cost run, then move the fee slider from four to eight. The equity curve drops, the fees paid double, and the table shows the change. Try halving the cap, then summing the bets. The summed run is refused forty-two times by the hook, which is the hook working. Be honest about the scale: this is forty minutes on one night, a few dollars either way. It is a tool for seeing what a change does, not a result about the market. Live mode adds a strip with the live gap between the pool and the oracle next to what a round trip costs.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All four demos are online and also in the repo, so open them on your laptop. Scan the code or type the address. No install. Everything works offline from the recorded data. If someone's laptop is slow, they can share with a neighbour. Live mode is there on every demo, but the room shares one internet address and Jupiter limits calls, so recorded stays the default. I'll keep live mode on the projector.</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Guided mission, twenty minutes, same small thing for everybody. One: run the sample sizing on the sample ledger. npm install, then npm run demo with the recorded flag. Two: add one limit or one cost. A smaller cap, a bigger fee, impact on or off. One change, not five. Three: chart equity before and after, either with the demo or your own plot, keep your first chart so the before is honest. Four: check the ledger still reconciles, the demo prints replay OK. Finish line is one chart with a before and an after. If setup fails, pair up, and use the lab demo four instead.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[19:00] Now fifty minutes of free build. Pick one thing from the menu, or bring your own project. Beginner: give your project an append-only ledger, one row per order; or add fees and impact to the ledger you have. Standard: add daily-loss or drawdown halts, or compare two sizing rules on one ledger. Advanced: post the ledger's head hash to devnet with a Memo transaction, use a throwaway devnet key kept outside the repo. We did not build that part for you, deliberately, because it needs devnet SOL and we have not verified it end to end. Leads are around. Remember the freeze is at 19:35.</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[19:35] Stop building. Fifteen minutes, three things, everybody. Freeze: commit a working main, then run it once from a clean clone so you know it works for someone else. Restart note: a short file with how to run it, what you should see, and your first task for January. Write it for a tired person who has forgotten everything. Devnet check: the leads check that every team has devnet SOL before the break, so nobody is blocked in January. Reading week, exams and vacation come first, nothing is expected over the break, no agents running unattended, no paid services. Workshop 3 is Thursday the twenty-first of January.</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[19:50] Three takeaways. One: open bets overlap, so average them, do not stack them. Two: size grows with confidence, and then the caps and the risk hook have the last word. Three: a ledger is append-only and replays to the balance, refusals included. Now back to the question from the start: which sizing rule would you trust, and why? Take two or three answers. Then: what would a reader of your ledger need to reproduce your run?</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[19:52] Branch out, after tonight, in your own time. Beginner: run the sizing with a cap of ten percent and then forty, and compare the biggest size and the equity curve. Standard: add a daily-loss halt, and write the halt into the ledger as a row so the reason is on record. Advanced: compare two sizing rules on one ledger, or post the head hash to devnet with a memo. Pick the one that fits the time you have.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[19:53] Share back. Tonight: freeze main and push your branch. When we return, Thursday the twenty-first of January for Workshop 3, bring your restart note and your ledger. Any time before then, send your repo link to the leads. Show and tell now: one minute each, one line on what you built and what you will do first in January.</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[19:56] The code is in the public repo, in this session's folder. Scan the code or type the address. In the demo folder, code, run npm install, then npm run demo with the recorded flag. Node twenty-four. No keys, no AI credits, the recorded data is bundled. Reads use public mainnet data, every write is devnet only, no real funds. The README lists the build menu and a path that needs no AI tools: change one number on the command line.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[19:58] If you want to stay in touch: LinkedIn and Telegram, both on the slide. Send your repo link, a question, or a chart. Thank you for coming. Have a good break, rest, and see you on the nineteenth.</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[20:00] Thank you. Slide stays up while people pack up. Leads: collect the restart notes list and send the 48-hour report by Saturday 14 November.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6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70.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74.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Build night 3"/>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Build night 3</a:t>
            </a:r>
          </a:p>
        </p:txBody>
      </p:sp>
      <p:sp>
        <p:nvSpPr>
          <p:cNvPr id="4" name="text:Position Sizing and the Trade Ledger"/>
          <p:cNvSpPr txBox="1"/>
          <p:nvPr/>
        </p:nvSpPr>
        <p:spPr>
          <a:xfrm>
            <a:off x="5257800" y="1417320"/>
            <a:ext cx="3566160" cy="109728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Position Sizing</a:t>
            </a:r>
          </a:p>
          <a:p>
            <a:pPr>
              <a:lnSpc>
                <a:spcPct val="106000"/>
              </a:lnSpc>
              <a:spcAft>
                <a:spcPts val="400"/>
              </a:spcAft>
              <a:defRPr sz="2200" b="0">
                <a:solidFill>
                  <a:srgbClr val="F2F5F8"/>
                </a:solidFill>
                <a:latin typeface="Helvetica Neue"/>
              </a:defRPr>
            </a:pPr>
            <a:r>
              <a:t>and the Trade Ledger</a:t>
            </a:r>
          </a:p>
        </p:txBody>
      </p:sp>
      <p:sp>
        <p:nvSpPr>
          <p:cNvPr id="5" name="text:Turn confidence into a capped size. "/>
          <p:cNvSpPr txBox="1"/>
          <p:nvPr/>
        </p:nvSpPr>
        <p:spPr>
          <a:xfrm>
            <a:off x="5257800" y="2514600"/>
            <a:ext cx="3383280" cy="100584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Turn confidence into a capped size. Count overlapping bets once. Keep a ledger that adds up.</a:t>
            </a:r>
          </a:p>
        </p:txBody>
      </p:sp>
      <p:sp>
        <p:nvSpPr>
          <p:cNvPr id="6" name="text: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12 Nov 2026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12 Nov 2026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nigh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Tonight</a:t>
            </a:r>
          </a:p>
        </p:txBody>
      </p:sp>
      <p:sp>
        <p:nvSpPr>
          <p:cNvPr id="3" name="text:18:00 to 20:00. Tonight's question: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Tonight's question: which sizing rule would you trust, and why?</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00"/>
          <p:cNvSpPr txBox="1"/>
          <p:nvPr/>
        </p:nvSpPr>
        <p:spPr>
          <a:xfrm>
            <a:off x="73152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18:00</a:t>
            </a:r>
          </a:p>
        </p:txBody>
      </p:sp>
      <p:sp>
        <p:nvSpPr>
          <p:cNvPr id="7" name="text:10 min"/>
          <p:cNvSpPr txBox="1"/>
          <p:nvPr/>
        </p:nvSpPr>
        <p:spPr>
          <a:xfrm>
            <a:off x="201168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8" name="text:Progress circle"/>
          <p:cNvSpPr txBox="1"/>
          <p:nvPr/>
        </p:nvSpPr>
        <p:spPr>
          <a:xfrm>
            <a:off x="73152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Progress circle</a:t>
            </a:r>
          </a:p>
        </p:txBody>
      </p:sp>
      <p:sp>
        <p:nvSpPr>
          <p:cNvPr id="9" name="text:last result and tonight's question"/>
          <p:cNvSpPr txBox="1"/>
          <p:nvPr/>
        </p:nvSpPr>
        <p:spPr>
          <a:xfrm>
            <a:off x="73152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last result and tonight's question</a:t>
            </a:r>
          </a:p>
        </p:txBody>
      </p:sp>
      <p:sp>
        <p:nvSpPr>
          <p:cNvPr id="10" name="Rounded Rectangle 9"/>
          <p:cNvSpPr/>
          <p:nvPr/>
        </p:nvSpPr>
        <p:spPr>
          <a:xfrm>
            <a:off x="333756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10"/>
          <p:cNvSpPr txBox="1"/>
          <p:nvPr/>
        </p:nvSpPr>
        <p:spPr>
          <a:xfrm>
            <a:off x="352044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18:10</a:t>
            </a:r>
          </a:p>
        </p:txBody>
      </p:sp>
      <p:sp>
        <p:nvSpPr>
          <p:cNvPr id="12" name="text:10 min"/>
          <p:cNvSpPr txBox="1"/>
          <p:nvPr/>
        </p:nvSpPr>
        <p:spPr>
          <a:xfrm>
            <a:off x="480060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13" name="text:Mini-talk"/>
          <p:cNvSpPr txBox="1"/>
          <p:nvPr/>
        </p:nvSpPr>
        <p:spPr>
          <a:xfrm>
            <a:off x="352044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Mini-talk</a:t>
            </a:r>
          </a:p>
        </p:txBody>
      </p:sp>
      <p:sp>
        <p:nvSpPr>
          <p:cNvPr id="14" name="text:overlapping bets, size from confiden"/>
          <p:cNvSpPr txBox="1"/>
          <p:nvPr/>
        </p:nvSpPr>
        <p:spPr>
          <a:xfrm>
            <a:off x="352044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overlapping bets, size from confidence</a:t>
            </a:r>
          </a:p>
        </p:txBody>
      </p:sp>
      <p:sp>
        <p:nvSpPr>
          <p:cNvPr id="15" name="Rounded Rectangle 14"/>
          <p:cNvSpPr/>
          <p:nvPr/>
        </p:nvSpPr>
        <p:spPr>
          <a:xfrm>
            <a:off x="6126479"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8:20"/>
          <p:cNvSpPr txBox="1"/>
          <p:nvPr/>
        </p:nvSpPr>
        <p:spPr>
          <a:xfrm>
            <a:off x="6309359"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18:20</a:t>
            </a:r>
          </a:p>
        </p:txBody>
      </p:sp>
      <p:sp>
        <p:nvSpPr>
          <p:cNvPr id="17" name="text:20 min"/>
          <p:cNvSpPr txBox="1"/>
          <p:nvPr/>
        </p:nvSpPr>
        <p:spPr>
          <a:xfrm>
            <a:off x="7589519"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18" name="text:Demo tour"/>
          <p:cNvSpPr txBox="1"/>
          <p:nvPr/>
        </p:nvSpPr>
        <p:spPr>
          <a:xfrm>
            <a:off x="6309359"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Demo tour</a:t>
            </a:r>
          </a:p>
        </p:txBody>
      </p:sp>
      <p:sp>
        <p:nvSpPr>
          <p:cNvPr id="19" name="text:a ledger replayed, a refused order"/>
          <p:cNvSpPr txBox="1"/>
          <p:nvPr/>
        </p:nvSpPr>
        <p:spPr>
          <a:xfrm>
            <a:off x="6309359"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a ledger replayed, a refused order</a:t>
            </a:r>
          </a:p>
        </p:txBody>
      </p:sp>
      <p:sp>
        <p:nvSpPr>
          <p:cNvPr id="20" name="Rounded Rectangle 19"/>
          <p:cNvSpPr/>
          <p:nvPr/>
        </p:nvSpPr>
        <p:spPr>
          <a:xfrm>
            <a:off x="54864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8:40"/>
          <p:cNvSpPr txBox="1"/>
          <p:nvPr/>
        </p:nvSpPr>
        <p:spPr>
          <a:xfrm>
            <a:off x="73152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18:40</a:t>
            </a:r>
          </a:p>
        </p:txBody>
      </p:sp>
      <p:sp>
        <p:nvSpPr>
          <p:cNvPr id="22" name="text:20 min"/>
          <p:cNvSpPr txBox="1"/>
          <p:nvPr/>
        </p:nvSpPr>
        <p:spPr>
          <a:xfrm>
            <a:off x="201168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23" name="text:Guided mission"/>
          <p:cNvSpPr txBox="1"/>
          <p:nvPr/>
        </p:nvSpPr>
        <p:spPr>
          <a:xfrm>
            <a:off x="73152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Guided mission</a:t>
            </a:r>
          </a:p>
        </p:txBody>
      </p:sp>
      <p:sp>
        <p:nvSpPr>
          <p:cNvPr id="24" name="text:size it, add one limit or cost, char"/>
          <p:cNvSpPr txBox="1"/>
          <p:nvPr/>
        </p:nvSpPr>
        <p:spPr>
          <a:xfrm>
            <a:off x="73152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size it, add one limit or cost, chart equity</a:t>
            </a:r>
          </a:p>
        </p:txBody>
      </p:sp>
      <p:sp>
        <p:nvSpPr>
          <p:cNvPr id="25" name="Rounded Rectangle 24"/>
          <p:cNvSpPr/>
          <p:nvPr/>
        </p:nvSpPr>
        <p:spPr>
          <a:xfrm>
            <a:off x="3337560" y="3154680"/>
            <a:ext cx="2560320" cy="1371600"/>
          </a:xfrm>
          <a:prstGeom prst="roundRect">
            <a:avLst>
              <a:gd name="adj" fmla="val 9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00"/>
          <p:cNvSpPr txBox="1"/>
          <p:nvPr/>
        </p:nvSpPr>
        <p:spPr>
          <a:xfrm>
            <a:off x="352044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19:00</a:t>
            </a:r>
          </a:p>
        </p:txBody>
      </p:sp>
      <p:sp>
        <p:nvSpPr>
          <p:cNvPr id="27" name="text:50 min"/>
          <p:cNvSpPr txBox="1"/>
          <p:nvPr/>
        </p:nvSpPr>
        <p:spPr>
          <a:xfrm>
            <a:off x="480060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50 min</a:t>
            </a:r>
          </a:p>
        </p:txBody>
      </p:sp>
      <p:sp>
        <p:nvSpPr>
          <p:cNvPr id="28" name="text:Free build"/>
          <p:cNvSpPr txBox="1"/>
          <p:nvPr/>
        </p:nvSpPr>
        <p:spPr>
          <a:xfrm>
            <a:off x="352044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Free build</a:t>
            </a:r>
          </a:p>
        </p:txBody>
      </p:sp>
      <p:sp>
        <p:nvSpPr>
          <p:cNvPr id="29" name="text:your project; freeze main at 19:35"/>
          <p:cNvSpPr txBox="1"/>
          <p:nvPr/>
        </p:nvSpPr>
        <p:spPr>
          <a:xfrm>
            <a:off x="352044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your project; freeze main at 19:35</a:t>
            </a:r>
          </a:p>
        </p:txBody>
      </p:sp>
      <p:sp>
        <p:nvSpPr>
          <p:cNvPr id="30" name="Rounded Rectangle 29"/>
          <p:cNvSpPr/>
          <p:nvPr/>
        </p:nvSpPr>
        <p:spPr>
          <a:xfrm>
            <a:off x="6126479"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19:50"/>
          <p:cNvSpPr txBox="1"/>
          <p:nvPr/>
        </p:nvSpPr>
        <p:spPr>
          <a:xfrm>
            <a:off x="6309359"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19:50</a:t>
            </a:r>
          </a:p>
        </p:txBody>
      </p:sp>
      <p:sp>
        <p:nvSpPr>
          <p:cNvPr id="32" name="text:10 min"/>
          <p:cNvSpPr txBox="1"/>
          <p:nvPr/>
        </p:nvSpPr>
        <p:spPr>
          <a:xfrm>
            <a:off x="7589519"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33" name="text:Show and tell"/>
          <p:cNvSpPr txBox="1"/>
          <p:nvPr/>
        </p:nvSpPr>
        <p:spPr>
          <a:xfrm>
            <a:off x="6309359"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Show and tell</a:t>
            </a:r>
          </a:p>
        </p:txBody>
      </p:sp>
      <p:sp>
        <p:nvSpPr>
          <p:cNvPr id="34" name="text:push, one line on next step"/>
          <p:cNvSpPr txBox="1"/>
          <p:nvPr/>
        </p:nvSpPr>
        <p:spPr>
          <a:xfrm>
            <a:off x="6309359"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push, one line on next 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pen bets overlap"/>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Open bets overlap</a:t>
            </a:r>
          </a:p>
        </p:txBody>
      </p:sp>
      <p:sp>
        <p:nvSpPr>
          <p:cNvPr id="3" name="text:A bet starts at a signal and ends l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bet starts at a signal and ends later. New signals keep arriving.</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text:Each bar is one bet. Mint is long, l"/>
          <p:cNvSpPr txBox="1"/>
          <p:nvPr/>
        </p:nvSpPr>
        <p:spPr>
          <a:xfrm>
            <a:off x="548640" y="1371600"/>
            <a:ext cx="8046720" cy="22860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Each bar is one bet. Mint is long, lavender is short.</a:t>
            </a:r>
          </a:p>
        </p:txBody>
      </p:sp>
      <p:sp>
        <p:nvSpPr>
          <p:cNvPr id="6" name="Rounded Rectangle 5"/>
          <p:cNvSpPr/>
          <p:nvPr/>
        </p:nvSpPr>
        <p:spPr>
          <a:xfrm>
            <a:off x="475488" y="1737360"/>
            <a:ext cx="8238744" cy="1572768"/>
          </a:xfrm>
          <a:prstGeom prst="roundRect">
            <a:avLst>
              <a:gd name="adj" fmla="val 4651"/>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5388" y="1847088"/>
            <a:ext cx="24716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long 60%"/>
          <p:cNvSpPr txBox="1"/>
          <p:nvPr/>
        </p:nvSpPr>
        <p:spPr>
          <a:xfrm>
            <a:off x="790252" y="184708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60%</a:t>
            </a:r>
          </a:p>
        </p:txBody>
      </p:sp>
      <p:sp>
        <p:nvSpPr>
          <p:cNvPr id="9" name="Rounded Rectangle 8"/>
          <p:cNvSpPr/>
          <p:nvPr/>
        </p:nvSpPr>
        <p:spPr>
          <a:xfrm>
            <a:off x="1295634" y="2121408"/>
            <a:ext cx="24716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long 80%"/>
          <p:cNvSpPr txBox="1"/>
          <p:nvPr/>
        </p:nvSpPr>
        <p:spPr>
          <a:xfrm>
            <a:off x="1350498" y="212140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80%</a:t>
            </a:r>
          </a:p>
        </p:txBody>
      </p:sp>
      <p:sp>
        <p:nvSpPr>
          <p:cNvPr id="11" name="Rounded Rectangle 10"/>
          <p:cNvSpPr/>
          <p:nvPr/>
        </p:nvSpPr>
        <p:spPr>
          <a:xfrm>
            <a:off x="1793630" y="2395728"/>
            <a:ext cx="2471693" cy="219456"/>
          </a:xfrm>
          <a:prstGeom prst="roundRect">
            <a:avLst>
              <a:gd name="adj" fmla="val 20833"/>
            </a:avLst>
          </a:prstGeom>
          <a:solidFill>
            <a:srgbClr val="16102E"/>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short 50%"/>
          <p:cNvSpPr txBox="1"/>
          <p:nvPr/>
        </p:nvSpPr>
        <p:spPr>
          <a:xfrm>
            <a:off x="1848494" y="239572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B3A5FF"/>
                </a:solidFill>
                <a:latin typeface="Helvetica Neue"/>
              </a:defRPr>
            </a:pPr>
            <a:r>
              <a:t>short 50%</a:t>
            </a:r>
          </a:p>
        </p:txBody>
      </p:sp>
      <p:sp>
        <p:nvSpPr>
          <p:cNvPr id="13" name="Rounded Rectangle 12"/>
          <p:cNvSpPr/>
          <p:nvPr/>
        </p:nvSpPr>
        <p:spPr>
          <a:xfrm>
            <a:off x="2478375" y="2670048"/>
            <a:ext cx="24716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long 70%"/>
          <p:cNvSpPr txBox="1"/>
          <p:nvPr/>
        </p:nvSpPr>
        <p:spPr>
          <a:xfrm>
            <a:off x="2533239" y="267004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70%</a:t>
            </a:r>
          </a:p>
        </p:txBody>
      </p:sp>
      <p:sp>
        <p:nvSpPr>
          <p:cNvPr id="15" name="Rounded Rectangle 14"/>
          <p:cNvSpPr/>
          <p:nvPr/>
        </p:nvSpPr>
        <p:spPr>
          <a:xfrm>
            <a:off x="2789623" y="2944368"/>
            <a:ext cx="24716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long 90%"/>
          <p:cNvSpPr txBox="1"/>
          <p:nvPr/>
        </p:nvSpPr>
        <p:spPr>
          <a:xfrm>
            <a:off x="2844487" y="294436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90%</a:t>
            </a:r>
          </a:p>
        </p:txBody>
      </p:sp>
      <p:sp>
        <p:nvSpPr>
          <p:cNvPr id="17" name="Rounded Rectangle 16"/>
          <p:cNvSpPr/>
          <p:nvPr/>
        </p:nvSpPr>
        <p:spPr>
          <a:xfrm>
            <a:off x="3536617" y="1847088"/>
            <a:ext cx="2471693" cy="219456"/>
          </a:xfrm>
          <a:prstGeom prst="roundRect">
            <a:avLst>
              <a:gd name="adj" fmla="val 20833"/>
            </a:avLst>
          </a:prstGeom>
          <a:solidFill>
            <a:srgbClr val="16102E"/>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short 60%"/>
          <p:cNvSpPr txBox="1"/>
          <p:nvPr/>
        </p:nvSpPr>
        <p:spPr>
          <a:xfrm>
            <a:off x="3591481" y="184708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B3A5FF"/>
                </a:solidFill>
                <a:latin typeface="Helvetica Neue"/>
              </a:defRPr>
            </a:pPr>
            <a:r>
              <a:t>short 60%</a:t>
            </a:r>
          </a:p>
        </p:txBody>
      </p:sp>
      <p:sp>
        <p:nvSpPr>
          <p:cNvPr id="19" name="Rounded Rectangle 18"/>
          <p:cNvSpPr/>
          <p:nvPr/>
        </p:nvSpPr>
        <p:spPr>
          <a:xfrm>
            <a:off x="4283612" y="2121408"/>
            <a:ext cx="24716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ong 50%"/>
          <p:cNvSpPr txBox="1"/>
          <p:nvPr/>
        </p:nvSpPr>
        <p:spPr>
          <a:xfrm>
            <a:off x="4338476" y="212140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50%</a:t>
            </a:r>
          </a:p>
        </p:txBody>
      </p:sp>
      <p:sp>
        <p:nvSpPr>
          <p:cNvPr id="21" name="Rounded Rectangle 20"/>
          <p:cNvSpPr/>
          <p:nvPr/>
        </p:nvSpPr>
        <p:spPr>
          <a:xfrm>
            <a:off x="4843858" y="2395728"/>
            <a:ext cx="24716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long 70%"/>
          <p:cNvSpPr txBox="1"/>
          <p:nvPr/>
        </p:nvSpPr>
        <p:spPr>
          <a:xfrm>
            <a:off x="4898722" y="239572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70%</a:t>
            </a:r>
          </a:p>
        </p:txBody>
      </p:sp>
      <p:sp>
        <p:nvSpPr>
          <p:cNvPr id="23" name="Rounded Rectangle 22"/>
          <p:cNvSpPr/>
          <p:nvPr/>
        </p:nvSpPr>
        <p:spPr>
          <a:xfrm>
            <a:off x="5590852" y="2670048"/>
            <a:ext cx="2471693" cy="219456"/>
          </a:xfrm>
          <a:prstGeom prst="roundRect">
            <a:avLst>
              <a:gd name="adj" fmla="val 20833"/>
            </a:avLst>
          </a:prstGeom>
          <a:solidFill>
            <a:srgbClr val="16102E"/>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short 80%"/>
          <p:cNvSpPr txBox="1"/>
          <p:nvPr/>
        </p:nvSpPr>
        <p:spPr>
          <a:xfrm>
            <a:off x="5645716" y="267004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B3A5FF"/>
                </a:solidFill>
                <a:latin typeface="Helvetica Neue"/>
              </a:defRPr>
            </a:pPr>
            <a:r>
              <a:t>short 80%</a:t>
            </a:r>
          </a:p>
        </p:txBody>
      </p:sp>
      <p:sp>
        <p:nvSpPr>
          <p:cNvPr id="25" name="Rounded Rectangle 24"/>
          <p:cNvSpPr/>
          <p:nvPr/>
        </p:nvSpPr>
        <p:spPr>
          <a:xfrm>
            <a:off x="6026599" y="1847088"/>
            <a:ext cx="2471693" cy="219456"/>
          </a:xfrm>
          <a:prstGeom prst="roundRect">
            <a:avLst>
              <a:gd name="adj" fmla="val 20833"/>
            </a:avLst>
          </a:prstGeom>
          <a:solidFill>
            <a:srgbClr val="16102E"/>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short 60%"/>
          <p:cNvSpPr txBox="1"/>
          <p:nvPr/>
        </p:nvSpPr>
        <p:spPr>
          <a:xfrm>
            <a:off x="6081463" y="1847088"/>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B3A5FF"/>
                </a:solidFill>
                <a:latin typeface="Helvetica Neue"/>
              </a:defRPr>
            </a:pPr>
            <a:r>
              <a:t>short 60%</a:t>
            </a:r>
          </a:p>
        </p:txBody>
      </p:sp>
      <p:cxnSp>
        <p:nvCxnSpPr>
          <p:cNvPr id="27" name="Connector 26"/>
          <p:cNvCxnSpPr/>
          <p:nvPr/>
        </p:nvCxnSpPr>
        <p:spPr>
          <a:xfrm>
            <a:off x="2914122" y="1737360"/>
            <a:ext cx="0" cy="1572768"/>
          </a:xfrm>
          <a:prstGeom prst="line">
            <a:avLst/>
          </a:prstGeom>
          <a:ln w="15240">
            <a:solidFill>
              <a:srgbClr val="F2F5F8"/>
            </a:solidFill>
            <a:prstDash val="dash"/>
          </a:ln>
        </p:spPr>
        <p:style>
          <a:lnRef idx="2">
            <a:schemeClr val="accent1"/>
          </a:lnRef>
          <a:fillRef idx="0">
            <a:schemeClr val="accent1"/>
          </a:fillRef>
          <a:effectRef idx="1">
            <a:schemeClr val="accent1"/>
          </a:effectRef>
          <a:fontRef idx="minor">
            <a:schemeClr val="tx1"/>
          </a:fontRef>
        </p:style>
      </p:cxnSp>
      <p:sp>
        <p:nvSpPr>
          <p:cNvPr id="28" name="text:5 bets are open at the dashed line."/>
          <p:cNvSpPr txBox="1"/>
          <p:nvPr/>
        </p:nvSpPr>
        <p:spPr>
          <a:xfrm>
            <a:off x="548640" y="3493008"/>
            <a:ext cx="8092440" cy="27432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5 bets are open at the dashed line.</a:t>
            </a:r>
          </a:p>
        </p:txBody>
      </p:sp>
      <p:sp>
        <p:nvSpPr>
          <p:cNvPr id="29" name="text:The same price move sits inside ever"/>
          <p:cNvSpPr txBox="1"/>
          <p:nvPr/>
        </p:nvSpPr>
        <p:spPr>
          <a:xfrm>
            <a:off x="548640" y="3904488"/>
            <a:ext cx="8092440" cy="27432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The same price move sits inside every bar that is open at that moment.</a:t>
            </a:r>
          </a:p>
        </p:txBody>
      </p:sp>
      <p:sp>
        <p:nvSpPr>
          <p:cNvPr id="30" name="text:Illustrative bets, not real data"/>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bets, not real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Count them togeth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Count them together</a:t>
            </a:r>
          </a:p>
        </p:txBody>
      </p:sp>
      <p:sp>
        <p:nvSpPr>
          <p:cNvPr id="3" name="text:Same bets, now with the number open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Same bets, now with the number open at once.</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475488" y="1389888"/>
            <a:ext cx="5266944" cy="1572768"/>
          </a:xfrm>
          <a:prstGeom prst="roundRect">
            <a:avLst>
              <a:gd name="adj" fmla="val 4651"/>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6808" y="1499616"/>
            <a:ext cx="15572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long 60%"/>
          <p:cNvSpPr txBox="1"/>
          <p:nvPr/>
        </p:nvSpPr>
        <p:spPr>
          <a:xfrm>
            <a:off x="721672" y="149961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60%</a:t>
            </a:r>
          </a:p>
        </p:txBody>
      </p:sp>
      <p:sp>
        <p:nvSpPr>
          <p:cNvPr id="8" name="Rounded Rectangle 7"/>
          <p:cNvSpPr/>
          <p:nvPr/>
        </p:nvSpPr>
        <p:spPr>
          <a:xfrm>
            <a:off x="1021314" y="1773936"/>
            <a:ext cx="15572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long 80%"/>
          <p:cNvSpPr txBox="1"/>
          <p:nvPr/>
        </p:nvSpPr>
        <p:spPr>
          <a:xfrm>
            <a:off x="1076178" y="177393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80%</a:t>
            </a:r>
          </a:p>
        </p:txBody>
      </p:sp>
      <p:sp>
        <p:nvSpPr>
          <p:cNvPr id="10" name="Rounded Rectangle 9"/>
          <p:cNvSpPr/>
          <p:nvPr/>
        </p:nvSpPr>
        <p:spPr>
          <a:xfrm>
            <a:off x="1336430" y="2048256"/>
            <a:ext cx="1557293" cy="219456"/>
          </a:xfrm>
          <a:prstGeom prst="roundRect">
            <a:avLst>
              <a:gd name="adj" fmla="val 20833"/>
            </a:avLst>
          </a:prstGeom>
          <a:solidFill>
            <a:srgbClr val="16102E"/>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hort 50%"/>
          <p:cNvSpPr txBox="1"/>
          <p:nvPr/>
        </p:nvSpPr>
        <p:spPr>
          <a:xfrm>
            <a:off x="1391294" y="204825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B3A5FF"/>
                </a:solidFill>
                <a:latin typeface="Helvetica Neue"/>
              </a:defRPr>
            </a:pPr>
            <a:r>
              <a:t>short 50%</a:t>
            </a:r>
          </a:p>
        </p:txBody>
      </p:sp>
      <p:sp>
        <p:nvSpPr>
          <p:cNvPr id="12" name="Rounded Rectangle 11"/>
          <p:cNvSpPr/>
          <p:nvPr/>
        </p:nvSpPr>
        <p:spPr>
          <a:xfrm>
            <a:off x="1769715" y="2322576"/>
            <a:ext cx="15572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long 70%"/>
          <p:cNvSpPr txBox="1"/>
          <p:nvPr/>
        </p:nvSpPr>
        <p:spPr>
          <a:xfrm>
            <a:off x="1824579" y="232257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70%</a:t>
            </a:r>
          </a:p>
        </p:txBody>
      </p:sp>
      <p:sp>
        <p:nvSpPr>
          <p:cNvPr id="14" name="Rounded Rectangle 13"/>
          <p:cNvSpPr/>
          <p:nvPr/>
        </p:nvSpPr>
        <p:spPr>
          <a:xfrm>
            <a:off x="1966663" y="2596896"/>
            <a:ext cx="15572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long 90%"/>
          <p:cNvSpPr txBox="1"/>
          <p:nvPr/>
        </p:nvSpPr>
        <p:spPr>
          <a:xfrm>
            <a:off x="2021527" y="259689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90%</a:t>
            </a:r>
          </a:p>
        </p:txBody>
      </p:sp>
      <p:sp>
        <p:nvSpPr>
          <p:cNvPr id="16" name="Rounded Rectangle 15"/>
          <p:cNvSpPr/>
          <p:nvPr/>
        </p:nvSpPr>
        <p:spPr>
          <a:xfrm>
            <a:off x="2439337" y="1499616"/>
            <a:ext cx="1557293" cy="219456"/>
          </a:xfrm>
          <a:prstGeom prst="roundRect">
            <a:avLst>
              <a:gd name="adj" fmla="val 20833"/>
            </a:avLst>
          </a:prstGeom>
          <a:solidFill>
            <a:srgbClr val="16102E"/>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short 60%"/>
          <p:cNvSpPr txBox="1"/>
          <p:nvPr/>
        </p:nvSpPr>
        <p:spPr>
          <a:xfrm>
            <a:off x="2494201" y="149961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B3A5FF"/>
                </a:solidFill>
                <a:latin typeface="Helvetica Neue"/>
              </a:defRPr>
            </a:pPr>
            <a:r>
              <a:t>short 60%</a:t>
            </a:r>
          </a:p>
        </p:txBody>
      </p:sp>
      <p:sp>
        <p:nvSpPr>
          <p:cNvPr id="18" name="Rounded Rectangle 17"/>
          <p:cNvSpPr/>
          <p:nvPr/>
        </p:nvSpPr>
        <p:spPr>
          <a:xfrm>
            <a:off x="2912012" y="1773936"/>
            <a:ext cx="15572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long 50%"/>
          <p:cNvSpPr txBox="1"/>
          <p:nvPr/>
        </p:nvSpPr>
        <p:spPr>
          <a:xfrm>
            <a:off x="2966876" y="177393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50%</a:t>
            </a:r>
          </a:p>
        </p:txBody>
      </p:sp>
      <p:sp>
        <p:nvSpPr>
          <p:cNvPr id="20" name="Rounded Rectangle 19"/>
          <p:cNvSpPr/>
          <p:nvPr/>
        </p:nvSpPr>
        <p:spPr>
          <a:xfrm>
            <a:off x="3266518" y="2048256"/>
            <a:ext cx="1557293" cy="219456"/>
          </a:xfrm>
          <a:prstGeom prst="roundRect">
            <a:avLst>
              <a:gd name="adj" fmla="val 20833"/>
            </a:avLst>
          </a:prstGeom>
          <a:solidFill>
            <a:srgbClr val="0B1F17"/>
          </a:solid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long 70%"/>
          <p:cNvSpPr txBox="1"/>
          <p:nvPr/>
        </p:nvSpPr>
        <p:spPr>
          <a:xfrm>
            <a:off x="3321382" y="204825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Helvetica Neue"/>
              </a:defRPr>
            </a:pPr>
            <a:r>
              <a:t>long 70%</a:t>
            </a:r>
          </a:p>
        </p:txBody>
      </p:sp>
      <p:sp>
        <p:nvSpPr>
          <p:cNvPr id="22" name="Rounded Rectangle 21"/>
          <p:cNvSpPr/>
          <p:nvPr/>
        </p:nvSpPr>
        <p:spPr>
          <a:xfrm>
            <a:off x="3739192" y="2322576"/>
            <a:ext cx="1557293" cy="219456"/>
          </a:xfrm>
          <a:prstGeom prst="roundRect">
            <a:avLst>
              <a:gd name="adj" fmla="val 20833"/>
            </a:avLst>
          </a:prstGeom>
          <a:solidFill>
            <a:srgbClr val="16102E"/>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short 80%"/>
          <p:cNvSpPr txBox="1"/>
          <p:nvPr/>
        </p:nvSpPr>
        <p:spPr>
          <a:xfrm>
            <a:off x="3794056" y="232257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B3A5FF"/>
                </a:solidFill>
                <a:latin typeface="Helvetica Neue"/>
              </a:defRPr>
            </a:pPr>
            <a:r>
              <a:t>short 80%</a:t>
            </a:r>
          </a:p>
        </p:txBody>
      </p:sp>
      <p:sp>
        <p:nvSpPr>
          <p:cNvPr id="24" name="Rounded Rectangle 23"/>
          <p:cNvSpPr/>
          <p:nvPr/>
        </p:nvSpPr>
        <p:spPr>
          <a:xfrm>
            <a:off x="4014919" y="1499616"/>
            <a:ext cx="1557293" cy="219456"/>
          </a:xfrm>
          <a:prstGeom prst="roundRect">
            <a:avLst>
              <a:gd name="adj" fmla="val 20833"/>
            </a:avLst>
          </a:prstGeom>
          <a:solidFill>
            <a:srgbClr val="16102E"/>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short 60%"/>
          <p:cNvSpPr txBox="1"/>
          <p:nvPr/>
        </p:nvSpPr>
        <p:spPr>
          <a:xfrm>
            <a:off x="4069783" y="1499616"/>
            <a:ext cx="1097280" cy="219456"/>
          </a:xfrm>
          <a:prstGeom prst="rect">
            <a:avLst/>
          </a:prstGeom>
          <a:noFill/>
        </p:spPr>
        <p:txBody>
          <a:bodyPr wrap="square" lIns="9144" rIns="9144" tIns="0" bIns="0" anchor="ctr">
            <a:spAutoFit/>
          </a:bodyPr>
          <a:lstStyle/>
          <a:p>
            <a:pPr>
              <a:lnSpc>
                <a:spcPct val="106000"/>
              </a:lnSpc>
              <a:spcAft>
                <a:spcPts val="400"/>
              </a:spcAft>
              <a:defRPr sz="800" b="0">
                <a:solidFill>
                  <a:srgbClr val="B3A5FF"/>
                </a:solidFill>
                <a:latin typeface="Helvetica Neue"/>
              </a:defRPr>
            </a:pPr>
            <a:r>
              <a:t>short 60%</a:t>
            </a:r>
          </a:p>
        </p:txBody>
      </p:sp>
      <p:cxnSp>
        <p:nvCxnSpPr>
          <p:cNvPr id="26" name="Connector 25"/>
          <p:cNvCxnSpPr/>
          <p:nvPr/>
        </p:nvCxnSpPr>
        <p:spPr>
          <a:xfrm>
            <a:off x="2045442" y="1389888"/>
            <a:ext cx="0" cy="2624328"/>
          </a:xfrm>
          <a:prstGeom prst="line">
            <a:avLst/>
          </a:prstGeom>
          <a:ln w="15240">
            <a:solidFill>
              <a:srgbClr val="F2F5F8"/>
            </a:solidFill>
            <a:prstDash val="dash"/>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75488" y="3054096"/>
            <a:ext cx="5266944" cy="960120"/>
          </a:xfrm>
          <a:prstGeom prst="roundRect">
            <a:avLst>
              <a:gd name="adj" fmla="val 7619"/>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ETS OPEN AT ONCE"/>
          <p:cNvSpPr txBox="1"/>
          <p:nvPr/>
        </p:nvSpPr>
        <p:spPr>
          <a:xfrm>
            <a:off x="548640" y="3099816"/>
            <a:ext cx="18288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BETS OPEN AT ONCE</a:t>
            </a:r>
          </a:p>
        </p:txBody>
      </p:sp>
      <p:sp>
        <p:nvSpPr>
          <p:cNvPr id="29" name="Rounded Rectangle 28"/>
          <p:cNvSpPr/>
          <p:nvPr/>
        </p:nvSpPr>
        <p:spPr>
          <a:xfrm>
            <a:off x="754731" y="3831335"/>
            <a:ext cx="80185" cy="13716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3205" y="3831335"/>
            <a:ext cx="80185" cy="13716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1679" y="3831335"/>
            <a:ext cx="80185" cy="13716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50153" y="3694176"/>
            <a:ext cx="80185" cy="27432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148627" y="3694176"/>
            <a:ext cx="80185" cy="27432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247100" y="3694176"/>
            <a:ext cx="80185" cy="27432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345574"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444048"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542522"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640996"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739470"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837943"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936417"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034891" y="3282696"/>
            <a:ext cx="80185" cy="68580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133365" y="3282696"/>
            <a:ext cx="80185" cy="68580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2231839" y="3282696"/>
            <a:ext cx="80185" cy="68580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330313"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428787"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2527260" y="3282696"/>
            <a:ext cx="80185" cy="68580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2625734"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724208"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822682"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2921156"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3019630"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3118103"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216577"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315051" y="3282696"/>
            <a:ext cx="80185" cy="68580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413525"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511999"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610473"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3708947"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807420"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3905894"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4004368"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102842"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201316"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299790"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4398263" y="3419856"/>
            <a:ext cx="80185" cy="54864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4496737"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4595211"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4693685"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4792159" y="3557015"/>
            <a:ext cx="80185" cy="411479"/>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4890633" y="3694176"/>
            <a:ext cx="80185" cy="27432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4989107" y="3694176"/>
            <a:ext cx="80185" cy="27432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5087580" y="3694176"/>
            <a:ext cx="80185" cy="27432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186054" y="3694176"/>
            <a:ext cx="80185" cy="27432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5284528" y="3694176"/>
            <a:ext cx="80185" cy="27432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5383002" y="3831335"/>
            <a:ext cx="80185" cy="13716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481476" y="3831335"/>
            <a:ext cx="80185" cy="13716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5579950" y="3831335"/>
            <a:ext cx="80185" cy="137160"/>
          </a:xfrm>
          <a:prstGeom prst="roundRect">
            <a:avLst>
              <a:gd name="adj" fmla="val 22807"/>
            </a:avLst>
          </a:prstGeom>
          <a:noFill/>
          <a:ln w="7620">
            <a:solidFill>
              <a:srgbClr val="3D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5 open here"/>
          <p:cNvSpPr txBox="1"/>
          <p:nvPr/>
        </p:nvSpPr>
        <p:spPr>
          <a:xfrm>
            <a:off x="2118594" y="3099816"/>
            <a:ext cx="1280160" cy="18288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5 open here</a:t>
            </a:r>
          </a:p>
        </p:txBody>
      </p:sp>
      <p:sp>
        <p:nvSpPr>
          <p:cNvPr id="80" name="Rounded Rectangle 79"/>
          <p:cNvSpPr/>
          <p:nvPr/>
        </p:nvSpPr>
        <p:spPr>
          <a:xfrm>
            <a:off x="5989320" y="1417320"/>
            <a:ext cx="2651760" cy="1508760"/>
          </a:xfrm>
          <a:prstGeom prst="roundRect">
            <a:avLst>
              <a:gd name="adj" fmla="val 848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ADD THEM UP"/>
          <p:cNvSpPr txBox="1"/>
          <p:nvPr/>
        </p:nvSpPr>
        <p:spPr>
          <a:xfrm>
            <a:off x="6172200" y="1536192"/>
            <a:ext cx="2286000" cy="182880"/>
          </a:xfrm>
          <a:prstGeom prst="rect">
            <a:avLst/>
          </a:prstGeom>
          <a:noFill/>
        </p:spPr>
        <p:txBody>
          <a:bodyPr wrap="square" lIns="9144" rIns="9144" tIns="0" bIns="0">
            <a:spAutoFit/>
          </a:bodyPr>
          <a:lstStyle/>
          <a:p>
            <a:pPr>
              <a:lnSpc>
                <a:spcPct val="106000"/>
              </a:lnSpc>
              <a:spcAft>
                <a:spcPts val="400"/>
              </a:spcAft>
              <a:defRPr sz="950" b="0">
                <a:solidFill>
                  <a:srgbClr val="FD51FC"/>
                </a:solidFill>
                <a:latin typeface="Helvetica Neue"/>
              </a:defRPr>
            </a:pPr>
            <a:r>
              <a:t>ADD THEM UP</a:t>
            </a:r>
          </a:p>
        </p:txBody>
      </p:sp>
      <p:sp>
        <p:nvSpPr>
          <p:cNvPr id="82" name="text:3 bets of 50% = 150%"/>
          <p:cNvSpPr txBox="1"/>
          <p:nvPr/>
        </p:nvSpPr>
        <p:spPr>
          <a:xfrm>
            <a:off x="6172200" y="1801368"/>
            <a:ext cx="2331720" cy="5029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3 bets of 50% = 150%</a:t>
            </a:r>
          </a:p>
        </p:txBody>
      </p:sp>
      <p:sp>
        <p:nvSpPr>
          <p:cNvPr id="83" name="text:Over the cap. One idea, counted thre"/>
          <p:cNvSpPr txBox="1"/>
          <p:nvPr/>
        </p:nvSpPr>
        <p:spPr>
          <a:xfrm>
            <a:off x="6172200" y="2331720"/>
            <a:ext cx="2331720" cy="54864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Over the cap. One idea, counted three times.</a:t>
            </a:r>
          </a:p>
        </p:txBody>
      </p:sp>
      <p:sp>
        <p:nvSpPr>
          <p:cNvPr id="84" name="Rounded Rectangle 83"/>
          <p:cNvSpPr/>
          <p:nvPr/>
        </p:nvSpPr>
        <p:spPr>
          <a:xfrm>
            <a:off x="5989320" y="3063240"/>
            <a:ext cx="2651760" cy="1508760"/>
          </a:xfrm>
          <a:prstGeom prst="roundRect">
            <a:avLst>
              <a:gd name="adj" fmla="val 8484"/>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AVERAGE THEM"/>
          <p:cNvSpPr txBox="1"/>
          <p:nvPr/>
        </p:nvSpPr>
        <p:spPr>
          <a:xfrm>
            <a:off x="6172200" y="3182112"/>
            <a:ext cx="228600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AVERAGE THEM</a:t>
            </a:r>
          </a:p>
        </p:txBody>
      </p:sp>
      <p:sp>
        <p:nvSpPr>
          <p:cNvPr id="86" name="text:3 bets of 50% = 50%"/>
          <p:cNvSpPr txBox="1"/>
          <p:nvPr/>
        </p:nvSpPr>
        <p:spPr>
          <a:xfrm>
            <a:off x="6172200" y="3447288"/>
            <a:ext cx="2331720" cy="5029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3 bets of 50% = 50%</a:t>
            </a:r>
          </a:p>
        </p:txBody>
      </p:sp>
      <p:sp>
        <p:nvSpPr>
          <p:cNvPr id="87" name="text:One shared position. It moves when t"/>
          <p:cNvSpPr txBox="1"/>
          <p:nvPr/>
        </p:nvSpPr>
        <p:spPr>
          <a:xfrm>
            <a:off x="6172200" y="3977639"/>
            <a:ext cx="2331720" cy="54864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One shared position. It moves when the bets change.</a:t>
            </a:r>
          </a:p>
        </p:txBody>
      </p:sp>
      <p:sp>
        <p:nvSpPr>
          <p:cNvPr id="88" name="text:Illustrative bets, not real data"/>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bets, not real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ize from confidenc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Size from confidence</a:t>
            </a:r>
          </a:p>
        </p:txBody>
      </p:sp>
      <p:sp>
        <p:nvSpPr>
          <p:cNvPr id="3" name="text:A smooth curve. More confident, bigg"/>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smooth curve. More confident, bigger. Never past 100%.</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Rounded Rectangle 4"/>
          <p:cNvSpPr/>
          <p:nvPr/>
        </p:nvSpPr>
        <p:spPr>
          <a:xfrm>
            <a:off x="548640" y="1417320"/>
            <a:ext cx="4983480" cy="3108960"/>
          </a:xfrm>
          <a:prstGeom prst="roundRect">
            <a:avLst>
              <a:gd name="adj" fmla="val 41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914400" y="4069080"/>
            <a:ext cx="4297679" cy="0"/>
          </a:xfrm>
          <a:prstGeom prst="line">
            <a:avLst/>
          </a:prstGeom>
          <a:ln w="7620">
            <a:solidFill>
              <a:srgbClr val="2A2A30"/>
            </a:solidFill>
          </a:ln>
        </p:spPr>
        <p:style>
          <a:lnRef idx="2">
            <a:schemeClr val="accent1"/>
          </a:lnRef>
          <a:fillRef idx="0">
            <a:schemeClr val="accent1"/>
          </a:fillRef>
          <a:effectRef idx="1">
            <a:schemeClr val="accent1"/>
          </a:effectRef>
          <a:fontRef idx="minor">
            <a:schemeClr val="tx1"/>
          </a:fontRef>
        </p:style>
      </p:cxnSp>
      <p:sp>
        <p:nvSpPr>
          <p:cNvPr id="7" name="text:0%"/>
          <p:cNvSpPr txBox="1"/>
          <p:nvPr/>
        </p:nvSpPr>
        <p:spPr>
          <a:xfrm>
            <a:off x="594360" y="3995928"/>
            <a:ext cx="320040"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0%</a:t>
            </a:r>
          </a:p>
        </p:txBody>
      </p:sp>
      <p:cxnSp>
        <p:nvCxnSpPr>
          <p:cNvPr id="8" name="Connector 7"/>
          <p:cNvCxnSpPr/>
          <p:nvPr/>
        </p:nvCxnSpPr>
        <p:spPr>
          <a:xfrm>
            <a:off x="914400" y="3440430"/>
            <a:ext cx="4297679" cy="0"/>
          </a:xfrm>
          <a:prstGeom prst="line">
            <a:avLst/>
          </a:prstGeom>
          <a:ln w="7620">
            <a:solidFill>
              <a:srgbClr val="2A2A30"/>
            </a:solidFill>
          </a:ln>
        </p:spPr>
        <p:style>
          <a:lnRef idx="2">
            <a:schemeClr val="accent1"/>
          </a:lnRef>
          <a:fillRef idx="0">
            <a:schemeClr val="accent1"/>
          </a:fillRef>
          <a:effectRef idx="1">
            <a:schemeClr val="accent1"/>
          </a:effectRef>
          <a:fontRef idx="minor">
            <a:schemeClr val="tx1"/>
          </a:fontRef>
        </p:style>
      </p:cxnSp>
      <p:sp>
        <p:nvSpPr>
          <p:cNvPr id="9" name="text:25%"/>
          <p:cNvSpPr txBox="1"/>
          <p:nvPr/>
        </p:nvSpPr>
        <p:spPr>
          <a:xfrm>
            <a:off x="594360" y="3367278"/>
            <a:ext cx="320040"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25%</a:t>
            </a:r>
          </a:p>
        </p:txBody>
      </p:sp>
      <p:cxnSp>
        <p:nvCxnSpPr>
          <p:cNvPr id="10" name="Connector 9"/>
          <p:cNvCxnSpPr/>
          <p:nvPr/>
        </p:nvCxnSpPr>
        <p:spPr>
          <a:xfrm>
            <a:off x="914400" y="2811780"/>
            <a:ext cx="4297679" cy="0"/>
          </a:xfrm>
          <a:prstGeom prst="line">
            <a:avLst/>
          </a:prstGeom>
          <a:ln w="7620">
            <a:solidFill>
              <a:srgbClr val="2A2A30"/>
            </a:solidFill>
          </a:ln>
        </p:spPr>
        <p:style>
          <a:lnRef idx="2">
            <a:schemeClr val="accent1"/>
          </a:lnRef>
          <a:fillRef idx="0">
            <a:schemeClr val="accent1"/>
          </a:fillRef>
          <a:effectRef idx="1">
            <a:schemeClr val="accent1"/>
          </a:effectRef>
          <a:fontRef idx="minor">
            <a:schemeClr val="tx1"/>
          </a:fontRef>
        </p:style>
      </p:cxnSp>
      <p:sp>
        <p:nvSpPr>
          <p:cNvPr id="11" name="text:50%"/>
          <p:cNvSpPr txBox="1"/>
          <p:nvPr/>
        </p:nvSpPr>
        <p:spPr>
          <a:xfrm>
            <a:off x="594360" y="2738628"/>
            <a:ext cx="320040"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50%</a:t>
            </a:r>
          </a:p>
        </p:txBody>
      </p:sp>
      <p:cxnSp>
        <p:nvCxnSpPr>
          <p:cNvPr id="12" name="Connector 11"/>
          <p:cNvCxnSpPr/>
          <p:nvPr/>
        </p:nvCxnSpPr>
        <p:spPr>
          <a:xfrm>
            <a:off x="914400" y="2183130"/>
            <a:ext cx="4297679" cy="0"/>
          </a:xfrm>
          <a:prstGeom prst="line">
            <a:avLst/>
          </a:prstGeom>
          <a:ln w="7620">
            <a:solidFill>
              <a:srgbClr val="2A2A30"/>
            </a:solidFill>
          </a:ln>
        </p:spPr>
        <p:style>
          <a:lnRef idx="2">
            <a:schemeClr val="accent1"/>
          </a:lnRef>
          <a:fillRef idx="0">
            <a:schemeClr val="accent1"/>
          </a:fillRef>
          <a:effectRef idx="1">
            <a:schemeClr val="accent1"/>
          </a:effectRef>
          <a:fontRef idx="minor">
            <a:schemeClr val="tx1"/>
          </a:fontRef>
        </p:style>
      </p:cxnSp>
      <p:sp>
        <p:nvSpPr>
          <p:cNvPr id="13" name="text:75%"/>
          <p:cNvSpPr txBox="1"/>
          <p:nvPr/>
        </p:nvSpPr>
        <p:spPr>
          <a:xfrm>
            <a:off x="594360" y="2109978"/>
            <a:ext cx="320040"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75%</a:t>
            </a:r>
          </a:p>
        </p:txBody>
      </p:sp>
      <p:cxnSp>
        <p:nvCxnSpPr>
          <p:cNvPr id="14" name="Connector 13"/>
          <p:cNvCxnSpPr/>
          <p:nvPr/>
        </p:nvCxnSpPr>
        <p:spPr>
          <a:xfrm>
            <a:off x="914400" y="1554480"/>
            <a:ext cx="4297679" cy="0"/>
          </a:xfrm>
          <a:prstGeom prst="line">
            <a:avLst/>
          </a:prstGeom>
          <a:ln w="7620">
            <a:solidFill>
              <a:srgbClr val="2A2A30"/>
            </a:solidFill>
          </a:ln>
        </p:spPr>
        <p:style>
          <a:lnRef idx="2">
            <a:schemeClr val="accent1"/>
          </a:lnRef>
          <a:fillRef idx="0">
            <a:schemeClr val="accent1"/>
          </a:fillRef>
          <a:effectRef idx="1">
            <a:schemeClr val="accent1"/>
          </a:effectRef>
          <a:fontRef idx="minor">
            <a:schemeClr val="tx1"/>
          </a:fontRef>
        </p:style>
      </p:cxnSp>
      <p:sp>
        <p:nvSpPr>
          <p:cNvPr id="15" name="text:100%"/>
          <p:cNvSpPr txBox="1"/>
          <p:nvPr/>
        </p:nvSpPr>
        <p:spPr>
          <a:xfrm>
            <a:off x="594360" y="1481328"/>
            <a:ext cx="320040"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100%</a:t>
            </a:r>
          </a:p>
        </p:txBody>
      </p:sp>
      <p:sp>
        <p:nvSpPr>
          <p:cNvPr id="16" name="text:0.5"/>
          <p:cNvSpPr txBox="1"/>
          <p:nvPr/>
        </p:nvSpPr>
        <p:spPr>
          <a:xfrm>
            <a:off x="731520" y="41239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0.5</a:t>
            </a:r>
          </a:p>
        </p:txBody>
      </p:sp>
      <p:sp>
        <p:nvSpPr>
          <p:cNvPr id="17" name="text:0.6"/>
          <p:cNvSpPr txBox="1"/>
          <p:nvPr/>
        </p:nvSpPr>
        <p:spPr>
          <a:xfrm>
            <a:off x="1591055" y="41239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0.6</a:t>
            </a:r>
          </a:p>
        </p:txBody>
      </p:sp>
      <p:sp>
        <p:nvSpPr>
          <p:cNvPr id="18" name="text:0.7"/>
          <p:cNvSpPr txBox="1"/>
          <p:nvPr/>
        </p:nvSpPr>
        <p:spPr>
          <a:xfrm>
            <a:off x="2450591" y="41239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0.7</a:t>
            </a:r>
          </a:p>
        </p:txBody>
      </p:sp>
      <p:sp>
        <p:nvSpPr>
          <p:cNvPr id="19" name="text:0.8"/>
          <p:cNvSpPr txBox="1"/>
          <p:nvPr/>
        </p:nvSpPr>
        <p:spPr>
          <a:xfrm>
            <a:off x="3310127" y="41239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0.8</a:t>
            </a:r>
          </a:p>
        </p:txBody>
      </p:sp>
      <p:sp>
        <p:nvSpPr>
          <p:cNvPr id="20" name="text:0.9"/>
          <p:cNvSpPr txBox="1"/>
          <p:nvPr/>
        </p:nvSpPr>
        <p:spPr>
          <a:xfrm>
            <a:off x="4169663" y="41239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0.9</a:t>
            </a:r>
          </a:p>
        </p:txBody>
      </p:sp>
      <p:sp>
        <p:nvSpPr>
          <p:cNvPr id="21" name="text:1.0"/>
          <p:cNvSpPr txBox="1"/>
          <p:nvPr/>
        </p:nvSpPr>
        <p:spPr>
          <a:xfrm>
            <a:off x="5029199" y="41239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1.0</a:t>
            </a:r>
          </a:p>
        </p:txBody>
      </p:sp>
      <p:sp>
        <p:nvSpPr>
          <p:cNvPr id="22" name="text:confidence that the call is right"/>
          <p:cNvSpPr txBox="1"/>
          <p:nvPr/>
        </p:nvSpPr>
        <p:spPr>
          <a:xfrm>
            <a:off x="1234440" y="4315968"/>
            <a:ext cx="3291840" cy="164592"/>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confidence that the call is right</a:t>
            </a:r>
          </a:p>
        </p:txBody>
      </p:sp>
      <p:sp>
        <p:nvSpPr>
          <p:cNvPr id="23" name="text:size, share of the cap"/>
          <p:cNvSpPr txBox="1"/>
          <p:nvPr/>
        </p:nvSpPr>
        <p:spPr>
          <a:xfrm>
            <a:off x="960120" y="1463040"/>
            <a:ext cx="2011680" cy="146304"/>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size, share of the cap</a:t>
            </a:r>
          </a:p>
        </p:txBody>
      </p:sp>
      <p:cxnSp>
        <p:nvCxnSpPr>
          <p:cNvPr id="24" name="Connector 23"/>
          <p:cNvCxnSpPr/>
          <p:nvPr/>
        </p:nvCxnSpPr>
        <p:spPr>
          <a:xfrm>
            <a:off x="914400" y="406908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00353" y="406908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86307" y="406908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72260" y="406908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258214" y="381762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58214" y="381762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44168" y="381762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30121" y="381762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516075" y="381762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02028" y="381762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687982" y="381762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773935" y="356616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773935" y="356616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859889" y="356616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945843" y="356616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031796" y="356616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117750" y="356616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203704" y="356616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2289657" y="331470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289657" y="331470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375611" y="331470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461564" y="331470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547518" y="331470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633471" y="331470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719425" y="306324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719425" y="306324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805379" y="306324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891332" y="306324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977286" y="306324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063239" y="306324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149193" y="281178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149193" y="281178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235147" y="281178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321100" y="281178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407054" y="281178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493008" y="281178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578961" y="256032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578961" y="256032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664915" y="256032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750868" y="256032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836822" y="256032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3922775" y="230886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922775" y="230886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008729" y="230886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094683" y="230886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180636" y="205740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180636" y="205740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266590" y="205740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352544" y="205740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438497" y="205740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524451" y="180594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524451" y="180594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610404" y="180594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696358" y="180594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782311" y="1554480"/>
            <a:ext cx="0" cy="25146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782311" y="155448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868265" y="155448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954219" y="1554480"/>
            <a:ext cx="85953"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5040172" y="1554480"/>
            <a:ext cx="85954" cy="0"/>
          </a:xfrm>
          <a:prstGeom prst="line">
            <a:avLst/>
          </a:prstGeom>
          <a:ln w="1397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914400" y="4028846"/>
            <a:ext cx="85953" cy="4023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00353" y="3988864"/>
            <a:ext cx="85954" cy="3998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86307" y="3948630"/>
            <a:ext cx="85953" cy="4023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172260" y="3908145"/>
            <a:ext cx="85954" cy="40485"/>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258214" y="3867660"/>
            <a:ext cx="85954" cy="40485"/>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344168" y="3827175"/>
            <a:ext cx="85953" cy="40485"/>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430121" y="3786438"/>
            <a:ext cx="85954" cy="40737"/>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516075" y="3745199"/>
            <a:ext cx="85953" cy="4123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602028" y="3703960"/>
            <a:ext cx="85954" cy="4123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687982" y="3662469"/>
            <a:ext cx="85953" cy="41491"/>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773935" y="3620475"/>
            <a:ext cx="85954" cy="4199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859889" y="3577978"/>
            <a:ext cx="85954" cy="42497"/>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945843" y="3535230"/>
            <a:ext cx="85953" cy="4274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031796" y="3491979"/>
            <a:ext cx="85954" cy="43251"/>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117750" y="3448476"/>
            <a:ext cx="85954" cy="43503"/>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203704" y="3403968"/>
            <a:ext cx="85953" cy="4450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289657" y="3359208"/>
            <a:ext cx="85954" cy="4476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375611" y="3313694"/>
            <a:ext cx="85953" cy="4551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461564" y="3267425"/>
            <a:ext cx="85954" cy="4626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547518" y="3220402"/>
            <a:ext cx="85953" cy="47023"/>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633471" y="3172625"/>
            <a:ext cx="85954" cy="47777"/>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719425" y="3123841"/>
            <a:ext cx="85954" cy="4878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805379" y="3074304"/>
            <a:ext cx="85953" cy="49537"/>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891332" y="3023760"/>
            <a:ext cx="85954" cy="505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2977286" y="2971960"/>
            <a:ext cx="85953" cy="5180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063239" y="2919153"/>
            <a:ext cx="85954" cy="52807"/>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149193" y="2864838"/>
            <a:ext cx="85954" cy="54315"/>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235147" y="2809516"/>
            <a:ext cx="85953" cy="5532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321100" y="2752686"/>
            <a:ext cx="85954" cy="5683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407054" y="2694348"/>
            <a:ext cx="85954" cy="5833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493008" y="2634249"/>
            <a:ext cx="85953" cy="6009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578961" y="2572641"/>
            <a:ext cx="85954" cy="6160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664915" y="2509273"/>
            <a:ext cx="85953" cy="6336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50868" y="2443894"/>
            <a:ext cx="85954" cy="6537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836822" y="2376754"/>
            <a:ext cx="85953" cy="6714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922775" y="2307602"/>
            <a:ext cx="85954" cy="6915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4008729" y="2236439"/>
            <a:ext cx="85954" cy="71163"/>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4094683" y="2163767"/>
            <a:ext cx="85953" cy="7267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4180636" y="2089083"/>
            <a:ext cx="85954" cy="7468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4266590" y="2013143"/>
            <a:ext cx="85954" cy="75940"/>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4352544" y="1936699"/>
            <a:ext cx="85953" cy="764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4438497" y="1860255"/>
            <a:ext cx="85954" cy="7644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4524451" y="1785571"/>
            <a:ext cx="85953" cy="74684"/>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4610404" y="1715162"/>
            <a:ext cx="85954" cy="7040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696358" y="1652297"/>
            <a:ext cx="85953" cy="62865"/>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82311" y="1602005"/>
            <a:ext cx="85954" cy="50292"/>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868265" y="1569316"/>
            <a:ext cx="85954" cy="32689"/>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954219" y="1555988"/>
            <a:ext cx="85953" cy="1332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5040172" y="1554480"/>
            <a:ext cx="85954" cy="1508"/>
          </a:xfrm>
          <a:prstGeom prst="line">
            <a:avLst/>
          </a:prstGeom>
          <a:ln w="25400">
            <a:solidFill>
              <a:srgbClr val="3DDC97"/>
            </a:solidFill>
          </a:ln>
        </p:spPr>
        <p:style>
          <a:lnRef idx="2">
            <a:schemeClr val="accent1"/>
          </a:lnRef>
          <a:fillRef idx="0">
            <a:schemeClr val="accent1"/>
          </a:fillRef>
          <a:effectRef idx="1">
            <a:schemeClr val="accent1"/>
          </a:effectRef>
          <a:fontRef idx="minor">
            <a:schemeClr val="tx1"/>
          </a:fontRef>
        </p:style>
      </p:cxnSp>
      <p:sp>
        <p:nvSpPr>
          <p:cNvPr id="132" name="Oval 131"/>
          <p:cNvSpPr/>
          <p:nvPr/>
        </p:nvSpPr>
        <p:spPr>
          <a:xfrm>
            <a:off x="1728215" y="3616749"/>
            <a:ext cx="91440" cy="91440"/>
          </a:xfrm>
          <a:prstGeom prst="ellipse">
            <a:avLst/>
          </a:prstGeom>
          <a:solidFill>
            <a:srgbClr val="F2F5F8"/>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16%"/>
          <p:cNvSpPr txBox="1"/>
          <p:nvPr/>
        </p:nvSpPr>
        <p:spPr>
          <a:xfrm>
            <a:off x="1298447" y="3415581"/>
            <a:ext cx="457200" cy="182880"/>
          </a:xfrm>
          <a:prstGeom prst="rect">
            <a:avLst/>
          </a:prstGeom>
          <a:noFill/>
        </p:spPr>
        <p:txBody>
          <a:bodyPr wrap="square" lIns="9144" rIns="9144" tIns="0" bIns="0">
            <a:spAutoFit/>
          </a:bodyPr>
          <a:lstStyle/>
          <a:p>
            <a:pPr algn="r">
              <a:lnSpc>
                <a:spcPct val="106000"/>
              </a:lnSpc>
              <a:spcAft>
                <a:spcPts val="400"/>
              </a:spcAft>
              <a:defRPr sz="1050" b="0">
                <a:solidFill>
                  <a:srgbClr val="F2F5F8"/>
                </a:solidFill>
                <a:latin typeface="Helvetica Neue"/>
              </a:defRPr>
            </a:pPr>
            <a:r>
              <a:t>16%</a:t>
            </a:r>
          </a:p>
        </p:txBody>
      </p:sp>
      <p:sp>
        <p:nvSpPr>
          <p:cNvPr id="134" name="Oval 133"/>
          <p:cNvSpPr/>
          <p:nvPr/>
        </p:nvSpPr>
        <p:spPr>
          <a:xfrm>
            <a:off x="2587751" y="3174682"/>
            <a:ext cx="91440" cy="91440"/>
          </a:xfrm>
          <a:prstGeom prst="ellipse">
            <a:avLst/>
          </a:prstGeom>
          <a:solidFill>
            <a:srgbClr val="F2F5F8"/>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34%"/>
          <p:cNvSpPr txBox="1"/>
          <p:nvPr/>
        </p:nvSpPr>
        <p:spPr>
          <a:xfrm>
            <a:off x="2157983" y="2973514"/>
            <a:ext cx="457200" cy="182880"/>
          </a:xfrm>
          <a:prstGeom prst="rect">
            <a:avLst/>
          </a:prstGeom>
          <a:noFill/>
        </p:spPr>
        <p:txBody>
          <a:bodyPr wrap="square" lIns="9144" rIns="9144" tIns="0" bIns="0">
            <a:spAutoFit/>
          </a:bodyPr>
          <a:lstStyle/>
          <a:p>
            <a:pPr algn="r">
              <a:lnSpc>
                <a:spcPct val="106000"/>
              </a:lnSpc>
              <a:spcAft>
                <a:spcPts val="400"/>
              </a:spcAft>
              <a:defRPr sz="1050" b="0">
                <a:solidFill>
                  <a:srgbClr val="F2F5F8"/>
                </a:solidFill>
                <a:latin typeface="Helvetica Neue"/>
              </a:defRPr>
            </a:pPr>
            <a:r>
              <a:t>34%</a:t>
            </a:r>
          </a:p>
        </p:txBody>
      </p:sp>
      <p:sp>
        <p:nvSpPr>
          <p:cNvPr id="136" name="Oval 135"/>
          <p:cNvSpPr/>
          <p:nvPr/>
        </p:nvSpPr>
        <p:spPr>
          <a:xfrm>
            <a:off x="4306824" y="1967423"/>
            <a:ext cx="91440" cy="91440"/>
          </a:xfrm>
          <a:prstGeom prst="ellipse">
            <a:avLst/>
          </a:prstGeom>
          <a:solidFill>
            <a:srgbClr val="F2F5F8"/>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82%"/>
          <p:cNvSpPr txBox="1"/>
          <p:nvPr/>
        </p:nvSpPr>
        <p:spPr>
          <a:xfrm>
            <a:off x="3877056" y="1766255"/>
            <a:ext cx="457200" cy="182880"/>
          </a:xfrm>
          <a:prstGeom prst="rect">
            <a:avLst/>
          </a:prstGeom>
          <a:noFill/>
        </p:spPr>
        <p:txBody>
          <a:bodyPr wrap="square" lIns="9144" rIns="9144" tIns="0" bIns="0">
            <a:spAutoFit/>
          </a:bodyPr>
          <a:lstStyle/>
          <a:p>
            <a:pPr algn="r">
              <a:lnSpc>
                <a:spcPct val="106000"/>
              </a:lnSpc>
              <a:spcAft>
                <a:spcPts val="400"/>
              </a:spcAft>
              <a:defRPr sz="1050" b="0">
                <a:solidFill>
                  <a:srgbClr val="F2F5F8"/>
                </a:solidFill>
                <a:latin typeface="Helvetica Neue"/>
              </a:defRPr>
            </a:pPr>
            <a:r>
              <a:t>82%</a:t>
            </a:r>
          </a:p>
        </p:txBody>
      </p:sp>
      <p:sp>
        <p:nvSpPr>
          <p:cNvPr id="138" name="text:mint: smooth    lavender: steps"/>
          <p:cNvSpPr txBox="1"/>
          <p:nvPr/>
        </p:nvSpPr>
        <p:spPr>
          <a:xfrm>
            <a:off x="2606040" y="3657600"/>
            <a:ext cx="2651760" cy="164592"/>
          </a:xfrm>
          <a:prstGeom prst="rect">
            <a:avLst/>
          </a:prstGeom>
          <a:noFill/>
        </p:spPr>
        <p:txBody>
          <a:bodyPr wrap="square" lIns="9144" rIns="9144" tIns="0" bIns="0">
            <a:spAutoFit/>
          </a:bodyPr>
          <a:lstStyle/>
          <a:p>
            <a:pPr algn="r">
              <a:lnSpc>
                <a:spcPct val="106000"/>
              </a:lnSpc>
              <a:spcAft>
                <a:spcPts val="400"/>
              </a:spcAft>
              <a:defRPr sz="850" b="0">
                <a:solidFill>
                  <a:srgbClr val="9A9AA2"/>
                </a:solidFill>
                <a:latin typeface="Helvetica Neue"/>
              </a:defRPr>
            </a:pPr>
            <a:r>
              <a:t>mint: smooth    lavender: steps</a:t>
            </a:r>
          </a:p>
        </p:txBody>
      </p:sp>
      <p:sp>
        <p:nvSpPr>
          <p:cNvPr id="139" name="Rounded Rectangle 138"/>
          <p:cNvSpPr/>
          <p:nvPr/>
        </p:nvSpPr>
        <p:spPr>
          <a:xfrm>
            <a:off x="5760720" y="1417320"/>
            <a:ext cx="2880360" cy="1234440"/>
          </a:xfrm>
          <a:prstGeom prst="roundRect">
            <a:avLst>
              <a:gd name="adj" fmla="val 103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THE RULE"/>
          <p:cNvSpPr txBox="1"/>
          <p:nvPr/>
        </p:nvSpPr>
        <p:spPr>
          <a:xfrm>
            <a:off x="5943600" y="1508760"/>
            <a:ext cx="2286000" cy="164592"/>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THE RULE</a:t>
            </a:r>
          </a:p>
        </p:txBody>
      </p:sp>
      <p:sp>
        <p:nvSpPr>
          <p:cNvPr id="141" name="text:z = (p - 1/2) / sqrt(p(1-p)) size = "/>
          <p:cNvSpPr txBox="1"/>
          <p:nvPr/>
        </p:nvSpPr>
        <p:spPr>
          <a:xfrm>
            <a:off x="5943600" y="1737360"/>
            <a:ext cx="2606040" cy="77724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Menlo"/>
              </a:defRPr>
            </a:pPr>
            <a:r>
              <a:t>z = (p - 1/2) / sqrt(p(1-p))</a:t>
            </a:r>
          </a:p>
          <a:p>
            <a:pPr>
              <a:lnSpc>
                <a:spcPct val="106000"/>
              </a:lnSpc>
              <a:spcAft>
                <a:spcPts val="400"/>
              </a:spcAft>
              <a:defRPr sz="1000" b="0">
                <a:solidFill>
                  <a:srgbClr val="F2F5F8"/>
                </a:solidFill>
                <a:latin typeface="Menlo"/>
              </a:defRPr>
            </a:pPr>
            <a:r>
              <a:t>size = 2 x Phi(z) - 1</a:t>
            </a:r>
          </a:p>
        </p:txBody>
      </p:sp>
      <p:sp>
        <p:nvSpPr>
          <p:cNvPr id="142" name="Rounded Rectangle 141"/>
          <p:cNvSpPr/>
          <p:nvPr/>
        </p:nvSpPr>
        <p:spPr>
          <a:xfrm>
            <a:off x="5760720" y="2788920"/>
            <a:ext cx="2880360" cy="822960"/>
          </a:xfrm>
          <a:prstGeom prst="roundRect">
            <a:avLst>
              <a:gd name="adj" fmla="val 1555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Then round to steps of 0.1, so tiny "/>
          <p:cNvSpPr txBox="1"/>
          <p:nvPr/>
        </p:nvSpPr>
        <p:spPr>
          <a:xfrm>
            <a:off x="5943600" y="2788920"/>
            <a:ext cx="2560320" cy="822960"/>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Then round to steps of 0.1, so tiny changes do not trade.</a:t>
            </a:r>
          </a:p>
        </p:txBody>
      </p:sp>
      <p:sp>
        <p:nvSpPr>
          <p:cNvPr id="144" name="Rounded Rectangle 143"/>
          <p:cNvSpPr/>
          <p:nvPr/>
        </p:nvSpPr>
        <p:spPr>
          <a:xfrm>
            <a:off x="5760720" y="3749039"/>
            <a:ext cx="2880360" cy="777240"/>
          </a:xfrm>
          <a:prstGeom prst="roundRect">
            <a:avLst>
              <a:gd name="adj" fmla="val 1647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The confidence in the sample code is"/>
          <p:cNvSpPr txBox="1"/>
          <p:nvPr/>
        </p:nvSpPr>
        <p:spPr>
          <a:xfrm>
            <a:off x="5943600" y="3749039"/>
            <a:ext cx="2560320" cy="777240"/>
          </a:xfrm>
          <a:prstGeom prst="rect">
            <a:avLst/>
          </a:prstGeom>
          <a:noFill/>
        </p:spPr>
        <p:txBody>
          <a:bodyPr wrap="square" lIns="9144" rIns="9144" tIns="0" bIns="0" anchor="ctr">
            <a:spAutoFit/>
          </a:bodyPr>
          <a:lstStyle/>
          <a:p>
            <a:pPr>
              <a:lnSpc>
                <a:spcPct val="106000"/>
              </a:lnSpc>
              <a:spcAft>
                <a:spcPts val="400"/>
              </a:spcAft>
              <a:defRPr sz="1000" b="0">
                <a:solidFill>
                  <a:srgbClr val="9A9AA2"/>
                </a:solidFill>
                <a:latin typeface="Helvetica Neue"/>
              </a:defRPr>
            </a:pPr>
            <a:r>
              <a:t>The confidence in the sample code is a stand-in, not a calibrated probability.</a:t>
            </a:r>
          </a:p>
        </p:txBody>
      </p:sp>
      <p:sp>
        <p:nvSpPr>
          <p:cNvPr id="146" name="text:Curve from code/out/sizing.json"/>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Curve from code/out/sizing.json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imits in ord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Limits in order</a:t>
            </a:r>
          </a:p>
        </p:txBody>
      </p:sp>
      <p:sp>
        <p:nvSpPr>
          <p:cNvPr id="3" name="text:The sizing proposes. Each check can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sizing proposes. Each check can shrink it or say no.</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Rounded Rectangle 4"/>
          <p:cNvSpPr/>
          <p:nvPr/>
        </p:nvSpPr>
        <p:spPr>
          <a:xfrm>
            <a:off x="548640" y="1645920"/>
            <a:ext cx="1481328" cy="2011680"/>
          </a:xfrm>
          <a:prstGeom prst="roundRect">
            <a:avLst>
              <a:gd name="adj" fmla="val 8641"/>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MOOTH SIZE"/>
          <p:cNvSpPr txBox="1"/>
          <p:nvPr/>
        </p:nvSpPr>
        <p:spPr>
          <a:xfrm>
            <a:off x="676656" y="1764792"/>
            <a:ext cx="1298448"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SMOOTH SIZE</a:t>
            </a:r>
          </a:p>
        </p:txBody>
      </p:sp>
      <p:sp>
        <p:nvSpPr>
          <p:cNvPr id="7" name="text:82%"/>
          <p:cNvSpPr txBox="1"/>
          <p:nvPr/>
        </p:nvSpPr>
        <p:spPr>
          <a:xfrm>
            <a:off x="676656" y="2103120"/>
            <a:ext cx="1298448" cy="50292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82%</a:t>
            </a:r>
          </a:p>
        </p:txBody>
      </p:sp>
      <p:sp>
        <p:nvSpPr>
          <p:cNvPr id="8" name="text:confidence 0.90"/>
          <p:cNvSpPr txBox="1"/>
          <p:nvPr/>
        </p:nvSpPr>
        <p:spPr>
          <a:xfrm>
            <a:off x="676656" y="2788920"/>
            <a:ext cx="1261872" cy="82296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confidence 0.90</a:t>
            </a:r>
          </a:p>
        </p:txBody>
      </p:sp>
      <p:cxnSp>
        <p:nvCxnSpPr>
          <p:cNvPr id="9" name="Connector 8"/>
          <p:cNvCxnSpPr/>
          <p:nvPr/>
        </p:nvCxnSpPr>
        <p:spPr>
          <a:xfrm>
            <a:off x="2039112" y="2651760"/>
            <a:ext cx="155448"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203704" y="1645920"/>
            <a:ext cx="1481328" cy="2011680"/>
          </a:xfrm>
          <a:prstGeom prst="roundRect">
            <a:avLst>
              <a:gd name="adj" fmla="val 8641"/>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EPS"/>
          <p:cNvSpPr txBox="1"/>
          <p:nvPr/>
        </p:nvSpPr>
        <p:spPr>
          <a:xfrm>
            <a:off x="2331720" y="1764792"/>
            <a:ext cx="1298448"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STEPS</a:t>
            </a:r>
          </a:p>
        </p:txBody>
      </p:sp>
      <p:sp>
        <p:nvSpPr>
          <p:cNvPr id="12" name="text:80%"/>
          <p:cNvSpPr txBox="1"/>
          <p:nvPr/>
        </p:nvSpPr>
        <p:spPr>
          <a:xfrm>
            <a:off x="2331720" y="2103120"/>
            <a:ext cx="1298448" cy="50292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80%</a:t>
            </a:r>
          </a:p>
        </p:txBody>
      </p:sp>
      <p:sp>
        <p:nvSpPr>
          <p:cNvPr id="13" name="text:steps of 0.1"/>
          <p:cNvSpPr txBox="1"/>
          <p:nvPr/>
        </p:nvSpPr>
        <p:spPr>
          <a:xfrm>
            <a:off x="2331720" y="2788920"/>
            <a:ext cx="1261872" cy="82296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steps of 0.1</a:t>
            </a:r>
          </a:p>
        </p:txBody>
      </p:sp>
      <p:cxnSp>
        <p:nvCxnSpPr>
          <p:cNvPr id="14" name="Connector 13"/>
          <p:cNvCxnSpPr/>
          <p:nvPr/>
        </p:nvCxnSpPr>
        <p:spPr>
          <a:xfrm>
            <a:off x="3694176" y="2651760"/>
            <a:ext cx="155448"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58768" y="1645920"/>
            <a:ext cx="1481328" cy="2011680"/>
          </a:xfrm>
          <a:prstGeom prst="roundRect">
            <a:avLst>
              <a:gd name="adj" fmla="val 8641"/>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CAP"/>
          <p:cNvSpPr txBox="1"/>
          <p:nvPr/>
        </p:nvSpPr>
        <p:spPr>
          <a:xfrm>
            <a:off x="3986783" y="1764792"/>
            <a:ext cx="1298448"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CAP</a:t>
            </a:r>
          </a:p>
        </p:txBody>
      </p:sp>
      <p:sp>
        <p:nvSpPr>
          <p:cNvPr id="17" name="text:$2,000"/>
          <p:cNvSpPr txBox="1"/>
          <p:nvPr/>
        </p:nvSpPr>
        <p:spPr>
          <a:xfrm>
            <a:off x="3986783" y="2103120"/>
            <a:ext cx="1298448" cy="50292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$2,000</a:t>
            </a:r>
          </a:p>
        </p:txBody>
      </p:sp>
      <p:sp>
        <p:nvSpPr>
          <p:cNvPr id="18" name="text:80% of 25% of $10,000"/>
          <p:cNvSpPr txBox="1"/>
          <p:nvPr/>
        </p:nvSpPr>
        <p:spPr>
          <a:xfrm>
            <a:off x="3986783" y="2788920"/>
            <a:ext cx="1261872" cy="82296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80% of 25% of $10,000</a:t>
            </a:r>
          </a:p>
        </p:txBody>
      </p:sp>
      <p:cxnSp>
        <p:nvCxnSpPr>
          <p:cNvPr id="19" name="Connector 18"/>
          <p:cNvCxnSpPr/>
          <p:nvPr/>
        </p:nvCxnSpPr>
        <p:spPr>
          <a:xfrm>
            <a:off x="5349240" y="2651760"/>
            <a:ext cx="155448"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513831" y="1645920"/>
            <a:ext cx="1481328" cy="2011680"/>
          </a:xfrm>
          <a:prstGeom prst="roundRect">
            <a:avLst>
              <a:gd name="adj" fmla="val 8641"/>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IMPACT CAP"/>
          <p:cNvSpPr txBox="1"/>
          <p:nvPr/>
        </p:nvSpPr>
        <p:spPr>
          <a:xfrm>
            <a:off x="5641847" y="1764792"/>
            <a:ext cx="1298448"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IMPACT CAP</a:t>
            </a:r>
          </a:p>
        </p:txBody>
      </p:sp>
      <p:sp>
        <p:nvSpPr>
          <p:cNvPr id="22" name="text:no cut"/>
          <p:cNvSpPr txBox="1"/>
          <p:nvPr/>
        </p:nvSpPr>
        <p:spPr>
          <a:xfrm>
            <a:off x="5641847" y="2103120"/>
            <a:ext cx="1298448" cy="50292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no cut</a:t>
            </a:r>
          </a:p>
        </p:txBody>
      </p:sp>
      <p:sp>
        <p:nvSpPr>
          <p:cNvPr id="23" name="text:about 0.002 bps at $2,000; cap 5 bps"/>
          <p:cNvSpPr txBox="1"/>
          <p:nvPr/>
        </p:nvSpPr>
        <p:spPr>
          <a:xfrm>
            <a:off x="5641847" y="2788920"/>
            <a:ext cx="1261872" cy="82296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about 0.002 bps at $2,000; cap 5 bps</a:t>
            </a:r>
          </a:p>
        </p:txBody>
      </p:sp>
      <p:cxnSp>
        <p:nvCxnSpPr>
          <p:cNvPr id="24" name="Connector 23"/>
          <p:cNvCxnSpPr/>
          <p:nvPr/>
        </p:nvCxnSpPr>
        <p:spPr>
          <a:xfrm>
            <a:off x="7004303" y="2651760"/>
            <a:ext cx="155449"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168896" y="1645920"/>
            <a:ext cx="1481328" cy="2011680"/>
          </a:xfrm>
          <a:prstGeom prst="roundRect">
            <a:avLst>
              <a:gd name="adj" fmla="val 8641"/>
            </a:avLst>
          </a:prstGeom>
          <a:solidFill>
            <a:srgbClr val="100821"/>
          </a:solidFill>
          <a:ln w="1778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RISK HOOK"/>
          <p:cNvSpPr txBox="1"/>
          <p:nvPr/>
        </p:nvSpPr>
        <p:spPr>
          <a:xfrm>
            <a:off x="7296912" y="1764792"/>
            <a:ext cx="1298448" cy="182880"/>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RISK HOOK</a:t>
            </a:r>
          </a:p>
        </p:txBody>
      </p:sp>
      <p:sp>
        <p:nvSpPr>
          <p:cNvPr id="27" name="text:REFUSED"/>
          <p:cNvSpPr txBox="1"/>
          <p:nvPr/>
        </p:nvSpPr>
        <p:spPr>
          <a:xfrm>
            <a:off x="7296912" y="2103120"/>
            <a:ext cx="1298448" cy="502920"/>
          </a:xfrm>
          <a:prstGeom prst="rect">
            <a:avLst/>
          </a:prstGeom>
          <a:noFill/>
        </p:spPr>
        <p:txBody>
          <a:bodyPr wrap="square" lIns="9144" rIns="9144" tIns="0" bIns="0">
            <a:spAutoFit/>
          </a:bodyPr>
          <a:lstStyle/>
          <a:p>
            <a:pPr>
              <a:lnSpc>
                <a:spcPct val="106000"/>
              </a:lnSpc>
              <a:spcAft>
                <a:spcPts val="400"/>
              </a:spcAft>
              <a:defRPr sz="1500" b="0">
                <a:solidFill>
                  <a:srgbClr val="FD51FC"/>
                </a:solidFill>
                <a:latin typeface="Helvetica Neue"/>
              </a:defRPr>
            </a:pPr>
            <a:r>
              <a:t>REFUSED</a:t>
            </a:r>
          </a:p>
        </p:txBody>
      </p:sp>
      <p:sp>
        <p:nvSpPr>
          <p:cNvPr id="28" name="text:max-notional: $2,000 vs $1,000"/>
          <p:cNvSpPr txBox="1"/>
          <p:nvPr/>
        </p:nvSpPr>
        <p:spPr>
          <a:xfrm>
            <a:off x="7296912" y="2788920"/>
            <a:ext cx="1261872" cy="82296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max-notional: $2,000 vs $1,000</a:t>
            </a:r>
          </a:p>
        </p:txBody>
      </p:sp>
      <p:sp>
        <p:nvSpPr>
          <p:cNvPr id="29" name="Rounded Rectangle 28"/>
          <p:cNvSpPr/>
          <p:nvPr/>
        </p:nvSpPr>
        <p:spPr>
          <a:xfrm>
            <a:off x="548640" y="3886200"/>
            <a:ext cx="8092440" cy="640080"/>
          </a:xfrm>
          <a:prstGeom prst="roundRect">
            <a:avLst>
              <a:gd name="adj" fmla="val 20000"/>
            </a:avLst>
          </a:prstGeom>
          <a:solidFill>
            <a:srgbClr val="100821"/>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The hook is the last line. It says n"/>
          <p:cNvSpPr txBox="1"/>
          <p:nvPr/>
        </p:nvSpPr>
        <p:spPr>
          <a:xfrm>
            <a:off x="731520" y="3886200"/>
            <a:ext cx="7772400" cy="64008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The hook is the last line. It says no, and it says why.  (2000 USD exceeds the 1000 USD limit)</a:t>
            </a:r>
          </a:p>
        </p:txBody>
      </p:sp>
      <p:sp>
        <p:nvSpPr>
          <p:cNvPr id="31" name="text:Numbers from code/out/sizing.json an"/>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Numbers from code/out/sizing.json and code/src/risk.ts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ne row per decisio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One row per decision</a:t>
            </a:r>
          </a:p>
        </p:txBody>
      </p:sp>
      <p:sp>
        <p:nvSpPr>
          <p:cNvPr id="3" name="text:Every order is a row, accepted or r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Every order is a row, accepted or refused. Each row holds the hash of the row before it.</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Rounded Rectangle 4"/>
          <p:cNvSpPr/>
          <p:nvPr/>
        </p:nvSpPr>
        <p:spPr>
          <a:xfrm>
            <a:off x="548640" y="1508760"/>
            <a:ext cx="2514600" cy="2331720"/>
          </a:xfrm>
          <a:prstGeom prst="roundRect">
            <a:avLst>
              <a:gd name="adj" fmla="val 549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ROW 1  ·  01:15:14 SGT"/>
          <p:cNvSpPr txBox="1"/>
          <p:nvPr/>
        </p:nvSpPr>
        <p:spPr>
          <a:xfrm>
            <a:off x="713232" y="1609344"/>
            <a:ext cx="2240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ROW 1  ·  01:15:14 SGT</a:t>
            </a:r>
          </a:p>
        </p:txBody>
      </p:sp>
      <p:sp>
        <p:nvSpPr>
          <p:cNvPr id="7" name="text:sell $750"/>
          <p:cNvSpPr txBox="1"/>
          <p:nvPr/>
        </p:nvSpPr>
        <p:spPr>
          <a:xfrm>
            <a:off x="713232" y="1847088"/>
            <a:ext cx="1463040" cy="365760"/>
          </a:xfrm>
          <a:prstGeom prst="rect">
            <a:avLst/>
          </a:prstGeom>
          <a:noFill/>
        </p:spPr>
        <p:txBody>
          <a:bodyPr wrap="square" lIns="9144" rIns="9144" tIns="0" bIns="0">
            <a:spAutoFit/>
          </a:bodyPr>
          <a:lstStyle/>
          <a:p>
            <a:pPr>
              <a:lnSpc>
                <a:spcPct val="106000"/>
              </a:lnSpc>
              <a:spcAft>
                <a:spcPts val="400"/>
              </a:spcAft>
              <a:defRPr sz="2000" b="0">
                <a:solidFill>
                  <a:srgbClr val="B3A5FF"/>
                </a:solidFill>
                <a:latin typeface="Helvetica Neue"/>
              </a:defRPr>
            </a:pPr>
            <a:r>
              <a:t>sell $750</a:t>
            </a:r>
          </a:p>
        </p:txBody>
      </p:sp>
      <p:sp>
        <p:nvSpPr>
          <p:cNvPr id="8" name="Rounded Rectangle 7"/>
          <p:cNvSpPr/>
          <p:nvPr/>
        </p:nvSpPr>
        <p:spPr>
          <a:xfrm>
            <a:off x="2029968" y="1920240"/>
            <a:ext cx="868680" cy="219456"/>
          </a:xfrm>
          <a:prstGeom prst="roundRect">
            <a:avLst>
              <a:gd name="adj" fmla="val 5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accepted"/>
          <p:cNvSpPr txBox="1"/>
          <p:nvPr/>
        </p:nvSpPr>
        <p:spPr>
          <a:xfrm>
            <a:off x="2029968" y="1938528"/>
            <a:ext cx="868680"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accepted</a:t>
            </a:r>
          </a:p>
        </p:txBody>
      </p:sp>
      <p:sp>
        <p:nvSpPr>
          <p:cNvPr id="10" name="text:fill 108.01 · fee $0.30"/>
          <p:cNvSpPr txBox="1"/>
          <p:nvPr/>
        </p:nvSpPr>
        <p:spPr>
          <a:xfrm>
            <a:off x="713232" y="2331720"/>
            <a:ext cx="224028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fill 108.01 · fee $0.30</a:t>
            </a:r>
          </a:p>
        </p:txBody>
      </p:sp>
      <p:sp>
        <p:nvSpPr>
          <p:cNvPr id="11" name="text:cash $10,749.70"/>
          <p:cNvSpPr txBox="1"/>
          <p:nvPr/>
        </p:nvSpPr>
        <p:spPr>
          <a:xfrm>
            <a:off x="713232" y="2560320"/>
            <a:ext cx="224028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cash $10,749.70</a:t>
            </a:r>
          </a:p>
        </p:txBody>
      </p:sp>
      <p:sp>
        <p:nvSpPr>
          <p:cNvPr id="12" name="Rounded Rectangle 11"/>
          <p:cNvSpPr/>
          <p:nvPr/>
        </p:nvSpPr>
        <p:spPr>
          <a:xfrm>
            <a:off x="685800" y="2880360"/>
            <a:ext cx="2240280" cy="822960"/>
          </a:xfrm>
          <a:prstGeom prst="roundRect">
            <a:avLst>
              <a:gd name="adj" fmla="val 8888"/>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PREV HASH"/>
          <p:cNvSpPr txBox="1"/>
          <p:nvPr/>
        </p:nvSpPr>
        <p:spPr>
          <a:xfrm>
            <a:off x="804672" y="2944368"/>
            <a:ext cx="1097280" cy="146304"/>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Helvetica Neue"/>
              </a:defRPr>
            </a:pPr>
            <a:r>
              <a:t>PREV HASH</a:t>
            </a:r>
          </a:p>
        </p:txBody>
      </p:sp>
      <p:sp>
        <p:nvSpPr>
          <p:cNvPr id="14" name="text:000000000000"/>
          <p:cNvSpPr txBox="1"/>
          <p:nvPr/>
        </p:nvSpPr>
        <p:spPr>
          <a:xfrm>
            <a:off x="804672" y="3108960"/>
            <a:ext cx="205740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Menlo"/>
              </a:defRPr>
            </a:pPr>
            <a:r>
              <a:t>000000000000</a:t>
            </a:r>
          </a:p>
        </p:txBody>
      </p:sp>
      <p:sp>
        <p:nvSpPr>
          <p:cNvPr id="15" name="text:HASH"/>
          <p:cNvSpPr txBox="1"/>
          <p:nvPr/>
        </p:nvSpPr>
        <p:spPr>
          <a:xfrm>
            <a:off x="804672" y="3319272"/>
            <a:ext cx="1097280" cy="146304"/>
          </a:xfrm>
          <a:prstGeom prst="rect">
            <a:avLst/>
          </a:prstGeom>
          <a:noFill/>
        </p:spPr>
        <p:txBody>
          <a:bodyPr wrap="square" lIns="9144" rIns="9144" tIns="0" bIns="0">
            <a:spAutoFit/>
          </a:bodyPr>
          <a:lstStyle/>
          <a:p>
            <a:pPr>
              <a:lnSpc>
                <a:spcPct val="106000"/>
              </a:lnSpc>
              <a:spcAft>
                <a:spcPts val="400"/>
              </a:spcAft>
              <a:defRPr sz="750" b="0">
                <a:solidFill>
                  <a:srgbClr val="3DDC97"/>
                </a:solidFill>
                <a:latin typeface="Helvetica Neue"/>
              </a:defRPr>
            </a:pPr>
            <a:r>
              <a:t>HASH</a:t>
            </a:r>
          </a:p>
        </p:txBody>
      </p:sp>
      <p:sp>
        <p:nvSpPr>
          <p:cNvPr id="16" name="text:72c8a5e8b572"/>
          <p:cNvSpPr txBox="1"/>
          <p:nvPr/>
        </p:nvSpPr>
        <p:spPr>
          <a:xfrm>
            <a:off x="804672" y="3474720"/>
            <a:ext cx="2057400" cy="18288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Menlo"/>
              </a:defRPr>
            </a:pPr>
            <a:r>
              <a:t>72c8a5e8b572</a:t>
            </a:r>
          </a:p>
        </p:txBody>
      </p:sp>
      <p:cxnSp>
        <p:nvCxnSpPr>
          <p:cNvPr id="17" name="Connector 16"/>
          <p:cNvCxnSpPr/>
          <p:nvPr/>
        </p:nvCxnSpPr>
        <p:spPr>
          <a:xfrm>
            <a:off x="3081528" y="3456432"/>
            <a:ext cx="237744" cy="0"/>
          </a:xfrm>
          <a:prstGeom prst="line">
            <a:avLst/>
          </a:prstGeom>
          <a:ln w="15240">
            <a:solidFill>
              <a:srgbClr val="3DDC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337560" y="1508760"/>
            <a:ext cx="2514600" cy="2331720"/>
          </a:xfrm>
          <a:prstGeom prst="roundRect">
            <a:avLst>
              <a:gd name="adj" fmla="val 549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ROW 2  ·  01:16:09 SGT"/>
          <p:cNvSpPr txBox="1"/>
          <p:nvPr/>
        </p:nvSpPr>
        <p:spPr>
          <a:xfrm>
            <a:off x="3502152" y="1609344"/>
            <a:ext cx="2240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ROW 2  ·  01:16:09 SGT</a:t>
            </a:r>
          </a:p>
        </p:txBody>
      </p:sp>
      <p:sp>
        <p:nvSpPr>
          <p:cNvPr id="20" name="text:buy $750"/>
          <p:cNvSpPr txBox="1"/>
          <p:nvPr/>
        </p:nvSpPr>
        <p:spPr>
          <a:xfrm>
            <a:off x="3502152" y="1847088"/>
            <a:ext cx="146304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buy $750</a:t>
            </a:r>
          </a:p>
        </p:txBody>
      </p:sp>
      <p:sp>
        <p:nvSpPr>
          <p:cNvPr id="21" name="Rounded Rectangle 20"/>
          <p:cNvSpPr/>
          <p:nvPr/>
        </p:nvSpPr>
        <p:spPr>
          <a:xfrm>
            <a:off x="4818888" y="1920240"/>
            <a:ext cx="868680" cy="219456"/>
          </a:xfrm>
          <a:prstGeom prst="roundRect">
            <a:avLst>
              <a:gd name="adj" fmla="val 5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accepted"/>
          <p:cNvSpPr txBox="1"/>
          <p:nvPr/>
        </p:nvSpPr>
        <p:spPr>
          <a:xfrm>
            <a:off x="4818888" y="1938528"/>
            <a:ext cx="868680"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accepted</a:t>
            </a:r>
          </a:p>
        </p:txBody>
      </p:sp>
      <p:sp>
        <p:nvSpPr>
          <p:cNvPr id="23" name="text:fill 108.08 · fee $0.30"/>
          <p:cNvSpPr txBox="1"/>
          <p:nvPr/>
        </p:nvSpPr>
        <p:spPr>
          <a:xfrm>
            <a:off x="3502152" y="2331720"/>
            <a:ext cx="224028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fill 108.08 · fee $0.30</a:t>
            </a:r>
          </a:p>
        </p:txBody>
      </p:sp>
      <p:sp>
        <p:nvSpPr>
          <p:cNvPr id="24" name="text:cash $9,998.90"/>
          <p:cNvSpPr txBox="1"/>
          <p:nvPr/>
        </p:nvSpPr>
        <p:spPr>
          <a:xfrm>
            <a:off x="3502152" y="2560320"/>
            <a:ext cx="224028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cash $9,998.90</a:t>
            </a:r>
          </a:p>
        </p:txBody>
      </p:sp>
      <p:sp>
        <p:nvSpPr>
          <p:cNvPr id="25" name="Rounded Rectangle 24"/>
          <p:cNvSpPr/>
          <p:nvPr/>
        </p:nvSpPr>
        <p:spPr>
          <a:xfrm>
            <a:off x="3474720" y="2880360"/>
            <a:ext cx="2240280" cy="822960"/>
          </a:xfrm>
          <a:prstGeom prst="roundRect">
            <a:avLst>
              <a:gd name="adj" fmla="val 8888"/>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PREV HASH"/>
          <p:cNvSpPr txBox="1"/>
          <p:nvPr/>
        </p:nvSpPr>
        <p:spPr>
          <a:xfrm>
            <a:off x="3593591" y="2944368"/>
            <a:ext cx="1097280" cy="146304"/>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Helvetica Neue"/>
              </a:defRPr>
            </a:pPr>
            <a:r>
              <a:t>PREV HASH</a:t>
            </a:r>
          </a:p>
        </p:txBody>
      </p:sp>
      <p:sp>
        <p:nvSpPr>
          <p:cNvPr id="27" name="text:72c8a5e8b572"/>
          <p:cNvSpPr txBox="1"/>
          <p:nvPr/>
        </p:nvSpPr>
        <p:spPr>
          <a:xfrm>
            <a:off x="3593591" y="3108960"/>
            <a:ext cx="205740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Menlo"/>
              </a:defRPr>
            </a:pPr>
            <a:r>
              <a:t>72c8a5e8b572</a:t>
            </a:r>
          </a:p>
        </p:txBody>
      </p:sp>
      <p:sp>
        <p:nvSpPr>
          <p:cNvPr id="28" name="text:HASH"/>
          <p:cNvSpPr txBox="1"/>
          <p:nvPr/>
        </p:nvSpPr>
        <p:spPr>
          <a:xfrm>
            <a:off x="3593591" y="3319272"/>
            <a:ext cx="1097280" cy="146304"/>
          </a:xfrm>
          <a:prstGeom prst="rect">
            <a:avLst/>
          </a:prstGeom>
          <a:noFill/>
        </p:spPr>
        <p:txBody>
          <a:bodyPr wrap="square" lIns="9144" rIns="9144" tIns="0" bIns="0">
            <a:spAutoFit/>
          </a:bodyPr>
          <a:lstStyle/>
          <a:p>
            <a:pPr>
              <a:lnSpc>
                <a:spcPct val="106000"/>
              </a:lnSpc>
              <a:spcAft>
                <a:spcPts val="400"/>
              </a:spcAft>
              <a:defRPr sz="750" b="0">
                <a:solidFill>
                  <a:srgbClr val="3DDC97"/>
                </a:solidFill>
                <a:latin typeface="Helvetica Neue"/>
              </a:defRPr>
            </a:pPr>
            <a:r>
              <a:t>HASH</a:t>
            </a:r>
          </a:p>
        </p:txBody>
      </p:sp>
      <p:sp>
        <p:nvSpPr>
          <p:cNvPr id="29" name="text:61cb287362ab"/>
          <p:cNvSpPr txBox="1"/>
          <p:nvPr/>
        </p:nvSpPr>
        <p:spPr>
          <a:xfrm>
            <a:off x="3593591" y="3474720"/>
            <a:ext cx="2057400" cy="18288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Menlo"/>
              </a:defRPr>
            </a:pPr>
            <a:r>
              <a:t>61cb287362ab</a:t>
            </a:r>
          </a:p>
        </p:txBody>
      </p:sp>
      <p:cxnSp>
        <p:nvCxnSpPr>
          <p:cNvPr id="30" name="Connector 29"/>
          <p:cNvCxnSpPr/>
          <p:nvPr/>
        </p:nvCxnSpPr>
        <p:spPr>
          <a:xfrm>
            <a:off x="5870448" y="3456432"/>
            <a:ext cx="237744" cy="0"/>
          </a:xfrm>
          <a:prstGeom prst="line">
            <a:avLst/>
          </a:prstGeom>
          <a:ln w="15240">
            <a:solidFill>
              <a:srgbClr val="3DDC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126479" y="1508760"/>
            <a:ext cx="2514600" cy="2331720"/>
          </a:xfrm>
          <a:prstGeom prst="roundRect">
            <a:avLst>
              <a:gd name="adj" fmla="val 549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ROW 3  ·  01:18:19 SGT"/>
          <p:cNvSpPr txBox="1"/>
          <p:nvPr/>
        </p:nvSpPr>
        <p:spPr>
          <a:xfrm>
            <a:off x="6291071" y="1609344"/>
            <a:ext cx="22402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ROW 3  ·  01:18:19 SGT</a:t>
            </a:r>
          </a:p>
        </p:txBody>
      </p:sp>
      <p:sp>
        <p:nvSpPr>
          <p:cNvPr id="33" name="text:buy $250"/>
          <p:cNvSpPr txBox="1"/>
          <p:nvPr/>
        </p:nvSpPr>
        <p:spPr>
          <a:xfrm>
            <a:off x="6291071" y="1847088"/>
            <a:ext cx="146304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buy $250</a:t>
            </a:r>
          </a:p>
        </p:txBody>
      </p:sp>
      <p:sp>
        <p:nvSpPr>
          <p:cNvPr id="34" name="Rounded Rectangle 33"/>
          <p:cNvSpPr/>
          <p:nvPr/>
        </p:nvSpPr>
        <p:spPr>
          <a:xfrm>
            <a:off x="7607808" y="1920240"/>
            <a:ext cx="868680" cy="219456"/>
          </a:xfrm>
          <a:prstGeom prst="roundRect">
            <a:avLst>
              <a:gd name="adj" fmla="val 5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accepted"/>
          <p:cNvSpPr txBox="1"/>
          <p:nvPr/>
        </p:nvSpPr>
        <p:spPr>
          <a:xfrm>
            <a:off x="7607808" y="1938528"/>
            <a:ext cx="868680"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accepted</a:t>
            </a:r>
          </a:p>
        </p:txBody>
      </p:sp>
      <p:sp>
        <p:nvSpPr>
          <p:cNvPr id="36" name="text:fill 108.08 · fee $0.10"/>
          <p:cNvSpPr txBox="1"/>
          <p:nvPr/>
        </p:nvSpPr>
        <p:spPr>
          <a:xfrm>
            <a:off x="6291071" y="2331720"/>
            <a:ext cx="224028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fill 108.08 · fee $0.10</a:t>
            </a:r>
          </a:p>
        </p:txBody>
      </p:sp>
      <p:sp>
        <p:nvSpPr>
          <p:cNvPr id="37" name="text:cash $9,748.83"/>
          <p:cNvSpPr txBox="1"/>
          <p:nvPr/>
        </p:nvSpPr>
        <p:spPr>
          <a:xfrm>
            <a:off x="6291071" y="2560320"/>
            <a:ext cx="224028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cash $9,748.83</a:t>
            </a:r>
          </a:p>
        </p:txBody>
      </p:sp>
      <p:sp>
        <p:nvSpPr>
          <p:cNvPr id="38" name="Rounded Rectangle 37"/>
          <p:cNvSpPr/>
          <p:nvPr/>
        </p:nvSpPr>
        <p:spPr>
          <a:xfrm>
            <a:off x="6263640" y="2880360"/>
            <a:ext cx="2240280" cy="822960"/>
          </a:xfrm>
          <a:prstGeom prst="roundRect">
            <a:avLst>
              <a:gd name="adj" fmla="val 8888"/>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PREV HASH"/>
          <p:cNvSpPr txBox="1"/>
          <p:nvPr/>
        </p:nvSpPr>
        <p:spPr>
          <a:xfrm>
            <a:off x="6382512" y="2944368"/>
            <a:ext cx="1097280" cy="146304"/>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Helvetica Neue"/>
              </a:defRPr>
            </a:pPr>
            <a:r>
              <a:t>PREV HASH</a:t>
            </a:r>
          </a:p>
        </p:txBody>
      </p:sp>
      <p:sp>
        <p:nvSpPr>
          <p:cNvPr id="40" name="text:61cb287362ab"/>
          <p:cNvSpPr txBox="1"/>
          <p:nvPr/>
        </p:nvSpPr>
        <p:spPr>
          <a:xfrm>
            <a:off x="6382512" y="3108960"/>
            <a:ext cx="205740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Menlo"/>
              </a:defRPr>
            </a:pPr>
            <a:r>
              <a:t>61cb287362ab</a:t>
            </a:r>
          </a:p>
        </p:txBody>
      </p:sp>
      <p:sp>
        <p:nvSpPr>
          <p:cNvPr id="41" name="text:HASH"/>
          <p:cNvSpPr txBox="1"/>
          <p:nvPr/>
        </p:nvSpPr>
        <p:spPr>
          <a:xfrm>
            <a:off x="6382512" y="3319272"/>
            <a:ext cx="1097280" cy="146304"/>
          </a:xfrm>
          <a:prstGeom prst="rect">
            <a:avLst/>
          </a:prstGeom>
          <a:noFill/>
        </p:spPr>
        <p:txBody>
          <a:bodyPr wrap="square" lIns="9144" rIns="9144" tIns="0" bIns="0">
            <a:spAutoFit/>
          </a:bodyPr>
          <a:lstStyle/>
          <a:p>
            <a:pPr>
              <a:lnSpc>
                <a:spcPct val="106000"/>
              </a:lnSpc>
              <a:spcAft>
                <a:spcPts val="400"/>
              </a:spcAft>
              <a:defRPr sz="750" b="0">
                <a:solidFill>
                  <a:srgbClr val="3DDC97"/>
                </a:solidFill>
                <a:latin typeface="Helvetica Neue"/>
              </a:defRPr>
            </a:pPr>
            <a:r>
              <a:t>HASH</a:t>
            </a:r>
          </a:p>
        </p:txBody>
      </p:sp>
      <p:sp>
        <p:nvSpPr>
          <p:cNvPr id="42" name="text:782389ad10c0"/>
          <p:cNvSpPr txBox="1"/>
          <p:nvPr/>
        </p:nvSpPr>
        <p:spPr>
          <a:xfrm>
            <a:off x="6382512" y="3474720"/>
            <a:ext cx="2057400" cy="18288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Menlo"/>
              </a:defRPr>
            </a:pPr>
            <a:r>
              <a:t>782389ad10c0</a:t>
            </a:r>
          </a:p>
        </p:txBody>
      </p:sp>
      <p:sp>
        <p:nvSpPr>
          <p:cNvPr id="43" name="text:Append is the only way to change it."/>
          <p:cNvSpPr txBox="1"/>
          <p:nvPr/>
        </p:nvSpPr>
        <p:spPr>
          <a:xfrm>
            <a:off x="548640" y="4023360"/>
            <a:ext cx="809244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Append is the only way to change it. There is no edit and no delete.</a:t>
            </a:r>
          </a:p>
        </p:txBody>
      </p:sp>
      <p:sp>
        <p:nvSpPr>
          <p:cNvPr id="44" name="text:The hash is a SHA-256 fingerprint of"/>
          <p:cNvSpPr txBox="1"/>
          <p:nvPr/>
        </p:nvSpPr>
        <p:spPr>
          <a:xfrm>
            <a:off x="548640" y="4370832"/>
            <a:ext cx="809244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The hash is a SHA-256 fingerprint of the row plus the previous hash. Shown: the first 12 of 64 characters.</a:t>
            </a:r>
          </a:p>
        </p:txBody>
      </p:sp>
      <p:sp>
        <p:nvSpPr>
          <p:cNvPr id="45" name="text:Rows 1 to 3 of code/out/ledger.json"/>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Rows 1 to 3 of code/out/ledger.json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Edit a row and it show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Edit a row and it shows</a:t>
            </a:r>
          </a:p>
        </p:txBody>
      </p:sp>
      <p:sp>
        <p:nvSpPr>
          <p:cNvPr id="3" name="text:Replay the fills from the starting b"/>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Replay the fills from the starting balance. If anything differs, the check names the row.</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548640" y="1463040"/>
            <a:ext cx="3931920" cy="3017520"/>
          </a:xfrm>
          <a:prstGeom prst="roundRect">
            <a:avLst>
              <a:gd name="adj" fmla="val 4242"/>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IT ADDS UP"/>
          <p:cNvSpPr txBox="1"/>
          <p:nvPr/>
        </p:nvSpPr>
        <p:spPr>
          <a:xfrm>
            <a:off x="731520" y="1572768"/>
            <a:ext cx="320040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IT ADDS UP</a:t>
            </a:r>
          </a:p>
        </p:txBody>
      </p:sp>
      <p:sp>
        <p:nvSpPr>
          <p:cNvPr id="7" name="text:Start"/>
          <p:cNvSpPr txBox="1"/>
          <p:nvPr/>
        </p:nvSpPr>
        <p:spPr>
          <a:xfrm>
            <a:off x="731520" y="1874519"/>
            <a:ext cx="1828800" cy="22860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Start</a:t>
            </a:r>
          </a:p>
        </p:txBody>
      </p:sp>
      <p:sp>
        <p:nvSpPr>
          <p:cNvPr id="8" name="text:$10,000.00"/>
          <p:cNvSpPr txBox="1"/>
          <p:nvPr/>
        </p:nvSpPr>
        <p:spPr>
          <a:xfrm>
            <a:off x="2468880" y="1874519"/>
            <a:ext cx="1828800" cy="22860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$10,000.00</a:t>
            </a:r>
          </a:p>
        </p:txBody>
      </p:sp>
      <p:sp>
        <p:nvSpPr>
          <p:cNvPr id="9" name="text:Bought"/>
          <p:cNvSpPr txBox="1"/>
          <p:nvPr/>
        </p:nvSpPr>
        <p:spPr>
          <a:xfrm>
            <a:off x="731520" y="2176272"/>
            <a:ext cx="1828800" cy="22860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Bought</a:t>
            </a:r>
          </a:p>
        </p:txBody>
      </p:sp>
      <p:sp>
        <p:nvSpPr>
          <p:cNvPr id="10" name="text:-$5,498.62"/>
          <p:cNvSpPr txBox="1"/>
          <p:nvPr/>
        </p:nvSpPr>
        <p:spPr>
          <a:xfrm>
            <a:off x="2468880" y="2176272"/>
            <a:ext cx="1828800" cy="22860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-$5,498.62</a:t>
            </a:r>
          </a:p>
        </p:txBody>
      </p:sp>
      <p:sp>
        <p:nvSpPr>
          <p:cNvPr id="11" name="text:Sold"/>
          <p:cNvSpPr txBox="1"/>
          <p:nvPr/>
        </p:nvSpPr>
        <p:spPr>
          <a:xfrm>
            <a:off x="731520" y="2478024"/>
            <a:ext cx="1828800" cy="22860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Sold</a:t>
            </a:r>
          </a:p>
        </p:txBody>
      </p:sp>
      <p:sp>
        <p:nvSpPr>
          <p:cNvPr id="12" name="text:+$5,000.75"/>
          <p:cNvSpPr txBox="1"/>
          <p:nvPr/>
        </p:nvSpPr>
        <p:spPr>
          <a:xfrm>
            <a:off x="2468880" y="2478024"/>
            <a:ext cx="1828800" cy="22860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+$5,000.75</a:t>
            </a:r>
          </a:p>
        </p:txBody>
      </p:sp>
      <p:sp>
        <p:nvSpPr>
          <p:cNvPr id="13" name="text:Fees"/>
          <p:cNvSpPr txBox="1"/>
          <p:nvPr/>
        </p:nvSpPr>
        <p:spPr>
          <a:xfrm>
            <a:off x="731520" y="2779776"/>
            <a:ext cx="1828800" cy="22860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Fees</a:t>
            </a:r>
          </a:p>
        </p:txBody>
      </p:sp>
      <p:sp>
        <p:nvSpPr>
          <p:cNvPr id="14" name="text:-$4.20"/>
          <p:cNvSpPr txBox="1"/>
          <p:nvPr/>
        </p:nvSpPr>
        <p:spPr>
          <a:xfrm>
            <a:off x="2468880" y="2779776"/>
            <a:ext cx="1828800" cy="22860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-$4.20</a:t>
            </a:r>
          </a:p>
        </p:txBody>
      </p:sp>
      <p:sp>
        <p:nvSpPr>
          <p:cNvPr id="15" name="text:Cash after replay"/>
          <p:cNvSpPr txBox="1"/>
          <p:nvPr/>
        </p:nvSpPr>
        <p:spPr>
          <a:xfrm>
            <a:off x="731520" y="3081528"/>
            <a:ext cx="182880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Cash after replay</a:t>
            </a:r>
          </a:p>
        </p:txBody>
      </p:sp>
      <p:sp>
        <p:nvSpPr>
          <p:cNvPr id="16" name="text:$9,497.93"/>
          <p:cNvSpPr txBox="1"/>
          <p:nvPr/>
        </p:nvSpPr>
        <p:spPr>
          <a:xfrm>
            <a:off x="2468880" y="3081528"/>
            <a:ext cx="1828800" cy="228600"/>
          </a:xfrm>
          <a:prstGeom prst="rect">
            <a:avLst/>
          </a:prstGeom>
          <a:noFill/>
        </p:spPr>
        <p:txBody>
          <a:bodyPr wrap="square" lIns="9144" rIns="9144" tIns="0" bIns="0">
            <a:spAutoFit/>
          </a:bodyPr>
          <a:lstStyle/>
          <a:p>
            <a:pPr algn="r">
              <a:lnSpc>
                <a:spcPct val="106000"/>
              </a:lnSpc>
              <a:spcAft>
                <a:spcPts val="400"/>
              </a:spcAft>
              <a:defRPr sz="1200" b="0">
                <a:solidFill>
                  <a:srgbClr val="3DDC97"/>
                </a:solidFill>
                <a:latin typeface="Helvetica Neue"/>
              </a:defRPr>
            </a:pPr>
            <a:r>
              <a:t>$9,497.93</a:t>
            </a:r>
          </a:p>
        </p:txBody>
      </p:sp>
      <p:sp>
        <p:nvSpPr>
          <p:cNvPr id="17" name="text:Position"/>
          <p:cNvSpPr txBox="1"/>
          <p:nvPr/>
        </p:nvSpPr>
        <p:spPr>
          <a:xfrm>
            <a:off x="731520" y="3383280"/>
            <a:ext cx="182880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Position</a:t>
            </a:r>
          </a:p>
        </p:txBody>
      </p:sp>
      <p:sp>
        <p:nvSpPr>
          <p:cNvPr id="18" name="text:4.6058 SOL"/>
          <p:cNvSpPr txBox="1"/>
          <p:nvPr/>
        </p:nvSpPr>
        <p:spPr>
          <a:xfrm>
            <a:off x="2468880" y="3383280"/>
            <a:ext cx="1828800" cy="228600"/>
          </a:xfrm>
          <a:prstGeom prst="rect">
            <a:avLst/>
          </a:prstGeom>
          <a:noFill/>
        </p:spPr>
        <p:txBody>
          <a:bodyPr wrap="square" lIns="9144" rIns="9144" tIns="0" bIns="0">
            <a:spAutoFit/>
          </a:bodyPr>
          <a:lstStyle/>
          <a:p>
            <a:pPr algn="r">
              <a:lnSpc>
                <a:spcPct val="106000"/>
              </a:lnSpc>
              <a:spcAft>
                <a:spcPts val="400"/>
              </a:spcAft>
              <a:defRPr sz="1200" b="0">
                <a:solidFill>
                  <a:srgbClr val="3DDC97"/>
                </a:solidFill>
                <a:latin typeface="Helvetica Neue"/>
              </a:defRPr>
            </a:pPr>
            <a:r>
              <a:t>4.6058 SOL</a:t>
            </a:r>
          </a:p>
        </p:txBody>
      </p:sp>
      <p:sp>
        <p:nvSpPr>
          <p:cNvPr id="19" name="Rounded Rectangle 18"/>
          <p:cNvSpPr/>
          <p:nvPr/>
        </p:nvSpPr>
        <p:spPr>
          <a:xfrm>
            <a:off x="731520" y="3749039"/>
            <a:ext cx="3566160" cy="548640"/>
          </a:xfrm>
          <a:prstGeom prst="roundRect">
            <a:avLst>
              <a:gd name="adj" fmla="val 23333"/>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Hash chain intact, balances match th"/>
          <p:cNvSpPr txBox="1"/>
          <p:nvPr/>
        </p:nvSpPr>
        <p:spPr>
          <a:xfrm>
            <a:off x="868680" y="3749039"/>
            <a:ext cx="3337560" cy="548640"/>
          </a:xfrm>
          <a:prstGeom prst="rect">
            <a:avLst/>
          </a:prstGeom>
          <a:noFill/>
        </p:spPr>
        <p:txBody>
          <a:bodyPr wrap="square" lIns="9144" rIns="9144" tIns="0" bIns="0" anchor="ctr">
            <a:spAutoFit/>
          </a:bodyPr>
          <a:lstStyle/>
          <a:p>
            <a:pPr>
              <a:lnSpc>
                <a:spcPct val="106000"/>
              </a:lnSpc>
              <a:spcAft>
                <a:spcPts val="400"/>
              </a:spcAft>
              <a:defRPr sz="1150" b="0">
                <a:solidFill>
                  <a:srgbClr val="3DDC97"/>
                </a:solidFill>
                <a:latin typeface="Helvetica Neue"/>
              </a:defRPr>
            </a:pPr>
            <a:r>
              <a:t>Hash chain intact, balances match the fills (38 rows)</a:t>
            </a:r>
          </a:p>
        </p:txBody>
      </p:sp>
      <p:sp>
        <p:nvSpPr>
          <p:cNvPr id="21" name="Rounded Rectangle 20"/>
          <p:cNvSpPr/>
          <p:nvPr/>
        </p:nvSpPr>
        <p:spPr>
          <a:xfrm>
            <a:off x="4709160" y="1463040"/>
            <a:ext cx="3931920" cy="3017520"/>
          </a:xfrm>
          <a:prstGeom prst="roundRect">
            <a:avLst>
              <a:gd name="adj" fmla="val 4242"/>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SOMEONE EDITS ROW 5"/>
          <p:cNvSpPr txBox="1"/>
          <p:nvPr/>
        </p:nvSpPr>
        <p:spPr>
          <a:xfrm>
            <a:off x="4892040" y="1572768"/>
            <a:ext cx="3200400" cy="182880"/>
          </a:xfrm>
          <a:prstGeom prst="rect">
            <a:avLst/>
          </a:prstGeom>
          <a:noFill/>
        </p:spPr>
        <p:txBody>
          <a:bodyPr wrap="square" lIns="9144" rIns="9144" tIns="0" bIns="0">
            <a:spAutoFit/>
          </a:bodyPr>
          <a:lstStyle/>
          <a:p>
            <a:pPr>
              <a:lnSpc>
                <a:spcPct val="106000"/>
              </a:lnSpc>
              <a:spcAft>
                <a:spcPts val="400"/>
              </a:spcAft>
              <a:defRPr sz="950" b="0">
                <a:solidFill>
                  <a:srgbClr val="FD51FC"/>
                </a:solidFill>
                <a:latin typeface="Helvetica Neue"/>
              </a:defRPr>
            </a:pPr>
            <a:r>
              <a:t>SOMEONE EDITS ROW 5</a:t>
            </a:r>
          </a:p>
        </p:txBody>
      </p:sp>
      <p:sp>
        <p:nvSpPr>
          <p:cNvPr id="23" name="text:Row 5: the fill price changed by +$1"/>
          <p:cNvSpPr txBox="1"/>
          <p:nvPr/>
        </p:nvSpPr>
        <p:spPr>
          <a:xfrm>
            <a:off x="4892040" y="1874519"/>
            <a:ext cx="356616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Row 5: the fill price changed by +$1.00</a:t>
            </a:r>
          </a:p>
        </p:txBody>
      </p:sp>
      <p:sp>
        <p:nvSpPr>
          <p:cNvPr id="24" name="Rounded Rectangle 23"/>
          <p:cNvSpPr/>
          <p:nvPr/>
        </p:nvSpPr>
        <p:spPr>
          <a:xfrm>
            <a:off x="4892040" y="2286000"/>
            <a:ext cx="3566160" cy="914400"/>
          </a:xfrm>
          <a:prstGeom prst="roundRect">
            <a:avLst>
              <a:gd name="adj" fmla="val 8000"/>
            </a:avLst>
          </a:prstGeom>
          <a:solidFill>
            <a:srgbClr val="100821"/>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row 5: hash does not match the row's"/>
          <p:cNvSpPr txBox="1"/>
          <p:nvPr/>
        </p:nvSpPr>
        <p:spPr>
          <a:xfrm>
            <a:off x="5029200" y="2286000"/>
            <a:ext cx="3291840" cy="914400"/>
          </a:xfrm>
          <a:prstGeom prst="rect">
            <a:avLst/>
          </a:prstGeom>
          <a:noFill/>
        </p:spPr>
        <p:txBody>
          <a:bodyPr wrap="square" lIns="9144" rIns="9144" tIns="0" bIns="0" anchor="ctr">
            <a:spAutoFit/>
          </a:bodyPr>
          <a:lstStyle/>
          <a:p>
            <a:pPr>
              <a:lnSpc>
                <a:spcPct val="106000"/>
              </a:lnSpc>
              <a:spcAft>
                <a:spcPts val="400"/>
              </a:spcAft>
              <a:defRPr sz="1100" b="0">
                <a:solidFill>
                  <a:srgbClr val="FD51FC"/>
                </a:solidFill>
                <a:latin typeface="Menlo"/>
              </a:defRPr>
            </a:pPr>
            <a:r>
              <a:t>row 5: hash does not match the row's contents (row was changed)</a:t>
            </a:r>
          </a:p>
        </p:txBody>
      </p:sp>
      <p:sp>
        <p:nvSpPr>
          <p:cNvPr id="26" name="text:Hash chain BROKEN"/>
          <p:cNvSpPr txBox="1"/>
          <p:nvPr/>
        </p:nvSpPr>
        <p:spPr>
          <a:xfrm>
            <a:off x="4892040" y="3383280"/>
            <a:ext cx="3566160" cy="228600"/>
          </a:xfrm>
          <a:prstGeom prst="rect">
            <a:avLst/>
          </a:prstGeom>
          <a:noFill/>
        </p:spPr>
        <p:txBody>
          <a:bodyPr wrap="square" lIns="9144" rIns="9144" tIns="0" bIns="0">
            <a:spAutoFit/>
          </a:bodyPr>
          <a:lstStyle/>
          <a:p>
            <a:pPr>
              <a:lnSpc>
                <a:spcPct val="106000"/>
              </a:lnSpc>
              <a:spcAft>
                <a:spcPts val="400"/>
              </a:spcAft>
              <a:defRPr sz="1300" b="0">
                <a:solidFill>
                  <a:srgbClr val="FD51FC"/>
                </a:solidFill>
                <a:latin typeface="Helvetica Neue"/>
              </a:defRPr>
            </a:pPr>
            <a:r>
              <a:t>Hash chain BROKEN</a:t>
            </a:r>
          </a:p>
        </p:txBody>
      </p:sp>
      <p:sp>
        <p:nvSpPr>
          <p:cNvPr id="27" name="text:Balances do NOT match the fills"/>
          <p:cNvSpPr txBox="1"/>
          <p:nvPr/>
        </p:nvSpPr>
        <p:spPr>
          <a:xfrm>
            <a:off x="4892040" y="3703320"/>
            <a:ext cx="3566160" cy="228600"/>
          </a:xfrm>
          <a:prstGeom prst="rect">
            <a:avLst/>
          </a:prstGeom>
          <a:noFill/>
        </p:spPr>
        <p:txBody>
          <a:bodyPr wrap="square" lIns="9144" rIns="9144" tIns="0" bIns="0">
            <a:spAutoFit/>
          </a:bodyPr>
          <a:lstStyle/>
          <a:p>
            <a:pPr>
              <a:lnSpc>
                <a:spcPct val="106000"/>
              </a:lnSpc>
              <a:spcAft>
                <a:spcPts val="400"/>
              </a:spcAft>
              <a:defRPr sz="1300" b="0">
                <a:solidFill>
                  <a:srgbClr val="FD51FC"/>
                </a:solidFill>
                <a:latin typeface="Helvetica Neue"/>
              </a:defRPr>
            </a:pPr>
            <a:r>
              <a:t>Balances do NOT match the fills</a:t>
            </a:r>
          </a:p>
        </p:txBody>
      </p:sp>
      <p:sp>
        <p:nvSpPr>
          <p:cNvPr id="28" name="text:The first problem is at row 5; later"/>
          <p:cNvSpPr txBox="1"/>
          <p:nvPr/>
        </p:nvSpPr>
        <p:spPr>
          <a:xfrm>
            <a:off x="4892040" y="4069080"/>
            <a:ext cx="3566160" cy="2286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The first problem is at row 5; later rows fail too.</a:t>
            </a:r>
          </a:p>
        </p:txBody>
      </p:sp>
      <p:sp>
        <p:nvSpPr>
          <p:cNvPr id="29" name="text:Replay of code/out/ledger.json (reco"/>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Replay of code/out/ledger.json (recorded data); edit run with lab/shared/calc.js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al number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Real numbers</a:t>
            </a:r>
          </a:p>
        </p:txBody>
      </p:sp>
      <p:sp>
        <p:nvSpPr>
          <p:cNvPr id="3" name="text:Simulated, on recorded data; not adv"/>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Simulated, on recorded data; not advice.</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sp>
        <p:nvSpPr>
          <p:cNvPr id="5" name="Rounded Rectangle 4"/>
          <p:cNvSpPr/>
          <p:nvPr/>
        </p:nvSpPr>
        <p:spPr>
          <a:xfrm>
            <a:off x="548640" y="1508760"/>
            <a:ext cx="182880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ETS"/>
          <p:cNvSpPr txBox="1"/>
          <p:nvPr/>
        </p:nvSpPr>
        <p:spPr>
          <a:xfrm>
            <a:off x="713232"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BETS</a:t>
            </a:r>
          </a:p>
        </p:txBody>
      </p:sp>
      <p:sp>
        <p:nvSpPr>
          <p:cNvPr id="7" name="text:37"/>
          <p:cNvSpPr txBox="1"/>
          <p:nvPr/>
        </p:nvSpPr>
        <p:spPr>
          <a:xfrm>
            <a:off x="713232" y="1920240"/>
            <a:ext cx="155448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37</a:t>
            </a:r>
          </a:p>
        </p:txBody>
      </p:sp>
      <p:sp>
        <p:nvSpPr>
          <p:cNvPr id="8" name="text:momentum rule, 5 min each"/>
          <p:cNvSpPr txBox="1"/>
          <p:nvPr/>
        </p:nvSpPr>
        <p:spPr>
          <a:xfrm>
            <a:off x="713232" y="2578608"/>
            <a:ext cx="155448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momentum rule, 5 min each</a:t>
            </a:r>
          </a:p>
        </p:txBody>
      </p:sp>
      <p:sp>
        <p:nvSpPr>
          <p:cNvPr id="9" name="Rounded Rectangle 8"/>
          <p:cNvSpPr/>
          <p:nvPr/>
        </p:nvSpPr>
        <p:spPr>
          <a:xfrm>
            <a:off x="2636215" y="1508760"/>
            <a:ext cx="182880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MOST OPEN"/>
          <p:cNvSpPr txBox="1"/>
          <p:nvPr/>
        </p:nvSpPr>
        <p:spPr>
          <a:xfrm>
            <a:off x="2800807"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MOST OPEN</a:t>
            </a:r>
          </a:p>
        </p:txBody>
      </p:sp>
      <p:sp>
        <p:nvSpPr>
          <p:cNvPr id="11" name="text:7"/>
          <p:cNvSpPr txBox="1"/>
          <p:nvPr/>
        </p:nvSpPr>
        <p:spPr>
          <a:xfrm>
            <a:off x="2800807" y="1920240"/>
            <a:ext cx="155448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7</a:t>
            </a:r>
          </a:p>
        </p:txBody>
      </p:sp>
      <p:sp>
        <p:nvSpPr>
          <p:cNvPr id="12" name="text:4.3 on average"/>
          <p:cNvSpPr txBox="1"/>
          <p:nvPr/>
        </p:nvSpPr>
        <p:spPr>
          <a:xfrm>
            <a:off x="2800807" y="2578608"/>
            <a:ext cx="155448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4.3 on average</a:t>
            </a:r>
          </a:p>
        </p:txBody>
      </p:sp>
      <p:sp>
        <p:nvSpPr>
          <p:cNvPr id="13" name="Rounded Rectangle 12"/>
          <p:cNvSpPr/>
          <p:nvPr/>
        </p:nvSpPr>
        <p:spPr>
          <a:xfrm>
            <a:off x="4723790" y="1508760"/>
            <a:ext cx="1828800" cy="1417320"/>
          </a:xfrm>
          <a:prstGeom prst="roundRect">
            <a:avLst>
              <a:gd name="adj" fmla="val 903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LEDGER ROWS"/>
          <p:cNvSpPr txBox="1"/>
          <p:nvPr/>
        </p:nvSpPr>
        <p:spPr>
          <a:xfrm>
            <a:off x="4888382"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LEDGER ROWS</a:t>
            </a:r>
          </a:p>
        </p:txBody>
      </p:sp>
      <p:sp>
        <p:nvSpPr>
          <p:cNvPr id="15" name="text:38"/>
          <p:cNvSpPr txBox="1"/>
          <p:nvPr/>
        </p:nvSpPr>
        <p:spPr>
          <a:xfrm>
            <a:off x="4888382" y="1920240"/>
            <a:ext cx="155448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38</a:t>
            </a:r>
          </a:p>
        </p:txBody>
      </p:sp>
      <p:sp>
        <p:nvSpPr>
          <p:cNvPr id="16" name="text:36 fills, 2 refused"/>
          <p:cNvSpPr txBox="1"/>
          <p:nvPr/>
        </p:nvSpPr>
        <p:spPr>
          <a:xfrm>
            <a:off x="4888382" y="2578608"/>
            <a:ext cx="155448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36 fills, 2 refused</a:t>
            </a:r>
          </a:p>
        </p:txBody>
      </p:sp>
      <p:sp>
        <p:nvSpPr>
          <p:cNvPr id="17" name="Rounded Rectangle 16"/>
          <p:cNvSpPr/>
          <p:nvPr/>
        </p:nvSpPr>
        <p:spPr>
          <a:xfrm>
            <a:off x="6811365" y="1508760"/>
            <a:ext cx="1828800" cy="1417320"/>
          </a:xfrm>
          <a:prstGeom prst="roundRect">
            <a:avLst>
              <a:gd name="adj" fmla="val 903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FEES PAID"/>
          <p:cNvSpPr txBox="1"/>
          <p:nvPr/>
        </p:nvSpPr>
        <p:spPr>
          <a:xfrm>
            <a:off x="6975957" y="1645920"/>
            <a:ext cx="155448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FEES PAID</a:t>
            </a:r>
          </a:p>
        </p:txBody>
      </p:sp>
      <p:sp>
        <p:nvSpPr>
          <p:cNvPr id="19" name="text:$4.20"/>
          <p:cNvSpPr txBox="1"/>
          <p:nvPr/>
        </p:nvSpPr>
        <p:spPr>
          <a:xfrm>
            <a:off x="6975957" y="1920240"/>
            <a:ext cx="155448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$4.20</a:t>
            </a:r>
          </a:p>
        </p:txBody>
      </p:sp>
      <p:sp>
        <p:nvSpPr>
          <p:cNvPr id="20" name="text:4 bps per fill"/>
          <p:cNvSpPr txBox="1"/>
          <p:nvPr/>
        </p:nvSpPr>
        <p:spPr>
          <a:xfrm>
            <a:off x="6975957" y="2578608"/>
            <a:ext cx="155448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4 bps per fill</a:t>
            </a:r>
          </a:p>
        </p:txBody>
      </p:sp>
      <p:sp>
        <p:nvSpPr>
          <p:cNvPr id="21" name="Rounded Rectangle 20"/>
          <p:cNvSpPr/>
          <p:nvPr/>
        </p:nvSpPr>
        <p:spPr>
          <a:xfrm>
            <a:off x="548640" y="3108960"/>
            <a:ext cx="4892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EQUITY AT THE END, SIMULATED"/>
          <p:cNvSpPr txBox="1"/>
          <p:nvPr/>
        </p:nvSpPr>
        <p:spPr>
          <a:xfrm>
            <a:off x="731520" y="3200400"/>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EQUITY AT THE END, SIMULATED</a:t>
            </a:r>
          </a:p>
        </p:txBody>
      </p:sp>
      <p:sp>
        <p:nvSpPr>
          <p:cNvPr id="23" name="text:no costs +0.024%   →   with costs -0"/>
          <p:cNvSpPr txBox="1"/>
          <p:nvPr/>
        </p:nvSpPr>
        <p:spPr>
          <a:xfrm>
            <a:off x="731520" y="3429000"/>
            <a:ext cx="45720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no costs +0.024%   →   with costs -0.019%</a:t>
            </a:r>
          </a:p>
        </p:txBody>
      </p:sp>
      <p:sp>
        <p:nvSpPr>
          <p:cNvPr id="24" name="text:average uniqueness 0.23; largest siz"/>
          <p:cNvSpPr txBox="1"/>
          <p:nvPr/>
        </p:nvSpPr>
        <p:spPr>
          <a:xfrm>
            <a:off x="731520" y="3730752"/>
            <a:ext cx="4572000" cy="2286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average uniqueness 0.23; largest size averaged 38%, summed 100%</a:t>
            </a:r>
          </a:p>
        </p:txBody>
      </p:sp>
      <p:sp>
        <p:nvSpPr>
          <p:cNvPr id="25" name="Rounded Rectangle 24"/>
          <p:cNvSpPr/>
          <p:nvPr/>
        </p:nvSpPr>
        <p:spPr>
          <a:xfrm>
            <a:off x="5623560" y="3108960"/>
            <a:ext cx="301752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One 40-minute window, one night. A f"/>
          <p:cNvSpPr txBox="1"/>
          <p:nvPr/>
        </p:nvSpPr>
        <p:spPr>
          <a:xfrm>
            <a:off x="5806440" y="3108960"/>
            <a:ext cx="2697480" cy="914400"/>
          </a:xfrm>
          <a:prstGeom prst="rect">
            <a:avLst/>
          </a:prstGeom>
          <a:noFill/>
        </p:spPr>
        <p:txBody>
          <a:bodyPr wrap="square" lIns="9144" rIns="9144" tIns="0" bIns="0" anchor="ctr">
            <a:spAutoFit/>
          </a:bodyPr>
          <a:lstStyle/>
          <a:p>
            <a:pPr>
              <a:lnSpc>
                <a:spcPct val="106000"/>
              </a:lnSpc>
              <a:spcAft>
                <a:spcPts val="400"/>
              </a:spcAft>
              <a:defRPr sz="1150" b="0">
                <a:solidFill>
                  <a:srgbClr val="9A9AA2"/>
                </a:solidFill>
                <a:latin typeface="Helvetica Neue"/>
              </a:defRPr>
            </a:pPr>
            <a:r>
              <a:t>One 40-minute window, one night. A few dollars either way is noise, not a result.</a:t>
            </a:r>
          </a:p>
        </p:txBody>
      </p:sp>
      <p:sp>
        <p:nvSpPr>
          <p:cNvPr id="27" name="Rounded Rectangle 26"/>
          <p:cNvSpPr/>
          <p:nvPr/>
        </p:nvSpPr>
        <p:spPr>
          <a:xfrm>
            <a:off x="548640" y="4160520"/>
            <a:ext cx="8092440" cy="457200"/>
          </a:xfrm>
          <a:prstGeom prst="roundRect">
            <a:avLst>
              <a:gd name="adj" fmla="val 28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Reads use public mainnet data; every"/>
          <p:cNvSpPr txBox="1"/>
          <p:nvPr/>
        </p:nvSpPr>
        <p:spPr>
          <a:xfrm>
            <a:off x="713232" y="4160520"/>
            <a:ext cx="7818120"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Reads use public mainnet data; every write is devnet only; no real funds.</a:t>
            </a:r>
          </a:p>
        </p:txBody>
      </p:sp>
      <p:sp>
        <p:nvSpPr>
          <p:cNvPr id="29" name="text:Source: code/out/ledger.json, concu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code/out/ledger.json, concurrency.json, equity.json. Recorded Jupiter, Pyth and Orca prices, 2026-10-21 17:13 to 17:53 UTC (01:13 to 01:53 SGT). Simulated; not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al pool data"/>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Real pool data</a:t>
            </a:r>
          </a:p>
        </p:txBody>
      </p:sp>
      <p:sp>
        <p:nvSpPr>
          <p:cNvPr id="3" name="text:Inventory from real token accounts.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Inventory from real token accounts. Price impact from real Jupiter quotes.</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548640" y="1463040"/>
            <a:ext cx="2606040" cy="2331720"/>
          </a:xfrm>
          <a:prstGeom prst="roundRect">
            <a:avLst>
              <a:gd name="adj" fmla="val 549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ORCA SOL/USDC POOL HOLDS"/>
          <p:cNvSpPr txBox="1"/>
          <p:nvPr/>
        </p:nvSpPr>
        <p:spPr>
          <a:xfrm>
            <a:off x="713232" y="1572768"/>
            <a:ext cx="22860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ORCA SOL/USDC POOL HOLDS</a:t>
            </a:r>
          </a:p>
        </p:txBody>
      </p:sp>
      <p:sp>
        <p:nvSpPr>
          <p:cNvPr id="7" name="text:178,736"/>
          <p:cNvSpPr txBox="1"/>
          <p:nvPr/>
        </p:nvSpPr>
        <p:spPr>
          <a:xfrm>
            <a:off x="713232" y="1828800"/>
            <a:ext cx="2286000" cy="411480"/>
          </a:xfrm>
          <a:prstGeom prst="rect">
            <a:avLst/>
          </a:prstGeom>
          <a:noFill/>
        </p:spPr>
        <p:txBody>
          <a:bodyPr wrap="square" lIns="9144" rIns="9144" tIns="0" bIns="0">
            <a:spAutoFit/>
          </a:bodyPr>
          <a:lstStyle/>
          <a:p>
            <a:pPr>
              <a:lnSpc>
                <a:spcPct val="106000"/>
              </a:lnSpc>
              <a:spcAft>
                <a:spcPts val="400"/>
              </a:spcAft>
              <a:defRPr sz="2400" b="0">
                <a:solidFill>
                  <a:srgbClr val="F2F5F8"/>
                </a:solidFill>
                <a:latin typeface="Helvetica Neue"/>
              </a:defRPr>
            </a:pPr>
            <a:r>
              <a:t>178,736</a:t>
            </a:r>
          </a:p>
        </p:txBody>
      </p:sp>
      <p:sp>
        <p:nvSpPr>
          <p:cNvPr id="8" name="text:SOL in its vault"/>
          <p:cNvSpPr txBox="1"/>
          <p:nvPr/>
        </p:nvSpPr>
        <p:spPr>
          <a:xfrm>
            <a:off x="713232" y="2286000"/>
            <a:ext cx="228600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SOL in its vault</a:t>
            </a:r>
          </a:p>
        </p:txBody>
      </p:sp>
      <p:sp>
        <p:nvSpPr>
          <p:cNvPr id="9" name="text:10,692,375"/>
          <p:cNvSpPr txBox="1"/>
          <p:nvPr/>
        </p:nvSpPr>
        <p:spPr>
          <a:xfrm>
            <a:off x="713232" y="2606040"/>
            <a:ext cx="2286000" cy="411480"/>
          </a:xfrm>
          <a:prstGeom prst="rect">
            <a:avLst/>
          </a:prstGeom>
          <a:noFill/>
        </p:spPr>
        <p:txBody>
          <a:bodyPr wrap="square" lIns="9144" rIns="9144" tIns="0" bIns="0">
            <a:spAutoFit/>
          </a:bodyPr>
          <a:lstStyle/>
          <a:p>
            <a:pPr>
              <a:lnSpc>
                <a:spcPct val="106000"/>
              </a:lnSpc>
              <a:spcAft>
                <a:spcPts val="400"/>
              </a:spcAft>
              <a:defRPr sz="2400" b="0">
                <a:solidFill>
                  <a:srgbClr val="F2F5F8"/>
                </a:solidFill>
                <a:latin typeface="Helvetica Neue"/>
              </a:defRPr>
            </a:pPr>
            <a:r>
              <a:t>10,692,375</a:t>
            </a:r>
          </a:p>
        </p:txBody>
      </p:sp>
      <p:sp>
        <p:nvSpPr>
          <p:cNvPr id="10" name="text:USDC in its vault"/>
          <p:cNvSpPr txBox="1"/>
          <p:nvPr/>
        </p:nvSpPr>
        <p:spPr>
          <a:xfrm>
            <a:off x="713232" y="3063240"/>
            <a:ext cx="228600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USDC in its vault</a:t>
            </a:r>
          </a:p>
        </p:txBody>
      </p:sp>
      <p:sp>
        <p:nvSpPr>
          <p:cNvPr id="11" name="text:A $1,000 order is 0.0094% of the USD"/>
          <p:cNvSpPr txBox="1"/>
          <p:nvPr/>
        </p:nvSpPr>
        <p:spPr>
          <a:xfrm>
            <a:off x="713232" y="3337560"/>
            <a:ext cx="2331720" cy="41148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Helvetica Neue"/>
              </a:defRPr>
            </a:pPr>
            <a:r>
              <a:t>A $1,000 order is 0.0094% of the USDC side.</a:t>
            </a:r>
          </a:p>
        </p:txBody>
      </p:sp>
      <p:sp>
        <p:nvSpPr>
          <p:cNvPr id="12" name="Rounded Rectangle 11"/>
          <p:cNvSpPr/>
          <p:nvPr/>
        </p:nvSpPr>
        <p:spPr>
          <a:xfrm>
            <a:off x="3291840" y="1463040"/>
            <a:ext cx="2834640" cy="2331720"/>
          </a:xfrm>
          <a:prstGeom prst="roundRect">
            <a:avLst>
              <a:gd name="adj" fmla="val 549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PRICE MOVE FOR A BUY (JUPITER)"/>
          <p:cNvSpPr txBox="1"/>
          <p:nvPr/>
        </p:nvSpPr>
        <p:spPr>
          <a:xfrm>
            <a:off x="3456432" y="1572768"/>
            <a:ext cx="2560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PRICE MOVE FOR A BUY (JUPITER)</a:t>
            </a:r>
          </a:p>
        </p:txBody>
      </p:sp>
      <p:sp>
        <p:nvSpPr>
          <p:cNvPr id="14" name="text:SOL/USDC"/>
          <p:cNvSpPr txBox="1"/>
          <p:nvPr/>
        </p:nvSpPr>
        <p:spPr>
          <a:xfrm>
            <a:off x="3456432" y="1874519"/>
            <a:ext cx="2560320" cy="201168"/>
          </a:xfrm>
          <a:prstGeom prst="rect">
            <a:avLst/>
          </a:prstGeom>
          <a:noFill/>
        </p:spPr>
        <p:txBody>
          <a:bodyPr wrap="square" lIns="9144" rIns="9144" tIns="0" bIns="0">
            <a:spAutoFit/>
          </a:bodyPr>
          <a:lstStyle/>
          <a:p>
            <a:pPr>
              <a:lnSpc>
                <a:spcPct val="106000"/>
              </a:lnSpc>
              <a:spcAft>
                <a:spcPts val="400"/>
              </a:spcAft>
              <a:defRPr sz="1100" b="0">
                <a:solidFill>
                  <a:srgbClr val="3DDC97"/>
                </a:solidFill>
                <a:latin typeface="Helvetica Neue"/>
              </a:defRPr>
            </a:pPr>
            <a:r>
              <a:t>SOL/USDC</a:t>
            </a:r>
          </a:p>
        </p:txBody>
      </p:sp>
      <p:sp>
        <p:nvSpPr>
          <p:cNvPr id="15" name="text:$100,000  →  0.005 bps"/>
          <p:cNvSpPr txBox="1"/>
          <p:nvPr/>
        </p:nvSpPr>
        <p:spPr>
          <a:xfrm>
            <a:off x="3456432" y="2121408"/>
            <a:ext cx="2560320" cy="201168"/>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Menlo"/>
              </a:defRPr>
            </a:pPr>
            <a:r>
              <a:t>$100,000  →  0.005 bps</a:t>
            </a:r>
          </a:p>
        </p:txBody>
      </p:sp>
      <p:sp>
        <p:nvSpPr>
          <p:cNvPr id="16" name="text:$1,000,000  →  0.066 bps"/>
          <p:cNvSpPr txBox="1"/>
          <p:nvPr/>
        </p:nvSpPr>
        <p:spPr>
          <a:xfrm>
            <a:off x="3456432" y="2350008"/>
            <a:ext cx="2560320" cy="201168"/>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Menlo"/>
              </a:defRPr>
            </a:pPr>
            <a:r>
              <a:t>$1,000,000  →  0.066 bps</a:t>
            </a:r>
          </a:p>
        </p:txBody>
      </p:sp>
      <p:sp>
        <p:nvSpPr>
          <p:cNvPr id="17" name="text:ORCA/USDC"/>
          <p:cNvSpPr txBox="1"/>
          <p:nvPr/>
        </p:nvSpPr>
        <p:spPr>
          <a:xfrm>
            <a:off x="3456432" y="2788920"/>
            <a:ext cx="25603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ORCA/USDC</a:t>
            </a:r>
          </a:p>
        </p:txBody>
      </p:sp>
      <p:sp>
        <p:nvSpPr>
          <p:cNvPr id="18" name="text:$100,000  →  3.317 bps"/>
          <p:cNvSpPr txBox="1"/>
          <p:nvPr/>
        </p:nvSpPr>
        <p:spPr>
          <a:xfrm>
            <a:off x="3456432" y="3035808"/>
            <a:ext cx="2560320" cy="201168"/>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Menlo"/>
              </a:defRPr>
            </a:pPr>
            <a:r>
              <a:t>$100,000  →  3.317 bps</a:t>
            </a:r>
          </a:p>
        </p:txBody>
      </p:sp>
      <p:sp>
        <p:nvSpPr>
          <p:cNvPr id="19" name="text:$1,000,000  →  28.202 bps"/>
          <p:cNvSpPr txBox="1"/>
          <p:nvPr/>
        </p:nvSpPr>
        <p:spPr>
          <a:xfrm>
            <a:off x="3456432" y="3264408"/>
            <a:ext cx="2560320" cy="201168"/>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Menlo"/>
              </a:defRPr>
            </a:pPr>
            <a:r>
              <a:t>$1,000,000  →  28.202 bps</a:t>
            </a:r>
          </a:p>
        </p:txBody>
      </p:sp>
      <p:sp>
        <p:nvSpPr>
          <p:cNvPr id="20" name="Rounded Rectangle 19"/>
          <p:cNvSpPr/>
          <p:nvPr/>
        </p:nvSpPr>
        <p:spPr>
          <a:xfrm>
            <a:off x="6263640" y="1463040"/>
            <a:ext cx="2377440" cy="2331720"/>
          </a:xfrm>
          <a:prstGeom prst="roundRect">
            <a:avLst>
              <a:gd name="adj" fmla="val 549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LARGEST BUY UNDER 5 BPS"/>
          <p:cNvSpPr txBox="1"/>
          <p:nvPr/>
        </p:nvSpPr>
        <p:spPr>
          <a:xfrm>
            <a:off x="6400800" y="1572768"/>
            <a:ext cx="21945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LARGEST BUY UNDER 5 BPS</a:t>
            </a:r>
          </a:p>
        </p:txBody>
      </p:sp>
      <p:sp>
        <p:nvSpPr>
          <p:cNvPr id="22" name="text:SOL/USDC"/>
          <p:cNvSpPr txBox="1"/>
          <p:nvPr/>
        </p:nvSpPr>
        <p:spPr>
          <a:xfrm>
            <a:off x="6400800" y="1874519"/>
            <a:ext cx="21031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SOL/USDC</a:t>
            </a:r>
          </a:p>
        </p:txBody>
      </p:sp>
      <p:sp>
        <p:nvSpPr>
          <p:cNvPr id="23" name="text:over $1,000,000"/>
          <p:cNvSpPr txBox="1"/>
          <p:nvPr/>
        </p:nvSpPr>
        <p:spPr>
          <a:xfrm>
            <a:off x="6400800" y="2148839"/>
            <a:ext cx="2148840" cy="365760"/>
          </a:xfrm>
          <a:prstGeom prst="rect">
            <a:avLst/>
          </a:prstGeom>
          <a:noFill/>
        </p:spPr>
        <p:txBody>
          <a:bodyPr wrap="square" lIns="9144" rIns="9144" tIns="0" bIns="0">
            <a:spAutoFit/>
          </a:bodyPr>
          <a:lstStyle/>
          <a:p>
            <a:pPr>
              <a:lnSpc>
                <a:spcPct val="106000"/>
              </a:lnSpc>
              <a:spcAft>
                <a:spcPts val="400"/>
              </a:spcAft>
              <a:defRPr sz="1600" b="0">
                <a:solidFill>
                  <a:srgbClr val="3DDC97"/>
                </a:solidFill>
                <a:latin typeface="Helvetica Neue"/>
              </a:defRPr>
            </a:pPr>
            <a:r>
              <a:t>over $1,000,000</a:t>
            </a:r>
          </a:p>
        </p:txBody>
      </p:sp>
      <p:sp>
        <p:nvSpPr>
          <p:cNvPr id="24" name="text:ORCA/USDC"/>
          <p:cNvSpPr txBox="1"/>
          <p:nvPr/>
        </p:nvSpPr>
        <p:spPr>
          <a:xfrm>
            <a:off x="6400800" y="2788920"/>
            <a:ext cx="2103120" cy="201168"/>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ORCA/USDC</a:t>
            </a:r>
          </a:p>
        </p:txBody>
      </p:sp>
      <p:sp>
        <p:nvSpPr>
          <p:cNvPr id="25" name="text:about $159,000"/>
          <p:cNvSpPr txBox="1"/>
          <p:nvPr/>
        </p:nvSpPr>
        <p:spPr>
          <a:xfrm>
            <a:off x="6400800" y="3063239"/>
            <a:ext cx="2148840" cy="36576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about $159,000</a:t>
            </a:r>
          </a:p>
        </p:txBody>
      </p:sp>
      <p:sp>
        <p:nvSpPr>
          <p:cNvPr id="26" name="text:SOL/USDC is deep. The impact cap onl"/>
          <p:cNvSpPr txBox="1"/>
          <p:nvPr/>
        </p:nvSpPr>
        <p:spPr>
          <a:xfrm>
            <a:off x="548640" y="3931920"/>
            <a:ext cx="809244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SOL/USDC is deep. The impact cap only bites on thinner pools.</a:t>
            </a:r>
          </a:p>
        </p:txBody>
      </p:sp>
      <p:sp>
        <p:nvSpPr>
          <p:cNvPr id="27" name="text:Source: code/recorded/ (Orca SOL/USD"/>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code/recorded/ (Orca SOL/USDC pool vaults, public RPC; Jupiter quotes), captured 2026-10-21 19:36:08 UTC and 2026-10-21 19:36:02 UTC. Read with getAccountInfo; 1 bp = 0.01%.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sizing in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sizing in code</a:t>
            </a:r>
          </a:p>
        </p:txBody>
      </p:sp>
      <p:sp>
        <p:nvSpPr>
          <p:cNvPr id="3"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sp>
        <p:nvSpPr>
          <p:cNvPr id="4" name="Rounded Rectangle 3"/>
          <p:cNvSpPr/>
          <p:nvPr/>
        </p:nvSpPr>
        <p:spPr>
          <a:xfrm>
            <a:off x="548640" y="1371600"/>
            <a:ext cx="5257800" cy="3154680"/>
          </a:xfrm>
          <a:prstGeom prst="roundRect">
            <a:avLst>
              <a:gd name="adj" fmla="val 4057"/>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demo-repo/code/src/sizing.ts"/>
          <p:cNvSpPr txBox="1"/>
          <p:nvPr/>
        </p:nvSpPr>
        <p:spPr>
          <a:xfrm>
            <a:off x="731520" y="1463040"/>
            <a:ext cx="4846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Menlo"/>
              </a:defRPr>
            </a:pPr>
            <a:r>
              <a:t>demo-repo/code/src/sizing.ts</a:t>
            </a:r>
          </a:p>
        </p:txBody>
      </p:sp>
      <p:sp>
        <p:nvSpPr>
          <p:cNvPr id="6" name="text:export function probToSize(p: number"/>
          <p:cNvSpPr txBox="1"/>
          <p:nvPr/>
        </p:nvSpPr>
        <p:spPr>
          <a:xfrm>
            <a:off x="731520" y="1783080"/>
            <a:ext cx="4983480" cy="2651760"/>
          </a:xfrm>
          <a:prstGeom prst="rect">
            <a:avLst/>
          </a:prstGeom>
          <a:noFill/>
        </p:spPr>
        <p:txBody>
          <a:bodyPr wrap="square" lIns="9144" rIns="9144" tIns="0" bIns="0">
            <a:spAutoFit/>
          </a:bodyPr>
          <a:lstStyle/>
          <a:p>
            <a:pPr>
              <a:lnSpc>
                <a:spcPct val="100000"/>
              </a:lnSpc>
              <a:spcAft>
                <a:spcPts val="400"/>
              </a:spcAft>
              <a:defRPr sz="850" b="0">
                <a:solidFill>
                  <a:srgbClr val="F2F5F8"/>
                </a:solidFill>
                <a:latin typeface="Menlo"/>
              </a:defRPr>
            </a:pPr>
            <a:r>
              <a:t>export function probToSize(p: number): number {</a:t>
            </a:r>
          </a:p>
          <a:p>
            <a:pPr>
              <a:lnSpc>
                <a:spcPct val="100000"/>
              </a:lnSpc>
              <a:spcAft>
                <a:spcPts val="400"/>
              </a:spcAft>
              <a:defRPr sz="850" b="0">
                <a:solidFill>
                  <a:srgbClr val="F2F5F8"/>
                </a:solidFill>
                <a:latin typeface="Menlo"/>
              </a:defRPr>
            </a:pPr>
            <a:r>
              <a:t>  if (!Number.isFinite(p) || p &lt;= 0.5) return 0;</a:t>
            </a:r>
          </a:p>
          <a:p>
            <a:pPr>
              <a:lnSpc>
                <a:spcPct val="100000"/>
              </a:lnSpc>
              <a:spcAft>
                <a:spcPts val="400"/>
              </a:spcAft>
              <a:defRPr sz="850" b="0">
                <a:solidFill>
                  <a:srgbClr val="F2F5F8"/>
                </a:solidFill>
                <a:latin typeface="Menlo"/>
              </a:defRPr>
            </a:pPr>
            <a:r>
              <a:t>  if (p &gt;= 1) return 1;</a:t>
            </a:r>
          </a:p>
          <a:p>
            <a:pPr>
              <a:lnSpc>
                <a:spcPct val="100000"/>
              </a:lnSpc>
              <a:spcAft>
                <a:spcPts val="400"/>
              </a:spcAft>
              <a:defRPr sz="850" b="0">
                <a:solidFill>
                  <a:srgbClr val="F2F5F8"/>
                </a:solidFill>
                <a:latin typeface="Menlo"/>
              </a:defRPr>
            </a:pPr>
            <a:r>
              <a:t>  const z = (p - 0.5) / Math.sqrt(p * (1 - p));</a:t>
            </a:r>
          </a:p>
          <a:p>
            <a:pPr>
              <a:lnSpc>
                <a:spcPct val="100000"/>
              </a:lnSpc>
              <a:spcAft>
                <a:spcPts val="400"/>
              </a:spcAft>
              <a:defRPr sz="850" b="0">
                <a:solidFill>
                  <a:srgbClr val="F2F5F8"/>
                </a:solidFill>
                <a:latin typeface="Menlo"/>
              </a:defRPr>
            </a:pPr>
            <a:r>
              <a:t>  return 2 * normCdf(z) - 1;</a:t>
            </a:r>
          </a:p>
          <a:p>
            <a:pPr>
              <a:lnSpc>
                <a:spcPct val="100000"/>
              </a:lnSpc>
              <a:spcAft>
                <a:spcPts val="400"/>
              </a:spcAft>
              <a:defRPr sz="850" b="0">
                <a:solidFill>
                  <a:srgbClr val="F2F5F8"/>
                </a:solidFill>
                <a:latin typeface="Menlo"/>
              </a:defRPr>
            </a:pPr>
            <a:r>
              <a:t>}</a:t>
            </a:r>
          </a:p>
          <a:p>
            <a:pPr>
              <a:lnSpc>
                <a:spcPct val="100000"/>
              </a:lnSpc>
              <a:spcAft>
                <a:spcPts val="400"/>
              </a:spcAft>
              <a:defRPr sz="850" b="0">
                <a:solidFill>
                  <a:srgbClr val="F2F5F8"/>
                </a:solidFill>
                <a:latin typeface="Menlo"/>
              </a:defRPr>
            </a:pPr>
            <a:r>
              <a:t>export function discretize(m: number, step: number): number {</a:t>
            </a:r>
          </a:p>
          <a:p>
            <a:pPr>
              <a:lnSpc>
                <a:spcPct val="100000"/>
              </a:lnSpc>
              <a:spcAft>
                <a:spcPts val="400"/>
              </a:spcAft>
              <a:defRPr sz="850" b="0">
                <a:solidFill>
                  <a:srgbClr val="F2F5F8"/>
                </a:solidFill>
                <a:latin typeface="Menlo"/>
              </a:defRPr>
            </a:pPr>
            <a:r>
              <a:t>  if (!(step &gt; 0)) throw new Error("step must be &gt; 0");</a:t>
            </a:r>
          </a:p>
          <a:p>
            <a:pPr>
              <a:lnSpc>
                <a:spcPct val="100000"/>
              </a:lnSpc>
              <a:spcAft>
                <a:spcPts val="400"/>
              </a:spcAft>
              <a:defRPr sz="850" b="0">
                <a:solidFill>
                  <a:srgbClr val="F2F5F8"/>
                </a:solidFill>
                <a:latin typeface="Menlo"/>
              </a:defRPr>
            </a:pPr>
            <a:r>
              <a:t>  const r = Math.round(m / step) * step;</a:t>
            </a:r>
          </a:p>
          <a:p>
            <a:pPr>
              <a:lnSpc>
                <a:spcPct val="100000"/>
              </a:lnSpc>
              <a:spcAft>
                <a:spcPts val="400"/>
              </a:spcAft>
              <a:defRPr sz="850" b="0">
                <a:solidFill>
                  <a:srgbClr val="F2F5F8"/>
                </a:solidFill>
                <a:latin typeface="Menlo"/>
              </a:defRPr>
            </a:pPr>
            <a:r>
              <a:t>  return Math.max(-1, Math.min(1, Math.round(r * 1e9) / 1e9));</a:t>
            </a:r>
          </a:p>
          <a:p>
            <a:pPr>
              <a:lnSpc>
                <a:spcPct val="100000"/>
              </a:lnSpc>
              <a:spcAft>
                <a:spcPts val="400"/>
              </a:spcAft>
              <a:defRPr sz="850" b="0">
                <a:solidFill>
                  <a:srgbClr val="F2F5F8"/>
                </a:solidFill>
                <a:latin typeface="Menlo"/>
              </a:defRPr>
            </a:pPr>
            <a:r>
              <a:t>}</a:t>
            </a:r>
          </a:p>
        </p:txBody>
      </p:sp>
      <p:sp>
        <p:nvSpPr>
          <p:cNvPr id="7" name="Rounded Rectangle 6"/>
          <p:cNvSpPr/>
          <p:nvPr/>
        </p:nvSpPr>
        <p:spPr>
          <a:xfrm>
            <a:off x="6035040" y="1371600"/>
            <a:ext cx="260604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1"/>
          <p:cNvSpPr txBox="1"/>
          <p:nvPr/>
        </p:nvSpPr>
        <p:spPr>
          <a:xfrm>
            <a:off x="6199632" y="146304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9" name="text:Zero at a coin flip"/>
          <p:cNvSpPr txBox="1"/>
          <p:nvPr/>
        </p:nvSpPr>
        <p:spPr>
          <a:xfrm>
            <a:off x="6537960" y="1481328"/>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Zero at a coin flip</a:t>
            </a:r>
          </a:p>
        </p:txBody>
      </p:sp>
      <p:sp>
        <p:nvSpPr>
          <p:cNvPr id="10" name="text:At or under 0.5 the size is 0. No ed"/>
          <p:cNvSpPr txBox="1"/>
          <p:nvPr/>
        </p:nvSpPr>
        <p:spPr>
          <a:xfrm>
            <a:off x="6537960" y="1755648"/>
            <a:ext cx="2011680" cy="5029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At or under 0.5 the size is 0. No edge, no bet.</a:t>
            </a:r>
          </a:p>
        </p:txBody>
      </p:sp>
      <p:sp>
        <p:nvSpPr>
          <p:cNvPr id="11" name="Rounded Rectangle 10"/>
          <p:cNvSpPr/>
          <p:nvPr/>
        </p:nvSpPr>
        <p:spPr>
          <a:xfrm>
            <a:off x="6035040" y="2450591"/>
            <a:ext cx="260604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6199632" y="2542032"/>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3" name="text:Smooth, then steps"/>
          <p:cNvSpPr txBox="1"/>
          <p:nvPr/>
        </p:nvSpPr>
        <p:spPr>
          <a:xfrm>
            <a:off x="6537960" y="2560320"/>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Smooth, then steps</a:t>
            </a:r>
          </a:p>
        </p:txBody>
      </p:sp>
      <p:sp>
        <p:nvSpPr>
          <p:cNvPr id="14" name="text:Phi is the normal curve. Steps stop "/>
          <p:cNvSpPr txBox="1"/>
          <p:nvPr/>
        </p:nvSpPr>
        <p:spPr>
          <a:xfrm>
            <a:off x="6537960" y="2834639"/>
            <a:ext cx="2011680" cy="5029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Phi is the normal curve. Steps stop tiny trades.</a:t>
            </a:r>
          </a:p>
        </p:txBody>
      </p:sp>
      <p:sp>
        <p:nvSpPr>
          <p:cNvPr id="15" name="Rounded Rectangle 14"/>
          <p:cNvSpPr/>
          <p:nvPr/>
        </p:nvSpPr>
        <p:spPr>
          <a:xfrm>
            <a:off x="6035040" y="3529584"/>
            <a:ext cx="260604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6199632" y="3621024"/>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7" name="text:No libraries"/>
          <p:cNvSpPr txBox="1"/>
          <p:nvPr/>
        </p:nvSpPr>
        <p:spPr>
          <a:xfrm>
            <a:off x="6537960" y="3639312"/>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No libraries</a:t>
            </a:r>
          </a:p>
        </p:txBody>
      </p:sp>
      <p:sp>
        <p:nvSpPr>
          <p:cNvPr id="18" name="text:The normal curve is a few lines in t"/>
          <p:cNvSpPr txBox="1"/>
          <p:nvPr/>
        </p:nvSpPr>
        <p:spPr>
          <a:xfrm>
            <a:off x="6537960" y="3913632"/>
            <a:ext cx="2011680" cy="5029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The normal curve is a few lines in the same file.</a:t>
            </a:r>
          </a:p>
        </p:txBody>
      </p:sp>
      <p:sp>
        <p:nvSpPr>
          <p:cNvPr id="19" name="text:Source: demo-repo/code/src/sizing.t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demo-repo/code/src/sizing.ts (excerpt: comments and blank lines removed)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a:t>
            </a:r>
          </a:p>
        </p:txBody>
      </p:sp>
      <p:sp>
        <p:nvSpPr>
          <p:cNvPr id="3" name="text:Demo: the sizing curv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the sizing curve</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At what confidence does the risk hoo"/>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At what confidence does the risk hook start refusing the order?</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max-f"/>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npm run demo -- --recorded --max-fraction 0.25</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size rising with confidence, in step"/>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size rising with confidence, in steps</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limit that bound, named"/>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limit that bound, named</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The cu"/>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curve is the same every run.</a:t>
            </a:r>
          </a:p>
        </p:txBody>
      </p:sp>
      <p:pic>
        <p:nvPicPr>
          <p:cNvPr id="18" name="Picture 17" descr="01-sizing-curve.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nus-solana-demos.vercel.app/0005/01-sizing-curve.html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Demo: overlapping bet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overlapping bets</a:t>
            </a:r>
          </a:p>
        </p:txBody>
      </p:sp>
      <p:sp>
        <p:nvSpPr>
          <p:cNvPr id="4"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How many bets are open at the busies"/>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How many bets are open at the busiest moment?</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horiz"/>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Menlo"/>
              </a:defRPr>
            </a:pPr>
            <a:r>
              <a:t>$ npm run demo -- --recorded --horizon-sec 300</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ets stacked, with the count open at"/>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bets stacked, with the count open at once</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verage size versus summed size"/>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average size versus summed size</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The be"/>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bets are the same every run.</a:t>
            </a:r>
          </a:p>
        </p:txBody>
      </p:sp>
      <p:pic>
        <p:nvPicPr>
          <p:cNvPr id="18" name="Picture 17" descr="02-overlapping-bets.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nus-solana-demos.vercel.app/0005/02-overlapping-bets.html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3"/>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3</a:t>
            </a:r>
          </a:p>
        </p:txBody>
      </p:sp>
      <p:sp>
        <p:nvSpPr>
          <p:cNvPr id="3" name="text:Demo: a ledger replay"/>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a ledger replay</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Edit row 5. Which check turns red, a"/>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Edit row 5. Which check turns red, and which row is named?</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rows replayed, refusals with the rul"/>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rows replayed, refusals with the rule and reason</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hash chain and the balance check"/>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hash chain and the balance check</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ledger. The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ledger. The hashes are the same every run.</a:t>
            </a:r>
          </a:p>
        </p:txBody>
      </p:sp>
      <p:pic>
        <p:nvPicPr>
          <p:cNvPr id="18" name="Picture 17" descr="03-ledger-replay.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nus-solana-demos.vercel.app/0005/03-ledger-replay.html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4"/>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4</a:t>
            </a:r>
          </a:p>
        </p:txBody>
      </p:sp>
      <p:sp>
        <p:nvSpPr>
          <p:cNvPr id="3" name="text:Demo: equity before and aft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equity before and after</a:t>
            </a:r>
          </a:p>
        </p:txBody>
      </p:sp>
      <p:sp>
        <p:nvSpPr>
          <p:cNvPr id="4"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at does doubling the fee do to the"/>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What does doubling the fee do to the final equity?</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fee-b"/>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000" b="0">
                <a:solidFill>
                  <a:srgbClr val="3DDC97"/>
                </a:solidFill>
                <a:latin typeface="Menlo"/>
              </a:defRPr>
            </a:pPr>
            <a:r>
              <a:t>$ npm run demo -- --recorded --fee-bps 8</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efore and after equity curves"/>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before and after equity curves</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fees, refusals and worst drop side b"/>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fees, refusals and worst drop side by side</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Change"/>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Change one slider at a time.</a:t>
            </a:r>
          </a:p>
        </p:txBody>
      </p:sp>
      <p:pic>
        <p:nvPicPr>
          <p:cNvPr id="18" name="Picture 17" descr="04-equity-before-after.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nus-solana-demos.vercel.app/0005/04-equity-before-after.html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Try the demos yourself</a:t>
            </a:r>
          </a:p>
        </p:txBody>
      </p:sp>
      <p:sp>
        <p:nvSpPr>
          <p:cNvPr id="3"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4" name="Rounded Rectangle 3"/>
          <p:cNvSpPr/>
          <p:nvPr/>
        </p:nvSpPr>
        <p:spPr>
          <a:xfrm>
            <a:off x="5394960" y="132588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demos-0005.png"/>
          <p:cNvPicPr>
            <a:picLocks noChangeAspect="1"/>
          </p:cNvPicPr>
          <p:nvPr/>
        </p:nvPicPr>
        <p:blipFill>
          <a:blip r:embed="rId3"/>
          <a:stretch>
            <a:fillRect/>
          </a:stretch>
        </p:blipFill>
        <p:spPr>
          <a:xfrm>
            <a:off x="5532120" y="1463040"/>
            <a:ext cx="2560320" cy="2560320"/>
          </a:xfrm>
          <a:prstGeom prst="rect">
            <a:avLst/>
          </a:prstGeom>
        </p:spPr>
      </p:pic>
      <p:sp>
        <p:nvSpPr>
          <p:cNvPr id="6" name="text:Scan to open the demos"/>
          <p:cNvSpPr txBox="1"/>
          <p:nvPr/>
        </p:nvSpPr>
        <p:spPr>
          <a:xfrm>
            <a:off x="5394960" y="425196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
        <p:nvSpPr>
          <p:cNvPr id="7" name="Rounded Rectangle 6"/>
          <p:cNvSpPr/>
          <p:nvPr/>
        </p:nvSpPr>
        <p:spPr>
          <a:xfrm>
            <a:off x="548640" y="1554480"/>
            <a:ext cx="448056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DEMOS"/>
          <p:cNvSpPr txBox="1"/>
          <p:nvPr/>
        </p:nvSpPr>
        <p:spPr>
          <a:xfrm>
            <a:off x="731520" y="162763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DEMOS</a:t>
            </a:r>
          </a:p>
        </p:txBody>
      </p:sp>
      <p:sp>
        <p:nvSpPr>
          <p:cNvPr id="9" name="text:nus-solana-demos.vercel.app/0005/"/>
          <p:cNvSpPr txBox="1"/>
          <p:nvPr/>
        </p:nvSpPr>
        <p:spPr>
          <a:xfrm>
            <a:off x="731520" y="1874519"/>
            <a:ext cx="4206240" cy="3200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Menlo"/>
              </a:defRPr>
            </a:pPr>
            <a:r>
              <a:t>nus-solana-demos.vercel.app/0005/</a:t>
            </a:r>
          </a:p>
        </p:txBody>
      </p:sp>
      <p:sp>
        <p:nvSpPr>
          <p:cNvPr id="10" name="text:Open on your laptop. Move the slider"/>
          <p:cNvSpPr txBox="1"/>
          <p:nvPr/>
        </p:nvSpPr>
        <p:spPr>
          <a:xfrm>
            <a:off x="548640" y="2651760"/>
            <a:ext cx="4480560" cy="91440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Open on your laptop. Move the sliders.</a:t>
            </a:r>
          </a:p>
        </p:txBody>
      </p:sp>
      <p:sp>
        <p:nvSpPr>
          <p:cNvPr id="11" name="text:No install. The same files are in th"/>
          <p:cNvSpPr txBox="1"/>
          <p:nvPr/>
        </p:nvSpPr>
        <p:spPr>
          <a:xfrm>
            <a:off x="548640" y="3749039"/>
            <a:ext cx="448056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No install. The same files are in the repo and open from disk.</a:t>
            </a:r>
          </a:p>
        </p:txBody>
      </p:sp>
      <p:sp>
        <p:nvSpPr>
          <p:cNvPr id="12" name="text:Source: demo-repo/lab (the four Lea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 (the four Learning Lab demos, deployed as static pages, recorded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Your missio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Your mission</a:t>
            </a:r>
          </a:p>
        </p:txBody>
      </p:sp>
      <p:sp>
        <p:nvSpPr>
          <p:cNvPr id="3" name="text:18:40 to 19:00. Twenty minut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18:40 to 19:00. Twenty minutes.</a:t>
            </a:r>
          </a:p>
        </p:txBody>
      </p:sp>
      <p:sp>
        <p:nvSpPr>
          <p:cNvPr id="4"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5" name="Rounded Rectangle 4"/>
          <p:cNvSpPr/>
          <p:nvPr/>
        </p:nvSpPr>
        <p:spPr>
          <a:xfrm>
            <a:off x="5486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1</a:t>
            </a:r>
          </a:p>
        </p:txBody>
      </p:sp>
      <p:sp>
        <p:nvSpPr>
          <p:cNvPr id="7" name="text:Run"/>
          <p:cNvSpPr txBox="1"/>
          <p:nvPr/>
        </p:nvSpPr>
        <p:spPr>
          <a:xfrm>
            <a:off x="7315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Run</a:t>
            </a:r>
          </a:p>
        </p:txBody>
      </p:sp>
      <p:sp>
        <p:nvSpPr>
          <p:cNvPr id="8" name="text:The sample sizing on the sample ledg"/>
          <p:cNvSpPr txBox="1"/>
          <p:nvPr/>
        </p:nvSpPr>
        <p:spPr>
          <a:xfrm>
            <a:off x="7315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sample sizing on the sample ledger</a:t>
            </a:r>
          </a:p>
        </p:txBody>
      </p:sp>
      <p:cxnSp>
        <p:nvCxnSpPr>
          <p:cNvPr id="9" name="Connector 8"/>
          <p:cNvCxnSpPr/>
          <p:nvPr/>
        </p:nvCxnSpPr>
        <p:spPr>
          <a:xfrm>
            <a:off x="24963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889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2</a:t>
            </a:r>
          </a:p>
        </p:txBody>
      </p:sp>
      <p:sp>
        <p:nvSpPr>
          <p:cNvPr id="12" name="text:Add"/>
          <p:cNvSpPr txBox="1"/>
          <p:nvPr/>
        </p:nvSpPr>
        <p:spPr>
          <a:xfrm>
            <a:off x="27889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Add</a:t>
            </a:r>
          </a:p>
        </p:txBody>
      </p:sp>
      <p:sp>
        <p:nvSpPr>
          <p:cNvPr id="13" name="text:One limit or one cost"/>
          <p:cNvSpPr txBox="1"/>
          <p:nvPr/>
        </p:nvSpPr>
        <p:spPr>
          <a:xfrm>
            <a:off x="27889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One limit or one cost</a:t>
            </a:r>
          </a:p>
        </p:txBody>
      </p:sp>
      <p:cxnSp>
        <p:nvCxnSpPr>
          <p:cNvPr id="14" name="Connector 13"/>
          <p:cNvCxnSpPr/>
          <p:nvPr/>
        </p:nvCxnSpPr>
        <p:spPr>
          <a:xfrm>
            <a:off x="45537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463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3</a:t>
            </a:r>
          </a:p>
        </p:txBody>
      </p:sp>
      <p:sp>
        <p:nvSpPr>
          <p:cNvPr id="17" name="text:Chart"/>
          <p:cNvSpPr txBox="1"/>
          <p:nvPr/>
        </p:nvSpPr>
        <p:spPr>
          <a:xfrm>
            <a:off x="48463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Chart</a:t>
            </a:r>
          </a:p>
        </p:txBody>
      </p:sp>
      <p:sp>
        <p:nvSpPr>
          <p:cNvPr id="18" name="text:Equity, before and after"/>
          <p:cNvSpPr txBox="1"/>
          <p:nvPr/>
        </p:nvSpPr>
        <p:spPr>
          <a:xfrm>
            <a:off x="48463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Equity, before and after</a:t>
            </a:r>
          </a:p>
        </p:txBody>
      </p:sp>
      <p:cxnSp>
        <p:nvCxnSpPr>
          <p:cNvPr id="19" name="Connector 18"/>
          <p:cNvCxnSpPr/>
          <p:nvPr/>
        </p:nvCxnSpPr>
        <p:spPr>
          <a:xfrm>
            <a:off x="66111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9037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4</a:t>
            </a:r>
          </a:p>
        </p:txBody>
      </p:sp>
      <p:sp>
        <p:nvSpPr>
          <p:cNvPr id="22" name="text:Check"/>
          <p:cNvSpPr txBox="1"/>
          <p:nvPr/>
        </p:nvSpPr>
        <p:spPr>
          <a:xfrm>
            <a:off x="69037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Check</a:t>
            </a:r>
          </a:p>
        </p:txBody>
      </p:sp>
      <p:sp>
        <p:nvSpPr>
          <p:cNvPr id="23" name="text:The ledger still reconciles"/>
          <p:cNvSpPr txBox="1"/>
          <p:nvPr/>
        </p:nvSpPr>
        <p:spPr>
          <a:xfrm>
            <a:off x="69037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ledger still reconciles</a:t>
            </a:r>
          </a:p>
        </p:txBody>
      </p:sp>
      <p:sp>
        <p:nvSpPr>
          <p:cNvPr id="24" name="Rounded Rectangle 23"/>
          <p:cNvSpPr/>
          <p:nvPr/>
        </p:nvSpPr>
        <p:spPr>
          <a:xfrm>
            <a:off x="548640" y="3977639"/>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Finish line: one chart with a before"/>
          <p:cNvSpPr txBox="1"/>
          <p:nvPr/>
        </p:nvSpPr>
        <p:spPr>
          <a:xfrm>
            <a:off x="731520" y="3977639"/>
            <a:ext cx="7772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Finish line: one chart with a before and an after.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uild menu"/>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Build menu</a:t>
            </a:r>
          </a:p>
        </p:txBody>
      </p:sp>
      <p:sp>
        <p:nvSpPr>
          <p:cNvPr id="3" name="text:19:00 to 19:50. Pick one, or bring y"/>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19:00 to 19:50. Pick one, or bring your own project.</a:t>
            </a:r>
          </a:p>
        </p:txBody>
      </p:sp>
      <p:sp>
        <p:nvSpPr>
          <p:cNvPr id="4"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5" name="Rounded Rectangle 4"/>
          <p:cNvSpPr/>
          <p:nvPr/>
        </p:nvSpPr>
        <p:spPr>
          <a:xfrm>
            <a:off x="548640" y="1463040"/>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91056"/>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31520" y="1609344"/>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An append-only ledger for your proje"/>
          <p:cNvSpPr txBox="1"/>
          <p:nvPr/>
        </p:nvSpPr>
        <p:spPr>
          <a:xfrm>
            <a:off x="1874519" y="1463040"/>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An append-only ledger for your project</a:t>
            </a:r>
          </a:p>
        </p:txBody>
      </p:sp>
      <p:sp>
        <p:nvSpPr>
          <p:cNvPr id="9" name="Rounded Rectangle 8"/>
          <p:cNvSpPr/>
          <p:nvPr/>
        </p:nvSpPr>
        <p:spPr>
          <a:xfrm>
            <a:off x="548640" y="2066544"/>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194560"/>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EGINNER"/>
          <p:cNvSpPr txBox="1"/>
          <p:nvPr/>
        </p:nvSpPr>
        <p:spPr>
          <a:xfrm>
            <a:off x="731520" y="2212848"/>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12" name="text:Add fees and impact to your ledger"/>
          <p:cNvSpPr txBox="1"/>
          <p:nvPr/>
        </p:nvSpPr>
        <p:spPr>
          <a:xfrm>
            <a:off x="1874519" y="2066544"/>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Add fees and impact to your ledger</a:t>
            </a:r>
          </a:p>
        </p:txBody>
      </p:sp>
      <p:sp>
        <p:nvSpPr>
          <p:cNvPr id="13" name="Rounded Rectangle 12"/>
          <p:cNvSpPr/>
          <p:nvPr/>
        </p:nvSpPr>
        <p:spPr>
          <a:xfrm>
            <a:off x="548640" y="2670048"/>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2798064"/>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ANDARD"/>
          <p:cNvSpPr txBox="1"/>
          <p:nvPr/>
        </p:nvSpPr>
        <p:spPr>
          <a:xfrm>
            <a:off x="731520" y="2816352"/>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6" name="text:Daily-loss and drawdown halts"/>
          <p:cNvSpPr txBox="1"/>
          <p:nvPr/>
        </p:nvSpPr>
        <p:spPr>
          <a:xfrm>
            <a:off x="1874519" y="2670048"/>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Daily-loss and drawdown halts</a:t>
            </a:r>
          </a:p>
        </p:txBody>
      </p:sp>
      <p:sp>
        <p:nvSpPr>
          <p:cNvPr id="17" name="Rounded Rectangle 16"/>
          <p:cNvSpPr/>
          <p:nvPr/>
        </p:nvSpPr>
        <p:spPr>
          <a:xfrm>
            <a:off x="548640" y="3273552"/>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4015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STANDARD"/>
          <p:cNvSpPr txBox="1"/>
          <p:nvPr/>
        </p:nvSpPr>
        <p:spPr>
          <a:xfrm>
            <a:off x="731520" y="34198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20" name="text:Two sizing rules compared on one led"/>
          <p:cNvSpPr txBox="1"/>
          <p:nvPr/>
        </p:nvSpPr>
        <p:spPr>
          <a:xfrm>
            <a:off x="1874519" y="3273552"/>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Two sizing rules compared on one ledger</a:t>
            </a:r>
          </a:p>
        </p:txBody>
      </p:sp>
      <p:sp>
        <p:nvSpPr>
          <p:cNvPr id="21" name="Rounded Rectangle 20"/>
          <p:cNvSpPr/>
          <p:nvPr/>
        </p:nvSpPr>
        <p:spPr>
          <a:xfrm>
            <a:off x="548640" y="3877056"/>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4005072"/>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ADVANCED"/>
          <p:cNvSpPr txBox="1"/>
          <p:nvPr/>
        </p:nvSpPr>
        <p:spPr>
          <a:xfrm>
            <a:off x="731520" y="4023359"/>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4" name="text:Post your ledger's hash to devnet wi"/>
          <p:cNvSpPr txBox="1"/>
          <p:nvPr/>
        </p:nvSpPr>
        <p:spPr>
          <a:xfrm>
            <a:off x="1874519" y="3877056"/>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Post your ledger's hash to devnet with a Memo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efore the brea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Before the break</a:t>
            </a:r>
          </a:p>
        </p:txBody>
      </p:sp>
      <p:sp>
        <p:nvSpPr>
          <p:cNvPr id="3" name="text:19:35 to 19:50. Fifteen minut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19:35 to 19:50. Fifteen minutes.</a:t>
            </a:r>
          </a:p>
        </p:txBody>
      </p:sp>
      <p:sp>
        <p:nvSpPr>
          <p:cNvPr id="4"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5" name="Rounded Rectangle 4"/>
          <p:cNvSpPr/>
          <p:nvPr/>
        </p:nvSpPr>
        <p:spPr>
          <a:xfrm>
            <a:off x="548640" y="155448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49808" y="169164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7" name="text:Freeze"/>
          <p:cNvSpPr txBox="1"/>
          <p:nvPr/>
        </p:nvSpPr>
        <p:spPr>
          <a:xfrm>
            <a:off x="749808" y="2331720"/>
            <a:ext cx="219456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Freeze</a:t>
            </a:r>
          </a:p>
        </p:txBody>
      </p:sp>
      <p:sp>
        <p:nvSpPr>
          <p:cNvPr id="8" name="text:Commit a working main. Run it once f"/>
          <p:cNvSpPr txBox="1"/>
          <p:nvPr/>
        </p:nvSpPr>
        <p:spPr>
          <a:xfrm>
            <a:off x="749808" y="2724912"/>
            <a:ext cx="2194560"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Commit a working main. Run it once from a clean clone.</a:t>
            </a:r>
          </a:p>
        </p:txBody>
      </p:sp>
      <p:sp>
        <p:nvSpPr>
          <p:cNvPr id="9" name="Rounded Rectangle 8"/>
          <p:cNvSpPr/>
          <p:nvPr/>
        </p:nvSpPr>
        <p:spPr>
          <a:xfrm>
            <a:off x="3337560" y="1554480"/>
            <a:ext cx="2560320" cy="2103120"/>
          </a:xfrm>
          <a:prstGeom prst="roundRect">
            <a:avLst>
              <a:gd name="adj" fmla="val 6086"/>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3538728" y="169164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1" name="text:Restart note"/>
          <p:cNvSpPr txBox="1"/>
          <p:nvPr/>
        </p:nvSpPr>
        <p:spPr>
          <a:xfrm>
            <a:off x="3538728" y="2331720"/>
            <a:ext cx="219456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Restart note</a:t>
            </a:r>
          </a:p>
        </p:txBody>
      </p:sp>
      <p:sp>
        <p:nvSpPr>
          <p:cNvPr id="12" name="text:How to run it, what you should see, "/>
          <p:cNvSpPr txBox="1"/>
          <p:nvPr/>
        </p:nvSpPr>
        <p:spPr>
          <a:xfrm>
            <a:off x="3538728" y="2724912"/>
            <a:ext cx="2194560"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How to run it, what you should see, and your first task for January.</a:t>
            </a:r>
          </a:p>
        </p:txBody>
      </p:sp>
      <p:sp>
        <p:nvSpPr>
          <p:cNvPr id="13" name="Rounded Rectangle 12"/>
          <p:cNvSpPr/>
          <p:nvPr/>
        </p:nvSpPr>
        <p:spPr>
          <a:xfrm>
            <a:off x="6126479" y="155448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6327647" y="169164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5" name="text:Devnet check"/>
          <p:cNvSpPr txBox="1"/>
          <p:nvPr/>
        </p:nvSpPr>
        <p:spPr>
          <a:xfrm>
            <a:off x="6327647" y="2331720"/>
            <a:ext cx="219456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Devnet check</a:t>
            </a:r>
          </a:p>
        </p:txBody>
      </p:sp>
      <p:sp>
        <p:nvSpPr>
          <p:cNvPr id="16" name="text:Leads confirm each team has devnet S"/>
          <p:cNvSpPr txBox="1"/>
          <p:nvPr/>
        </p:nvSpPr>
        <p:spPr>
          <a:xfrm>
            <a:off x="6327647" y="2724912"/>
            <a:ext cx="2194560"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Leads confirm each team has devnet SOL before the break.</a:t>
            </a:r>
          </a:p>
        </p:txBody>
      </p:sp>
      <p:sp>
        <p:nvSpPr>
          <p:cNvPr id="17" name="Rounded Rectangle 16"/>
          <p:cNvSpPr/>
          <p:nvPr/>
        </p:nvSpPr>
        <p:spPr>
          <a:xfrm>
            <a:off x="548640" y="3840480"/>
            <a:ext cx="8092440" cy="640080"/>
          </a:xfrm>
          <a:prstGeom prst="roundRect">
            <a:avLst>
              <a:gd name="adj" fmla="val 2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No work is expected over reading wee"/>
          <p:cNvSpPr txBox="1"/>
          <p:nvPr/>
        </p:nvSpPr>
        <p:spPr>
          <a:xfrm>
            <a:off x="731520" y="3840480"/>
            <a:ext cx="7772400" cy="64008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No work is expected over reading week, exams or vacation. Workshop 3 is Thu 21 Jan.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takeaway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takeaways</a:t>
            </a:r>
          </a:p>
        </p:txBody>
      </p:sp>
      <p:sp>
        <p:nvSpPr>
          <p:cNvPr id="3" name="text:2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20</a:t>
            </a:r>
          </a:p>
        </p:txBody>
      </p:sp>
      <p:sp>
        <p:nvSpPr>
          <p:cNvPr id="4" name="Rounded Rectangle 3"/>
          <p:cNvSpPr/>
          <p:nvPr/>
        </p:nvSpPr>
        <p:spPr>
          <a:xfrm>
            <a:off x="548640" y="1417320"/>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1"/>
          <p:cNvSpPr txBox="1"/>
          <p:nvPr/>
        </p:nvSpPr>
        <p:spPr>
          <a:xfrm>
            <a:off x="777240" y="1417320"/>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1</a:t>
            </a:r>
          </a:p>
        </p:txBody>
      </p:sp>
      <p:sp>
        <p:nvSpPr>
          <p:cNvPr id="6" name="text:Open bets overlap, so average them. "/>
          <p:cNvSpPr txBox="1"/>
          <p:nvPr/>
        </p:nvSpPr>
        <p:spPr>
          <a:xfrm>
            <a:off x="1371600" y="1417320"/>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Open bets overlap, so average them. Do not stack them.</a:t>
            </a:r>
          </a:p>
        </p:txBody>
      </p:sp>
      <p:sp>
        <p:nvSpPr>
          <p:cNvPr id="7" name="Rounded Rectangle 6"/>
          <p:cNvSpPr/>
          <p:nvPr/>
        </p:nvSpPr>
        <p:spPr>
          <a:xfrm>
            <a:off x="548640" y="2441448"/>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2"/>
          <p:cNvSpPr txBox="1"/>
          <p:nvPr/>
        </p:nvSpPr>
        <p:spPr>
          <a:xfrm>
            <a:off x="777240" y="2441448"/>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2</a:t>
            </a:r>
          </a:p>
        </p:txBody>
      </p:sp>
      <p:sp>
        <p:nvSpPr>
          <p:cNvPr id="9" name="text:Size grows with confidence, then cap"/>
          <p:cNvSpPr txBox="1"/>
          <p:nvPr/>
        </p:nvSpPr>
        <p:spPr>
          <a:xfrm>
            <a:off x="1371600" y="2441448"/>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Size grows with confidence, then caps and the risk hook have the last word.</a:t>
            </a:r>
          </a:p>
        </p:txBody>
      </p:sp>
      <p:sp>
        <p:nvSpPr>
          <p:cNvPr id="10" name="Rounded Rectangle 9"/>
          <p:cNvSpPr/>
          <p:nvPr/>
        </p:nvSpPr>
        <p:spPr>
          <a:xfrm>
            <a:off x="548640" y="3465576"/>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3"/>
          <p:cNvSpPr txBox="1"/>
          <p:nvPr/>
        </p:nvSpPr>
        <p:spPr>
          <a:xfrm>
            <a:off x="777240" y="3465576"/>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3</a:t>
            </a:r>
          </a:p>
        </p:txBody>
      </p:sp>
      <p:sp>
        <p:nvSpPr>
          <p:cNvPr id="12" name="text:A ledger is append-only and replays "/>
          <p:cNvSpPr txBox="1"/>
          <p:nvPr/>
        </p:nvSpPr>
        <p:spPr>
          <a:xfrm>
            <a:off x="1371600" y="3465576"/>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A ledger is append-only and replays to the balance, refusals included.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Branch out</a:t>
            </a:r>
          </a:p>
        </p:txBody>
      </p:sp>
      <p:sp>
        <p:nvSpPr>
          <p:cNvPr id="3" name="text:After tonight, in your own tim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After tonight, in your own time.</a:t>
            </a:r>
          </a:p>
        </p:txBody>
      </p:sp>
      <p:sp>
        <p:nvSpPr>
          <p:cNvPr id="4" name="text:2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21</a:t>
            </a:r>
          </a:p>
        </p:txBody>
      </p:sp>
      <p:sp>
        <p:nvSpPr>
          <p:cNvPr id="5" name="Rounded Rectangle 4"/>
          <p:cNvSpPr/>
          <p:nvPr/>
        </p:nvSpPr>
        <p:spPr>
          <a:xfrm>
            <a:off x="548640" y="1600200"/>
            <a:ext cx="2560320" cy="2377440"/>
          </a:xfrm>
          <a:prstGeom prst="roundRect">
            <a:avLst>
              <a:gd name="adj" fmla="val 538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Run the sizing with a cap of 10% and"/>
          <p:cNvSpPr txBox="1"/>
          <p:nvPr/>
        </p:nvSpPr>
        <p:spPr>
          <a:xfrm>
            <a:off x="749808" y="2286000"/>
            <a:ext cx="2194560" cy="160020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Run the sizing with a cap of 10% and then 40%. Compare the biggest size and the equity curve.</a:t>
            </a:r>
          </a:p>
        </p:txBody>
      </p:sp>
      <p:sp>
        <p:nvSpPr>
          <p:cNvPr id="9" name="Rounded Rectangle 8"/>
          <p:cNvSpPr/>
          <p:nvPr/>
        </p:nvSpPr>
        <p:spPr>
          <a:xfrm>
            <a:off x="3337560" y="1600200"/>
            <a:ext cx="2560320" cy="2377440"/>
          </a:xfrm>
          <a:prstGeom prst="roundRect">
            <a:avLst>
              <a:gd name="adj" fmla="val 538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Add a daily-loss halt and write the "/>
          <p:cNvSpPr txBox="1"/>
          <p:nvPr/>
        </p:nvSpPr>
        <p:spPr>
          <a:xfrm>
            <a:off x="3538728" y="2286000"/>
            <a:ext cx="2194560" cy="160020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Add a daily-loss halt and write the halt into the ledger as a row.</a:t>
            </a:r>
          </a:p>
        </p:txBody>
      </p:sp>
      <p:sp>
        <p:nvSpPr>
          <p:cNvPr id="13" name="Rounded Rectangle 12"/>
          <p:cNvSpPr/>
          <p:nvPr/>
        </p:nvSpPr>
        <p:spPr>
          <a:xfrm>
            <a:off x="6126479" y="1600200"/>
            <a:ext cx="2560320" cy="2377440"/>
          </a:xfrm>
          <a:prstGeom prst="roundRect">
            <a:avLst>
              <a:gd name="adj" fmla="val 538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Compare two sizing rules on one ledg"/>
          <p:cNvSpPr txBox="1"/>
          <p:nvPr/>
        </p:nvSpPr>
        <p:spPr>
          <a:xfrm>
            <a:off x="6327647" y="2286000"/>
            <a:ext cx="2194560" cy="160020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Compare two sizing rules on one ledger, or post the ledger's hash to devnet with a Memo.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Share back</a:t>
            </a:r>
          </a:p>
        </p:txBody>
      </p:sp>
      <p:sp>
        <p:nvSpPr>
          <p:cNvPr id="3" name="text:Before you leave, and when we retur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Before you leave, and when we return.</a:t>
            </a:r>
          </a:p>
        </p:txBody>
      </p:sp>
      <p:sp>
        <p:nvSpPr>
          <p:cNvPr id="4" name="text:2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22</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ONIGHT"/>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TONIGHT</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Freeze main and push your branch."/>
          <p:cNvSpPr txBox="1"/>
          <p:nvPr/>
        </p:nvSpPr>
        <p:spPr>
          <a:xfrm>
            <a:off x="74980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Freeze main and push your branch.</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U 21 JAN"/>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THU 21 JAN</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Bring your restart note and ledger t"/>
          <p:cNvSpPr txBox="1"/>
          <p:nvPr/>
        </p:nvSpPr>
        <p:spPr>
          <a:xfrm>
            <a:off x="353872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Bring your restart note and ledger to Workshop 3.</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ANY TIME"/>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ANY TIME</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Send your repo link to the leads."/>
          <p:cNvSpPr txBox="1"/>
          <p:nvPr/>
        </p:nvSpPr>
        <p:spPr>
          <a:xfrm>
            <a:off x="6327647"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Send your repo link to the leads.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Get the code</a:t>
            </a:r>
          </a:p>
        </p:txBody>
      </p:sp>
      <p:sp>
        <p:nvSpPr>
          <p:cNvPr id="3" name="text:2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23</a:t>
            </a:r>
          </a:p>
        </p:txBody>
      </p:sp>
      <p:sp>
        <p:nvSpPr>
          <p:cNvPr id="4" name="Rounded Rectangle 3"/>
          <p:cNvSpPr/>
          <p:nvPr/>
        </p:nvSpPr>
        <p:spPr>
          <a:xfrm>
            <a:off x="548640" y="1371600"/>
            <a:ext cx="4846320" cy="1051560"/>
          </a:xfrm>
          <a:prstGeom prst="roundRect">
            <a:avLst>
              <a:gd name="adj" fmla="val 1217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73352"/>
            <a:ext cx="452628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05-position-sizing-trade-l"/>
          <p:cNvSpPr txBox="1"/>
          <p:nvPr/>
        </p:nvSpPr>
        <p:spPr>
          <a:xfrm>
            <a:off x="731520" y="2011680"/>
            <a:ext cx="4526280" cy="22860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Menlo"/>
              </a:defRPr>
            </a:pPr>
            <a:r>
              <a:t>folder: 0005-position-sizing-trade-ledger/demo</a:t>
            </a:r>
          </a:p>
        </p:txBody>
      </p:sp>
      <p:sp>
        <p:nvSpPr>
          <p:cNvPr id="8" name="Rounded Rectangle 7"/>
          <p:cNvSpPr/>
          <p:nvPr/>
        </p:nvSpPr>
        <p:spPr>
          <a:xfrm>
            <a:off x="548640" y="260604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60604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npm install"/>
          <p:cNvSpPr txBox="1"/>
          <p:nvPr/>
        </p:nvSpPr>
        <p:spPr>
          <a:xfrm>
            <a:off x="1097280" y="260604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install</a:t>
            </a:r>
          </a:p>
        </p:txBody>
      </p:sp>
      <p:sp>
        <p:nvSpPr>
          <p:cNvPr id="11" name="Rounded Rectangle 10"/>
          <p:cNvSpPr/>
          <p:nvPr/>
        </p:nvSpPr>
        <p:spPr>
          <a:xfrm>
            <a:off x="548640" y="3209544"/>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3209544"/>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run demo -- --recorded"/>
          <p:cNvSpPr txBox="1"/>
          <p:nvPr/>
        </p:nvSpPr>
        <p:spPr>
          <a:xfrm>
            <a:off x="1097280" y="3209544"/>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4" name="text:Run both from the demo/code folder. "/>
          <p:cNvSpPr txBox="1"/>
          <p:nvPr/>
        </p:nvSpPr>
        <p:spPr>
          <a:xfrm>
            <a:off x="548640" y="3931920"/>
            <a:ext cx="484632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Run both from the demo/code folder. Node 24. No keys, no AI credits. Recorded data is bundled.</a:t>
            </a:r>
          </a:p>
        </p:txBody>
      </p:sp>
      <p:sp>
        <p:nvSpPr>
          <p:cNvPr id="15" name="Rounded Rectangle 14"/>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github-0005.png"/>
          <p:cNvPicPr>
            <a:picLocks noChangeAspect="1"/>
          </p:cNvPicPr>
          <p:nvPr/>
        </p:nvPicPr>
        <p:blipFill>
          <a:blip r:embed="rId3"/>
          <a:stretch>
            <a:fillRect/>
          </a:stretch>
        </p:blipFill>
        <p:spPr>
          <a:xfrm>
            <a:off x="5943600" y="1508760"/>
            <a:ext cx="2560320" cy="2560320"/>
          </a:xfrm>
          <a:prstGeom prst="rect">
            <a:avLst/>
          </a:prstGeom>
        </p:spPr>
      </p:pic>
      <p:sp>
        <p:nvSpPr>
          <p:cNvPr id="17" name="text:Scan for this session's code"/>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this session's code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Let's connect</a:t>
            </a:r>
          </a:p>
        </p:txBody>
      </p:sp>
      <p:sp>
        <p:nvSpPr>
          <p:cNvPr id="3" name="text:2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24</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