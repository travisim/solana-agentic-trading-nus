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thanks for coming. I'm Travis. Tonight is a build night, so the plan is: a short talk, a few demos where you guess the answer first, and then most of the time you build. Tonight's topic is data collection and a risk hook. If you haven't run the setup yet, no stress, we'll sort it at the start of the mission.</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[18:02] Quick progress circle. Workshop 1, on the 13th, we picked a trading bot and built a first one. Tonight is the first build night: we look at what data an agent actually needs, and how to stop it doing something silly. Next Thursday, the twenty-ninth, is build night 2: data bars and change alerts. Go round the room: one line each, what did you build or try since Workshop 1, and is anything stuck? Then the question for tonight, on the slide: which data would hurt your agent most if it went stale? Keep that in your head. We come back to it at the end.</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Here is the shape of the night. Ten minutes of talk, twenty minutes of demos, twenty minutes of guided mission where we all do the same small thing, then fifty minutes of free build on whatever you want. Last ten minutes: show and tell and push. The demos are not me talking at you. Before each one I'll ask you to predict the result. Be wrong out loud, it's more useful.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[18:12] Same agent in both cards. Left, it gets a price that is one second old. Right, it gets a price that is four minutes old. The agent says the same thing: buy a small size. It doesn't know the second price is old. It sounds just as confident. The numbers here are illustrative, not a market quote. The point: a smart agent doesn't fix bad data. It just acts on it with confidence. So we are going to spend tonight on the data, and on a guard.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[18:13] Four kinds of data. I'll add one at a time and the picture stays in place. First, venue price. That's what you can actually trade at, right now. On Solana the easy way to ask is the Jupiter quote API: "if I sell one SOL, how many USDC do I get?" Jupiter routes across the pools, so the answer already includes fees and routing. No key needed. How it goes bad: it moves every second, and one venue is not the market. In the code this is the jupiterQuote collector.</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[18:14] Second: oracle price. An oracle is a reference price that sits on chain, so programs can read it. We use Pyth. Reading its price account gives you three things: the price, a confidence band (how unsure it is), and when it was published. How it goes bad: it can be old, or the band can be wide. So you check the age and the confidence before you trust it. Collector name: pythOnChain.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[18:15] Third: ordering. What happened in which slot. A slot is the chain's clock, roughly 0.4 seconds each. If you read a price at slot N and another price at slot N plus nine, they are not from the same moment. In our snapshot you can see this as postedSlot and currentSlot for the Pyth price: how many slots ago was it posted. A mismatch here looks like a trade opportunity but it is just two different times.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Fourth: inventory. What you hold right now. Token balances. Two classic failures. One, an old balance: you think you have the SOL, the last trade didn't go through. Two, the wrong unit: SOL is counted in lamports, one SOL is a billion lamports. Mix up the unit and your size is wildly off, up to a billion times. Tonight we won't connect a wallet. Inventory shows up as a number we pass in to the risk hook. All writes in this series are devnet only. Pause here and ask: which of these four have you used in your project?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[18:17] Now the guard. A risk hook is plain code that sits between the agent's idea and any action. No AI in it. It looks at the order and the data and either says yes, or says no and tells you why. Four rules in our sample: a max order size, 1,000 USD; a max gap between the price you are about to trade at and the oracle, 50 basis points; a max age for the oracle, 60 seconds; and a unit sanity check. One basis point is one hundredth of a percent. The point of "say why": when the agent is rejected, you can read the reason and fix the cause. The hook is the same function whether the idea came from a rule, a model or a student at 3am.</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[18:18] Real numbers. SOL against USDC from three places: a Jupiter quote, the Pyth oracle, and the Orca pool. Look at the gaps in basis points. These are small, but they are not zero, and that gap is what a lot of strategies are trying to catch. Read the source line: these come from recorded data, with the capture date on the slide. Then the safety line, read it out: reads use public mainnet data; every write is devnet only; no real funds, no seed phrases. Nobody needs a wallet tonight.</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And this is what a collector looks like. It's short. It calls the public Jupiter quote API, no key, and turns the answer into a number. Note the comment about decimals: USDC has six decimals, so we divide by a million. That one line is the wrong-unit failure from slide 8, handled. If anything fails, it throws a clear error. Rate limited? It says so. It doesn't make up a price. You'll read the other two collectors in the repo.</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Demo one. First, predict. Do the three prices agree? How many basis points apart? Put a number on it, shout it out. Then I run the command. Default is recorded data, so it works without wifi. I'll run it live only if the network is behaving. Then open the price gap demo: scrub along the time axis and watch the gap open and close. Ask: is the gap ever big enough to matter after costs? We'll answer that in demo four. If the run fails: use the recorded flag, nothing else changes. Then flip the switch to Live: watch the slot number tick up and a new Jupiter, Pyth and Orca point land every five seconds. The prices move, the gaps stay small. If it hangs or shows the rate-limit pill, it has already gone back to Recorded; carry on from there.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[18:26] Demo two. Before I run: here is a list of orders, from small to large. Which ones will the hook let through? Which rule stops each one that doesn't? Let people guess. Then run it. A 250 USD buy passes. A 5,000 USD buy is rejected by max notional, and it says exactly that. In the lab demo, drag the max notional slider and watch orders flip. Ask: who would raise the limit, and what could go wrong? Same fallback: recorded data, same decisions every run. Then switch to Live and look at the top row: a 250 USD order priced at the live Jupiter quote, checked against the live oracle and its age, with the rule that fired. Drag max oracle gap down to 1 bps and watch that live row flip to rejected.</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[18:31] Demo three. Strategies, the map. Seven families: cross-venue arbitrage, oracle versus pool basis, market making, trend, mean reversion, perpetual carry, and liquidations or events. Next to each, the data it needs. Click one in the demo and the data layers light up. Notice how many need more than one kind of data, and that most need ordering. Tell them the honest bit: most edges vanish after costs and latency. A strategy that looks good on a chart is only the start. We have five sample strategies in the repo, on recorded data, as examples to read. They are simulated and are not advice. Switch to Live and a signal box applies each sample strategy's entry rule to the live prices. Arbitrage needs an 8 bps gap and basis needs 4. Most of the time it says no trade, which is the honest picture.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[18:36] Demo four, the one I care about most. Fees and slippage. Move the sliders and watch gross turn into net. Predict first: at 5 basis points of fee and 2 of slippage, which strategy keeps its result? Then drag. Many of them shrink a lot. Some flip negative. That is the honest picture. Results are simulated, on recorded data, not advice. Your mission in a second is to do this yourself in code. Then switch to Live: the strip under the sliders shows the live Jupiter versus Orca gap next to the cost line. The gap sits far to the left of it. That is the whole lesson in one picture, and it is labelled live, not part of the simulation.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[19:22] These same demos are live online, so you can open them on your own laptop right now. Scan the code or type the short address. Everything runs in your browser from recorded data, so nothing to install. Move the sliders, break the limits, and see what changes. You can come back to them any time this week.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Mission, twenty minutes, everyone together. One: run the sample code on recorded data. Two: before you look at the output, predict what the risk hook will do. Three: change one thing, either one risk limit, or add fees and slippage to a strategy. Four: chart the result, before and after. The finish line is one chart with a before and an after. If you don't have a coding agent, you can still do it: hand edit the number in the limits file, rerun, and compare. I'll walk around; hands up if stuck.</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Now free build for about fifty minutes. Five ideas if you don't have your own. Beginner: compare two prices and flag the gap; make the project run fully offline. Standard: test one strategy family from the map with fees and slippage; write a new risk rule. Advanced: add a data source. If you have your own project from Workshop 1, bring the risk hook into it, that's a great use of the time. Show-and-tell at 19:50, so have something to show, even if small.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[19:50] Three things. One bad input beats a smart agent. Four kinds of data: venue, oracle, ordering, inventory. And the risk hook is plain code that can say no and say why. Back to the question from the start: which data would hurt your strategy most if it went stale? Two or three answers from the room. And: what did costs do to your sample strategy?</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If you want to keep going after tonight. Beginner: change a limit and watch which orders flip. Standard: run a second strategy from the map with honest costs and compare the charts. Advanced: add a new pool or venue collector, or a staleness check that fires on old oracle data. Everything stays on recorded data or devnet.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[19:57] Share back. Tonight: push your branch to your own repo. Thursday the twenty-ninth: bring your chart, we start with those. Any time: send your repo link to the leads. We use it for our reporting. Thank you. See you Thursday for build night 2.</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[19:53] Here's the code. The repo link and the folder name go up here, and the QR goes straight to tonight's folder, so scan it now. Everything from every session lives in one repo, one folder per session. Two commands, from the demo slash code folder: npm install, then npm run demo with the recorded flag. That's it. Nothing else is needed: no keys, no AI credits, no wallet. Node is the only requirement. The slides are in the same folder under slides. If you haven't cloned it yet, do it now before you leave.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If you want to talk trading, Solana or this series, here is how to reach me. LinkedIn on the left, Telegram on the right. Scan now, or take a photo of the slide.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That's it for tonight. Push your branch before you leave, keep building if you want to, and bring your chart next Thursday, the twenty-ninth, when we look at bars and change alerts. Thanks for coming. If you have questions or want help setting up, find me or Emma, or message us on Telegram.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6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70.png"/><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74.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Build night 1"/>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Build night 1</a:t>
            </a:r>
          </a:p>
        </p:txBody>
      </p:sp>
      <p:sp>
        <p:nvSpPr>
          <p:cNvPr id="4" name="text:Data Collection and Risk Hook"/>
          <p:cNvSpPr txBox="1"/>
          <p:nvPr/>
        </p:nvSpPr>
        <p:spPr>
          <a:xfrm>
            <a:off x="5257800" y="1417320"/>
            <a:ext cx="3566160" cy="109728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Data Collection</a:t>
            </a:r>
          </a:p>
          <a:p>
            <a:pPr>
              <a:lnSpc>
                <a:spcPct val="106000"/>
              </a:lnSpc>
              <a:spcAft>
                <a:spcPts val="400"/>
              </a:spcAft>
              <a:defRPr sz="2200" b="0">
                <a:solidFill>
                  <a:srgbClr val="F2F5F8"/>
                </a:solidFill>
                <a:latin typeface="Helvetica Neue"/>
              </a:defRPr>
            </a:pPr>
            <a:r>
              <a:t>and Risk Hook</a:t>
            </a:r>
          </a:p>
        </p:txBody>
      </p:sp>
      <p:sp>
        <p:nvSpPr>
          <p:cNvPr id="5" name="text:What a trading agent needs to see, a"/>
          <p:cNvSpPr txBox="1"/>
          <p:nvPr/>
        </p:nvSpPr>
        <p:spPr>
          <a:xfrm>
            <a:off x="5257800" y="2514600"/>
            <a:ext cx="3383280" cy="73152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What a trading agent needs to see, and the code that can say no.</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22 Oct 2026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22 Oct 2026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re we ar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Where we are</a:t>
            </a:r>
          </a:p>
        </p:txBody>
      </p:sp>
      <p:sp>
        <p:nvSpPr>
          <p:cNvPr id="3" name="text:Tonight's question: which data would"/>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Tonight's question: which data would hurt your agent most if it went stale?</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783080"/>
            <a:ext cx="2560320" cy="2331720"/>
          </a:xfrm>
          <a:prstGeom prst="roundRect">
            <a:avLst>
              <a:gd name="adj" fmla="val 549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92807"/>
            <a:ext cx="619963" cy="219456"/>
          </a:xfrm>
          <a:prstGeom prst="roundRect">
            <a:avLst>
              <a:gd name="adj" fmla="val 5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DONE"/>
          <p:cNvSpPr txBox="1"/>
          <p:nvPr/>
        </p:nvSpPr>
        <p:spPr>
          <a:xfrm>
            <a:off x="74980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DONE</a:t>
            </a:r>
          </a:p>
        </p:txBody>
      </p:sp>
      <p:sp>
        <p:nvSpPr>
          <p:cNvPr id="8" name="text:Workshop 1"/>
          <p:cNvSpPr txBox="1"/>
          <p:nvPr/>
        </p:nvSpPr>
        <p:spPr>
          <a:xfrm>
            <a:off x="74980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1</a:t>
            </a:r>
          </a:p>
        </p:txBody>
      </p:sp>
      <p:sp>
        <p:nvSpPr>
          <p:cNvPr id="9" name="text:Tue 13 Oct"/>
          <p:cNvSpPr txBox="1"/>
          <p:nvPr/>
        </p:nvSpPr>
        <p:spPr>
          <a:xfrm>
            <a:off x="74980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Tue 13 Oct</a:t>
            </a:r>
          </a:p>
        </p:txBody>
      </p:sp>
      <p:sp>
        <p:nvSpPr>
          <p:cNvPr id="10" name="text:Picked a trading bot and built a fir"/>
          <p:cNvSpPr txBox="1"/>
          <p:nvPr/>
        </p:nvSpPr>
        <p:spPr>
          <a:xfrm>
            <a:off x="74980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Picked a trading bot and built a first one</a:t>
            </a:r>
          </a:p>
        </p:txBody>
      </p:sp>
      <p:cxnSp>
        <p:nvCxnSpPr>
          <p:cNvPr id="11" name="Connector 10"/>
          <p:cNvCxnSpPr/>
          <p:nvPr/>
        </p:nvCxnSpPr>
        <p:spPr>
          <a:xfrm>
            <a:off x="313639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83080"/>
            <a:ext cx="2560320" cy="2331720"/>
          </a:xfrm>
          <a:prstGeom prst="roundRect">
            <a:avLst>
              <a:gd name="adj" fmla="val 549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38728" y="1892807"/>
            <a:ext cx="879195" cy="219456"/>
          </a:xfrm>
          <a:prstGeom prst="roundRect">
            <a:avLst>
              <a:gd name="adj" fmla="val 50000"/>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ONIGHT"/>
          <p:cNvSpPr txBox="1"/>
          <p:nvPr/>
        </p:nvSpPr>
        <p:spPr>
          <a:xfrm>
            <a:off x="3538728" y="1911095"/>
            <a:ext cx="879195"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TONIGHT</a:t>
            </a:r>
          </a:p>
        </p:txBody>
      </p:sp>
      <p:sp>
        <p:nvSpPr>
          <p:cNvPr id="15" name="text:Build night 1"/>
          <p:cNvSpPr txBox="1"/>
          <p:nvPr/>
        </p:nvSpPr>
        <p:spPr>
          <a:xfrm>
            <a:off x="353872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1</a:t>
            </a:r>
          </a:p>
        </p:txBody>
      </p:sp>
      <p:sp>
        <p:nvSpPr>
          <p:cNvPr id="16" name="text:Thu 22 Oct"/>
          <p:cNvSpPr txBox="1"/>
          <p:nvPr/>
        </p:nvSpPr>
        <p:spPr>
          <a:xfrm>
            <a:off x="353872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Thu 22 Oct</a:t>
            </a:r>
          </a:p>
        </p:txBody>
      </p:sp>
      <p:sp>
        <p:nvSpPr>
          <p:cNvPr id="17" name="text:Data collection and the risk hook"/>
          <p:cNvSpPr txBox="1"/>
          <p:nvPr/>
        </p:nvSpPr>
        <p:spPr>
          <a:xfrm>
            <a:off x="353872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Data collection and the risk hook</a:t>
            </a:r>
          </a:p>
        </p:txBody>
      </p:sp>
      <p:cxnSp>
        <p:nvCxnSpPr>
          <p:cNvPr id="18" name="Connector 17"/>
          <p:cNvCxnSpPr/>
          <p:nvPr/>
        </p:nvCxnSpPr>
        <p:spPr>
          <a:xfrm>
            <a:off x="592531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783080"/>
            <a:ext cx="2560320" cy="2331720"/>
          </a:xfrm>
          <a:prstGeom prst="roundRect">
            <a:avLst>
              <a:gd name="adj" fmla="val 549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27648" y="1892807"/>
            <a:ext cx="619963" cy="219456"/>
          </a:xfrm>
          <a:prstGeom prst="roundRect">
            <a:avLst>
              <a:gd name="adj" fmla="val 50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NEXT"/>
          <p:cNvSpPr txBox="1"/>
          <p:nvPr/>
        </p:nvSpPr>
        <p:spPr>
          <a:xfrm>
            <a:off x="632764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NEXT</a:t>
            </a:r>
          </a:p>
        </p:txBody>
      </p:sp>
      <p:sp>
        <p:nvSpPr>
          <p:cNvPr id="22" name="text:Build night 2"/>
          <p:cNvSpPr txBox="1"/>
          <p:nvPr/>
        </p:nvSpPr>
        <p:spPr>
          <a:xfrm>
            <a:off x="632764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2</a:t>
            </a:r>
          </a:p>
        </p:txBody>
      </p:sp>
      <p:sp>
        <p:nvSpPr>
          <p:cNvPr id="23" name="text:Thu 29 Oct"/>
          <p:cNvSpPr txBox="1"/>
          <p:nvPr/>
        </p:nvSpPr>
        <p:spPr>
          <a:xfrm>
            <a:off x="632764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Thu 29 Oct</a:t>
            </a:r>
          </a:p>
        </p:txBody>
      </p:sp>
      <p:sp>
        <p:nvSpPr>
          <p:cNvPr id="24" name="text:Data bars and change alerts"/>
          <p:cNvSpPr txBox="1"/>
          <p:nvPr/>
        </p:nvSpPr>
        <p:spPr>
          <a:xfrm>
            <a:off x="632764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Data bars and change alerts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Tonight</a:t>
            </a:r>
          </a:p>
        </p:txBody>
      </p:sp>
      <p:sp>
        <p:nvSpPr>
          <p:cNvPr id="3" name="text:18:00 to 20:00, mostly hands on."/>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mostly hands on.</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00"/>
          <p:cNvSpPr txBox="1"/>
          <p:nvPr/>
        </p:nvSpPr>
        <p:spPr>
          <a:xfrm>
            <a:off x="73152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18:00</a:t>
            </a:r>
          </a:p>
        </p:txBody>
      </p:sp>
      <p:sp>
        <p:nvSpPr>
          <p:cNvPr id="7" name="text:10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8" name="text:Progress circle"/>
          <p:cNvSpPr txBox="1"/>
          <p:nvPr/>
        </p:nvSpPr>
        <p:spPr>
          <a:xfrm>
            <a:off x="73152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Progress circle</a:t>
            </a:r>
          </a:p>
        </p:txBody>
      </p:sp>
      <p:sp>
        <p:nvSpPr>
          <p:cNvPr id="9" name="text:last result and tonight's question"/>
          <p:cNvSpPr txBox="1"/>
          <p:nvPr/>
        </p:nvSpPr>
        <p:spPr>
          <a:xfrm>
            <a:off x="73152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last result and tonight's question</a:t>
            </a:r>
          </a:p>
        </p:txBody>
      </p:sp>
      <p:sp>
        <p:nvSpPr>
          <p:cNvPr id="10" name="Rounded Rectangle 9"/>
          <p:cNvSpPr/>
          <p:nvPr/>
        </p:nvSpPr>
        <p:spPr>
          <a:xfrm>
            <a:off x="333756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10"/>
          <p:cNvSpPr txBox="1"/>
          <p:nvPr/>
        </p:nvSpPr>
        <p:spPr>
          <a:xfrm>
            <a:off x="352044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18:10</a:t>
            </a:r>
          </a:p>
        </p:txBody>
      </p:sp>
      <p:sp>
        <p:nvSpPr>
          <p:cNvPr id="12" name="text:10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13" name="text:Mini-talk"/>
          <p:cNvSpPr txBox="1"/>
          <p:nvPr/>
        </p:nvSpPr>
        <p:spPr>
          <a:xfrm>
            <a:off x="352044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Mini-talk</a:t>
            </a:r>
          </a:p>
        </p:txBody>
      </p:sp>
      <p:sp>
        <p:nvSpPr>
          <p:cNvPr id="14" name="text:four kinds of data, the risk hook"/>
          <p:cNvSpPr txBox="1"/>
          <p:nvPr/>
        </p:nvSpPr>
        <p:spPr>
          <a:xfrm>
            <a:off x="352044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four kinds of data, the risk hook</a:t>
            </a:r>
          </a:p>
        </p:txBody>
      </p:sp>
      <p:sp>
        <p:nvSpPr>
          <p:cNvPr id="15" name="Rounded Rectangle 14"/>
          <p:cNvSpPr/>
          <p:nvPr/>
        </p:nvSpPr>
        <p:spPr>
          <a:xfrm>
            <a:off x="6126479"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8:20"/>
          <p:cNvSpPr txBox="1"/>
          <p:nvPr/>
        </p:nvSpPr>
        <p:spPr>
          <a:xfrm>
            <a:off x="6309359"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18:20</a:t>
            </a:r>
          </a:p>
        </p:txBody>
      </p:sp>
      <p:sp>
        <p:nvSpPr>
          <p:cNvPr id="17" name="text:20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18" name="text:Demo tour"/>
          <p:cNvSpPr txBox="1"/>
          <p:nvPr/>
        </p:nvSpPr>
        <p:spPr>
          <a:xfrm>
            <a:off x="6309359"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Demo tour</a:t>
            </a:r>
          </a:p>
        </p:txBody>
      </p:sp>
      <p:sp>
        <p:nvSpPr>
          <p:cNvPr id="19" name="text:you predict, then we run it"/>
          <p:cNvSpPr txBox="1"/>
          <p:nvPr/>
        </p:nvSpPr>
        <p:spPr>
          <a:xfrm>
            <a:off x="6309359"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 predict, then we run it</a:t>
            </a:r>
          </a:p>
        </p:txBody>
      </p:sp>
      <p:sp>
        <p:nvSpPr>
          <p:cNvPr id="20" name="Rounded Rectangle 19"/>
          <p:cNvSpPr/>
          <p:nvPr/>
        </p:nvSpPr>
        <p:spPr>
          <a:xfrm>
            <a:off x="54864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8:40"/>
          <p:cNvSpPr txBox="1"/>
          <p:nvPr/>
        </p:nvSpPr>
        <p:spPr>
          <a:xfrm>
            <a:off x="73152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18:40</a:t>
            </a:r>
          </a:p>
        </p:txBody>
      </p:sp>
      <p:sp>
        <p:nvSpPr>
          <p:cNvPr id="22" name="text:20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20 min</a:t>
            </a:r>
          </a:p>
        </p:txBody>
      </p:sp>
      <p:sp>
        <p:nvSpPr>
          <p:cNvPr id="23" name="text:Guided mission"/>
          <p:cNvSpPr txBox="1"/>
          <p:nvPr/>
        </p:nvSpPr>
        <p:spPr>
          <a:xfrm>
            <a:off x="73152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Guided mission</a:t>
            </a:r>
          </a:p>
        </p:txBody>
      </p:sp>
      <p:sp>
        <p:nvSpPr>
          <p:cNvPr id="24" name="text:run it, change one thing, chart it"/>
          <p:cNvSpPr txBox="1"/>
          <p:nvPr/>
        </p:nvSpPr>
        <p:spPr>
          <a:xfrm>
            <a:off x="73152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run it, change one thing, chart it</a:t>
            </a:r>
          </a:p>
        </p:txBody>
      </p:sp>
      <p:sp>
        <p:nvSpPr>
          <p:cNvPr id="25" name="Rounded Rectangle 24"/>
          <p:cNvSpPr/>
          <p:nvPr/>
        </p:nvSpPr>
        <p:spPr>
          <a:xfrm>
            <a:off x="3337560" y="315468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00"/>
          <p:cNvSpPr txBox="1"/>
          <p:nvPr/>
        </p:nvSpPr>
        <p:spPr>
          <a:xfrm>
            <a:off x="352044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19:00</a:t>
            </a:r>
          </a:p>
        </p:txBody>
      </p:sp>
      <p:sp>
        <p:nvSpPr>
          <p:cNvPr id="27" name="text:50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50 min</a:t>
            </a:r>
          </a:p>
        </p:txBody>
      </p:sp>
      <p:sp>
        <p:nvSpPr>
          <p:cNvPr id="28" name="text:Free build"/>
          <p:cNvSpPr txBox="1"/>
          <p:nvPr/>
        </p:nvSpPr>
        <p:spPr>
          <a:xfrm>
            <a:off x="352044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Free build</a:t>
            </a:r>
          </a:p>
        </p:txBody>
      </p:sp>
      <p:sp>
        <p:nvSpPr>
          <p:cNvPr id="29" name="text:your own project"/>
          <p:cNvSpPr txBox="1"/>
          <p:nvPr/>
        </p:nvSpPr>
        <p:spPr>
          <a:xfrm>
            <a:off x="352044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your own project</a:t>
            </a:r>
          </a:p>
        </p:txBody>
      </p:sp>
      <p:sp>
        <p:nvSpPr>
          <p:cNvPr id="30" name="Rounded Rectangle 29"/>
          <p:cNvSpPr/>
          <p:nvPr/>
        </p:nvSpPr>
        <p:spPr>
          <a:xfrm>
            <a:off x="6126479"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50"/>
          <p:cNvSpPr txBox="1"/>
          <p:nvPr/>
        </p:nvSpPr>
        <p:spPr>
          <a:xfrm>
            <a:off x="6309359"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19:50</a:t>
            </a:r>
          </a:p>
        </p:txBody>
      </p:sp>
      <p:sp>
        <p:nvSpPr>
          <p:cNvPr id="32" name="text:10 min"/>
          <p:cNvSpPr txBox="1"/>
          <p:nvPr/>
        </p:nvSpPr>
        <p:spPr>
          <a:xfrm>
            <a:off x="7589519"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33" name="text:Show and tell"/>
          <p:cNvSpPr txBox="1"/>
          <p:nvPr/>
        </p:nvSpPr>
        <p:spPr>
          <a:xfrm>
            <a:off x="6309359"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Show and tell</a:t>
            </a:r>
          </a:p>
        </p:txBody>
      </p:sp>
      <p:sp>
        <p:nvSpPr>
          <p:cNvPr id="34" name="text:push, one line on next step"/>
          <p:cNvSpPr txBox="1"/>
          <p:nvPr/>
        </p:nvSpPr>
        <p:spPr>
          <a:xfrm>
            <a:off x="6309359"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push, one line on next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smart agent with bad data"/>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smart agent with bad data</a:t>
            </a:r>
          </a:p>
        </p:txBody>
      </p:sp>
      <p:sp>
        <p:nvSpPr>
          <p:cNvPr id="3" name="text:The agent is the same in both card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agent is the same in both cards. Only the input changed.</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554480"/>
            <a:ext cx="3886200" cy="3017520"/>
          </a:xfrm>
          <a:prstGeom prst="roundRect">
            <a:avLst>
              <a:gd name="adj" fmla="val 4242"/>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FRESH INPUT"/>
          <p:cNvSpPr txBox="1"/>
          <p:nvPr/>
        </p:nvSpPr>
        <p:spPr>
          <a:xfrm>
            <a:off x="777240" y="1737360"/>
            <a:ext cx="3474720" cy="22860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FRESH INPUT</a:t>
            </a:r>
          </a:p>
        </p:txBody>
      </p:sp>
      <p:sp>
        <p:nvSpPr>
          <p:cNvPr id="7" name="text:Price read 1 second ago"/>
          <p:cNvSpPr txBox="1"/>
          <p:nvPr/>
        </p:nvSpPr>
        <p:spPr>
          <a:xfrm>
            <a:off x="777240" y="2011680"/>
            <a:ext cx="352044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Price read 1 second ago</a:t>
            </a:r>
          </a:p>
        </p:txBody>
      </p:sp>
      <p:sp>
        <p:nvSpPr>
          <p:cNvPr id="8" name="text:106.60"/>
          <p:cNvSpPr txBox="1"/>
          <p:nvPr/>
        </p:nvSpPr>
        <p:spPr>
          <a:xfrm>
            <a:off x="777240" y="2468880"/>
            <a:ext cx="2743200" cy="640080"/>
          </a:xfrm>
          <a:prstGeom prst="rect">
            <a:avLst/>
          </a:prstGeom>
          <a:noFill/>
        </p:spPr>
        <p:txBody>
          <a:bodyPr wrap="square" lIns="9144" rIns="9144" tIns="0" bIns="0">
            <a:spAutoFit/>
          </a:bodyPr>
          <a:lstStyle/>
          <a:p>
            <a:pPr>
              <a:lnSpc>
                <a:spcPct val="106000"/>
              </a:lnSpc>
              <a:spcAft>
                <a:spcPts val="400"/>
              </a:spcAft>
              <a:defRPr sz="4000" b="0">
                <a:solidFill>
                  <a:srgbClr val="F2F5F8"/>
                </a:solidFill>
                <a:latin typeface="Helvetica Neue"/>
              </a:defRPr>
            </a:pPr>
            <a:r>
              <a:t>106.60</a:t>
            </a:r>
          </a:p>
        </p:txBody>
      </p:sp>
      <p:sp>
        <p:nvSpPr>
          <p:cNvPr id="9" name="text:USD per SOL"/>
          <p:cNvSpPr txBox="1"/>
          <p:nvPr/>
        </p:nvSpPr>
        <p:spPr>
          <a:xfrm>
            <a:off x="777240" y="3154680"/>
            <a:ext cx="274320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USD per SOL</a:t>
            </a:r>
          </a:p>
        </p:txBody>
      </p:sp>
      <p:sp>
        <p:nvSpPr>
          <p:cNvPr id="10" name="Rounded Rectangle 9"/>
          <p:cNvSpPr/>
          <p:nvPr/>
        </p:nvSpPr>
        <p:spPr>
          <a:xfrm>
            <a:off x="777240" y="3474720"/>
            <a:ext cx="352044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Agent: &quot;Buy a small size.&quot;"/>
          <p:cNvSpPr txBox="1"/>
          <p:nvPr/>
        </p:nvSpPr>
        <p:spPr>
          <a:xfrm>
            <a:off x="914400" y="3474720"/>
            <a:ext cx="3291840" cy="502920"/>
          </a:xfrm>
          <a:prstGeom prst="rect">
            <a:avLst/>
          </a:prstGeom>
          <a:noFill/>
        </p:spPr>
        <p:txBody>
          <a:bodyPr wrap="square" lIns="9144" rIns="9144" tIns="0" bIns="0" anchor="ctr">
            <a:spAutoFit/>
          </a:bodyPr>
          <a:lstStyle/>
          <a:p>
            <a:pPr>
              <a:lnSpc>
                <a:spcPct val="106000"/>
              </a:lnSpc>
              <a:spcAft>
                <a:spcPts val="400"/>
              </a:spcAft>
              <a:defRPr sz="1400" b="0">
                <a:solidFill>
                  <a:srgbClr val="B3A5FF"/>
                </a:solidFill>
                <a:latin typeface="Helvetica Neue"/>
              </a:defRPr>
            </a:pPr>
            <a:r>
              <a:t>Agent: "Buy a small size."</a:t>
            </a:r>
          </a:p>
        </p:txBody>
      </p:sp>
      <p:sp>
        <p:nvSpPr>
          <p:cNvPr id="12" name="text:A sensible answer."/>
          <p:cNvSpPr txBox="1"/>
          <p:nvPr/>
        </p:nvSpPr>
        <p:spPr>
          <a:xfrm>
            <a:off x="777240" y="4114800"/>
            <a:ext cx="3520440" cy="27432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A sensible answer.</a:t>
            </a:r>
          </a:p>
        </p:txBody>
      </p:sp>
      <p:sp>
        <p:nvSpPr>
          <p:cNvPr id="13" name="Rounded Rectangle 12"/>
          <p:cNvSpPr/>
          <p:nvPr/>
        </p:nvSpPr>
        <p:spPr>
          <a:xfrm>
            <a:off x="4709160" y="1554480"/>
            <a:ext cx="3886200" cy="3017520"/>
          </a:xfrm>
          <a:prstGeom prst="roundRect">
            <a:avLst>
              <a:gd name="adj" fmla="val 4242"/>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ONE BAD INPUT"/>
          <p:cNvSpPr txBox="1"/>
          <p:nvPr/>
        </p:nvSpPr>
        <p:spPr>
          <a:xfrm>
            <a:off x="4937760" y="1737360"/>
            <a:ext cx="3474720" cy="22860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ONE BAD INPUT</a:t>
            </a:r>
          </a:p>
        </p:txBody>
      </p:sp>
      <p:sp>
        <p:nvSpPr>
          <p:cNvPr id="15" name="text:Price read 4 minutes ago"/>
          <p:cNvSpPr txBox="1"/>
          <p:nvPr/>
        </p:nvSpPr>
        <p:spPr>
          <a:xfrm>
            <a:off x="4937760" y="2011680"/>
            <a:ext cx="352044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Price read 4 minutes ago</a:t>
            </a:r>
          </a:p>
        </p:txBody>
      </p:sp>
      <p:sp>
        <p:nvSpPr>
          <p:cNvPr id="16" name="text:106.60"/>
          <p:cNvSpPr txBox="1"/>
          <p:nvPr/>
        </p:nvSpPr>
        <p:spPr>
          <a:xfrm>
            <a:off x="4937760" y="2468880"/>
            <a:ext cx="2743200" cy="640080"/>
          </a:xfrm>
          <a:prstGeom prst="rect">
            <a:avLst/>
          </a:prstGeom>
          <a:noFill/>
        </p:spPr>
        <p:txBody>
          <a:bodyPr wrap="square" lIns="9144" rIns="9144" tIns="0" bIns="0">
            <a:spAutoFit/>
          </a:bodyPr>
          <a:lstStyle/>
          <a:p>
            <a:pPr>
              <a:lnSpc>
                <a:spcPct val="106000"/>
              </a:lnSpc>
              <a:spcAft>
                <a:spcPts val="400"/>
              </a:spcAft>
              <a:defRPr sz="4000" b="0">
                <a:solidFill>
                  <a:srgbClr val="F2F5F8"/>
                </a:solidFill>
                <a:latin typeface="Helvetica Neue"/>
              </a:defRPr>
            </a:pPr>
            <a:r>
              <a:t>106.60</a:t>
            </a:r>
          </a:p>
        </p:txBody>
      </p:sp>
      <p:sp>
        <p:nvSpPr>
          <p:cNvPr id="17" name="text:USD per SOL"/>
          <p:cNvSpPr txBox="1"/>
          <p:nvPr/>
        </p:nvSpPr>
        <p:spPr>
          <a:xfrm>
            <a:off x="4937760" y="3154680"/>
            <a:ext cx="274320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USD per SOL</a:t>
            </a:r>
          </a:p>
        </p:txBody>
      </p:sp>
      <p:sp>
        <p:nvSpPr>
          <p:cNvPr id="18" name="Rounded Rectangle 17"/>
          <p:cNvSpPr/>
          <p:nvPr/>
        </p:nvSpPr>
        <p:spPr>
          <a:xfrm>
            <a:off x="4937760" y="3474720"/>
            <a:ext cx="352044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Agent: &quot;Buy a small size.&quot;"/>
          <p:cNvSpPr txBox="1"/>
          <p:nvPr/>
        </p:nvSpPr>
        <p:spPr>
          <a:xfrm>
            <a:off x="5074920" y="3474720"/>
            <a:ext cx="3291840" cy="502920"/>
          </a:xfrm>
          <a:prstGeom prst="rect">
            <a:avLst/>
          </a:prstGeom>
          <a:noFill/>
        </p:spPr>
        <p:txBody>
          <a:bodyPr wrap="square" lIns="9144" rIns="9144" tIns="0" bIns="0" anchor="ctr">
            <a:spAutoFit/>
          </a:bodyPr>
          <a:lstStyle/>
          <a:p>
            <a:pPr>
              <a:lnSpc>
                <a:spcPct val="106000"/>
              </a:lnSpc>
              <a:spcAft>
                <a:spcPts val="400"/>
              </a:spcAft>
              <a:defRPr sz="1400" b="0">
                <a:solidFill>
                  <a:srgbClr val="B3A5FF"/>
                </a:solidFill>
                <a:latin typeface="Helvetica Neue"/>
              </a:defRPr>
            </a:pPr>
            <a:r>
              <a:t>Agent: "Buy a small size."</a:t>
            </a:r>
          </a:p>
        </p:txBody>
      </p:sp>
      <p:sp>
        <p:nvSpPr>
          <p:cNvPr id="20" name="text:Same confident answer, now wrong."/>
          <p:cNvSpPr txBox="1"/>
          <p:nvPr/>
        </p:nvSpPr>
        <p:spPr>
          <a:xfrm>
            <a:off x="4937760" y="4114800"/>
            <a:ext cx="3520440" cy="274320"/>
          </a:xfrm>
          <a:prstGeom prst="rect">
            <a:avLst/>
          </a:prstGeom>
          <a:noFill/>
        </p:spPr>
        <p:txBody>
          <a:bodyPr wrap="square" lIns="9144" rIns="9144" tIns="0" bIns="0">
            <a:spAutoFit/>
          </a:bodyPr>
          <a:lstStyle/>
          <a:p>
            <a:pPr>
              <a:lnSpc>
                <a:spcPct val="106000"/>
              </a:lnSpc>
              <a:spcAft>
                <a:spcPts val="400"/>
              </a:spcAft>
              <a:defRPr sz="1300" b="0">
                <a:solidFill>
                  <a:srgbClr val="FD51FC"/>
                </a:solidFill>
                <a:latin typeface="Helvetica Neue"/>
              </a:defRPr>
            </a:pPr>
            <a:r>
              <a:t>Same confident answer, now wrong.</a:t>
            </a:r>
          </a:p>
        </p:txBody>
      </p:sp>
      <p:sp>
        <p:nvSpPr>
          <p:cNvPr id="21" name="text:Illustrativ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our kinds of data"/>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Four kinds of data</a:t>
            </a:r>
          </a:p>
        </p:txBody>
      </p:sp>
      <p:sp>
        <p:nvSpPr>
          <p:cNvPr id="3" name="text:Every agent decision reads some mix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Every agent decision reads some mix of these.</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Rounded Rectangle 4"/>
          <p:cNvSpPr/>
          <p:nvPr/>
        </p:nvSpPr>
        <p:spPr>
          <a:xfrm>
            <a:off x="548640" y="2350008"/>
            <a:ext cx="3200400" cy="603504"/>
          </a:xfrm>
          <a:prstGeom prst="roundRect">
            <a:avLst>
              <a:gd name="adj" fmla="val 21212"/>
            </a:avLst>
          </a:prstGeom>
          <a:noFill/>
          <a:ln w="10160">
            <a:solidFill>
              <a:srgbClr val="1F1F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3099815"/>
            <a:ext cx="3200400" cy="603504"/>
          </a:xfrm>
          <a:prstGeom prst="roundRect">
            <a:avLst>
              <a:gd name="adj" fmla="val 21212"/>
            </a:avLst>
          </a:prstGeom>
          <a:noFill/>
          <a:ln w="10160">
            <a:solidFill>
              <a:srgbClr val="1F1F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3849624"/>
            <a:ext cx="3200400" cy="603504"/>
          </a:xfrm>
          <a:prstGeom prst="roundRect">
            <a:avLst>
              <a:gd name="adj" fmla="val 21212"/>
            </a:avLst>
          </a:prstGeom>
          <a:noFill/>
          <a:ln w="10160">
            <a:solidFill>
              <a:srgbClr val="1F1F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600200"/>
            <a:ext cx="3200400" cy="603504"/>
          </a:xfrm>
          <a:prstGeom prst="roundRect">
            <a:avLst>
              <a:gd name="adj" fmla="val 21212"/>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13232" y="1600200"/>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3DDC97"/>
                </a:solidFill>
                <a:latin typeface="Helvetica Neue"/>
              </a:defRPr>
            </a:pPr>
            <a:r>
              <a:t>1</a:t>
            </a:r>
          </a:p>
        </p:txBody>
      </p:sp>
      <p:sp>
        <p:nvSpPr>
          <p:cNvPr id="10" name="text:Venue price"/>
          <p:cNvSpPr txBox="1"/>
          <p:nvPr/>
        </p:nvSpPr>
        <p:spPr>
          <a:xfrm>
            <a:off x="1097280" y="1673352"/>
            <a:ext cx="25603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Venue price</a:t>
            </a:r>
          </a:p>
        </p:txBody>
      </p:sp>
      <p:sp>
        <p:nvSpPr>
          <p:cNvPr id="11" name="text:jupiterQuote"/>
          <p:cNvSpPr txBox="1"/>
          <p:nvPr/>
        </p:nvSpPr>
        <p:spPr>
          <a:xfrm>
            <a:off x="1097280" y="1947672"/>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jupiterQuote</a:t>
            </a:r>
          </a:p>
        </p:txBody>
      </p:sp>
      <p:sp>
        <p:nvSpPr>
          <p:cNvPr id="12" name="text:DATA FAMILY 1 OF 4"/>
          <p:cNvSpPr txBox="1"/>
          <p:nvPr/>
        </p:nvSpPr>
        <p:spPr>
          <a:xfrm>
            <a:off x="4160520" y="1600200"/>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DATA FAMILY 1 OF 4</a:t>
            </a:r>
          </a:p>
        </p:txBody>
      </p:sp>
      <p:sp>
        <p:nvSpPr>
          <p:cNvPr id="13" name="text:Venue price"/>
          <p:cNvSpPr txBox="1"/>
          <p:nvPr/>
        </p:nvSpPr>
        <p:spPr>
          <a:xfrm>
            <a:off x="4160520" y="1828800"/>
            <a:ext cx="4480560" cy="45720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Venue price</a:t>
            </a:r>
          </a:p>
        </p:txBody>
      </p:sp>
      <p:sp>
        <p:nvSpPr>
          <p:cNvPr id="14" name="text:What you can actually trade at, righ"/>
          <p:cNvSpPr txBox="1"/>
          <p:nvPr/>
        </p:nvSpPr>
        <p:spPr>
          <a:xfrm>
            <a:off x="4160520" y="2377440"/>
            <a:ext cx="4480560" cy="54864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What you can actually trade at, right now.</a:t>
            </a:r>
          </a:p>
        </p:txBody>
      </p:sp>
      <p:sp>
        <p:nvSpPr>
          <p:cNvPr id="15" name="Rounded Rectangle 14"/>
          <p:cNvSpPr/>
          <p:nvPr/>
        </p:nvSpPr>
        <p:spPr>
          <a:xfrm>
            <a:off x="4160520" y="3063240"/>
            <a:ext cx="219456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ON SOLANA"/>
          <p:cNvSpPr txBox="1"/>
          <p:nvPr/>
        </p:nvSpPr>
        <p:spPr>
          <a:xfrm>
            <a:off x="4325112"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ON SOLANA</a:t>
            </a:r>
          </a:p>
        </p:txBody>
      </p:sp>
      <p:sp>
        <p:nvSpPr>
          <p:cNvPr id="17" name="text:A Jupiter quote: sell 1 SOL, get N U"/>
          <p:cNvSpPr txBox="1"/>
          <p:nvPr/>
        </p:nvSpPr>
        <p:spPr>
          <a:xfrm>
            <a:off x="4325112"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A Jupiter quote: sell 1 SOL, get N USDC, routed across the pools.</a:t>
            </a:r>
          </a:p>
        </p:txBody>
      </p:sp>
      <p:sp>
        <p:nvSpPr>
          <p:cNvPr id="18" name="Rounded Rectangle 17"/>
          <p:cNvSpPr/>
          <p:nvPr/>
        </p:nvSpPr>
        <p:spPr>
          <a:xfrm>
            <a:off x="6492240" y="3063240"/>
            <a:ext cx="2194560" cy="1371600"/>
          </a:xfrm>
          <a:prstGeom prst="roundRect">
            <a:avLst>
              <a:gd name="adj" fmla="val 9333"/>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HOW IT GOES BAD"/>
          <p:cNvSpPr txBox="1"/>
          <p:nvPr/>
        </p:nvSpPr>
        <p:spPr>
          <a:xfrm>
            <a:off x="6656831"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HOW IT GOES BAD</a:t>
            </a:r>
          </a:p>
        </p:txBody>
      </p:sp>
      <p:sp>
        <p:nvSpPr>
          <p:cNvPr id="20" name="text:Moves every second. One venue's pric"/>
          <p:cNvSpPr txBox="1"/>
          <p:nvPr/>
        </p:nvSpPr>
        <p:spPr>
          <a:xfrm>
            <a:off x="6656831"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Moves every second. One venue's price is not the market.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our kinds of data"/>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Four kinds of data</a:t>
            </a:r>
          </a:p>
        </p:txBody>
      </p:sp>
      <p:sp>
        <p:nvSpPr>
          <p:cNvPr id="3" name="text:Every agent decision reads some mix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Every agent decision reads some mix of these.</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Rounded Rectangle 4"/>
          <p:cNvSpPr/>
          <p:nvPr/>
        </p:nvSpPr>
        <p:spPr>
          <a:xfrm>
            <a:off x="548640" y="3099815"/>
            <a:ext cx="3200400" cy="603504"/>
          </a:xfrm>
          <a:prstGeom prst="roundRect">
            <a:avLst>
              <a:gd name="adj" fmla="val 21212"/>
            </a:avLst>
          </a:prstGeom>
          <a:noFill/>
          <a:ln w="10160">
            <a:solidFill>
              <a:srgbClr val="1F1F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3849624"/>
            <a:ext cx="3200400" cy="603504"/>
          </a:xfrm>
          <a:prstGeom prst="roundRect">
            <a:avLst>
              <a:gd name="adj" fmla="val 21212"/>
            </a:avLst>
          </a:prstGeom>
          <a:noFill/>
          <a:ln w="10160">
            <a:solidFill>
              <a:srgbClr val="1F1F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600200"/>
            <a:ext cx="3200400" cy="603504"/>
          </a:xfrm>
          <a:prstGeom prst="roundRect">
            <a:avLst>
              <a:gd name="adj" fmla="val 212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1"/>
          <p:cNvSpPr txBox="1"/>
          <p:nvPr/>
        </p:nvSpPr>
        <p:spPr>
          <a:xfrm>
            <a:off x="713232" y="1600200"/>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9A9AA2"/>
                </a:solidFill>
                <a:latin typeface="Helvetica Neue"/>
              </a:defRPr>
            </a:pPr>
            <a:r>
              <a:t>1</a:t>
            </a:r>
          </a:p>
        </p:txBody>
      </p:sp>
      <p:sp>
        <p:nvSpPr>
          <p:cNvPr id="9" name="text:Venue price"/>
          <p:cNvSpPr txBox="1"/>
          <p:nvPr/>
        </p:nvSpPr>
        <p:spPr>
          <a:xfrm>
            <a:off x="1097280" y="1673352"/>
            <a:ext cx="2560320" cy="274320"/>
          </a:xfrm>
          <a:prstGeom prst="rect">
            <a:avLst/>
          </a:prstGeom>
          <a:noFill/>
        </p:spPr>
        <p:txBody>
          <a:bodyPr wrap="square" lIns="9144" rIns="9144" tIns="0" bIns="0">
            <a:spAutoFit/>
          </a:bodyPr>
          <a:lstStyle/>
          <a:p>
            <a:pPr>
              <a:lnSpc>
                <a:spcPct val="106000"/>
              </a:lnSpc>
              <a:spcAft>
                <a:spcPts val="400"/>
              </a:spcAft>
              <a:defRPr sz="1500" b="0">
                <a:solidFill>
                  <a:srgbClr val="9A9AA2"/>
                </a:solidFill>
                <a:latin typeface="Helvetica Neue"/>
              </a:defRPr>
            </a:pPr>
            <a:r>
              <a:t>Venue price</a:t>
            </a:r>
          </a:p>
        </p:txBody>
      </p:sp>
      <p:sp>
        <p:nvSpPr>
          <p:cNvPr id="10" name="text:jupiterQuote"/>
          <p:cNvSpPr txBox="1"/>
          <p:nvPr/>
        </p:nvSpPr>
        <p:spPr>
          <a:xfrm>
            <a:off x="1097280" y="1947672"/>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jupiterQuote</a:t>
            </a:r>
          </a:p>
        </p:txBody>
      </p:sp>
      <p:sp>
        <p:nvSpPr>
          <p:cNvPr id="11" name="Rounded Rectangle 10"/>
          <p:cNvSpPr/>
          <p:nvPr/>
        </p:nvSpPr>
        <p:spPr>
          <a:xfrm>
            <a:off x="548640" y="2350008"/>
            <a:ext cx="3200400" cy="603504"/>
          </a:xfrm>
          <a:prstGeom prst="roundRect">
            <a:avLst>
              <a:gd name="adj" fmla="val 21212"/>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13232" y="2350008"/>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3DDC97"/>
                </a:solidFill>
                <a:latin typeface="Helvetica Neue"/>
              </a:defRPr>
            </a:pPr>
            <a:r>
              <a:t>2</a:t>
            </a:r>
          </a:p>
        </p:txBody>
      </p:sp>
      <p:sp>
        <p:nvSpPr>
          <p:cNvPr id="13" name="text:Oracle price"/>
          <p:cNvSpPr txBox="1"/>
          <p:nvPr/>
        </p:nvSpPr>
        <p:spPr>
          <a:xfrm>
            <a:off x="1097280" y="2423160"/>
            <a:ext cx="25603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Oracle price</a:t>
            </a:r>
          </a:p>
        </p:txBody>
      </p:sp>
      <p:sp>
        <p:nvSpPr>
          <p:cNvPr id="14" name="text:pythOnChain"/>
          <p:cNvSpPr txBox="1"/>
          <p:nvPr/>
        </p:nvSpPr>
        <p:spPr>
          <a:xfrm>
            <a:off x="1097280" y="2697479"/>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pythOnChain</a:t>
            </a:r>
          </a:p>
        </p:txBody>
      </p:sp>
      <p:sp>
        <p:nvSpPr>
          <p:cNvPr id="15" name="text:DATA FAMILY 2 OF 4"/>
          <p:cNvSpPr txBox="1"/>
          <p:nvPr/>
        </p:nvSpPr>
        <p:spPr>
          <a:xfrm>
            <a:off x="4160520" y="1600200"/>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DATA FAMILY 2 OF 4</a:t>
            </a:r>
          </a:p>
        </p:txBody>
      </p:sp>
      <p:sp>
        <p:nvSpPr>
          <p:cNvPr id="16" name="text:Oracle price"/>
          <p:cNvSpPr txBox="1"/>
          <p:nvPr/>
        </p:nvSpPr>
        <p:spPr>
          <a:xfrm>
            <a:off x="4160520" y="1828800"/>
            <a:ext cx="4480560" cy="45720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Oracle price</a:t>
            </a:r>
          </a:p>
        </p:txBody>
      </p:sp>
      <p:sp>
        <p:nvSpPr>
          <p:cNvPr id="17" name="text:A reference price that lives on chai"/>
          <p:cNvSpPr txBox="1"/>
          <p:nvPr/>
        </p:nvSpPr>
        <p:spPr>
          <a:xfrm>
            <a:off x="4160520" y="2377440"/>
            <a:ext cx="4480560" cy="54864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reference price that lives on chain.</a:t>
            </a:r>
          </a:p>
        </p:txBody>
      </p:sp>
      <p:sp>
        <p:nvSpPr>
          <p:cNvPr id="18" name="Rounded Rectangle 17"/>
          <p:cNvSpPr/>
          <p:nvPr/>
        </p:nvSpPr>
        <p:spPr>
          <a:xfrm>
            <a:off x="4160520" y="3063240"/>
            <a:ext cx="219456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ON SOLANA"/>
          <p:cNvSpPr txBox="1"/>
          <p:nvPr/>
        </p:nvSpPr>
        <p:spPr>
          <a:xfrm>
            <a:off x="4325112"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ON SOLANA</a:t>
            </a:r>
          </a:p>
        </p:txBody>
      </p:sp>
      <p:sp>
        <p:nvSpPr>
          <p:cNvPr id="20" name="text:A Pyth price account: price, confide"/>
          <p:cNvSpPr txBox="1"/>
          <p:nvPr/>
        </p:nvSpPr>
        <p:spPr>
          <a:xfrm>
            <a:off x="4325112"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A Pyth price account: price, confidence band, publish time.</a:t>
            </a:r>
          </a:p>
        </p:txBody>
      </p:sp>
      <p:sp>
        <p:nvSpPr>
          <p:cNvPr id="21" name="Rounded Rectangle 20"/>
          <p:cNvSpPr/>
          <p:nvPr/>
        </p:nvSpPr>
        <p:spPr>
          <a:xfrm>
            <a:off x="6492240" y="3063240"/>
            <a:ext cx="2194560" cy="1371600"/>
          </a:xfrm>
          <a:prstGeom prst="roundRect">
            <a:avLst>
              <a:gd name="adj" fmla="val 9333"/>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HOW IT GOES BAD"/>
          <p:cNvSpPr txBox="1"/>
          <p:nvPr/>
        </p:nvSpPr>
        <p:spPr>
          <a:xfrm>
            <a:off x="6656831"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HOW IT GOES BAD</a:t>
            </a:r>
          </a:p>
        </p:txBody>
      </p:sp>
      <p:sp>
        <p:nvSpPr>
          <p:cNvPr id="23" name="text:Can be old, or wide. Check its age a"/>
          <p:cNvSpPr txBox="1"/>
          <p:nvPr/>
        </p:nvSpPr>
        <p:spPr>
          <a:xfrm>
            <a:off x="6656831"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Can be old, or wide. Check its age and confidence before you trust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our kinds of data"/>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Four kinds of data</a:t>
            </a:r>
          </a:p>
        </p:txBody>
      </p:sp>
      <p:sp>
        <p:nvSpPr>
          <p:cNvPr id="3" name="text:Every agent decision reads some mix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Every agent decision reads some mix of these.</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48640" y="3849624"/>
            <a:ext cx="3200400" cy="603504"/>
          </a:xfrm>
          <a:prstGeom prst="roundRect">
            <a:avLst>
              <a:gd name="adj" fmla="val 21212"/>
            </a:avLst>
          </a:prstGeom>
          <a:noFill/>
          <a:ln w="10160">
            <a:solidFill>
              <a:srgbClr val="1F1F2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600200"/>
            <a:ext cx="3200400" cy="603504"/>
          </a:xfrm>
          <a:prstGeom prst="roundRect">
            <a:avLst>
              <a:gd name="adj" fmla="val 212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1"/>
          <p:cNvSpPr txBox="1"/>
          <p:nvPr/>
        </p:nvSpPr>
        <p:spPr>
          <a:xfrm>
            <a:off x="713232" y="1600200"/>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9A9AA2"/>
                </a:solidFill>
                <a:latin typeface="Helvetica Neue"/>
              </a:defRPr>
            </a:pPr>
            <a:r>
              <a:t>1</a:t>
            </a:r>
          </a:p>
        </p:txBody>
      </p:sp>
      <p:sp>
        <p:nvSpPr>
          <p:cNvPr id="8" name="text:Venue price"/>
          <p:cNvSpPr txBox="1"/>
          <p:nvPr/>
        </p:nvSpPr>
        <p:spPr>
          <a:xfrm>
            <a:off x="1097280" y="1673352"/>
            <a:ext cx="2560320" cy="274320"/>
          </a:xfrm>
          <a:prstGeom prst="rect">
            <a:avLst/>
          </a:prstGeom>
          <a:noFill/>
        </p:spPr>
        <p:txBody>
          <a:bodyPr wrap="square" lIns="9144" rIns="9144" tIns="0" bIns="0">
            <a:spAutoFit/>
          </a:bodyPr>
          <a:lstStyle/>
          <a:p>
            <a:pPr>
              <a:lnSpc>
                <a:spcPct val="106000"/>
              </a:lnSpc>
              <a:spcAft>
                <a:spcPts val="400"/>
              </a:spcAft>
              <a:defRPr sz="1500" b="0">
                <a:solidFill>
                  <a:srgbClr val="9A9AA2"/>
                </a:solidFill>
                <a:latin typeface="Helvetica Neue"/>
              </a:defRPr>
            </a:pPr>
            <a:r>
              <a:t>Venue price</a:t>
            </a:r>
          </a:p>
        </p:txBody>
      </p:sp>
      <p:sp>
        <p:nvSpPr>
          <p:cNvPr id="9" name="text:jupiterQuote"/>
          <p:cNvSpPr txBox="1"/>
          <p:nvPr/>
        </p:nvSpPr>
        <p:spPr>
          <a:xfrm>
            <a:off x="1097280" y="1947672"/>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jupiterQuote</a:t>
            </a:r>
          </a:p>
        </p:txBody>
      </p:sp>
      <p:sp>
        <p:nvSpPr>
          <p:cNvPr id="10" name="Rounded Rectangle 9"/>
          <p:cNvSpPr/>
          <p:nvPr/>
        </p:nvSpPr>
        <p:spPr>
          <a:xfrm>
            <a:off x="548640" y="2350008"/>
            <a:ext cx="3200400" cy="603504"/>
          </a:xfrm>
          <a:prstGeom prst="roundRect">
            <a:avLst>
              <a:gd name="adj" fmla="val 212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713232" y="2350008"/>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9A9AA2"/>
                </a:solidFill>
                <a:latin typeface="Helvetica Neue"/>
              </a:defRPr>
            </a:pPr>
            <a:r>
              <a:t>2</a:t>
            </a:r>
          </a:p>
        </p:txBody>
      </p:sp>
      <p:sp>
        <p:nvSpPr>
          <p:cNvPr id="12" name="text:Oracle price"/>
          <p:cNvSpPr txBox="1"/>
          <p:nvPr/>
        </p:nvSpPr>
        <p:spPr>
          <a:xfrm>
            <a:off x="1097280" y="2423160"/>
            <a:ext cx="2560320" cy="274320"/>
          </a:xfrm>
          <a:prstGeom prst="rect">
            <a:avLst/>
          </a:prstGeom>
          <a:noFill/>
        </p:spPr>
        <p:txBody>
          <a:bodyPr wrap="square" lIns="9144" rIns="9144" tIns="0" bIns="0">
            <a:spAutoFit/>
          </a:bodyPr>
          <a:lstStyle/>
          <a:p>
            <a:pPr>
              <a:lnSpc>
                <a:spcPct val="106000"/>
              </a:lnSpc>
              <a:spcAft>
                <a:spcPts val="400"/>
              </a:spcAft>
              <a:defRPr sz="1500" b="0">
                <a:solidFill>
                  <a:srgbClr val="9A9AA2"/>
                </a:solidFill>
                <a:latin typeface="Helvetica Neue"/>
              </a:defRPr>
            </a:pPr>
            <a:r>
              <a:t>Oracle price</a:t>
            </a:r>
          </a:p>
        </p:txBody>
      </p:sp>
      <p:sp>
        <p:nvSpPr>
          <p:cNvPr id="13" name="text:pythOnChain"/>
          <p:cNvSpPr txBox="1"/>
          <p:nvPr/>
        </p:nvSpPr>
        <p:spPr>
          <a:xfrm>
            <a:off x="1097280" y="2697479"/>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pythOnChain</a:t>
            </a:r>
          </a:p>
        </p:txBody>
      </p:sp>
      <p:sp>
        <p:nvSpPr>
          <p:cNvPr id="14" name="Rounded Rectangle 13"/>
          <p:cNvSpPr/>
          <p:nvPr/>
        </p:nvSpPr>
        <p:spPr>
          <a:xfrm>
            <a:off x="548640" y="3099815"/>
            <a:ext cx="3200400" cy="603504"/>
          </a:xfrm>
          <a:prstGeom prst="roundRect">
            <a:avLst>
              <a:gd name="adj" fmla="val 21212"/>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3"/>
          <p:cNvSpPr txBox="1"/>
          <p:nvPr/>
        </p:nvSpPr>
        <p:spPr>
          <a:xfrm>
            <a:off x="713232" y="3099815"/>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3DDC97"/>
                </a:solidFill>
                <a:latin typeface="Helvetica Neue"/>
              </a:defRPr>
            </a:pPr>
            <a:r>
              <a:t>3</a:t>
            </a:r>
          </a:p>
        </p:txBody>
      </p:sp>
      <p:sp>
        <p:nvSpPr>
          <p:cNvPr id="16" name="text:Ordering"/>
          <p:cNvSpPr txBox="1"/>
          <p:nvPr/>
        </p:nvSpPr>
        <p:spPr>
          <a:xfrm>
            <a:off x="1097280" y="3172968"/>
            <a:ext cx="25603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Ordering</a:t>
            </a:r>
          </a:p>
        </p:txBody>
      </p:sp>
      <p:sp>
        <p:nvSpPr>
          <p:cNvPr id="17" name="text:slot numbers"/>
          <p:cNvSpPr txBox="1"/>
          <p:nvPr/>
        </p:nvSpPr>
        <p:spPr>
          <a:xfrm>
            <a:off x="1097280" y="3447287"/>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slot numbers</a:t>
            </a:r>
          </a:p>
        </p:txBody>
      </p:sp>
      <p:sp>
        <p:nvSpPr>
          <p:cNvPr id="18" name="text:DATA FAMILY 3 OF 4"/>
          <p:cNvSpPr txBox="1"/>
          <p:nvPr/>
        </p:nvSpPr>
        <p:spPr>
          <a:xfrm>
            <a:off x="4160520" y="1600200"/>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DATA FAMILY 3 OF 4</a:t>
            </a:r>
          </a:p>
        </p:txBody>
      </p:sp>
      <p:sp>
        <p:nvSpPr>
          <p:cNvPr id="19" name="text:Ordering"/>
          <p:cNvSpPr txBox="1"/>
          <p:nvPr/>
        </p:nvSpPr>
        <p:spPr>
          <a:xfrm>
            <a:off x="4160520" y="1828800"/>
            <a:ext cx="4480560" cy="45720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Ordering</a:t>
            </a:r>
          </a:p>
        </p:txBody>
      </p:sp>
      <p:sp>
        <p:nvSpPr>
          <p:cNvPr id="20" name="text:What happened in which slot."/>
          <p:cNvSpPr txBox="1"/>
          <p:nvPr/>
        </p:nvSpPr>
        <p:spPr>
          <a:xfrm>
            <a:off x="4160520" y="2377440"/>
            <a:ext cx="4480560" cy="54864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What happened in which slot.</a:t>
            </a:r>
          </a:p>
        </p:txBody>
      </p:sp>
      <p:sp>
        <p:nvSpPr>
          <p:cNvPr id="21" name="Rounded Rectangle 20"/>
          <p:cNvSpPr/>
          <p:nvPr/>
        </p:nvSpPr>
        <p:spPr>
          <a:xfrm>
            <a:off x="4160520" y="3063240"/>
            <a:ext cx="219456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ON SOLANA"/>
          <p:cNvSpPr txBox="1"/>
          <p:nvPr/>
        </p:nvSpPr>
        <p:spPr>
          <a:xfrm>
            <a:off x="4325112"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ON SOLANA</a:t>
            </a:r>
          </a:p>
        </p:txBody>
      </p:sp>
      <p:sp>
        <p:nvSpPr>
          <p:cNvPr id="23" name="text:A slot is the chain's clock, about 0"/>
          <p:cNvSpPr txBox="1"/>
          <p:nvPr/>
        </p:nvSpPr>
        <p:spPr>
          <a:xfrm>
            <a:off x="4325112"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A slot is the chain's clock, about 0.4 seconds. Compare postedSlot with currentSlot.</a:t>
            </a:r>
          </a:p>
        </p:txBody>
      </p:sp>
      <p:sp>
        <p:nvSpPr>
          <p:cNvPr id="24" name="Rounded Rectangle 23"/>
          <p:cNvSpPr/>
          <p:nvPr/>
        </p:nvSpPr>
        <p:spPr>
          <a:xfrm>
            <a:off x="6492240" y="3063240"/>
            <a:ext cx="2194560" cy="1371600"/>
          </a:xfrm>
          <a:prstGeom prst="roundRect">
            <a:avLst>
              <a:gd name="adj" fmla="val 9333"/>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HOW IT GOES BAD"/>
          <p:cNvSpPr txBox="1"/>
          <p:nvPr/>
        </p:nvSpPr>
        <p:spPr>
          <a:xfrm>
            <a:off x="6656831"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HOW IT GOES BAD</a:t>
            </a:r>
          </a:p>
        </p:txBody>
      </p:sp>
      <p:sp>
        <p:nvSpPr>
          <p:cNvPr id="26" name="text:Two prices from different slots are "/>
          <p:cNvSpPr txBox="1"/>
          <p:nvPr/>
        </p:nvSpPr>
        <p:spPr>
          <a:xfrm>
            <a:off x="6656831"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Two prices from different slots are not from the same moment.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our kinds of data"/>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Four kinds of data</a:t>
            </a:r>
          </a:p>
        </p:txBody>
      </p:sp>
      <p:sp>
        <p:nvSpPr>
          <p:cNvPr id="3" name="text:Every agent decision reads some mix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Every agent decision reads some mix of these.</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48640" y="1600200"/>
            <a:ext cx="3200400" cy="603504"/>
          </a:xfrm>
          <a:prstGeom prst="roundRect">
            <a:avLst>
              <a:gd name="adj" fmla="val 212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13232" y="1600200"/>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9A9AA2"/>
                </a:solidFill>
                <a:latin typeface="Helvetica Neue"/>
              </a:defRPr>
            </a:pPr>
            <a:r>
              <a:t>1</a:t>
            </a:r>
          </a:p>
        </p:txBody>
      </p:sp>
      <p:sp>
        <p:nvSpPr>
          <p:cNvPr id="7" name="text:Venue price"/>
          <p:cNvSpPr txBox="1"/>
          <p:nvPr/>
        </p:nvSpPr>
        <p:spPr>
          <a:xfrm>
            <a:off x="1097280" y="1673352"/>
            <a:ext cx="2560320" cy="274320"/>
          </a:xfrm>
          <a:prstGeom prst="rect">
            <a:avLst/>
          </a:prstGeom>
          <a:noFill/>
        </p:spPr>
        <p:txBody>
          <a:bodyPr wrap="square" lIns="9144" rIns="9144" tIns="0" bIns="0">
            <a:spAutoFit/>
          </a:bodyPr>
          <a:lstStyle/>
          <a:p>
            <a:pPr>
              <a:lnSpc>
                <a:spcPct val="106000"/>
              </a:lnSpc>
              <a:spcAft>
                <a:spcPts val="400"/>
              </a:spcAft>
              <a:defRPr sz="1500" b="0">
                <a:solidFill>
                  <a:srgbClr val="9A9AA2"/>
                </a:solidFill>
                <a:latin typeface="Helvetica Neue"/>
              </a:defRPr>
            </a:pPr>
            <a:r>
              <a:t>Venue price</a:t>
            </a:r>
          </a:p>
        </p:txBody>
      </p:sp>
      <p:sp>
        <p:nvSpPr>
          <p:cNvPr id="8" name="text:jupiterQuote"/>
          <p:cNvSpPr txBox="1"/>
          <p:nvPr/>
        </p:nvSpPr>
        <p:spPr>
          <a:xfrm>
            <a:off x="1097280" y="1947672"/>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jupiterQuote</a:t>
            </a:r>
          </a:p>
        </p:txBody>
      </p:sp>
      <p:sp>
        <p:nvSpPr>
          <p:cNvPr id="9" name="Rounded Rectangle 8"/>
          <p:cNvSpPr/>
          <p:nvPr/>
        </p:nvSpPr>
        <p:spPr>
          <a:xfrm>
            <a:off x="548640" y="2350008"/>
            <a:ext cx="3200400" cy="603504"/>
          </a:xfrm>
          <a:prstGeom prst="roundRect">
            <a:avLst>
              <a:gd name="adj" fmla="val 212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713232" y="2350008"/>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9A9AA2"/>
                </a:solidFill>
                <a:latin typeface="Helvetica Neue"/>
              </a:defRPr>
            </a:pPr>
            <a:r>
              <a:t>2</a:t>
            </a:r>
          </a:p>
        </p:txBody>
      </p:sp>
      <p:sp>
        <p:nvSpPr>
          <p:cNvPr id="11" name="text:Oracle price"/>
          <p:cNvSpPr txBox="1"/>
          <p:nvPr/>
        </p:nvSpPr>
        <p:spPr>
          <a:xfrm>
            <a:off x="1097280" y="2423160"/>
            <a:ext cx="2560320" cy="274320"/>
          </a:xfrm>
          <a:prstGeom prst="rect">
            <a:avLst/>
          </a:prstGeom>
          <a:noFill/>
        </p:spPr>
        <p:txBody>
          <a:bodyPr wrap="square" lIns="9144" rIns="9144" tIns="0" bIns="0">
            <a:spAutoFit/>
          </a:bodyPr>
          <a:lstStyle/>
          <a:p>
            <a:pPr>
              <a:lnSpc>
                <a:spcPct val="106000"/>
              </a:lnSpc>
              <a:spcAft>
                <a:spcPts val="400"/>
              </a:spcAft>
              <a:defRPr sz="1500" b="0">
                <a:solidFill>
                  <a:srgbClr val="9A9AA2"/>
                </a:solidFill>
                <a:latin typeface="Helvetica Neue"/>
              </a:defRPr>
            </a:pPr>
            <a:r>
              <a:t>Oracle price</a:t>
            </a:r>
          </a:p>
        </p:txBody>
      </p:sp>
      <p:sp>
        <p:nvSpPr>
          <p:cNvPr id="12" name="text:pythOnChain"/>
          <p:cNvSpPr txBox="1"/>
          <p:nvPr/>
        </p:nvSpPr>
        <p:spPr>
          <a:xfrm>
            <a:off x="1097280" y="2697479"/>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pythOnChain</a:t>
            </a:r>
          </a:p>
        </p:txBody>
      </p:sp>
      <p:sp>
        <p:nvSpPr>
          <p:cNvPr id="13" name="Rounded Rectangle 12"/>
          <p:cNvSpPr/>
          <p:nvPr/>
        </p:nvSpPr>
        <p:spPr>
          <a:xfrm>
            <a:off x="548640" y="3099815"/>
            <a:ext cx="3200400" cy="603504"/>
          </a:xfrm>
          <a:prstGeom prst="roundRect">
            <a:avLst>
              <a:gd name="adj" fmla="val 2121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713232" y="3099815"/>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9A9AA2"/>
                </a:solidFill>
                <a:latin typeface="Helvetica Neue"/>
              </a:defRPr>
            </a:pPr>
            <a:r>
              <a:t>3</a:t>
            </a:r>
          </a:p>
        </p:txBody>
      </p:sp>
      <p:sp>
        <p:nvSpPr>
          <p:cNvPr id="15" name="text:Ordering"/>
          <p:cNvSpPr txBox="1"/>
          <p:nvPr/>
        </p:nvSpPr>
        <p:spPr>
          <a:xfrm>
            <a:off x="1097280" y="3172968"/>
            <a:ext cx="2560320" cy="274320"/>
          </a:xfrm>
          <a:prstGeom prst="rect">
            <a:avLst/>
          </a:prstGeom>
          <a:noFill/>
        </p:spPr>
        <p:txBody>
          <a:bodyPr wrap="square" lIns="9144" rIns="9144" tIns="0" bIns="0">
            <a:spAutoFit/>
          </a:bodyPr>
          <a:lstStyle/>
          <a:p>
            <a:pPr>
              <a:lnSpc>
                <a:spcPct val="106000"/>
              </a:lnSpc>
              <a:spcAft>
                <a:spcPts val="400"/>
              </a:spcAft>
              <a:defRPr sz="1500" b="0">
                <a:solidFill>
                  <a:srgbClr val="9A9AA2"/>
                </a:solidFill>
                <a:latin typeface="Helvetica Neue"/>
              </a:defRPr>
            </a:pPr>
            <a:r>
              <a:t>Ordering</a:t>
            </a:r>
          </a:p>
        </p:txBody>
      </p:sp>
      <p:sp>
        <p:nvSpPr>
          <p:cNvPr id="16" name="text:slot numbers"/>
          <p:cNvSpPr txBox="1"/>
          <p:nvPr/>
        </p:nvSpPr>
        <p:spPr>
          <a:xfrm>
            <a:off x="1097280" y="3447287"/>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slot numbers</a:t>
            </a:r>
          </a:p>
        </p:txBody>
      </p:sp>
      <p:sp>
        <p:nvSpPr>
          <p:cNvPr id="17" name="Rounded Rectangle 16"/>
          <p:cNvSpPr/>
          <p:nvPr/>
        </p:nvSpPr>
        <p:spPr>
          <a:xfrm>
            <a:off x="548640" y="3849624"/>
            <a:ext cx="3200400" cy="603504"/>
          </a:xfrm>
          <a:prstGeom prst="roundRect">
            <a:avLst>
              <a:gd name="adj" fmla="val 21212"/>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4"/>
          <p:cNvSpPr txBox="1"/>
          <p:nvPr/>
        </p:nvSpPr>
        <p:spPr>
          <a:xfrm>
            <a:off x="713232" y="3849624"/>
            <a:ext cx="274320" cy="603504"/>
          </a:xfrm>
          <a:prstGeom prst="rect">
            <a:avLst/>
          </a:prstGeom>
          <a:noFill/>
        </p:spPr>
        <p:txBody>
          <a:bodyPr wrap="square" lIns="9144" rIns="9144" tIns="0" bIns="0" anchor="ctr">
            <a:spAutoFit/>
          </a:bodyPr>
          <a:lstStyle/>
          <a:p>
            <a:pPr>
              <a:lnSpc>
                <a:spcPct val="106000"/>
              </a:lnSpc>
              <a:spcAft>
                <a:spcPts val="400"/>
              </a:spcAft>
              <a:defRPr sz="2000" b="0">
                <a:solidFill>
                  <a:srgbClr val="3DDC97"/>
                </a:solidFill>
                <a:latin typeface="Helvetica Neue"/>
              </a:defRPr>
            </a:pPr>
            <a:r>
              <a:t>4</a:t>
            </a:r>
          </a:p>
        </p:txBody>
      </p:sp>
      <p:sp>
        <p:nvSpPr>
          <p:cNvPr id="19" name="text:Inventory"/>
          <p:cNvSpPr txBox="1"/>
          <p:nvPr/>
        </p:nvSpPr>
        <p:spPr>
          <a:xfrm>
            <a:off x="1097280" y="3922776"/>
            <a:ext cx="256032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Inventory</a:t>
            </a:r>
          </a:p>
        </p:txBody>
      </p:sp>
      <p:sp>
        <p:nvSpPr>
          <p:cNvPr id="20" name="text:balances"/>
          <p:cNvSpPr txBox="1"/>
          <p:nvPr/>
        </p:nvSpPr>
        <p:spPr>
          <a:xfrm>
            <a:off x="1097280" y="4197096"/>
            <a:ext cx="25603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Menlo"/>
              </a:defRPr>
            </a:pPr>
            <a:r>
              <a:t>balances</a:t>
            </a:r>
          </a:p>
        </p:txBody>
      </p:sp>
      <p:sp>
        <p:nvSpPr>
          <p:cNvPr id="21" name="text:DATA FAMILY 4 OF 4"/>
          <p:cNvSpPr txBox="1"/>
          <p:nvPr/>
        </p:nvSpPr>
        <p:spPr>
          <a:xfrm>
            <a:off x="4160520" y="1600200"/>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DATA FAMILY 4 OF 4</a:t>
            </a:r>
          </a:p>
        </p:txBody>
      </p:sp>
      <p:sp>
        <p:nvSpPr>
          <p:cNvPr id="22" name="text:Inventory"/>
          <p:cNvSpPr txBox="1"/>
          <p:nvPr/>
        </p:nvSpPr>
        <p:spPr>
          <a:xfrm>
            <a:off x="4160520" y="1828800"/>
            <a:ext cx="4480560" cy="45720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Inventory</a:t>
            </a:r>
          </a:p>
        </p:txBody>
      </p:sp>
      <p:sp>
        <p:nvSpPr>
          <p:cNvPr id="23" name="text:What you hold right now."/>
          <p:cNvSpPr txBox="1"/>
          <p:nvPr/>
        </p:nvSpPr>
        <p:spPr>
          <a:xfrm>
            <a:off x="4160520" y="2377440"/>
            <a:ext cx="4480560" cy="54864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What you hold right now.</a:t>
            </a:r>
          </a:p>
        </p:txBody>
      </p:sp>
      <p:sp>
        <p:nvSpPr>
          <p:cNvPr id="24" name="Rounded Rectangle 23"/>
          <p:cNvSpPr/>
          <p:nvPr/>
        </p:nvSpPr>
        <p:spPr>
          <a:xfrm>
            <a:off x="4160520" y="3063240"/>
            <a:ext cx="219456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ON SOLANA"/>
          <p:cNvSpPr txBox="1"/>
          <p:nvPr/>
        </p:nvSpPr>
        <p:spPr>
          <a:xfrm>
            <a:off x="4325112"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ON SOLANA</a:t>
            </a:r>
          </a:p>
        </p:txBody>
      </p:sp>
      <p:sp>
        <p:nvSpPr>
          <p:cNvPr id="26" name="text:Token balances. SOL is counted in la"/>
          <p:cNvSpPr txBox="1"/>
          <p:nvPr/>
        </p:nvSpPr>
        <p:spPr>
          <a:xfrm>
            <a:off x="4325112"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Token balances. SOL is counted in lamports: 1 SOL is 1,000,000,000 lamports.</a:t>
            </a:r>
          </a:p>
        </p:txBody>
      </p:sp>
      <p:sp>
        <p:nvSpPr>
          <p:cNvPr id="27" name="Rounded Rectangle 26"/>
          <p:cNvSpPr/>
          <p:nvPr/>
        </p:nvSpPr>
        <p:spPr>
          <a:xfrm>
            <a:off x="6492240" y="3063240"/>
            <a:ext cx="2194560" cy="1371600"/>
          </a:xfrm>
          <a:prstGeom prst="roundRect">
            <a:avLst>
              <a:gd name="adj" fmla="val 9333"/>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HOW IT GOES BAD"/>
          <p:cNvSpPr txBox="1"/>
          <p:nvPr/>
        </p:nvSpPr>
        <p:spPr>
          <a:xfrm>
            <a:off x="6656831" y="3200400"/>
            <a:ext cx="182880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HOW IT GOES BAD</a:t>
            </a:r>
          </a:p>
        </p:txBody>
      </p:sp>
      <p:sp>
        <p:nvSpPr>
          <p:cNvPr id="29" name="text:Wrong unit or an old balance, and yo"/>
          <p:cNvSpPr txBox="1"/>
          <p:nvPr/>
        </p:nvSpPr>
        <p:spPr>
          <a:xfrm>
            <a:off x="6656831" y="3456432"/>
            <a:ext cx="1901952" cy="9144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Wrong unit or an old balance, and your size is wildly 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risk hoo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risk hook</a:t>
            </a:r>
          </a:p>
        </p:txBody>
      </p:sp>
      <p:sp>
        <p:nvSpPr>
          <p:cNvPr id="3" name="text:Plain code between the idea and the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Plain code between the idea and the action. It can say no, and say why.</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548640" y="1554480"/>
            <a:ext cx="219456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Agent idea"/>
          <p:cNvSpPr txBox="1"/>
          <p:nvPr/>
        </p:nvSpPr>
        <p:spPr>
          <a:xfrm>
            <a:off x="548640" y="1664208"/>
            <a:ext cx="2194560" cy="320040"/>
          </a:xfrm>
          <a:prstGeom prst="rect">
            <a:avLst/>
          </a:prstGeom>
          <a:noFill/>
        </p:spPr>
        <p:txBody>
          <a:bodyPr wrap="square" lIns="9144" rIns="9144" tIns="0" bIns="0">
            <a:spAutoFit/>
          </a:bodyPr>
          <a:lstStyle/>
          <a:p>
            <a:pPr algn="ctr">
              <a:lnSpc>
                <a:spcPct val="106000"/>
              </a:lnSpc>
              <a:spcAft>
                <a:spcPts val="400"/>
              </a:spcAft>
              <a:defRPr sz="1700" b="0">
                <a:solidFill>
                  <a:srgbClr val="F2F5F8"/>
                </a:solidFill>
                <a:latin typeface="Helvetica Neue"/>
              </a:defRPr>
            </a:pPr>
            <a:r>
              <a:t>Agent idea</a:t>
            </a:r>
          </a:p>
        </p:txBody>
      </p:sp>
      <p:sp>
        <p:nvSpPr>
          <p:cNvPr id="7" name="text:&quot;Buy 5,000 USD of SOL&quot;"/>
          <p:cNvSpPr txBox="1"/>
          <p:nvPr/>
        </p:nvSpPr>
        <p:spPr>
          <a:xfrm>
            <a:off x="640080" y="2084831"/>
            <a:ext cx="2011680" cy="274320"/>
          </a:xfrm>
          <a:prstGeom prst="rect">
            <a:avLst/>
          </a:prstGeom>
          <a:noFill/>
        </p:spPr>
        <p:txBody>
          <a:bodyPr wrap="square" lIns="9144" rIns="9144" tIns="0" bIns="0">
            <a:spAutoFit/>
          </a:bodyPr>
          <a:lstStyle/>
          <a:p>
            <a:pPr algn="ctr">
              <a:lnSpc>
                <a:spcPct val="106000"/>
              </a:lnSpc>
              <a:spcAft>
                <a:spcPts val="400"/>
              </a:spcAft>
              <a:defRPr sz="1050" b="0">
                <a:solidFill>
                  <a:srgbClr val="9A9AA2"/>
                </a:solidFill>
                <a:latin typeface="Helvetica Neue"/>
              </a:defRPr>
            </a:pPr>
            <a:r>
              <a:t>"Buy 5,000 USD of SOL"</a:t>
            </a:r>
          </a:p>
        </p:txBody>
      </p:sp>
      <p:sp>
        <p:nvSpPr>
          <p:cNvPr id="8" name="Rounded Rectangle 7"/>
          <p:cNvSpPr/>
          <p:nvPr/>
        </p:nvSpPr>
        <p:spPr>
          <a:xfrm>
            <a:off x="3474720" y="1554480"/>
            <a:ext cx="2194560" cy="914400"/>
          </a:xfrm>
          <a:prstGeom prst="roundRect">
            <a:avLst>
              <a:gd name="adj" fmla="val 14000"/>
            </a:avLst>
          </a:prstGeom>
          <a:solidFill>
            <a:srgbClr val="100821"/>
          </a:solidFill>
          <a:ln w="2032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Risk hook"/>
          <p:cNvSpPr txBox="1"/>
          <p:nvPr/>
        </p:nvSpPr>
        <p:spPr>
          <a:xfrm>
            <a:off x="3474720" y="1664208"/>
            <a:ext cx="2194560" cy="320040"/>
          </a:xfrm>
          <a:prstGeom prst="rect">
            <a:avLst/>
          </a:prstGeom>
          <a:noFill/>
        </p:spPr>
        <p:txBody>
          <a:bodyPr wrap="square" lIns="9144" rIns="9144" tIns="0" bIns="0">
            <a:spAutoFit/>
          </a:bodyPr>
          <a:lstStyle/>
          <a:p>
            <a:pPr algn="ctr">
              <a:lnSpc>
                <a:spcPct val="106000"/>
              </a:lnSpc>
              <a:spcAft>
                <a:spcPts val="400"/>
              </a:spcAft>
              <a:defRPr sz="1700" b="0">
                <a:solidFill>
                  <a:srgbClr val="B3A5FF"/>
                </a:solidFill>
                <a:latin typeface="Helvetica Neue"/>
              </a:defRPr>
            </a:pPr>
            <a:r>
              <a:t>Risk hook</a:t>
            </a:r>
          </a:p>
        </p:txBody>
      </p:sp>
      <p:sp>
        <p:nvSpPr>
          <p:cNvPr id="10" name="text:checkOrder()"/>
          <p:cNvSpPr txBox="1"/>
          <p:nvPr/>
        </p:nvSpPr>
        <p:spPr>
          <a:xfrm>
            <a:off x="3566160" y="2084831"/>
            <a:ext cx="2011680" cy="274320"/>
          </a:xfrm>
          <a:prstGeom prst="rect">
            <a:avLst/>
          </a:prstGeom>
          <a:noFill/>
        </p:spPr>
        <p:txBody>
          <a:bodyPr wrap="square" lIns="9144" rIns="9144" tIns="0" bIns="0">
            <a:spAutoFit/>
          </a:bodyPr>
          <a:lstStyle/>
          <a:p>
            <a:pPr algn="ctr">
              <a:lnSpc>
                <a:spcPct val="106000"/>
              </a:lnSpc>
              <a:spcAft>
                <a:spcPts val="400"/>
              </a:spcAft>
              <a:defRPr sz="1050" b="0">
                <a:solidFill>
                  <a:srgbClr val="9A9AA2"/>
                </a:solidFill>
                <a:latin typeface="Menlo"/>
              </a:defRPr>
            </a:pPr>
            <a:r>
              <a:t>checkOrder()</a:t>
            </a:r>
          </a:p>
        </p:txBody>
      </p:sp>
      <p:sp>
        <p:nvSpPr>
          <p:cNvPr id="11" name="Rounded Rectangle 10"/>
          <p:cNvSpPr/>
          <p:nvPr/>
        </p:nvSpPr>
        <p:spPr>
          <a:xfrm>
            <a:off x="6400800" y="1554480"/>
            <a:ext cx="219456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Action"/>
          <p:cNvSpPr txBox="1"/>
          <p:nvPr/>
        </p:nvSpPr>
        <p:spPr>
          <a:xfrm>
            <a:off x="6400800" y="1664208"/>
            <a:ext cx="2194560" cy="320040"/>
          </a:xfrm>
          <a:prstGeom prst="rect">
            <a:avLst/>
          </a:prstGeom>
          <a:noFill/>
        </p:spPr>
        <p:txBody>
          <a:bodyPr wrap="square" lIns="9144" rIns="9144" tIns="0" bIns="0">
            <a:spAutoFit/>
          </a:bodyPr>
          <a:lstStyle/>
          <a:p>
            <a:pPr algn="ctr">
              <a:lnSpc>
                <a:spcPct val="106000"/>
              </a:lnSpc>
              <a:spcAft>
                <a:spcPts val="400"/>
              </a:spcAft>
              <a:defRPr sz="1700" b="0">
                <a:solidFill>
                  <a:srgbClr val="F2F5F8"/>
                </a:solidFill>
                <a:latin typeface="Helvetica Neue"/>
              </a:defRPr>
            </a:pPr>
            <a:r>
              <a:t>Action</a:t>
            </a:r>
          </a:p>
        </p:txBody>
      </p:sp>
      <p:sp>
        <p:nvSpPr>
          <p:cNvPr id="13" name="text:devnet only"/>
          <p:cNvSpPr txBox="1"/>
          <p:nvPr/>
        </p:nvSpPr>
        <p:spPr>
          <a:xfrm>
            <a:off x="6492240" y="2084831"/>
            <a:ext cx="2011680" cy="274320"/>
          </a:xfrm>
          <a:prstGeom prst="rect">
            <a:avLst/>
          </a:prstGeom>
          <a:noFill/>
        </p:spPr>
        <p:txBody>
          <a:bodyPr wrap="square" lIns="9144" rIns="9144" tIns="0" bIns="0">
            <a:spAutoFit/>
          </a:bodyPr>
          <a:lstStyle/>
          <a:p>
            <a:pPr algn="ctr">
              <a:lnSpc>
                <a:spcPct val="106000"/>
              </a:lnSpc>
              <a:spcAft>
                <a:spcPts val="400"/>
              </a:spcAft>
              <a:defRPr sz="1050" b="0">
                <a:solidFill>
                  <a:srgbClr val="9A9AA2"/>
                </a:solidFill>
                <a:latin typeface="Helvetica Neue"/>
              </a:defRPr>
            </a:pPr>
            <a:r>
              <a:t>devnet only</a:t>
            </a:r>
          </a:p>
        </p:txBody>
      </p:sp>
      <p:cxnSp>
        <p:nvCxnSpPr>
          <p:cNvPr id="14" name="Connector 13"/>
          <p:cNvCxnSpPr/>
          <p:nvPr/>
        </p:nvCxnSpPr>
        <p:spPr>
          <a:xfrm>
            <a:off x="2779776" y="2011680"/>
            <a:ext cx="658368"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705856" y="2011680"/>
            <a:ext cx="658368" cy="0"/>
          </a:xfrm>
          <a:prstGeom prst="line">
            <a:avLst/>
          </a:prstGeom>
          <a:ln w="10160">
            <a:solidFill>
              <a:srgbClr val="3DDC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ok"/>
          <p:cNvSpPr txBox="1"/>
          <p:nvPr/>
        </p:nvSpPr>
        <p:spPr>
          <a:xfrm>
            <a:off x="5852160" y="1764792"/>
            <a:ext cx="365760" cy="182880"/>
          </a:xfrm>
          <a:prstGeom prst="rect">
            <a:avLst/>
          </a:prstGeom>
          <a:noFill/>
        </p:spPr>
        <p:txBody>
          <a:bodyPr wrap="square" lIns="9144" rIns="9144" tIns="0" bIns="0">
            <a:spAutoFit/>
          </a:bodyPr>
          <a:lstStyle/>
          <a:p>
            <a:pPr algn="ctr">
              <a:lnSpc>
                <a:spcPct val="106000"/>
              </a:lnSpc>
              <a:spcAft>
                <a:spcPts val="400"/>
              </a:spcAft>
              <a:defRPr sz="1000" b="0">
                <a:solidFill>
                  <a:srgbClr val="3DDC97"/>
                </a:solidFill>
                <a:latin typeface="Helvetica Neue"/>
              </a:defRPr>
            </a:pPr>
            <a:r>
              <a:t>ok</a:t>
            </a:r>
          </a:p>
        </p:txBody>
      </p:sp>
      <p:cxnSp>
        <p:nvCxnSpPr>
          <p:cNvPr id="17" name="Connector 16"/>
          <p:cNvCxnSpPr/>
          <p:nvPr/>
        </p:nvCxnSpPr>
        <p:spPr>
          <a:xfrm>
            <a:off x="4572000" y="2505456"/>
            <a:ext cx="0" cy="329184"/>
          </a:xfrm>
          <a:prstGeom prst="line">
            <a:avLst/>
          </a:prstGeom>
          <a:ln w="10160">
            <a:solidFill>
              <a:srgbClr val="FD51F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no, with the rule and the reason"/>
          <p:cNvSpPr txBox="1"/>
          <p:nvPr/>
        </p:nvSpPr>
        <p:spPr>
          <a:xfrm>
            <a:off x="4681728" y="2560320"/>
            <a:ext cx="292608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no, with the rule and the reason</a:t>
            </a:r>
          </a:p>
        </p:txBody>
      </p:sp>
      <p:sp>
        <p:nvSpPr>
          <p:cNvPr id="19" name="text:THE FOUR RULES IN THE SAMPLE CODE"/>
          <p:cNvSpPr txBox="1"/>
          <p:nvPr/>
        </p:nvSpPr>
        <p:spPr>
          <a:xfrm>
            <a:off x="548640" y="2944368"/>
            <a:ext cx="45720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THE FOUR RULES IN THE SAMPLE CODE</a:t>
            </a:r>
          </a:p>
        </p:txBody>
      </p:sp>
      <p:sp>
        <p:nvSpPr>
          <p:cNvPr id="20" name="Rounded Rectangle 19"/>
          <p:cNvSpPr/>
          <p:nvPr/>
        </p:nvSpPr>
        <p:spPr>
          <a:xfrm>
            <a:off x="548640" y="3246120"/>
            <a:ext cx="1920240" cy="1234440"/>
          </a:xfrm>
          <a:prstGeom prst="roundRect">
            <a:avLst>
              <a:gd name="adj" fmla="val 1037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000 USD"/>
          <p:cNvSpPr txBox="1"/>
          <p:nvPr/>
        </p:nvSpPr>
        <p:spPr>
          <a:xfrm>
            <a:off x="685800" y="3383280"/>
            <a:ext cx="1691640" cy="502920"/>
          </a:xfrm>
          <a:prstGeom prst="rect">
            <a:avLst/>
          </a:prstGeom>
          <a:noFill/>
        </p:spPr>
        <p:txBody>
          <a:bodyPr wrap="square" lIns="9144" rIns="9144" tIns="0" bIns="0" anchor="ctr">
            <a:spAutoFit/>
          </a:bodyPr>
          <a:lstStyle/>
          <a:p>
            <a:pPr>
              <a:lnSpc>
                <a:spcPct val="106000"/>
              </a:lnSpc>
              <a:spcAft>
                <a:spcPts val="400"/>
              </a:spcAft>
              <a:defRPr sz="2200" b="0">
                <a:solidFill>
                  <a:srgbClr val="3DDC97"/>
                </a:solidFill>
                <a:latin typeface="Helvetica Neue"/>
              </a:defRPr>
            </a:pPr>
            <a:r>
              <a:t>1,000 USD</a:t>
            </a:r>
          </a:p>
        </p:txBody>
      </p:sp>
      <p:sp>
        <p:nvSpPr>
          <p:cNvPr id="22" name="text:max notional"/>
          <p:cNvSpPr txBox="1"/>
          <p:nvPr/>
        </p:nvSpPr>
        <p:spPr>
          <a:xfrm>
            <a:off x="685800" y="4023360"/>
            <a:ext cx="169164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max notional</a:t>
            </a:r>
          </a:p>
        </p:txBody>
      </p:sp>
      <p:sp>
        <p:nvSpPr>
          <p:cNvPr id="23" name="Rounded Rectangle 22"/>
          <p:cNvSpPr/>
          <p:nvPr/>
        </p:nvSpPr>
        <p:spPr>
          <a:xfrm>
            <a:off x="2624328" y="3246120"/>
            <a:ext cx="1920240" cy="1234440"/>
          </a:xfrm>
          <a:prstGeom prst="roundRect">
            <a:avLst>
              <a:gd name="adj" fmla="val 1037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50 bps"/>
          <p:cNvSpPr txBox="1"/>
          <p:nvPr/>
        </p:nvSpPr>
        <p:spPr>
          <a:xfrm>
            <a:off x="2761488" y="3383280"/>
            <a:ext cx="1691640" cy="502920"/>
          </a:xfrm>
          <a:prstGeom prst="rect">
            <a:avLst/>
          </a:prstGeom>
          <a:noFill/>
        </p:spPr>
        <p:txBody>
          <a:bodyPr wrap="square" lIns="9144" rIns="9144" tIns="0" bIns="0" anchor="ctr">
            <a:spAutoFit/>
          </a:bodyPr>
          <a:lstStyle/>
          <a:p>
            <a:pPr>
              <a:lnSpc>
                <a:spcPct val="106000"/>
              </a:lnSpc>
              <a:spcAft>
                <a:spcPts val="400"/>
              </a:spcAft>
              <a:defRPr sz="2200" b="0">
                <a:solidFill>
                  <a:srgbClr val="3DDC97"/>
                </a:solidFill>
                <a:latin typeface="Helvetica Neue"/>
              </a:defRPr>
            </a:pPr>
            <a:r>
              <a:t>50 bps</a:t>
            </a:r>
          </a:p>
        </p:txBody>
      </p:sp>
      <p:sp>
        <p:nvSpPr>
          <p:cNvPr id="25" name="text:max oracle gap"/>
          <p:cNvSpPr txBox="1"/>
          <p:nvPr/>
        </p:nvSpPr>
        <p:spPr>
          <a:xfrm>
            <a:off x="2761488" y="4023360"/>
            <a:ext cx="169164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max oracle gap</a:t>
            </a:r>
          </a:p>
        </p:txBody>
      </p:sp>
      <p:sp>
        <p:nvSpPr>
          <p:cNvPr id="26" name="Rounded Rectangle 25"/>
          <p:cNvSpPr/>
          <p:nvPr/>
        </p:nvSpPr>
        <p:spPr>
          <a:xfrm>
            <a:off x="4700016" y="3246120"/>
            <a:ext cx="1920240" cy="1234440"/>
          </a:xfrm>
          <a:prstGeom prst="roundRect">
            <a:avLst>
              <a:gd name="adj" fmla="val 1037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60 seconds"/>
          <p:cNvSpPr txBox="1"/>
          <p:nvPr/>
        </p:nvSpPr>
        <p:spPr>
          <a:xfrm>
            <a:off x="4837176" y="3383280"/>
            <a:ext cx="1691640" cy="502920"/>
          </a:xfrm>
          <a:prstGeom prst="rect">
            <a:avLst/>
          </a:prstGeom>
          <a:noFill/>
        </p:spPr>
        <p:txBody>
          <a:bodyPr wrap="square" lIns="9144" rIns="9144" tIns="0" bIns="0" anchor="ctr">
            <a:spAutoFit/>
          </a:bodyPr>
          <a:lstStyle/>
          <a:p>
            <a:pPr>
              <a:lnSpc>
                <a:spcPct val="106000"/>
              </a:lnSpc>
              <a:spcAft>
                <a:spcPts val="400"/>
              </a:spcAft>
              <a:defRPr sz="2200" b="0">
                <a:solidFill>
                  <a:srgbClr val="3DDC97"/>
                </a:solidFill>
                <a:latin typeface="Helvetica Neue"/>
              </a:defRPr>
            </a:pPr>
            <a:r>
              <a:t>60 seconds</a:t>
            </a:r>
          </a:p>
        </p:txBody>
      </p:sp>
      <p:sp>
        <p:nvSpPr>
          <p:cNvPr id="28" name="text:max oracle age"/>
          <p:cNvSpPr txBox="1"/>
          <p:nvPr/>
        </p:nvSpPr>
        <p:spPr>
          <a:xfrm>
            <a:off x="4837176" y="4023360"/>
            <a:ext cx="169164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max oracle age</a:t>
            </a:r>
          </a:p>
        </p:txBody>
      </p:sp>
      <p:sp>
        <p:nvSpPr>
          <p:cNvPr id="29" name="Rounded Rectangle 28"/>
          <p:cNvSpPr/>
          <p:nvPr/>
        </p:nvSpPr>
        <p:spPr>
          <a:xfrm>
            <a:off x="6775704" y="3246120"/>
            <a:ext cx="1920240" cy="1234440"/>
          </a:xfrm>
          <a:prstGeom prst="roundRect">
            <a:avLst>
              <a:gd name="adj" fmla="val 1037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sizes make sense"/>
          <p:cNvSpPr txBox="1"/>
          <p:nvPr/>
        </p:nvSpPr>
        <p:spPr>
          <a:xfrm>
            <a:off x="6912864" y="3383280"/>
            <a:ext cx="1691640" cy="502920"/>
          </a:xfrm>
          <a:prstGeom prst="rect">
            <a:avLst/>
          </a:prstGeom>
          <a:noFill/>
        </p:spPr>
        <p:txBody>
          <a:bodyPr wrap="square" lIns="9144" rIns="9144" tIns="0" bIns="0" anchor="ctr">
            <a:spAutoFit/>
          </a:bodyPr>
          <a:lstStyle/>
          <a:p>
            <a:pPr>
              <a:lnSpc>
                <a:spcPct val="106000"/>
              </a:lnSpc>
              <a:spcAft>
                <a:spcPts val="400"/>
              </a:spcAft>
              <a:defRPr sz="1600" b="0">
                <a:solidFill>
                  <a:srgbClr val="3DDC97"/>
                </a:solidFill>
                <a:latin typeface="Helvetica Neue"/>
              </a:defRPr>
            </a:pPr>
            <a:r>
              <a:t>sizes make sense</a:t>
            </a:r>
          </a:p>
        </p:txBody>
      </p:sp>
      <p:sp>
        <p:nvSpPr>
          <p:cNvPr id="31" name="text:unit sanity"/>
          <p:cNvSpPr txBox="1"/>
          <p:nvPr/>
        </p:nvSpPr>
        <p:spPr>
          <a:xfrm>
            <a:off x="6912864" y="4023360"/>
            <a:ext cx="169164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unit sanity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al number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Real numbers</a:t>
            </a:r>
          </a:p>
        </p:txBody>
      </p:sp>
      <p:sp>
        <p:nvSpPr>
          <p:cNvPr id="3" name="text:SOL/USDC from three places, same mom"/>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SOL/USDC from three places, same moment.</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508760"/>
            <a:ext cx="2560320" cy="1600200"/>
          </a:xfrm>
          <a:prstGeom prst="roundRect">
            <a:avLst>
              <a:gd name="adj" fmla="val 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JUPITER QUOTE"/>
          <p:cNvSpPr txBox="1"/>
          <p:nvPr/>
        </p:nvSpPr>
        <p:spPr>
          <a:xfrm>
            <a:off x="731520" y="1645920"/>
            <a:ext cx="21945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JUPITER QUOTE</a:t>
            </a:r>
          </a:p>
        </p:txBody>
      </p:sp>
      <p:sp>
        <p:nvSpPr>
          <p:cNvPr id="7" name="text:108.62"/>
          <p:cNvSpPr txBox="1"/>
          <p:nvPr/>
        </p:nvSpPr>
        <p:spPr>
          <a:xfrm>
            <a:off x="731520" y="1901952"/>
            <a:ext cx="2194560" cy="594360"/>
          </a:xfrm>
          <a:prstGeom prst="rect">
            <a:avLst/>
          </a:prstGeom>
          <a:noFill/>
        </p:spPr>
        <p:txBody>
          <a:bodyPr wrap="square" lIns="9144" rIns="9144" tIns="0" bIns="0">
            <a:spAutoFit/>
          </a:bodyPr>
          <a:lstStyle/>
          <a:p>
            <a:pPr>
              <a:lnSpc>
                <a:spcPct val="106000"/>
              </a:lnSpc>
              <a:spcAft>
                <a:spcPts val="400"/>
              </a:spcAft>
              <a:defRPr sz="3800" b="0">
                <a:solidFill>
                  <a:srgbClr val="F2F5F8"/>
                </a:solidFill>
                <a:latin typeface="Helvetica Neue"/>
              </a:defRPr>
            </a:pPr>
            <a:r>
              <a:t>108.62</a:t>
            </a:r>
          </a:p>
        </p:txBody>
      </p:sp>
      <p:sp>
        <p:nvSpPr>
          <p:cNvPr id="8" name="text:USD per SOL"/>
          <p:cNvSpPr txBox="1"/>
          <p:nvPr/>
        </p:nvSpPr>
        <p:spPr>
          <a:xfrm>
            <a:off x="731520" y="25420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USD per SOL</a:t>
            </a:r>
          </a:p>
        </p:txBody>
      </p:sp>
      <p:sp>
        <p:nvSpPr>
          <p:cNvPr id="9" name="text:sell 1 SOL, get USDC"/>
          <p:cNvSpPr txBox="1"/>
          <p:nvPr/>
        </p:nvSpPr>
        <p:spPr>
          <a:xfrm>
            <a:off x="731520" y="2761488"/>
            <a:ext cx="2240280" cy="3200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sell 1 SOL, get USDC</a:t>
            </a:r>
          </a:p>
        </p:txBody>
      </p:sp>
      <p:sp>
        <p:nvSpPr>
          <p:cNvPr id="10" name="Rounded Rectangle 9"/>
          <p:cNvSpPr/>
          <p:nvPr/>
        </p:nvSpPr>
        <p:spPr>
          <a:xfrm>
            <a:off x="3337560" y="1508760"/>
            <a:ext cx="2560320" cy="1600200"/>
          </a:xfrm>
          <a:prstGeom prst="roundRect">
            <a:avLst>
              <a:gd name="adj" fmla="val 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PYTH ORACLE"/>
          <p:cNvSpPr txBox="1"/>
          <p:nvPr/>
        </p:nvSpPr>
        <p:spPr>
          <a:xfrm>
            <a:off x="3520440" y="1645920"/>
            <a:ext cx="21945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PYTH ORACLE</a:t>
            </a:r>
          </a:p>
        </p:txBody>
      </p:sp>
      <p:sp>
        <p:nvSpPr>
          <p:cNvPr id="12" name="text:108.61"/>
          <p:cNvSpPr txBox="1"/>
          <p:nvPr/>
        </p:nvSpPr>
        <p:spPr>
          <a:xfrm>
            <a:off x="3520440" y="1901952"/>
            <a:ext cx="2194560" cy="594360"/>
          </a:xfrm>
          <a:prstGeom prst="rect">
            <a:avLst/>
          </a:prstGeom>
          <a:noFill/>
        </p:spPr>
        <p:txBody>
          <a:bodyPr wrap="square" lIns="9144" rIns="9144" tIns="0" bIns="0">
            <a:spAutoFit/>
          </a:bodyPr>
          <a:lstStyle/>
          <a:p>
            <a:pPr>
              <a:lnSpc>
                <a:spcPct val="106000"/>
              </a:lnSpc>
              <a:spcAft>
                <a:spcPts val="400"/>
              </a:spcAft>
              <a:defRPr sz="3800" b="0">
                <a:solidFill>
                  <a:srgbClr val="F2F5F8"/>
                </a:solidFill>
                <a:latin typeface="Helvetica Neue"/>
              </a:defRPr>
            </a:pPr>
            <a:r>
              <a:t>108.61</a:t>
            </a:r>
          </a:p>
        </p:txBody>
      </p:sp>
      <p:sp>
        <p:nvSpPr>
          <p:cNvPr id="13" name="text:USD per SOL"/>
          <p:cNvSpPr txBox="1"/>
          <p:nvPr/>
        </p:nvSpPr>
        <p:spPr>
          <a:xfrm>
            <a:off x="3520440" y="25420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USD per SOL</a:t>
            </a:r>
          </a:p>
        </p:txBody>
      </p:sp>
      <p:sp>
        <p:nvSpPr>
          <p:cNvPr id="14" name="text:+/- 2.7 bps confidence, 0 slots old"/>
          <p:cNvSpPr txBox="1"/>
          <p:nvPr/>
        </p:nvSpPr>
        <p:spPr>
          <a:xfrm>
            <a:off x="3520440" y="2761488"/>
            <a:ext cx="2240280" cy="3200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+/- 2.7 bps confidence, 0 slots old</a:t>
            </a:r>
          </a:p>
        </p:txBody>
      </p:sp>
      <p:sp>
        <p:nvSpPr>
          <p:cNvPr id="15" name="Rounded Rectangle 14"/>
          <p:cNvSpPr/>
          <p:nvPr/>
        </p:nvSpPr>
        <p:spPr>
          <a:xfrm>
            <a:off x="6126479" y="1508760"/>
            <a:ext cx="2560320" cy="1600200"/>
          </a:xfrm>
          <a:prstGeom prst="roundRect">
            <a:avLst>
              <a:gd name="adj" fmla="val 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ORCA SOL/USDC POOL"/>
          <p:cNvSpPr txBox="1"/>
          <p:nvPr/>
        </p:nvSpPr>
        <p:spPr>
          <a:xfrm>
            <a:off x="6309359" y="1645920"/>
            <a:ext cx="21945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ORCA SOL/USDC POOL</a:t>
            </a:r>
          </a:p>
        </p:txBody>
      </p:sp>
      <p:sp>
        <p:nvSpPr>
          <p:cNvPr id="17" name="text:108.59"/>
          <p:cNvSpPr txBox="1"/>
          <p:nvPr/>
        </p:nvSpPr>
        <p:spPr>
          <a:xfrm>
            <a:off x="6309359" y="1901952"/>
            <a:ext cx="2194560" cy="594360"/>
          </a:xfrm>
          <a:prstGeom prst="rect">
            <a:avLst/>
          </a:prstGeom>
          <a:noFill/>
        </p:spPr>
        <p:txBody>
          <a:bodyPr wrap="square" lIns="9144" rIns="9144" tIns="0" bIns="0">
            <a:spAutoFit/>
          </a:bodyPr>
          <a:lstStyle/>
          <a:p>
            <a:pPr>
              <a:lnSpc>
                <a:spcPct val="106000"/>
              </a:lnSpc>
              <a:spcAft>
                <a:spcPts val="400"/>
              </a:spcAft>
              <a:defRPr sz="3800" b="0">
                <a:solidFill>
                  <a:srgbClr val="F2F5F8"/>
                </a:solidFill>
                <a:latin typeface="Helvetica Neue"/>
              </a:defRPr>
            </a:pPr>
            <a:r>
              <a:t>108.59</a:t>
            </a:r>
          </a:p>
        </p:txBody>
      </p:sp>
      <p:sp>
        <p:nvSpPr>
          <p:cNvPr id="18" name="text:USD per SOL"/>
          <p:cNvSpPr txBox="1"/>
          <p:nvPr/>
        </p:nvSpPr>
        <p:spPr>
          <a:xfrm>
            <a:off x="6309359" y="25420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USD per SOL</a:t>
            </a:r>
          </a:p>
        </p:txBody>
      </p:sp>
      <p:sp>
        <p:nvSpPr>
          <p:cNvPr id="19" name="text:pool price from its state"/>
          <p:cNvSpPr txBox="1"/>
          <p:nvPr/>
        </p:nvSpPr>
        <p:spPr>
          <a:xfrm>
            <a:off x="6309359" y="2761488"/>
            <a:ext cx="2240280" cy="3200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pool price from its state</a:t>
            </a:r>
          </a:p>
        </p:txBody>
      </p:sp>
      <p:sp>
        <p:nvSpPr>
          <p:cNvPr id="20" name="Rounded Rectangle 19"/>
          <p:cNvSpPr/>
          <p:nvPr/>
        </p:nvSpPr>
        <p:spPr>
          <a:xfrm>
            <a:off x="548640" y="3246120"/>
            <a:ext cx="2560320" cy="731520"/>
          </a:xfrm>
          <a:prstGeom prst="roundRect">
            <a:avLst>
              <a:gd name="adj" fmla="val 175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8 bps"/>
          <p:cNvSpPr txBox="1"/>
          <p:nvPr/>
        </p:nvSpPr>
        <p:spPr>
          <a:xfrm>
            <a:off x="731520" y="3310128"/>
            <a:ext cx="1188720" cy="457200"/>
          </a:xfrm>
          <a:prstGeom prst="rect">
            <a:avLst/>
          </a:prstGeom>
          <a:noFill/>
        </p:spPr>
        <p:txBody>
          <a:bodyPr wrap="square" lIns="9144" rIns="9144" tIns="0" bIns="0" anchor="ctr">
            <a:spAutoFit/>
          </a:bodyPr>
          <a:lstStyle/>
          <a:p>
            <a:pPr>
              <a:lnSpc>
                <a:spcPct val="106000"/>
              </a:lnSpc>
              <a:spcAft>
                <a:spcPts val="400"/>
              </a:spcAft>
              <a:defRPr sz="2000" b="0">
                <a:solidFill>
                  <a:srgbClr val="3DDC97"/>
                </a:solidFill>
                <a:latin typeface="Helvetica Neue"/>
              </a:defRPr>
            </a:pPr>
            <a:r>
              <a:t>+1.8 bps</a:t>
            </a:r>
          </a:p>
        </p:txBody>
      </p:sp>
      <p:sp>
        <p:nvSpPr>
          <p:cNvPr id="22" name="text:Jupiter vs Pyth"/>
          <p:cNvSpPr txBox="1"/>
          <p:nvPr/>
        </p:nvSpPr>
        <p:spPr>
          <a:xfrm>
            <a:off x="1920240" y="3310128"/>
            <a:ext cx="109728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Jupiter vs Pyth</a:t>
            </a:r>
          </a:p>
        </p:txBody>
      </p:sp>
      <p:sp>
        <p:nvSpPr>
          <p:cNvPr id="23" name="Rounded Rectangle 22"/>
          <p:cNvSpPr/>
          <p:nvPr/>
        </p:nvSpPr>
        <p:spPr>
          <a:xfrm>
            <a:off x="3337560" y="3246120"/>
            <a:ext cx="2560320" cy="731520"/>
          </a:xfrm>
          <a:prstGeom prst="roundRect">
            <a:avLst>
              <a:gd name="adj" fmla="val 175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7 bps"/>
          <p:cNvSpPr txBox="1"/>
          <p:nvPr/>
        </p:nvSpPr>
        <p:spPr>
          <a:xfrm>
            <a:off x="3520440" y="3310128"/>
            <a:ext cx="1188720" cy="457200"/>
          </a:xfrm>
          <a:prstGeom prst="rect">
            <a:avLst/>
          </a:prstGeom>
          <a:noFill/>
        </p:spPr>
        <p:txBody>
          <a:bodyPr wrap="square" lIns="9144" rIns="9144" tIns="0" bIns="0" anchor="ctr">
            <a:spAutoFit/>
          </a:bodyPr>
          <a:lstStyle/>
          <a:p>
            <a:pPr>
              <a:lnSpc>
                <a:spcPct val="106000"/>
              </a:lnSpc>
              <a:spcAft>
                <a:spcPts val="400"/>
              </a:spcAft>
              <a:defRPr sz="2000" b="0">
                <a:solidFill>
                  <a:srgbClr val="3DDC97"/>
                </a:solidFill>
                <a:latin typeface="Helvetica Neue"/>
              </a:defRPr>
            </a:pPr>
            <a:r>
              <a:t>-1.7 bps</a:t>
            </a:r>
          </a:p>
        </p:txBody>
      </p:sp>
      <p:sp>
        <p:nvSpPr>
          <p:cNvPr id="25" name="text:Orca vs Pyth"/>
          <p:cNvSpPr txBox="1"/>
          <p:nvPr/>
        </p:nvSpPr>
        <p:spPr>
          <a:xfrm>
            <a:off x="4709160" y="3310128"/>
            <a:ext cx="109728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Orca vs Pyth</a:t>
            </a:r>
          </a:p>
        </p:txBody>
      </p:sp>
      <p:sp>
        <p:nvSpPr>
          <p:cNvPr id="26" name="Rounded Rectangle 25"/>
          <p:cNvSpPr/>
          <p:nvPr/>
        </p:nvSpPr>
        <p:spPr>
          <a:xfrm>
            <a:off x="6126479" y="3246120"/>
            <a:ext cx="2560320" cy="731520"/>
          </a:xfrm>
          <a:prstGeom prst="roundRect">
            <a:avLst>
              <a:gd name="adj" fmla="val 175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3.5 bps"/>
          <p:cNvSpPr txBox="1"/>
          <p:nvPr/>
        </p:nvSpPr>
        <p:spPr>
          <a:xfrm>
            <a:off x="6309359" y="3310128"/>
            <a:ext cx="1188720" cy="457200"/>
          </a:xfrm>
          <a:prstGeom prst="rect">
            <a:avLst/>
          </a:prstGeom>
          <a:noFill/>
        </p:spPr>
        <p:txBody>
          <a:bodyPr wrap="square" lIns="9144" rIns="9144" tIns="0" bIns="0" anchor="ctr">
            <a:spAutoFit/>
          </a:bodyPr>
          <a:lstStyle/>
          <a:p>
            <a:pPr>
              <a:lnSpc>
                <a:spcPct val="106000"/>
              </a:lnSpc>
              <a:spcAft>
                <a:spcPts val="400"/>
              </a:spcAft>
              <a:defRPr sz="2000" b="0">
                <a:solidFill>
                  <a:srgbClr val="3DDC97"/>
                </a:solidFill>
                <a:latin typeface="Helvetica Neue"/>
              </a:defRPr>
            </a:pPr>
            <a:r>
              <a:t>+3.5 bps</a:t>
            </a:r>
          </a:p>
        </p:txBody>
      </p:sp>
      <p:sp>
        <p:nvSpPr>
          <p:cNvPr id="28" name="text:Jupiter vs Orca"/>
          <p:cNvSpPr txBox="1"/>
          <p:nvPr/>
        </p:nvSpPr>
        <p:spPr>
          <a:xfrm>
            <a:off x="7498079" y="3310128"/>
            <a:ext cx="109728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Jupiter vs Orca</a:t>
            </a:r>
          </a:p>
        </p:txBody>
      </p:sp>
      <p:sp>
        <p:nvSpPr>
          <p:cNvPr id="29" name="Rounded Rectangle 28"/>
          <p:cNvSpPr/>
          <p:nvPr/>
        </p:nvSpPr>
        <p:spPr>
          <a:xfrm>
            <a:off x="548640" y="4114800"/>
            <a:ext cx="8092440" cy="475488"/>
          </a:xfrm>
          <a:prstGeom prst="roundRect">
            <a:avLst>
              <a:gd name="adj" fmla="val 2692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Reads use public mainnet data; every"/>
          <p:cNvSpPr txBox="1"/>
          <p:nvPr/>
        </p:nvSpPr>
        <p:spPr>
          <a:xfrm>
            <a:off x="713232" y="4114800"/>
            <a:ext cx="7818120" cy="475488"/>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Reads use public mainnet data; every write is devnet only; no real funds, no seed phrases.</a:t>
            </a:r>
          </a:p>
        </p:txBody>
      </p:sp>
      <p:sp>
        <p:nvSpPr>
          <p:cNvPr id="31" name="text:Source: recorded snapshot (code/reco"/>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recorded snapshot (code/recorded/snapshot.json), captured 2026-10-21 17:53:59Z. Jupiter quote API, Pyth account and Orca pool read over public mainnet RPC.  A bps is one hundredth of a percent.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collector is shor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collector is short</a:t>
            </a:r>
          </a:p>
        </p:txBody>
      </p:sp>
      <p:sp>
        <p:nvSpPr>
          <p:cNvPr id="3" name="text:One function, one data famil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One function, one data family.</a:t>
            </a:r>
          </a:p>
        </p:txBody>
      </p:sp>
      <p:sp>
        <p:nvSpPr>
          <p:cNvPr id="4"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5" name="Rounded Rectangle 4"/>
          <p:cNvSpPr/>
          <p:nvPr/>
        </p:nvSpPr>
        <p:spPr>
          <a:xfrm>
            <a:off x="548640" y="1554480"/>
            <a:ext cx="5257800" cy="3017520"/>
          </a:xfrm>
          <a:prstGeom prst="roundRect">
            <a:avLst>
              <a:gd name="adj" fmla="val 4242"/>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rc/collectors/jupiter.ts"/>
          <p:cNvSpPr txBox="1"/>
          <p:nvPr/>
        </p:nvSpPr>
        <p:spPr>
          <a:xfrm>
            <a:off x="731520" y="1645920"/>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src/collectors/jupiter.ts</a:t>
            </a:r>
          </a:p>
        </p:txBody>
      </p:sp>
      <p:sp>
        <p:nvSpPr>
          <p:cNvPr id="7" name="text:/** USDC has 6 decimals, so outAmoun"/>
          <p:cNvSpPr txBox="1"/>
          <p:nvPr/>
        </p:nvSpPr>
        <p:spPr>
          <a:xfrm>
            <a:off x="731520" y="1920240"/>
            <a:ext cx="4983480" cy="2560320"/>
          </a:xfrm>
          <a:prstGeom prst="rect">
            <a:avLst/>
          </a:prstGeom>
          <a:noFill/>
        </p:spPr>
        <p:txBody>
          <a:bodyPr wrap="square" lIns="9144" rIns="9144" tIns="0" bIns="0">
            <a:spAutoFit/>
          </a:bodyPr>
          <a:lstStyle/>
          <a:p>
            <a:pPr>
              <a:lnSpc>
                <a:spcPct val="100000"/>
              </a:lnSpc>
              <a:spcAft>
                <a:spcPts val="400"/>
              </a:spcAft>
              <a:defRPr sz="800" b="0">
                <a:solidFill>
                  <a:srgbClr val="F2F5F8"/>
                </a:solidFill>
                <a:latin typeface="Menlo"/>
              </a:defRPr>
            </a:pPr>
            <a:r>
              <a:t>/** USDC has 6 decimals, so outAmount / 1e6 is the USD received for 1 SOL. */</a:t>
            </a:r>
          </a:p>
          <a:p>
            <a:pPr>
              <a:lnSpc>
                <a:spcPct val="100000"/>
              </a:lnSpc>
              <a:spcAft>
                <a:spcPts val="400"/>
              </a:spcAft>
              <a:defRPr sz="800" b="0">
                <a:solidFill>
                  <a:srgbClr val="F2F5F8"/>
                </a:solidFill>
                <a:latin typeface="Menlo"/>
              </a:defRPr>
            </a:pPr>
            <a:r>
              <a:t>export function priceFromQuote(quote: { outAmount: string }): number {</a:t>
            </a:r>
          </a:p>
          <a:p>
            <a:pPr>
              <a:lnSpc>
                <a:spcPct val="100000"/>
              </a:lnSpc>
              <a:spcAft>
                <a:spcPts val="400"/>
              </a:spcAft>
              <a:defRPr sz="800" b="0">
                <a:solidFill>
                  <a:srgbClr val="F2F5F8"/>
                </a:solidFill>
                <a:latin typeface="Menlo"/>
              </a:defRPr>
            </a:pPr>
            <a:r>
              <a:t>  return Number(quote.outAmount) / 1e6;</a:t>
            </a:r>
          </a:p>
          <a:p>
            <a:pPr>
              <a:lnSpc>
                <a:spcPct val="100000"/>
              </a:lnSpc>
              <a:spcAft>
                <a:spcPts val="400"/>
              </a:spcAft>
              <a:defRPr sz="800" b="0">
                <a:solidFill>
                  <a:srgbClr val="F2F5F8"/>
                </a:solidFill>
                <a:latin typeface="Menlo"/>
              </a:defRPr>
            </a:pPr>
            <a:r>
              <a:t>}</a:t>
            </a:r>
          </a:p>
          <a:p>
            <a:pPr>
              <a:lnSpc>
                <a:spcPct val="100000"/>
              </a:lnSpc>
              <a:spcAft>
                <a:spcPts val="400"/>
              </a:spcAft>
              <a:defRPr sz="800" b="0">
                <a:solidFill>
                  <a:srgbClr val="F2F5F8"/>
                </a:solidFill>
                <a:latin typeface="Menlo"/>
              </a:defRPr>
            </a:pPr>
            <a:r>
              <a:t>export async function jupiterQuote(): Promise&lt;VenueQuote&gt; {</a:t>
            </a:r>
          </a:p>
          <a:p>
            <a:pPr>
              <a:lnSpc>
                <a:spcPct val="100000"/>
              </a:lnSpc>
              <a:spcAft>
                <a:spcPts val="400"/>
              </a:spcAft>
              <a:defRPr sz="800" b="0">
                <a:solidFill>
                  <a:srgbClr val="F2F5F8"/>
                </a:solidFill>
                <a:latin typeface="Menlo"/>
              </a:defRPr>
            </a:pPr>
            <a:r>
              <a:t>  const quote = (await getJson(JUPITER_URL)) as { outAmount?: string };</a:t>
            </a:r>
          </a:p>
          <a:p>
            <a:pPr>
              <a:lnSpc>
                <a:spcPct val="100000"/>
              </a:lnSpc>
              <a:spcAft>
                <a:spcPts val="400"/>
              </a:spcAft>
              <a:defRPr sz="800" b="0">
                <a:solidFill>
                  <a:srgbClr val="F2F5F8"/>
                </a:solidFill>
                <a:latin typeface="Menlo"/>
              </a:defRPr>
            </a:pPr>
            <a:r>
              <a:t>  if (!quote.outAmount) throw new Error("Jupiter quote had no outAmount");</a:t>
            </a:r>
          </a:p>
          <a:p>
            <a:pPr>
              <a:lnSpc>
                <a:spcPct val="100000"/>
              </a:lnSpc>
              <a:spcAft>
                <a:spcPts val="400"/>
              </a:spcAft>
              <a:defRPr sz="800" b="0">
                <a:solidFill>
                  <a:srgbClr val="F2F5F8"/>
                </a:solidFill>
                <a:latin typeface="Menlo"/>
              </a:defRPr>
            </a:pPr>
            <a:r>
              <a:t>  return {</a:t>
            </a:r>
          </a:p>
          <a:p>
            <a:pPr>
              <a:lnSpc>
                <a:spcPct val="100000"/>
              </a:lnSpc>
              <a:spcAft>
                <a:spcPts val="400"/>
              </a:spcAft>
              <a:defRPr sz="800" b="0">
                <a:solidFill>
                  <a:srgbClr val="F2F5F8"/>
                </a:solidFill>
                <a:latin typeface="Menlo"/>
              </a:defRPr>
            </a:pPr>
            <a:r>
              <a:t>    id: "jupiter",</a:t>
            </a:r>
          </a:p>
          <a:p>
            <a:pPr>
              <a:lnSpc>
                <a:spcPct val="100000"/>
              </a:lnSpc>
              <a:spcAft>
                <a:spcPts val="400"/>
              </a:spcAft>
              <a:defRPr sz="800" b="0">
                <a:solidFill>
                  <a:srgbClr val="F2F5F8"/>
                </a:solidFill>
                <a:latin typeface="Menlo"/>
              </a:defRPr>
            </a:pPr>
            <a:r>
              <a:t>    // ...label, ts, source</a:t>
            </a:r>
          </a:p>
          <a:p>
            <a:pPr>
              <a:lnSpc>
                <a:spcPct val="100000"/>
              </a:lnSpc>
              <a:spcAft>
                <a:spcPts val="400"/>
              </a:spcAft>
              <a:defRPr sz="800" b="0">
                <a:solidFill>
                  <a:srgbClr val="F2F5F8"/>
                </a:solidFill>
                <a:latin typeface="Menlo"/>
              </a:defRPr>
            </a:pPr>
            <a:r>
              <a:t>    price: priceFromQuote({ outAmount: quote.outAmount }),</a:t>
            </a:r>
          </a:p>
          <a:p>
            <a:pPr>
              <a:lnSpc>
                <a:spcPct val="100000"/>
              </a:lnSpc>
              <a:spcAft>
                <a:spcPts val="400"/>
              </a:spcAft>
              <a:defRPr sz="800" b="0">
                <a:solidFill>
                  <a:srgbClr val="F2F5F8"/>
                </a:solidFill>
                <a:latin typeface="Menlo"/>
              </a:defRPr>
            </a:pPr>
            <a:r>
              <a:t>  };</a:t>
            </a:r>
          </a:p>
          <a:p>
            <a:pPr>
              <a:lnSpc>
                <a:spcPct val="100000"/>
              </a:lnSpc>
              <a:spcAft>
                <a:spcPts val="400"/>
              </a:spcAft>
              <a:defRPr sz="800" b="0">
                <a:solidFill>
                  <a:srgbClr val="F2F5F8"/>
                </a:solidFill>
                <a:latin typeface="Menlo"/>
              </a:defRPr>
            </a:pPr>
            <a:r>
              <a:t>}</a:t>
            </a:r>
          </a:p>
        </p:txBody>
      </p:sp>
      <p:sp>
        <p:nvSpPr>
          <p:cNvPr id="8" name="Rounded Rectangle 7"/>
          <p:cNvSpPr/>
          <p:nvPr/>
        </p:nvSpPr>
        <p:spPr>
          <a:xfrm>
            <a:off x="6035040" y="1554480"/>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6199632" y="164592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10" name="text:No key, no account"/>
          <p:cNvSpPr txBox="1"/>
          <p:nvPr/>
        </p:nvSpPr>
        <p:spPr>
          <a:xfrm>
            <a:off x="6537960" y="1664207"/>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No key, no account</a:t>
            </a:r>
          </a:p>
        </p:txBody>
      </p:sp>
      <p:sp>
        <p:nvSpPr>
          <p:cNvPr id="11" name="text:Public quote API for 1 SOL to USDC."/>
          <p:cNvSpPr txBox="1"/>
          <p:nvPr/>
        </p:nvSpPr>
        <p:spPr>
          <a:xfrm>
            <a:off x="6537960" y="1938528"/>
            <a:ext cx="20116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Public quote API for 1 SOL to USDC.</a:t>
            </a:r>
          </a:p>
        </p:txBody>
      </p:sp>
      <p:sp>
        <p:nvSpPr>
          <p:cNvPr id="12" name="Rounded Rectangle 11"/>
          <p:cNvSpPr/>
          <p:nvPr/>
        </p:nvSpPr>
        <p:spPr>
          <a:xfrm>
            <a:off x="6035040" y="2578608"/>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2"/>
          <p:cNvSpPr txBox="1"/>
          <p:nvPr/>
        </p:nvSpPr>
        <p:spPr>
          <a:xfrm>
            <a:off x="6199632" y="2670048"/>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4" name="text:Watch the unit"/>
          <p:cNvSpPr txBox="1"/>
          <p:nvPr/>
        </p:nvSpPr>
        <p:spPr>
          <a:xfrm>
            <a:off x="6537960" y="2688336"/>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Watch the unit</a:t>
            </a:r>
          </a:p>
        </p:txBody>
      </p:sp>
      <p:sp>
        <p:nvSpPr>
          <p:cNvPr id="15" name="text:USDC has 6 decimals: divide by 1e6."/>
          <p:cNvSpPr txBox="1"/>
          <p:nvPr/>
        </p:nvSpPr>
        <p:spPr>
          <a:xfrm>
            <a:off x="6537960" y="2962656"/>
            <a:ext cx="20116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USDC has 6 decimals: divide by 1e6.</a:t>
            </a:r>
          </a:p>
        </p:txBody>
      </p:sp>
      <p:sp>
        <p:nvSpPr>
          <p:cNvPr id="16" name="Rounded Rectangle 15"/>
          <p:cNvSpPr/>
          <p:nvPr/>
        </p:nvSpPr>
        <p:spPr>
          <a:xfrm>
            <a:off x="6035040" y="3602736"/>
            <a:ext cx="260604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3"/>
          <p:cNvSpPr txBox="1"/>
          <p:nvPr/>
        </p:nvSpPr>
        <p:spPr>
          <a:xfrm>
            <a:off x="6199632" y="3694176"/>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8" name="text:Fail loudly"/>
          <p:cNvSpPr txBox="1"/>
          <p:nvPr/>
        </p:nvSpPr>
        <p:spPr>
          <a:xfrm>
            <a:off x="6537960" y="3712464"/>
            <a:ext cx="201168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Fail loudly</a:t>
            </a:r>
          </a:p>
        </p:txBody>
      </p:sp>
      <p:sp>
        <p:nvSpPr>
          <p:cNvPr id="19" name="text:No quote means an error, never a mad"/>
          <p:cNvSpPr txBox="1"/>
          <p:nvPr/>
        </p:nvSpPr>
        <p:spPr>
          <a:xfrm>
            <a:off x="6537960" y="3986784"/>
            <a:ext cx="20116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No quote means an error, never a made-up price.</a:t>
            </a:r>
          </a:p>
        </p:txBody>
      </p:sp>
      <p:sp>
        <p:nvSpPr>
          <p:cNvPr id="20" name="text:Source: demo-repo/code/src/collecto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demo-repo/code/src/collectors/jupiter.ts (excerpt, fields elided)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Demo: the price gap"/>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the price gap</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Do the three prices agree? By how ma"/>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Do the three prices agree? By how many bps do they differ?</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3756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Jupiter, Pyth and Orca, one line eac"/>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Jupiter, Pyth and Orca, one line each</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gap in bps between each pair"/>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gap in bps between each pair</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ata is the defau"/>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data is the default. No network needed.</a:t>
            </a:r>
          </a:p>
        </p:txBody>
      </p:sp>
      <p:pic>
        <p:nvPicPr>
          <p:cNvPr id="18" name="Picture 17" descr="02-price-gap.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Try it: nus-solana-demos.vercel.app/"/>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nus-solana-demos.vercel.app/0002/02-price-gap.html</a:t>
            </a:r>
          </a:p>
        </p:txBody>
      </p:sp>
      <p:sp>
        <p:nvSpPr>
          <p:cNvPr id="21" name="text:Live mode: switch it on to watch rea"/>
          <p:cNvSpPr txBox="1"/>
          <p:nvPr/>
        </p:nvSpPr>
        <p:spPr>
          <a:xfrm>
            <a:off x="4389120" y="3877056"/>
            <a:ext cx="42519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2" name="text:Recorded data. Runs in your browser."/>
          <p:cNvSpPr txBox="1"/>
          <p:nvPr/>
        </p:nvSpPr>
        <p:spPr>
          <a:xfrm>
            <a:off x="4389120" y="4078224"/>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Recorded data. Runs in your browser.</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the risk hoo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the risk hook</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orders pass, and which rule st"/>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Which orders pass, and which rule stops each one that does not?</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3756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29183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ccepted: buy 250 USD, within all li"/>
          <p:cNvSpPr txBox="1"/>
          <p:nvPr/>
        </p:nvSpPr>
        <p:spPr>
          <a:xfrm>
            <a:off x="896112" y="324612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accepted: buy 250 USD, within all limits</a:t>
            </a:r>
          </a:p>
        </p:txBody>
      </p:sp>
      <p:sp>
        <p:nvSpPr>
          <p:cNvPr id="14" name="Oval 13"/>
          <p:cNvSpPr/>
          <p:nvPr/>
        </p:nvSpPr>
        <p:spPr>
          <a:xfrm>
            <a:off x="731520" y="356615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rejected: buy 5,000 USD, max-notiona"/>
          <p:cNvSpPr txBox="1"/>
          <p:nvPr/>
        </p:nvSpPr>
        <p:spPr>
          <a:xfrm>
            <a:off x="896112" y="3520439"/>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rejected: buy 5,000 USD, max-notional</a:t>
            </a:r>
          </a:p>
        </p:txBody>
      </p:sp>
      <p:sp>
        <p:nvSpPr>
          <p:cNvPr id="16" name="Oval 15"/>
          <p:cNvSpPr/>
          <p:nvPr/>
        </p:nvSpPr>
        <p:spPr>
          <a:xfrm>
            <a:off x="731520" y="384047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each rejection names its rule and sa"/>
          <p:cNvSpPr txBox="1"/>
          <p:nvPr/>
        </p:nvSpPr>
        <p:spPr>
          <a:xfrm>
            <a:off x="896112" y="3794759"/>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each rejection names its rule and says why</a:t>
            </a:r>
          </a:p>
        </p:txBody>
      </p:sp>
      <p:sp>
        <p:nvSpPr>
          <p:cNvPr id="18" name="Rounded Rectangle 17"/>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Fallback: Same recorded data. The de"/>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data. The decisions are the same every run.</a:t>
            </a:r>
          </a:p>
        </p:txBody>
      </p:sp>
      <p:pic>
        <p:nvPicPr>
          <p:cNvPr id="20" name="Picture 19" descr="03-risk-hook.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21" name="Rounded Rectangle 20"/>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Try it: nus-solana-demos.vercel.app/"/>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nus-solana-demos.vercel.app/0002/03-risk-hook.html</a:t>
            </a:r>
          </a:p>
        </p:txBody>
      </p:sp>
      <p:sp>
        <p:nvSpPr>
          <p:cNvPr id="23" name="text:Live mode: switch it on to watch rea"/>
          <p:cNvSpPr txBox="1"/>
          <p:nvPr/>
        </p:nvSpPr>
        <p:spPr>
          <a:xfrm>
            <a:off x="4389120" y="3877056"/>
            <a:ext cx="42519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4" name="text:Recorded data. Runs in your browser."/>
          <p:cNvSpPr txBox="1"/>
          <p:nvPr/>
        </p:nvSpPr>
        <p:spPr>
          <a:xfrm>
            <a:off x="4389120" y="4078224"/>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Recorded data. Runs in your browser.</a:t>
            </a:r>
          </a:p>
        </p:txBody>
      </p:sp>
      <p:sp>
        <p:nvSpPr>
          <p:cNvPr id="25"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strategy map"/>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strategy map</a:t>
            </a:r>
          </a:p>
        </p:txBody>
      </p:sp>
      <p:sp>
        <p:nvSpPr>
          <p:cNvPr id="3" name="text:Seven families. Each one needs cert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Seven families. Each one needs certain data.</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text:V venue   O oracle   S slot (orderin"/>
          <p:cNvSpPr txBox="1"/>
          <p:nvPr/>
        </p:nvSpPr>
        <p:spPr>
          <a:xfrm>
            <a:off x="548640" y="1371600"/>
            <a:ext cx="41148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V venue   O oracle   S slot (ordering)   I inventory</a:t>
            </a:r>
          </a:p>
        </p:txBody>
      </p:sp>
      <p:sp>
        <p:nvSpPr>
          <p:cNvPr id="6" name="Rounded Rectangle 5"/>
          <p:cNvSpPr/>
          <p:nvPr/>
        </p:nvSpPr>
        <p:spPr>
          <a:xfrm>
            <a:off x="548640" y="1645920"/>
            <a:ext cx="3840480" cy="347472"/>
          </a:xfrm>
          <a:prstGeom prst="roundRect">
            <a:avLst>
              <a:gd name="adj" fmla="val 26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Cross-venue arbitrage"/>
          <p:cNvSpPr txBox="1"/>
          <p:nvPr/>
        </p:nvSpPr>
        <p:spPr>
          <a:xfrm>
            <a:off x="685800" y="1645920"/>
            <a:ext cx="2194560" cy="347472"/>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Cross-venue arbitrage</a:t>
            </a:r>
          </a:p>
        </p:txBody>
      </p:sp>
      <p:sp>
        <p:nvSpPr>
          <p:cNvPr id="8" name="Rounded Rectangle 7"/>
          <p:cNvSpPr/>
          <p:nvPr/>
        </p:nvSpPr>
        <p:spPr>
          <a:xfrm>
            <a:off x="2926080" y="169164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V"/>
          <p:cNvSpPr txBox="1"/>
          <p:nvPr/>
        </p:nvSpPr>
        <p:spPr>
          <a:xfrm>
            <a:off x="2926080" y="169164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V</a:t>
            </a:r>
          </a:p>
        </p:txBody>
      </p:sp>
      <p:sp>
        <p:nvSpPr>
          <p:cNvPr id="10" name="Rounded Rectangle 9"/>
          <p:cNvSpPr/>
          <p:nvPr/>
        </p:nvSpPr>
        <p:spPr>
          <a:xfrm>
            <a:off x="3273552" y="169164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O"/>
          <p:cNvSpPr txBox="1"/>
          <p:nvPr/>
        </p:nvSpPr>
        <p:spPr>
          <a:xfrm>
            <a:off x="3273552" y="169164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O</a:t>
            </a:r>
          </a:p>
        </p:txBody>
      </p:sp>
      <p:sp>
        <p:nvSpPr>
          <p:cNvPr id="12" name="Rounded Rectangle 11"/>
          <p:cNvSpPr/>
          <p:nvPr/>
        </p:nvSpPr>
        <p:spPr>
          <a:xfrm>
            <a:off x="3621024" y="169164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S"/>
          <p:cNvSpPr txBox="1"/>
          <p:nvPr/>
        </p:nvSpPr>
        <p:spPr>
          <a:xfrm>
            <a:off x="3621024" y="169164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S</a:t>
            </a:r>
          </a:p>
        </p:txBody>
      </p:sp>
      <p:sp>
        <p:nvSpPr>
          <p:cNvPr id="14" name="Rounded Rectangle 13"/>
          <p:cNvSpPr/>
          <p:nvPr/>
        </p:nvSpPr>
        <p:spPr>
          <a:xfrm>
            <a:off x="3968496" y="169164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I"/>
          <p:cNvSpPr txBox="1"/>
          <p:nvPr/>
        </p:nvSpPr>
        <p:spPr>
          <a:xfrm>
            <a:off x="3968496" y="169164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I</a:t>
            </a:r>
          </a:p>
        </p:txBody>
      </p:sp>
      <p:sp>
        <p:nvSpPr>
          <p:cNvPr id="16" name="Rounded Rectangle 15"/>
          <p:cNvSpPr/>
          <p:nvPr/>
        </p:nvSpPr>
        <p:spPr>
          <a:xfrm>
            <a:off x="548640" y="2057400"/>
            <a:ext cx="3840480" cy="347472"/>
          </a:xfrm>
          <a:prstGeom prst="roundRect">
            <a:avLst>
              <a:gd name="adj" fmla="val 26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Oracle vs venue basis"/>
          <p:cNvSpPr txBox="1"/>
          <p:nvPr/>
        </p:nvSpPr>
        <p:spPr>
          <a:xfrm>
            <a:off x="685800" y="2057400"/>
            <a:ext cx="2194560" cy="347472"/>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Oracle vs venue basis</a:t>
            </a:r>
          </a:p>
        </p:txBody>
      </p:sp>
      <p:sp>
        <p:nvSpPr>
          <p:cNvPr id="18" name="Rounded Rectangle 17"/>
          <p:cNvSpPr/>
          <p:nvPr/>
        </p:nvSpPr>
        <p:spPr>
          <a:xfrm>
            <a:off x="2926080" y="210312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V"/>
          <p:cNvSpPr txBox="1"/>
          <p:nvPr/>
        </p:nvSpPr>
        <p:spPr>
          <a:xfrm>
            <a:off x="2926080" y="21031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V</a:t>
            </a:r>
          </a:p>
        </p:txBody>
      </p:sp>
      <p:sp>
        <p:nvSpPr>
          <p:cNvPr id="20" name="Rounded Rectangle 19"/>
          <p:cNvSpPr/>
          <p:nvPr/>
        </p:nvSpPr>
        <p:spPr>
          <a:xfrm>
            <a:off x="3273552" y="210312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O"/>
          <p:cNvSpPr txBox="1"/>
          <p:nvPr/>
        </p:nvSpPr>
        <p:spPr>
          <a:xfrm>
            <a:off x="3273552" y="21031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O</a:t>
            </a:r>
          </a:p>
        </p:txBody>
      </p:sp>
      <p:sp>
        <p:nvSpPr>
          <p:cNvPr id="22" name="Rounded Rectangle 21"/>
          <p:cNvSpPr/>
          <p:nvPr/>
        </p:nvSpPr>
        <p:spPr>
          <a:xfrm>
            <a:off x="3621024" y="210312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S"/>
          <p:cNvSpPr txBox="1"/>
          <p:nvPr/>
        </p:nvSpPr>
        <p:spPr>
          <a:xfrm>
            <a:off x="3621024" y="21031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S</a:t>
            </a:r>
          </a:p>
        </p:txBody>
      </p:sp>
      <p:sp>
        <p:nvSpPr>
          <p:cNvPr id="24" name="Rounded Rectangle 23"/>
          <p:cNvSpPr/>
          <p:nvPr/>
        </p:nvSpPr>
        <p:spPr>
          <a:xfrm>
            <a:off x="3968496" y="210312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I"/>
          <p:cNvSpPr txBox="1"/>
          <p:nvPr/>
        </p:nvSpPr>
        <p:spPr>
          <a:xfrm>
            <a:off x="3968496" y="21031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I</a:t>
            </a:r>
          </a:p>
        </p:txBody>
      </p:sp>
      <p:sp>
        <p:nvSpPr>
          <p:cNvPr id="26" name="Rounded Rectangle 25"/>
          <p:cNvSpPr/>
          <p:nvPr/>
        </p:nvSpPr>
        <p:spPr>
          <a:xfrm>
            <a:off x="548640" y="2468880"/>
            <a:ext cx="3840480" cy="347472"/>
          </a:xfrm>
          <a:prstGeom prst="roundRect">
            <a:avLst>
              <a:gd name="adj" fmla="val 26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Market making"/>
          <p:cNvSpPr txBox="1"/>
          <p:nvPr/>
        </p:nvSpPr>
        <p:spPr>
          <a:xfrm>
            <a:off x="685800" y="2468880"/>
            <a:ext cx="2194560" cy="347472"/>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Market making</a:t>
            </a:r>
          </a:p>
        </p:txBody>
      </p:sp>
      <p:sp>
        <p:nvSpPr>
          <p:cNvPr id="28" name="Rounded Rectangle 27"/>
          <p:cNvSpPr/>
          <p:nvPr/>
        </p:nvSpPr>
        <p:spPr>
          <a:xfrm>
            <a:off x="2926080" y="251460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V"/>
          <p:cNvSpPr txBox="1"/>
          <p:nvPr/>
        </p:nvSpPr>
        <p:spPr>
          <a:xfrm>
            <a:off x="2926080" y="251460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V</a:t>
            </a:r>
          </a:p>
        </p:txBody>
      </p:sp>
      <p:sp>
        <p:nvSpPr>
          <p:cNvPr id="30" name="Rounded Rectangle 29"/>
          <p:cNvSpPr/>
          <p:nvPr/>
        </p:nvSpPr>
        <p:spPr>
          <a:xfrm>
            <a:off x="3273552" y="251460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O"/>
          <p:cNvSpPr txBox="1"/>
          <p:nvPr/>
        </p:nvSpPr>
        <p:spPr>
          <a:xfrm>
            <a:off x="3273552" y="251460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O</a:t>
            </a:r>
          </a:p>
        </p:txBody>
      </p:sp>
      <p:sp>
        <p:nvSpPr>
          <p:cNvPr id="32" name="Rounded Rectangle 31"/>
          <p:cNvSpPr/>
          <p:nvPr/>
        </p:nvSpPr>
        <p:spPr>
          <a:xfrm>
            <a:off x="3621024" y="251460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S"/>
          <p:cNvSpPr txBox="1"/>
          <p:nvPr/>
        </p:nvSpPr>
        <p:spPr>
          <a:xfrm>
            <a:off x="3621024" y="251460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S</a:t>
            </a:r>
          </a:p>
        </p:txBody>
      </p:sp>
      <p:sp>
        <p:nvSpPr>
          <p:cNvPr id="34" name="Rounded Rectangle 33"/>
          <p:cNvSpPr/>
          <p:nvPr/>
        </p:nvSpPr>
        <p:spPr>
          <a:xfrm>
            <a:off x="3968496" y="251460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I"/>
          <p:cNvSpPr txBox="1"/>
          <p:nvPr/>
        </p:nvSpPr>
        <p:spPr>
          <a:xfrm>
            <a:off x="3968496" y="251460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I</a:t>
            </a:r>
          </a:p>
        </p:txBody>
      </p:sp>
      <p:sp>
        <p:nvSpPr>
          <p:cNvPr id="36" name="Rounded Rectangle 35"/>
          <p:cNvSpPr/>
          <p:nvPr/>
        </p:nvSpPr>
        <p:spPr>
          <a:xfrm>
            <a:off x="548640" y="2880360"/>
            <a:ext cx="3840480" cy="347472"/>
          </a:xfrm>
          <a:prstGeom prst="roundRect">
            <a:avLst>
              <a:gd name="adj" fmla="val 26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Trend / momentum"/>
          <p:cNvSpPr txBox="1"/>
          <p:nvPr/>
        </p:nvSpPr>
        <p:spPr>
          <a:xfrm>
            <a:off x="685800" y="2880360"/>
            <a:ext cx="2194560" cy="347472"/>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Trend / momentum</a:t>
            </a:r>
          </a:p>
        </p:txBody>
      </p:sp>
      <p:sp>
        <p:nvSpPr>
          <p:cNvPr id="38" name="Rounded Rectangle 37"/>
          <p:cNvSpPr/>
          <p:nvPr/>
        </p:nvSpPr>
        <p:spPr>
          <a:xfrm>
            <a:off x="2926080" y="292608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V"/>
          <p:cNvSpPr txBox="1"/>
          <p:nvPr/>
        </p:nvSpPr>
        <p:spPr>
          <a:xfrm>
            <a:off x="2926080" y="292608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V</a:t>
            </a:r>
          </a:p>
        </p:txBody>
      </p:sp>
      <p:sp>
        <p:nvSpPr>
          <p:cNvPr id="40" name="Rounded Rectangle 39"/>
          <p:cNvSpPr/>
          <p:nvPr/>
        </p:nvSpPr>
        <p:spPr>
          <a:xfrm>
            <a:off x="3273552" y="292608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O"/>
          <p:cNvSpPr txBox="1"/>
          <p:nvPr/>
        </p:nvSpPr>
        <p:spPr>
          <a:xfrm>
            <a:off x="3273552" y="292608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O</a:t>
            </a:r>
          </a:p>
        </p:txBody>
      </p:sp>
      <p:sp>
        <p:nvSpPr>
          <p:cNvPr id="42" name="Rounded Rectangle 41"/>
          <p:cNvSpPr/>
          <p:nvPr/>
        </p:nvSpPr>
        <p:spPr>
          <a:xfrm>
            <a:off x="3621024" y="292608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S"/>
          <p:cNvSpPr txBox="1"/>
          <p:nvPr/>
        </p:nvSpPr>
        <p:spPr>
          <a:xfrm>
            <a:off x="3621024" y="292608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S</a:t>
            </a:r>
          </a:p>
        </p:txBody>
      </p:sp>
      <p:sp>
        <p:nvSpPr>
          <p:cNvPr id="44" name="Rounded Rectangle 43"/>
          <p:cNvSpPr/>
          <p:nvPr/>
        </p:nvSpPr>
        <p:spPr>
          <a:xfrm>
            <a:off x="3968496" y="292608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I"/>
          <p:cNvSpPr txBox="1"/>
          <p:nvPr/>
        </p:nvSpPr>
        <p:spPr>
          <a:xfrm>
            <a:off x="3968496" y="292608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I</a:t>
            </a:r>
          </a:p>
        </p:txBody>
      </p:sp>
      <p:sp>
        <p:nvSpPr>
          <p:cNvPr id="46" name="Rounded Rectangle 45"/>
          <p:cNvSpPr/>
          <p:nvPr/>
        </p:nvSpPr>
        <p:spPr>
          <a:xfrm>
            <a:off x="548640" y="3291840"/>
            <a:ext cx="3840480" cy="347472"/>
          </a:xfrm>
          <a:prstGeom prst="roundRect">
            <a:avLst>
              <a:gd name="adj" fmla="val 26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Mean reversion / stat arb"/>
          <p:cNvSpPr txBox="1"/>
          <p:nvPr/>
        </p:nvSpPr>
        <p:spPr>
          <a:xfrm>
            <a:off x="685800" y="3291840"/>
            <a:ext cx="2194560" cy="347472"/>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Mean reversion / stat arb</a:t>
            </a:r>
          </a:p>
        </p:txBody>
      </p:sp>
      <p:sp>
        <p:nvSpPr>
          <p:cNvPr id="48" name="Rounded Rectangle 47"/>
          <p:cNvSpPr/>
          <p:nvPr/>
        </p:nvSpPr>
        <p:spPr>
          <a:xfrm>
            <a:off x="2926080" y="333756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V"/>
          <p:cNvSpPr txBox="1"/>
          <p:nvPr/>
        </p:nvSpPr>
        <p:spPr>
          <a:xfrm>
            <a:off x="2926080" y="333756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V</a:t>
            </a:r>
          </a:p>
        </p:txBody>
      </p:sp>
      <p:sp>
        <p:nvSpPr>
          <p:cNvPr id="50" name="Rounded Rectangle 49"/>
          <p:cNvSpPr/>
          <p:nvPr/>
        </p:nvSpPr>
        <p:spPr>
          <a:xfrm>
            <a:off x="3273552" y="333756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O"/>
          <p:cNvSpPr txBox="1"/>
          <p:nvPr/>
        </p:nvSpPr>
        <p:spPr>
          <a:xfrm>
            <a:off x="3273552" y="333756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O</a:t>
            </a:r>
          </a:p>
        </p:txBody>
      </p:sp>
      <p:sp>
        <p:nvSpPr>
          <p:cNvPr id="52" name="Rounded Rectangle 51"/>
          <p:cNvSpPr/>
          <p:nvPr/>
        </p:nvSpPr>
        <p:spPr>
          <a:xfrm>
            <a:off x="3621024" y="333756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S"/>
          <p:cNvSpPr txBox="1"/>
          <p:nvPr/>
        </p:nvSpPr>
        <p:spPr>
          <a:xfrm>
            <a:off x="3621024" y="333756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S</a:t>
            </a:r>
          </a:p>
        </p:txBody>
      </p:sp>
      <p:sp>
        <p:nvSpPr>
          <p:cNvPr id="54" name="Rounded Rectangle 53"/>
          <p:cNvSpPr/>
          <p:nvPr/>
        </p:nvSpPr>
        <p:spPr>
          <a:xfrm>
            <a:off x="3968496" y="333756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I"/>
          <p:cNvSpPr txBox="1"/>
          <p:nvPr/>
        </p:nvSpPr>
        <p:spPr>
          <a:xfrm>
            <a:off x="3968496" y="333756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I</a:t>
            </a:r>
          </a:p>
        </p:txBody>
      </p:sp>
      <p:sp>
        <p:nvSpPr>
          <p:cNvPr id="56" name="Rounded Rectangle 55"/>
          <p:cNvSpPr/>
          <p:nvPr/>
        </p:nvSpPr>
        <p:spPr>
          <a:xfrm>
            <a:off x="548640" y="3703320"/>
            <a:ext cx="3840480" cy="347472"/>
          </a:xfrm>
          <a:prstGeom prst="roundRect">
            <a:avLst>
              <a:gd name="adj" fmla="val 26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Funding / basis carry"/>
          <p:cNvSpPr txBox="1"/>
          <p:nvPr/>
        </p:nvSpPr>
        <p:spPr>
          <a:xfrm>
            <a:off x="685800" y="3703320"/>
            <a:ext cx="2194560" cy="347472"/>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Funding / basis carry</a:t>
            </a:r>
          </a:p>
        </p:txBody>
      </p:sp>
      <p:sp>
        <p:nvSpPr>
          <p:cNvPr id="58" name="Rounded Rectangle 57"/>
          <p:cNvSpPr/>
          <p:nvPr/>
        </p:nvSpPr>
        <p:spPr>
          <a:xfrm>
            <a:off x="2926080" y="3749039"/>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V"/>
          <p:cNvSpPr txBox="1"/>
          <p:nvPr/>
        </p:nvSpPr>
        <p:spPr>
          <a:xfrm>
            <a:off x="2926080" y="3749039"/>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V</a:t>
            </a:r>
          </a:p>
        </p:txBody>
      </p:sp>
      <p:sp>
        <p:nvSpPr>
          <p:cNvPr id="60" name="Rounded Rectangle 59"/>
          <p:cNvSpPr/>
          <p:nvPr/>
        </p:nvSpPr>
        <p:spPr>
          <a:xfrm>
            <a:off x="3273552" y="3749039"/>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O"/>
          <p:cNvSpPr txBox="1"/>
          <p:nvPr/>
        </p:nvSpPr>
        <p:spPr>
          <a:xfrm>
            <a:off x="3273552" y="3749039"/>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O</a:t>
            </a:r>
          </a:p>
        </p:txBody>
      </p:sp>
      <p:sp>
        <p:nvSpPr>
          <p:cNvPr id="62" name="Rounded Rectangle 61"/>
          <p:cNvSpPr/>
          <p:nvPr/>
        </p:nvSpPr>
        <p:spPr>
          <a:xfrm>
            <a:off x="3621024" y="3749039"/>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S"/>
          <p:cNvSpPr txBox="1"/>
          <p:nvPr/>
        </p:nvSpPr>
        <p:spPr>
          <a:xfrm>
            <a:off x="3621024" y="3749039"/>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S</a:t>
            </a:r>
          </a:p>
        </p:txBody>
      </p:sp>
      <p:sp>
        <p:nvSpPr>
          <p:cNvPr id="64" name="Rounded Rectangle 63"/>
          <p:cNvSpPr/>
          <p:nvPr/>
        </p:nvSpPr>
        <p:spPr>
          <a:xfrm>
            <a:off x="3968496" y="3749039"/>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I"/>
          <p:cNvSpPr txBox="1"/>
          <p:nvPr/>
        </p:nvSpPr>
        <p:spPr>
          <a:xfrm>
            <a:off x="3968496" y="3749039"/>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I</a:t>
            </a:r>
          </a:p>
        </p:txBody>
      </p:sp>
      <p:sp>
        <p:nvSpPr>
          <p:cNvPr id="66" name="Rounded Rectangle 65"/>
          <p:cNvSpPr/>
          <p:nvPr/>
        </p:nvSpPr>
        <p:spPr>
          <a:xfrm>
            <a:off x="548640" y="4114800"/>
            <a:ext cx="3840480" cy="347472"/>
          </a:xfrm>
          <a:prstGeom prst="roundRect">
            <a:avLst>
              <a:gd name="adj" fmla="val 263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Liquidation / event-driven"/>
          <p:cNvSpPr txBox="1"/>
          <p:nvPr/>
        </p:nvSpPr>
        <p:spPr>
          <a:xfrm>
            <a:off x="685800" y="4114800"/>
            <a:ext cx="2194560" cy="347472"/>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Liquidation / event-driven</a:t>
            </a:r>
          </a:p>
        </p:txBody>
      </p:sp>
      <p:sp>
        <p:nvSpPr>
          <p:cNvPr id="68" name="Rounded Rectangle 67"/>
          <p:cNvSpPr/>
          <p:nvPr/>
        </p:nvSpPr>
        <p:spPr>
          <a:xfrm>
            <a:off x="2926080" y="416052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V"/>
          <p:cNvSpPr txBox="1"/>
          <p:nvPr/>
        </p:nvSpPr>
        <p:spPr>
          <a:xfrm>
            <a:off x="2926080" y="41605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V</a:t>
            </a:r>
          </a:p>
        </p:txBody>
      </p:sp>
      <p:sp>
        <p:nvSpPr>
          <p:cNvPr id="70" name="Rounded Rectangle 69"/>
          <p:cNvSpPr/>
          <p:nvPr/>
        </p:nvSpPr>
        <p:spPr>
          <a:xfrm>
            <a:off x="3273552" y="416052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O"/>
          <p:cNvSpPr txBox="1"/>
          <p:nvPr/>
        </p:nvSpPr>
        <p:spPr>
          <a:xfrm>
            <a:off x="3273552" y="41605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O</a:t>
            </a:r>
          </a:p>
        </p:txBody>
      </p:sp>
      <p:sp>
        <p:nvSpPr>
          <p:cNvPr id="72" name="Rounded Rectangle 71"/>
          <p:cNvSpPr/>
          <p:nvPr/>
        </p:nvSpPr>
        <p:spPr>
          <a:xfrm>
            <a:off x="3621024" y="4160520"/>
            <a:ext cx="274320" cy="256032"/>
          </a:xfrm>
          <a:prstGeom prst="roundRect">
            <a:avLst>
              <a:gd name="adj" fmla="val 28571"/>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S"/>
          <p:cNvSpPr txBox="1"/>
          <p:nvPr/>
        </p:nvSpPr>
        <p:spPr>
          <a:xfrm>
            <a:off x="3621024" y="41605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000000"/>
                </a:solidFill>
                <a:latin typeface="Helvetica Neue"/>
              </a:defRPr>
            </a:pPr>
            <a:r>
              <a:t>S</a:t>
            </a:r>
          </a:p>
        </p:txBody>
      </p:sp>
      <p:sp>
        <p:nvSpPr>
          <p:cNvPr id="74" name="Rounded Rectangle 73"/>
          <p:cNvSpPr/>
          <p:nvPr/>
        </p:nvSpPr>
        <p:spPr>
          <a:xfrm>
            <a:off x="3968496" y="4160520"/>
            <a:ext cx="274320" cy="256032"/>
          </a:xfrm>
          <a:prstGeom prst="roundRect">
            <a:avLst>
              <a:gd name="adj" fmla="val 28571"/>
            </a:avLst>
          </a:prstGeom>
          <a:noFill/>
          <a:ln w="10160">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I"/>
          <p:cNvSpPr txBox="1"/>
          <p:nvPr/>
        </p:nvSpPr>
        <p:spPr>
          <a:xfrm>
            <a:off x="3968496" y="4160520"/>
            <a:ext cx="274320" cy="256032"/>
          </a:xfrm>
          <a:prstGeom prst="rect">
            <a:avLst/>
          </a:prstGeom>
          <a:noFill/>
        </p:spPr>
        <p:txBody>
          <a:bodyPr wrap="square" lIns="9144" rIns="9144" tIns="0" bIns="0" anchor="ctr">
            <a:spAutoFit/>
          </a:bodyPr>
          <a:lstStyle/>
          <a:p>
            <a:pPr algn="ctr">
              <a:lnSpc>
                <a:spcPct val="106000"/>
              </a:lnSpc>
              <a:spcAft>
                <a:spcPts val="400"/>
              </a:spcAft>
              <a:defRPr sz="950" b="0">
                <a:solidFill>
                  <a:srgbClr val="444444"/>
                </a:solidFill>
                <a:latin typeface="Helvetica Neue"/>
              </a:defRPr>
            </a:pPr>
            <a:r>
              <a:t>I</a:t>
            </a:r>
          </a:p>
        </p:txBody>
      </p:sp>
      <p:pic>
        <p:nvPicPr>
          <p:cNvPr id="76" name="Picture 75" descr="04-strategy-map.png"/>
          <p:cNvPicPr>
            <a:picLocks noChangeAspect="1"/>
          </p:cNvPicPr>
          <p:nvPr/>
        </p:nvPicPr>
        <p:blipFill>
          <a:blip r:embed="rId3"/>
          <a:stretch>
            <a:fillRect/>
          </a:stretch>
        </p:blipFill>
        <p:spPr>
          <a:xfrm>
            <a:off x="4759960" y="1645920"/>
            <a:ext cx="3738879" cy="2103120"/>
          </a:xfrm>
          <a:prstGeom prst="roundRect">
            <a:avLst>
              <a:gd name="adj" fmla="val 5217"/>
            </a:avLst>
          </a:prstGeom>
        </p:spPr>
      </p:pic>
      <p:sp>
        <p:nvSpPr>
          <p:cNvPr id="77" name="Rounded Rectangle 76"/>
          <p:cNvSpPr/>
          <p:nvPr/>
        </p:nvSpPr>
        <p:spPr>
          <a:xfrm>
            <a:off x="4759960" y="1645920"/>
            <a:ext cx="3738879" cy="2103120"/>
          </a:xfrm>
          <a:prstGeom prst="roundRect">
            <a:avLst>
              <a:gd name="adj" fmla="val 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Pick a family: its data lights up."/>
          <p:cNvSpPr txBox="1"/>
          <p:nvPr/>
        </p:nvSpPr>
        <p:spPr>
          <a:xfrm>
            <a:off x="4617720" y="3785615"/>
            <a:ext cx="4023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Pick a family: its data lights up.</a:t>
            </a:r>
          </a:p>
        </p:txBody>
      </p:sp>
      <p:sp>
        <p:nvSpPr>
          <p:cNvPr id="79" name="text:Most edges vanish after costs and la"/>
          <p:cNvSpPr txBox="1"/>
          <p:nvPr/>
        </p:nvSpPr>
        <p:spPr>
          <a:xfrm>
            <a:off x="4617720" y="4005072"/>
            <a:ext cx="4023360" cy="27432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Most edges vanish after costs and latency.</a:t>
            </a:r>
          </a:p>
        </p:txBody>
      </p:sp>
      <p:sp>
        <p:nvSpPr>
          <p:cNvPr id="80" name="text:Try it: nus-solana-demos.vercel.app/"/>
          <p:cNvSpPr txBox="1"/>
          <p:nvPr/>
        </p:nvSpPr>
        <p:spPr>
          <a:xfrm>
            <a:off x="4617720" y="4343400"/>
            <a:ext cx="420624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nus-solana-demos.vercel.app/0002/04-strategy-map.html</a:t>
            </a:r>
          </a:p>
        </p:txBody>
      </p:sp>
      <p:sp>
        <p:nvSpPr>
          <p:cNvPr id="81" name="text:Live mode: switch it on to watch rea"/>
          <p:cNvSpPr txBox="1"/>
          <p:nvPr/>
        </p:nvSpPr>
        <p:spPr>
          <a:xfrm>
            <a:off x="4617720" y="4526280"/>
            <a:ext cx="40233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82" name="text:Source: data each family needs is ou"/>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data each family needs is our teaching map, not a recommendation. Simulated, on recorded 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ees and slippag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Fees and slippage</a:t>
            </a:r>
          </a:p>
        </p:txBody>
      </p:sp>
      <p:sp>
        <p:nvSpPr>
          <p:cNvPr id="3" name="text:A gross edge is not what you keep."/>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gross edge is not what you keep.</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48640" y="1463040"/>
            <a:ext cx="3840480" cy="457200"/>
          </a:xfrm>
          <a:prstGeom prst="roundRect">
            <a:avLst>
              <a:gd name="adj" fmla="val 2800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Gross edge"/>
          <p:cNvSpPr txBox="1"/>
          <p:nvPr/>
        </p:nvSpPr>
        <p:spPr>
          <a:xfrm>
            <a:off x="713232" y="1463040"/>
            <a:ext cx="1737360" cy="45720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Gross edge</a:t>
            </a:r>
          </a:p>
        </p:txBody>
      </p:sp>
      <p:sp>
        <p:nvSpPr>
          <p:cNvPr id="7" name="text:what the chart shows"/>
          <p:cNvSpPr txBox="1"/>
          <p:nvPr/>
        </p:nvSpPr>
        <p:spPr>
          <a:xfrm>
            <a:off x="2331720" y="1463040"/>
            <a:ext cx="1965960" cy="457200"/>
          </a:xfrm>
          <a:prstGeom prst="rect">
            <a:avLst/>
          </a:prstGeom>
          <a:noFill/>
        </p:spPr>
        <p:txBody>
          <a:bodyPr wrap="square" lIns="9144" rIns="9144" tIns="0" bIns="0" anchor="ctr">
            <a:spAutoFit/>
          </a:bodyPr>
          <a:lstStyle/>
          <a:p>
            <a:pPr algn="r">
              <a:lnSpc>
                <a:spcPct val="106000"/>
              </a:lnSpc>
              <a:spcAft>
                <a:spcPts val="400"/>
              </a:spcAft>
              <a:defRPr sz="1000" b="0">
                <a:solidFill>
                  <a:srgbClr val="9A9AA2"/>
                </a:solidFill>
                <a:latin typeface="Helvetica Neue"/>
              </a:defRPr>
            </a:pPr>
            <a:r>
              <a:t>what the chart shows</a:t>
            </a:r>
          </a:p>
        </p:txBody>
      </p:sp>
      <p:sp>
        <p:nvSpPr>
          <p:cNvPr id="8" name="Rounded Rectangle 7"/>
          <p:cNvSpPr/>
          <p:nvPr/>
        </p:nvSpPr>
        <p:spPr>
          <a:xfrm>
            <a:off x="548640" y="2011680"/>
            <a:ext cx="3840480" cy="457200"/>
          </a:xfrm>
          <a:prstGeom prst="roundRect">
            <a:avLst>
              <a:gd name="adj" fmla="val 28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minus fees"/>
          <p:cNvSpPr txBox="1"/>
          <p:nvPr/>
        </p:nvSpPr>
        <p:spPr>
          <a:xfrm>
            <a:off x="713232" y="2011680"/>
            <a:ext cx="1737360" cy="45720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minus fees</a:t>
            </a:r>
          </a:p>
        </p:txBody>
      </p:sp>
      <p:sp>
        <p:nvSpPr>
          <p:cNvPr id="10" name="text:5 bps on each leg"/>
          <p:cNvSpPr txBox="1"/>
          <p:nvPr/>
        </p:nvSpPr>
        <p:spPr>
          <a:xfrm>
            <a:off x="2331720" y="2011680"/>
            <a:ext cx="1965960" cy="457200"/>
          </a:xfrm>
          <a:prstGeom prst="rect">
            <a:avLst/>
          </a:prstGeom>
          <a:noFill/>
        </p:spPr>
        <p:txBody>
          <a:bodyPr wrap="square" lIns="9144" rIns="9144" tIns="0" bIns="0" anchor="ctr">
            <a:spAutoFit/>
          </a:bodyPr>
          <a:lstStyle/>
          <a:p>
            <a:pPr algn="r">
              <a:lnSpc>
                <a:spcPct val="106000"/>
              </a:lnSpc>
              <a:spcAft>
                <a:spcPts val="400"/>
              </a:spcAft>
              <a:defRPr sz="1000" b="0">
                <a:solidFill>
                  <a:srgbClr val="9A9AA2"/>
                </a:solidFill>
                <a:latin typeface="Helvetica Neue"/>
              </a:defRPr>
            </a:pPr>
            <a:r>
              <a:t>5 bps on each leg</a:t>
            </a:r>
          </a:p>
        </p:txBody>
      </p:sp>
      <p:sp>
        <p:nvSpPr>
          <p:cNvPr id="11" name="Rounded Rectangle 10"/>
          <p:cNvSpPr/>
          <p:nvPr/>
        </p:nvSpPr>
        <p:spPr>
          <a:xfrm>
            <a:off x="548640" y="2560320"/>
            <a:ext cx="3840480" cy="457200"/>
          </a:xfrm>
          <a:prstGeom prst="roundRect">
            <a:avLst>
              <a:gd name="adj" fmla="val 28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minus slippage"/>
          <p:cNvSpPr txBox="1"/>
          <p:nvPr/>
        </p:nvSpPr>
        <p:spPr>
          <a:xfrm>
            <a:off x="713232" y="2560320"/>
            <a:ext cx="1737360" cy="45720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minus slippage</a:t>
            </a:r>
          </a:p>
        </p:txBody>
      </p:sp>
      <p:sp>
        <p:nvSpPr>
          <p:cNvPr id="13" name="text:2 bps on each leg"/>
          <p:cNvSpPr txBox="1"/>
          <p:nvPr/>
        </p:nvSpPr>
        <p:spPr>
          <a:xfrm>
            <a:off x="2331720" y="2560320"/>
            <a:ext cx="1965960" cy="457200"/>
          </a:xfrm>
          <a:prstGeom prst="rect">
            <a:avLst/>
          </a:prstGeom>
          <a:noFill/>
        </p:spPr>
        <p:txBody>
          <a:bodyPr wrap="square" lIns="9144" rIns="9144" tIns="0" bIns="0" anchor="ctr">
            <a:spAutoFit/>
          </a:bodyPr>
          <a:lstStyle/>
          <a:p>
            <a:pPr algn="r">
              <a:lnSpc>
                <a:spcPct val="106000"/>
              </a:lnSpc>
              <a:spcAft>
                <a:spcPts val="400"/>
              </a:spcAft>
              <a:defRPr sz="1000" b="0">
                <a:solidFill>
                  <a:srgbClr val="9A9AA2"/>
                </a:solidFill>
                <a:latin typeface="Helvetica Neue"/>
              </a:defRPr>
            </a:pPr>
            <a:r>
              <a:t>2 bps on each leg</a:t>
            </a:r>
          </a:p>
        </p:txBody>
      </p:sp>
      <p:sp>
        <p:nvSpPr>
          <p:cNvPr id="14" name="Rounded Rectangle 13"/>
          <p:cNvSpPr/>
          <p:nvPr/>
        </p:nvSpPr>
        <p:spPr>
          <a:xfrm>
            <a:off x="548640" y="3108960"/>
            <a:ext cx="3840480" cy="457200"/>
          </a:xfrm>
          <a:prstGeom prst="roundRect">
            <a:avLst>
              <a:gd name="adj" fmla="val 28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Net result"/>
          <p:cNvSpPr txBox="1"/>
          <p:nvPr/>
        </p:nvSpPr>
        <p:spPr>
          <a:xfrm>
            <a:off x="713232" y="3108960"/>
            <a:ext cx="1737360" cy="45720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Net result</a:t>
            </a:r>
          </a:p>
        </p:txBody>
      </p:sp>
      <p:sp>
        <p:nvSpPr>
          <p:cNvPr id="16" name="text:what you keep"/>
          <p:cNvSpPr txBox="1"/>
          <p:nvPr/>
        </p:nvSpPr>
        <p:spPr>
          <a:xfrm>
            <a:off x="2331720" y="3108960"/>
            <a:ext cx="1965960" cy="457200"/>
          </a:xfrm>
          <a:prstGeom prst="rect">
            <a:avLst/>
          </a:prstGeom>
          <a:noFill/>
        </p:spPr>
        <p:txBody>
          <a:bodyPr wrap="square" lIns="9144" rIns="9144" tIns="0" bIns="0" anchor="ctr">
            <a:spAutoFit/>
          </a:bodyPr>
          <a:lstStyle/>
          <a:p>
            <a:pPr algn="r">
              <a:lnSpc>
                <a:spcPct val="106000"/>
              </a:lnSpc>
              <a:spcAft>
                <a:spcPts val="400"/>
              </a:spcAft>
              <a:defRPr sz="1000" b="0">
                <a:solidFill>
                  <a:srgbClr val="9A9AA2"/>
                </a:solidFill>
                <a:latin typeface="Helvetica Neue"/>
              </a:defRPr>
            </a:pPr>
            <a:r>
              <a:t>what you keep</a:t>
            </a:r>
          </a:p>
        </p:txBody>
      </p:sp>
      <p:sp>
        <p:nvSpPr>
          <p:cNvPr id="17" name="text:RECORDED RUN, ONE STRATEGY"/>
          <p:cNvSpPr txBox="1"/>
          <p:nvPr/>
        </p:nvSpPr>
        <p:spPr>
          <a:xfrm>
            <a:off x="548640" y="3749039"/>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RECORDED RUN, ONE STRATEGY</a:t>
            </a:r>
          </a:p>
        </p:txBody>
      </p:sp>
      <p:sp>
        <p:nvSpPr>
          <p:cNvPr id="18" name="Rounded Rectangle 17"/>
          <p:cNvSpPr/>
          <p:nvPr/>
        </p:nvSpPr>
        <p:spPr>
          <a:xfrm>
            <a:off x="548640" y="3977639"/>
            <a:ext cx="3840480" cy="566928"/>
          </a:xfrm>
          <a:prstGeom prst="roundRect">
            <a:avLst>
              <a:gd name="adj" fmla="val 2258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Pool vs oracle basis"/>
          <p:cNvSpPr txBox="1"/>
          <p:nvPr/>
        </p:nvSpPr>
        <p:spPr>
          <a:xfrm>
            <a:off x="713232" y="3977639"/>
            <a:ext cx="1645920" cy="566928"/>
          </a:xfrm>
          <a:prstGeom prst="rect">
            <a:avLst/>
          </a:prstGeom>
          <a:noFill/>
        </p:spPr>
        <p:txBody>
          <a:bodyPr wrap="square" lIns="9144" rIns="9144" tIns="0" bIns="0" anchor="ctr">
            <a:spAutoFit/>
          </a:bodyPr>
          <a:lstStyle/>
          <a:p>
            <a:pPr>
              <a:lnSpc>
                <a:spcPct val="106000"/>
              </a:lnSpc>
              <a:spcAft>
                <a:spcPts val="400"/>
              </a:spcAft>
              <a:defRPr sz="1050" b="0">
                <a:solidFill>
                  <a:srgbClr val="9A9AA2"/>
                </a:solidFill>
                <a:latin typeface="Helvetica Neue"/>
              </a:defRPr>
            </a:pPr>
            <a:r>
              <a:t>Pool vs oracle basis</a:t>
            </a:r>
          </a:p>
        </p:txBody>
      </p:sp>
      <p:sp>
        <p:nvSpPr>
          <p:cNvPr id="20" name="text:gross +1.31 USD  net -25.29 USD"/>
          <p:cNvSpPr txBox="1"/>
          <p:nvPr/>
        </p:nvSpPr>
        <p:spPr>
          <a:xfrm>
            <a:off x="2286000" y="3977639"/>
            <a:ext cx="2011680" cy="566928"/>
          </a:xfrm>
          <a:prstGeom prst="rect">
            <a:avLst/>
          </a:prstGeom>
          <a:noFill/>
        </p:spPr>
        <p:txBody>
          <a:bodyPr wrap="square" lIns="9144" rIns="9144" tIns="0" bIns="0" anchor="ctr">
            <a:spAutoFit/>
          </a:bodyPr>
          <a:lstStyle/>
          <a:p>
            <a:pPr algn="r">
              <a:lnSpc>
                <a:spcPct val="106000"/>
              </a:lnSpc>
              <a:spcAft>
                <a:spcPts val="400"/>
              </a:spcAft>
              <a:defRPr sz="1050" b="0">
                <a:solidFill>
                  <a:srgbClr val="F2F5F8"/>
                </a:solidFill>
                <a:latin typeface="Helvetica Neue"/>
              </a:defRPr>
            </a:pPr>
            <a:r>
              <a:t>gross +1.31 USD  net -25.29 USD</a:t>
            </a:r>
          </a:p>
        </p:txBody>
      </p:sp>
      <p:pic>
        <p:nvPicPr>
          <p:cNvPr id="21" name="Picture 20" descr="05-fees-slippage.png"/>
          <p:cNvPicPr>
            <a:picLocks noChangeAspect="1"/>
          </p:cNvPicPr>
          <p:nvPr/>
        </p:nvPicPr>
        <p:blipFill>
          <a:blip r:embed="rId3"/>
          <a:stretch>
            <a:fillRect/>
          </a:stretch>
        </p:blipFill>
        <p:spPr>
          <a:xfrm>
            <a:off x="4617720" y="1465325"/>
            <a:ext cx="4023360" cy="2263140"/>
          </a:xfrm>
          <a:prstGeom prst="roundRect">
            <a:avLst>
              <a:gd name="adj" fmla="val 4848"/>
            </a:avLst>
          </a:prstGeom>
        </p:spPr>
      </p:pic>
      <p:sp>
        <p:nvSpPr>
          <p:cNvPr id="22" name="Rounded Rectangle 21"/>
          <p:cNvSpPr/>
          <p:nvPr/>
        </p:nvSpPr>
        <p:spPr>
          <a:xfrm>
            <a:off x="4617720" y="1465325"/>
            <a:ext cx="4023360" cy="2263140"/>
          </a:xfrm>
          <a:prstGeom prst="roundRect">
            <a:avLst>
              <a:gd name="adj" fmla="val 484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Drag the sliders: gross bars shrink "/>
          <p:cNvSpPr txBox="1"/>
          <p:nvPr/>
        </p:nvSpPr>
        <p:spPr>
          <a:xfrm>
            <a:off x="4617720" y="3776472"/>
            <a:ext cx="4023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Drag the sliders: gross bars shrink into net.</a:t>
            </a:r>
          </a:p>
        </p:txBody>
      </p:sp>
      <p:sp>
        <p:nvSpPr>
          <p:cNvPr id="24" name="text:Simulated, on recorded data; not adv"/>
          <p:cNvSpPr txBox="1"/>
          <p:nvPr/>
        </p:nvSpPr>
        <p:spPr>
          <a:xfrm>
            <a:off x="4617720" y="4005072"/>
            <a:ext cx="4023360" cy="27432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Helvetica Neue"/>
              </a:defRPr>
            </a:pPr>
            <a:r>
              <a:t>Simulated, on recorded data; not advice.</a:t>
            </a:r>
          </a:p>
        </p:txBody>
      </p:sp>
      <p:sp>
        <p:nvSpPr>
          <p:cNvPr id="25" name="text:Try it: nus-solana-demos.vercel.app/"/>
          <p:cNvSpPr txBox="1"/>
          <p:nvPr/>
        </p:nvSpPr>
        <p:spPr>
          <a:xfrm>
            <a:off x="4617720" y="4343400"/>
            <a:ext cx="420624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nus-solana-demos.vercel.app/0002/05-fees-slippage.html</a:t>
            </a:r>
          </a:p>
        </p:txBody>
      </p:sp>
      <p:sp>
        <p:nvSpPr>
          <p:cNvPr id="26" name="text:Live mode: switch it on to watch rea"/>
          <p:cNvSpPr txBox="1"/>
          <p:nvPr/>
        </p:nvSpPr>
        <p:spPr>
          <a:xfrm>
            <a:off x="4617720" y="4526280"/>
            <a:ext cx="40233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7" name="text:Source: Learning Lab demo and code/o"/>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Learning Lab demo and code/out/strategies.json, recorded data. Simulated, on recorded data; not advice.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4" name="Rounded Rectangle 3"/>
          <p:cNvSpPr/>
          <p:nvPr/>
        </p:nvSpPr>
        <p:spPr>
          <a:xfrm>
            <a:off x="548640" y="1371600"/>
            <a:ext cx="484632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OPEN ON YOUR LAPTOP"/>
          <p:cNvSpPr txBox="1"/>
          <p:nvPr/>
        </p:nvSpPr>
        <p:spPr>
          <a:xfrm>
            <a:off x="731520" y="1444752"/>
            <a:ext cx="27432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OPEN ON YOUR LAPTOP</a:t>
            </a:r>
          </a:p>
        </p:txBody>
      </p:sp>
      <p:sp>
        <p:nvSpPr>
          <p:cNvPr id="6" name="text:nus-solana-demos.vercel.app/0002"/>
          <p:cNvSpPr txBox="1"/>
          <p:nvPr/>
        </p:nvSpPr>
        <p:spPr>
          <a:xfrm>
            <a:off x="731520" y="1664208"/>
            <a:ext cx="4480560" cy="36576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Menlo"/>
              </a:defRPr>
            </a:pPr>
            <a:r>
              <a:t>nus-solana-demos.vercel.app/0002</a:t>
            </a:r>
          </a:p>
        </p:txBody>
      </p:sp>
      <p:sp>
        <p:nvSpPr>
          <p:cNvPr id="7" name="text:Open it on your laptop and move the "/>
          <p:cNvSpPr txBox="1"/>
          <p:nvPr/>
        </p:nvSpPr>
        <p:spPr>
          <a:xfrm>
            <a:off x="548640" y="2377440"/>
            <a:ext cx="4846320" cy="4572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Open it on your laptop and move the sliders.</a:t>
            </a:r>
          </a:p>
        </p:txBody>
      </p:sp>
      <p:sp>
        <p:nvSpPr>
          <p:cNvPr id="8" name="text:Five demos: data layers, price gap, "/>
          <p:cNvSpPr txBox="1"/>
          <p:nvPr/>
        </p:nvSpPr>
        <p:spPr>
          <a:xfrm>
            <a:off x="548640" y="3017520"/>
            <a:ext cx="4846320" cy="7315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Five demos: data layers, price gap, risk hook, strategy map, fees and slippage. Recorded data; nothing to install.</a:t>
            </a:r>
          </a:p>
        </p:txBody>
      </p:sp>
      <p:sp>
        <p:nvSpPr>
          <p:cNvPr id="9" name="Rounded Rectangle 8"/>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demos-0002.png"/>
          <p:cNvPicPr>
            <a:picLocks noChangeAspect="1"/>
          </p:cNvPicPr>
          <p:nvPr/>
        </p:nvPicPr>
        <p:blipFill>
          <a:blip r:embed="rId3"/>
          <a:stretch>
            <a:fillRect/>
          </a:stretch>
        </p:blipFill>
        <p:spPr>
          <a:xfrm>
            <a:off x="5943600" y="1508760"/>
            <a:ext cx="2560320" cy="2560320"/>
          </a:xfrm>
          <a:prstGeom prst="rect">
            <a:avLst/>
          </a:prstGeom>
        </p:spPr>
      </p:pic>
      <p:sp>
        <p:nvSpPr>
          <p:cNvPr id="11" name="text:Scan to open the demos"/>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Your missio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Your mission</a:t>
            </a:r>
          </a:p>
        </p:txBody>
      </p:sp>
      <p:sp>
        <p:nvSpPr>
          <p:cNvPr id="3" name="text:18:40 to 19:00. Twenty minut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18:40 to 19:00. Twenty minutes.</a:t>
            </a:r>
          </a:p>
        </p:txBody>
      </p:sp>
      <p:sp>
        <p:nvSpPr>
          <p:cNvPr id="4"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5" name="Rounded Rectangle 4"/>
          <p:cNvSpPr/>
          <p:nvPr/>
        </p:nvSpPr>
        <p:spPr>
          <a:xfrm>
            <a:off x="5486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Run"/>
          <p:cNvSpPr txBox="1"/>
          <p:nvPr/>
        </p:nvSpPr>
        <p:spPr>
          <a:xfrm>
            <a:off x="7315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Run</a:t>
            </a:r>
          </a:p>
        </p:txBody>
      </p:sp>
      <p:sp>
        <p:nvSpPr>
          <p:cNvPr id="8" name="text:Run the sample code on recorded data"/>
          <p:cNvSpPr txBox="1"/>
          <p:nvPr/>
        </p:nvSpPr>
        <p:spPr>
          <a:xfrm>
            <a:off x="7315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Run the sample code on recorded data</a:t>
            </a:r>
          </a:p>
        </p:txBody>
      </p:sp>
      <p:cxnSp>
        <p:nvCxnSpPr>
          <p:cNvPr id="9" name="Connector 8"/>
          <p:cNvCxnSpPr/>
          <p:nvPr/>
        </p:nvCxnSpPr>
        <p:spPr>
          <a:xfrm>
            <a:off x="24963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Predict"/>
          <p:cNvSpPr txBox="1"/>
          <p:nvPr/>
        </p:nvSpPr>
        <p:spPr>
          <a:xfrm>
            <a:off x="27889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Predict</a:t>
            </a:r>
          </a:p>
        </p:txBody>
      </p:sp>
      <p:sp>
        <p:nvSpPr>
          <p:cNvPr id="13" name="text:Guess what the risk hook will do bef"/>
          <p:cNvSpPr txBox="1"/>
          <p:nvPr/>
        </p:nvSpPr>
        <p:spPr>
          <a:xfrm>
            <a:off x="27889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Guess what the risk hook will do before you look</a:t>
            </a:r>
          </a:p>
        </p:txBody>
      </p:sp>
      <p:cxnSp>
        <p:nvCxnSpPr>
          <p:cNvPr id="14" name="Connector 13"/>
          <p:cNvCxnSpPr/>
          <p:nvPr/>
        </p:nvCxnSpPr>
        <p:spPr>
          <a:xfrm>
            <a:off x="45537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Change"/>
          <p:cNvSpPr txBox="1"/>
          <p:nvPr/>
        </p:nvSpPr>
        <p:spPr>
          <a:xfrm>
            <a:off x="48463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Change</a:t>
            </a:r>
          </a:p>
        </p:txBody>
      </p:sp>
      <p:sp>
        <p:nvSpPr>
          <p:cNvPr id="18" name="text:Change one limit, or add fees and sl"/>
          <p:cNvSpPr txBox="1"/>
          <p:nvPr/>
        </p:nvSpPr>
        <p:spPr>
          <a:xfrm>
            <a:off x="48463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Change one limit, or add fees and slippage to a strategy</a:t>
            </a:r>
          </a:p>
        </p:txBody>
      </p:sp>
      <p:cxnSp>
        <p:nvCxnSpPr>
          <p:cNvPr id="19" name="Connector 18"/>
          <p:cNvCxnSpPr/>
          <p:nvPr/>
        </p:nvCxnSpPr>
        <p:spPr>
          <a:xfrm>
            <a:off x="66111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Chart"/>
          <p:cNvSpPr txBox="1"/>
          <p:nvPr/>
        </p:nvSpPr>
        <p:spPr>
          <a:xfrm>
            <a:off x="69037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Chart</a:t>
            </a:r>
          </a:p>
        </p:txBody>
      </p:sp>
      <p:sp>
        <p:nvSpPr>
          <p:cNvPr id="23" name="text:Chart the result, before and after"/>
          <p:cNvSpPr txBox="1"/>
          <p:nvPr/>
        </p:nvSpPr>
        <p:spPr>
          <a:xfrm>
            <a:off x="69037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Chart the result, before and after</a:t>
            </a:r>
          </a:p>
        </p:txBody>
      </p:sp>
      <p:sp>
        <p:nvSpPr>
          <p:cNvPr id="24" name="Rounded Rectangle 23"/>
          <p:cNvSpPr/>
          <p:nvPr/>
        </p:nvSpPr>
        <p:spPr>
          <a:xfrm>
            <a:off x="548640" y="3977639"/>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Finish line: one chart with a before"/>
          <p:cNvSpPr txBox="1"/>
          <p:nvPr/>
        </p:nvSpPr>
        <p:spPr>
          <a:xfrm>
            <a:off x="731520" y="3977639"/>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Finish line: one chart with a before and an after.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uild menu"/>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Build menu</a:t>
            </a:r>
          </a:p>
        </p:txBody>
      </p:sp>
      <p:sp>
        <p:nvSpPr>
          <p:cNvPr id="3" name="text:19:00 to 19:50. Pick one, or bring 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19:00 to 19:50. Pick one, or bring your own project.</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554480"/>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82495"/>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700784"/>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Compare two prices and flag the gap"/>
          <p:cNvSpPr txBox="1"/>
          <p:nvPr/>
        </p:nvSpPr>
        <p:spPr>
          <a:xfrm>
            <a:off x="1874519" y="1554480"/>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Compare two prices and flag the gap</a:t>
            </a:r>
          </a:p>
        </p:txBody>
      </p:sp>
      <p:sp>
        <p:nvSpPr>
          <p:cNvPr id="9" name="Rounded Rectangle 8"/>
          <p:cNvSpPr/>
          <p:nvPr/>
        </p:nvSpPr>
        <p:spPr>
          <a:xfrm>
            <a:off x="548640" y="2157984"/>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286000"/>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EGINNER"/>
          <p:cNvSpPr txBox="1"/>
          <p:nvPr/>
        </p:nvSpPr>
        <p:spPr>
          <a:xfrm>
            <a:off x="731520" y="2304288"/>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12" name="text:Make the project run fully offline"/>
          <p:cNvSpPr txBox="1"/>
          <p:nvPr/>
        </p:nvSpPr>
        <p:spPr>
          <a:xfrm>
            <a:off x="1874519" y="2157984"/>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Make the project run fully offline</a:t>
            </a:r>
          </a:p>
        </p:txBody>
      </p:sp>
      <p:sp>
        <p:nvSpPr>
          <p:cNvPr id="13" name="Rounded Rectangle 12"/>
          <p:cNvSpPr/>
          <p:nvPr/>
        </p:nvSpPr>
        <p:spPr>
          <a:xfrm>
            <a:off x="548640" y="2761488"/>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889504"/>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NDARD"/>
          <p:cNvSpPr txBox="1"/>
          <p:nvPr/>
        </p:nvSpPr>
        <p:spPr>
          <a:xfrm>
            <a:off x="731520" y="2907792"/>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6" name="text:Test one strategy family with fees a"/>
          <p:cNvSpPr txBox="1"/>
          <p:nvPr/>
        </p:nvSpPr>
        <p:spPr>
          <a:xfrm>
            <a:off x="1874519" y="2761488"/>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Test one strategy family with fees and slippage</a:t>
            </a:r>
          </a:p>
        </p:txBody>
      </p:sp>
      <p:sp>
        <p:nvSpPr>
          <p:cNvPr id="17" name="Rounded Rectangle 16"/>
          <p:cNvSpPr/>
          <p:nvPr/>
        </p:nvSpPr>
        <p:spPr>
          <a:xfrm>
            <a:off x="548640" y="3364991"/>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49300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STANDARD"/>
          <p:cNvSpPr txBox="1"/>
          <p:nvPr/>
        </p:nvSpPr>
        <p:spPr>
          <a:xfrm>
            <a:off x="731520" y="35112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20" name="text:Write a new risk rule"/>
          <p:cNvSpPr txBox="1"/>
          <p:nvPr/>
        </p:nvSpPr>
        <p:spPr>
          <a:xfrm>
            <a:off x="1874519" y="3364991"/>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Write a new risk rule</a:t>
            </a:r>
          </a:p>
        </p:txBody>
      </p:sp>
      <p:sp>
        <p:nvSpPr>
          <p:cNvPr id="21" name="Rounded Rectangle 20"/>
          <p:cNvSpPr/>
          <p:nvPr/>
        </p:nvSpPr>
        <p:spPr>
          <a:xfrm>
            <a:off x="548640" y="3968496"/>
            <a:ext cx="8092440" cy="502920"/>
          </a:xfrm>
          <a:prstGeom prst="roundRect">
            <a:avLst>
              <a:gd name="adj" fmla="val 2545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096511"/>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ADVANCED"/>
          <p:cNvSpPr txBox="1"/>
          <p:nvPr/>
        </p:nvSpPr>
        <p:spPr>
          <a:xfrm>
            <a:off x="731520" y="4114799"/>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4" name="text:Add a data source"/>
          <p:cNvSpPr txBox="1"/>
          <p:nvPr/>
        </p:nvSpPr>
        <p:spPr>
          <a:xfrm>
            <a:off x="1874519" y="3968496"/>
            <a:ext cx="667512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Add a data 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takeaway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takeaways</a:t>
            </a:r>
          </a:p>
        </p:txBody>
      </p:sp>
      <p:sp>
        <p:nvSpPr>
          <p:cNvPr id="3"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4" name="Rounded Rectangle 3"/>
          <p:cNvSpPr/>
          <p:nvPr/>
        </p:nvSpPr>
        <p:spPr>
          <a:xfrm>
            <a:off x="548640" y="1417320"/>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777240" y="1417320"/>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a:t>
            </a:r>
          </a:p>
        </p:txBody>
      </p:sp>
      <p:sp>
        <p:nvSpPr>
          <p:cNvPr id="6" name="text:One bad input beats a smart agent."/>
          <p:cNvSpPr txBox="1"/>
          <p:nvPr/>
        </p:nvSpPr>
        <p:spPr>
          <a:xfrm>
            <a:off x="1371600" y="1417320"/>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One bad input beats a smart agent.</a:t>
            </a:r>
          </a:p>
        </p:txBody>
      </p:sp>
      <p:sp>
        <p:nvSpPr>
          <p:cNvPr id="7" name="Rounded Rectangle 6"/>
          <p:cNvSpPr/>
          <p:nvPr/>
        </p:nvSpPr>
        <p:spPr>
          <a:xfrm>
            <a:off x="548640" y="2441448"/>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777240" y="2441448"/>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a:t>
            </a:r>
          </a:p>
        </p:txBody>
      </p:sp>
      <p:sp>
        <p:nvSpPr>
          <p:cNvPr id="9" name="text:Four kinds of data: venue price, ora"/>
          <p:cNvSpPr txBox="1"/>
          <p:nvPr/>
        </p:nvSpPr>
        <p:spPr>
          <a:xfrm>
            <a:off x="1371600" y="2441448"/>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Four kinds of data: venue price, oracle price, ordering, inventory.</a:t>
            </a:r>
          </a:p>
        </p:txBody>
      </p:sp>
      <p:sp>
        <p:nvSpPr>
          <p:cNvPr id="10" name="Rounded Rectangle 9"/>
          <p:cNvSpPr/>
          <p:nvPr/>
        </p:nvSpPr>
        <p:spPr>
          <a:xfrm>
            <a:off x="548640" y="3465576"/>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777240" y="3465576"/>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a:t>
            </a:r>
          </a:p>
        </p:txBody>
      </p:sp>
      <p:sp>
        <p:nvSpPr>
          <p:cNvPr id="12" name="text:The risk hook is plain code that can"/>
          <p:cNvSpPr txBox="1"/>
          <p:nvPr/>
        </p:nvSpPr>
        <p:spPr>
          <a:xfrm>
            <a:off x="1371600" y="3465576"/>
            <a:ext cx="7132320" cy="868680"/>
          </a:xfrm>
          <a:prstGeom prst="rect">
            <a:avLst/>
          </a:prstGeom>
          <a:noFill/>
        </p:spPr>
        <p:txBody>
          <a:bodyPr wrap="square" lIns="9144" rIns="9144" tIns="0" bIns="0" anchor="ctr">
            <a:spAutoFit/>
          </a:bodyPr>
          <a:lstStyle/>
          <a:p>
            <a:pPr>
              <a:lnSpc>
                <a:spcPct val="106000"/>
              </a:lnSpc>
              <a:spcAft>
                <a:spcPts val="400"/>
              </a:spcAft>
              <a:defRPr sz="1900" b="0">
                <a:solidFill>
                  <a:srgbClr val="F2F5F8"/>
                </a:solidFill>
                <a:latin typeface="Helvetica Neue"/>
              </a:defRPr>
            </a:pPr>
            <a:r>
              <a:t>The risk hook is plain code that can say no, and say why.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After tonight, in your own ti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After tonight, in your own time.</a:t>
            </a:r>
          </a:p>
        </p:txBody>
      </p:sp>
      <p:sp>
        <p:nvSpPr>
          <p:cNvPr id="4"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5" name="Rounded Rectangle 4"/>
          <p:cNvSpPr/>
          <p:nvPr/>
        </p:nvSpPr>
        <p:spPr>
          <a:xfrm>
            <a:off x="548640" y="1600200"/>
            <a:ext cx="2560320" cy="2194560"/>
          </a:xfrm>
          <a:prstGeom prst="roundRect">
            <a:avLst>
              <a:gd name="adj" fmla="val 583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Change a limit and watch which order"/>
          <p:cNvSpPr txBox="1"/>
          <p:nvPr/>
        </p:nvSpPr>
        <p:spPr>
          <a:xfrm>
            <a:off x="749808" y="2286000"/>
            <a:ext cx="2194560" cy="13716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Change a limit and watch which orders flip from rejected to accepted.</a:t>
            </a:r>
          </a:p>
        </p:txBody>
      </p:sp>
      <p:sp>
        <p:nvSpPr>
          <p:cNvPr id="9" name="Rounded Rectangle 8"/>
          <p:cNvSpPr/>
          <p:nvPr/>
        </p:nvSpPr>
        <p:spPr>
          <a:xfrm>
            <a:off x="3337560" y="1600200"/>
            <a:ext cx="2560320" cy="2194560"/>
          </a:xfrm>
          <a:prstGeom prst="roundRect">
            <a:avLst>
              <a:gd name="adj" fmla="val 58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Run a second strategy from the map w"/>
          <p:cNvSpPr txBox="1"/>
          <p:nvPr/>
        </p:nvSpPr>
        <p:spPr>
          <a:xfrm>
            <a:off x="3538728" y="2286000"/>
            <a:ext cx="2194560" cy="13716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Run a second strategy from the map with honest costs and compare the charts.</a:t>
            </a:r>
          </a:p>
        </p:txBody>
      </p:sp>
      <p:sp>
        <p:nvSpPr>
          <p:cNvPr id="13" name="Rounded Rectangle 12"/>
          <p:cNvSpPr/>
          <p:nvPr/>
        </p:nvSpPr>
        <p:spPr>
          <a:xfrm>
            <a:off x="6126479" y="1600200"/>
            <a:ext cx="2560320" cy="2194560"/>
          </a:xfrm>
          <a:prstGeom prst="roundRect">
            <a:avLst>
              <a:gd name="adj" fmla="val 5833"/>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Add a new pool or venue collector, o"/>
          <p:cNvSpPr txBox="1"/>
          <p:nvPr/>
        </p:nvSpPr>
        <p:spPr>
          <a:xfrm>
            <a:off x="6327647" y="2286000"/>
            <a:ext cx="2194560" cy="13716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Add a new pool or venue collector, or a staleness check that fires on old oracle data.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Before you leave, and by Thursda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you leave, and by Thursday.</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ONIGHT"/>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TONIGHT</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Push your branch to your own repo."/>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Push your branch to your own repo.</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U 29 OCT"/>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29 OCT</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Bring your chart."/>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Bring your chart.</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NY TIME"/>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ANY TIME</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Send your repo link to the leads."/>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Send your repo link to the leads.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4" name="Rounded Rectangle 3"/>
          <p:cNvSpPr/>
          <p:nvPr/>
        </p:nvSpPr>
        <p:spPr>
          <a:xfrm>
            <a:off x="548640" y="1371600"/>
            <a:ext cx="484632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27632"/>
            <a:ext cx="448056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2-data-collection-risk-ho"/>
          <p:cNvSpPr txBox="1"/>
          <p:nvPr/>
        </p:nvSpPr>
        <p:spPr>
          <a:xfrm>
            <a:off x="731520" y="1883664"/>
            <a:ext cx="448056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0002-data-collection-risk-hook/demo</a:t>
            </a:r>
          </a:p>
        </p:txBody>
      </p:sp>
      <p:sp>
        <p:nvSpPr>
          <p:cNvPr id="8" name="Rounded Rectangle 7"/>
          <p:cNvSpPr/>
          <p:nvPr/>
        </p:nvSpPr>
        <p:spPr>
          <a:xfrm>
            <a:off x="548640" y="233172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33172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npm install"/>
          <p:cNvSpPr txBox="1"/>
          <p:nvPr/>
        </p:nvSpPr>
        <p:spPr>
          <a:xfrm>
            <a:off x="1097280" y="233172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1" name="Rounded Rectangle 10"/>
          <p:cNvSpPr/>
          <p:nvPr/>
        </p:nvSpPr>
        <p:spPr>
          <a:xfrm>
            <a:off x="548640" y="297180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297180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run demo -- --recorded"/>
          <p:cNvSpPr txBox="1"/>
          <p:nvPr/>
        </p:nvSpPr>
        <p:spPr>
          <a:xfrm>
            <a:off x="1097280" y="297180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4" name="text:Run both from the demo/code folder. "/>
          <p:cNvSpPr txBox="1"/>
          <p:nvPr/>
        </p:nvSpPr>
        <p:spPr>
          <a:xfrm>
            <a:off x="548640" y="3749039"/>
            <a:ext cx="484632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both from the demo/code folder. Node 24. No keys, no AI credits. Recorded data is bundled.</a:t>
            </a:r>
          </a:p>
        </p:txBody>
      </p:sp>
      <p:sp>
        <p:nvSpPr>
          <p:cNvPr id="15" name="Rounded Rectangle 14"/>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github-0002.png"/>
          <p:cNvPicPr>
            <a:picLocks noChangeAspect="1"/>
          </p:cNvPicPr>
          <p:nvPr/>
        </p:nvPicPr>
        <p:blipFill>
          <a:blip r:embed="rId3"/>
          <a:stretch>
            <a:fillRect/>
          </a:stretch>
        </p:blipFill>
        <p:spPr>
          <a:xfrm>
            <a:off x="5943600" y="1508760"/>
            <a:ext cx="2560320" cy="2560320"/>
          </a:xfrm>
          <a:prstGeom prst="rect">
            <a:avLst/>
          </a:prstGeom>
        </p:spPr>
      </p:pic>
      <p:sp>
        <p:nvSpPr>
          <p:cNvPr id="17" name="text:Scan for tonight's demos and code"/>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tonight's demos and code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