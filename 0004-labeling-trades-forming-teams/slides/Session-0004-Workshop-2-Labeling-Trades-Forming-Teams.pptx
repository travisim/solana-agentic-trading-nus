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 id="281" r:id="rId71"/>
    <p:sldId id="282" r:id="rId72"/>
    <p:sldId id="283" r:id="rId73"/>
    <p:sldId id="284" r:id="rId74"/>
    <p:sldId id="285" r:id="rId75"/>
    <p:sldId id="286" r:id="rId76"/>
    <p:sldId id="287" r:id="rId77"/>
    <p:sldId id="288" r:id="rId78"/>
    <p:sldId id="289" r:id="rId79"/>
    <p:sldId id="290" r:id="rId80"/>
    <p:sldId id="291" r:id="rId81"/>
    <p:sldId id="292" r:id="rId82"/>
    <p:sldId id="293" r:id="rId83"/>
    <p:sldId id="294" r:id="rId84"/>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71" Type="http://schemas.openxmlformats.org/officeDocument/2006/relationships/slide" Target="slides/slide26.xml"/><Relationship Id="rId72" Type="http://schemas.openxmlformats.org/officeDocument/2006/relationships/slide" Target="slides/slide27.xml"/><Relationship Id="rId73" Type="http://schemas.openxmlformats.org/officeDocument/2006/relationships/slide" Target="slides/slide28.xml"/><Relationship Id="rId74" Type="http://schemas.openxmlformats.org/officeDocument/2006/relationships/slide" Target="slides/slide29.xml"/><Relationship Id="rId75" Type="http://schemas.openxmlformats.org/officeDocument/2006/relationships/slide" Target="slides/slide30.xml"/><Relationship Id="rId76" Type="http://schemas.openxmlformats.org/officeDocument/2006/relationships/slide" Target="slides/slide31.xml"/><Relationship Id="rId77" Type="http://schemas.openxmlformats.org/officeDocument/2006/relationships/slide" Target="slides/slide32.xml"/><Relationship Id="rId78" Type="http://schemas.openxmlformats.org/officeDocument/2006/relationships/slide" Target="slides/slide33.xml"/><Relationship Id="rId79" Type="http://schemas.openxmlformats.org/officeDocument/2006/relationships/slide" Target="slides/slide34.xml"/><Relationship Id="rId80" Type="http://schemas.openxmlformats.org/officeDocument/2006/relationships/slide" Target="slides/slide35.xml"/><Relationship Id="rId81" Type="http://schemas.openxmlformats.org/officeDocument/2006/relationships/slide" Target="slides/slide36.xml"/><Relationship Id="rId82" Type="http://schemas.openxmlformats.org/officeDocument/2006/relationships/slide" Target="slides/slide37.xml"/><Relationship Id="rId83" Type="http://schemas.openxmlformats.org/officeDocument/2006/relationships/slide" Target="slides/slide38.xml"/><Relationship Id="rId84" Type="http://schemas.openxmlformats.org/officeDocument/2006/relationships/slide" Target="slides/slide39.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thanks for coming. I'm Travis. Tonight is Workshop 2. Two halves. First half: how to give every agent decision an outcome you can check, which we call a label, and why labels can quietly cheat. Second half: your project. You pick a lane, find a team or decide to go solo, and leave with a one-page brief. If you missed the earlier sessions, you are fine: everything runs on recorded data and nobody needs AI credits or a wallet tonight.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[18:03] Quick progress circle, one line each. Build night 2 was last Thursday: data bars and change alerts. Today is Workshop 2. Next Thursday the twelfth is Build night 3, position sizing and the trade ledger, and what your team makes tonight feeds into it. Go round the room: what did you build or try since last week, and is anything stuck? Then the question for tonight: how do we know if a decision was any good? Keep a guess in your head, we come back to it.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[18:08] Here is the shape. Forty minutes of teaching: labels, leaks, the second-opinion gate, then the three project lanes and the brief. Ten minutes of demos on real prices. Then twenty-five minutes of team matching, which is the part I most want you to enjoy. A ten-minute mini-lab where your new team labels ten decisions by hand. Then open build until eight. If you only remember one thing: by the end you have a lane, a team or a solo plan, and a one-page brief.</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Your agent says buy SOL, it rose six basis points in the last minute. Was that a good decision? You cannot tell yet, because there is nothing to check it against. A basis point is one hundredth of a percent. What we need is a label: right, wrong, or nothing happened. A label turns a decision into a row of data you can count, chart and test. Everything tonight is about making labels that are honest. Illustrative example, real numbers come in a few slides.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[18:13] The simplest label is: look two minutes later and see if the price is higher. Path A falls six basis points first, then recovers. Path B climbs steadily. A fixed-time label calls both of them plus. But a trader with a stop was already out of path A, losing, before it recovered. The fixed label ignores what happened on the way. Both paths here are illustrative. On the real data, a fixed-time label disagrees with the barrier label on 26 percent of decisions, 57 of 219, and we will see that on slide 11.</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[18:15] The fix is the triple barrier, a method inspired by Advances in Financial Machine Learning, chapter 3, written here as plain code. We put walls around each decision. Wall one, above the entry price: a profit target. If the price touches it first, the decision worked and the label is plus one. The dot on the left is the decision, the line is the price afterwards. This diagram stays on screen for the next two slides and I add one thing each time.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Wall two, below the entry price: a stop. If the price touches the stop first, the decision failed and the label is minus one. Notice the walls are the same distance above and below. In practice you could make them different, a wider target than stop, but start symmetric: one number to explain. Ask the room: in this picture, which wall does the price hit first? Answer, the upper one. So this decision gets plus one.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[18:18] Wall three is a time limit on the right. If the price touches neither wall before then, nothing happened and the label is zero. The rule is: the first wall touched is the label. Plus one, minus one, or zero. That is the whole method. Zero is not a failure, it is information: this decision did not produce a clear move. Later we will see that in our recorded data about one in five decisions times out.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How far away should the walls be? If you use a fixed width, then on a quiet period the price never reaches them, and on a busy period noise touches them in seconds. The width should follow recent volatility. Our rule: width is the larger of a floor and 0.8 times the recent noise per step times the square root of the number of steps. For one real decision, the noise was 0.92 basis points per step, the time limit is 24 steps of 5 seconds, 0.8 times 0.92 times about 4.9 gives 3.6 basis points. The formula is ours, a simple version; the book uses daily volatility.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[18:23] Important honesty slide. A label of plus one is gross: it ignores fees. Swapping through the Orca pool costs 0.04 percent each way, so about 8 basis points for a round trip, before slippage. Our average barrier is only 3.4 basis points wide. So a win at that width still loses money after fees. In the agent results later, none of the 73 wins had a barrier as wide as the cost. The fix is the width floor: set it to your real costs. This is why we say simulated, gross of fees, not advice.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[18:26] Now real data. This is SOL/USDC from the Orca pool, 40 minutes recorded on 21 October, one price every 5 seconds, 481 samples, reused from build night 1. We make a decision every 10 seconds: 219 labelled decisions. 118 hit the upper barrier first, 56 the lower, 45 timed out. The average barrier is 3.36 basis points and the average decision lasts 13 steps. Note the price drifted up about 0.6 percent in this window, so plus ones outnumber minus ones. One calm night, do not generalise. Reads use public mainnet data, every write is devnet only, no real funds.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[18:29] Same agent, same settings, three real price paths recorded at the same time: the Orca pool price, the Pyth oracle and the Jupiter quote. The labels differ. Pyth only updates about every ten seconds, so its path is stair-steps, and Jupiter's quote includes routing noise. On the Orca path the agent has a 51 percent hit rate with 143 trades, on Jupiter 32 percent with 75 trades, on Pyth 14.9 percent with 67. Labels agree between Orca and Pyth on 61 percent of decisions. Lesson: a label is only as honest as the price path it is made on. Label with the price your agent actually sees.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[18:31] This is the real function, from the repo, comments removed. It is short. Walk forward step by step from the decision up to the time limit. At each step check the upper barrier, then the lower. The first touch sets the label and the loop stops. If you get to the end, the label is zero. One more rule: if the time limit runs past the end of your data, return nothing, because the label is not known yet. You can run this on your own strategy's decisions tonight.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[18:33] Now the catch. We decide every 10 seconds but each label looks ahead up to 2 minutes. So label one looks at prices from second 0 to 120, label two from 10 to 130, and so on. The shaded part is future that two or more labels use. Each label feels like a new fact, but most of it is the same fact. This overlap is the reason many backtests flatter themselves. The idea of measuring it is inspired by the sample uniqueness material in the book; the counting here is our own.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[18:36] Here is the leak. You split your data: train on the early part, test on the later part. A label decided just before the cut can have its answer decided by prices after the cut. So training already contains a piece of the test period. Your test result is then too good, and you do not know it. The fix is simple: purge, which means drop the training labels that cross the cut before you fit anything. When the test set sits in the middle you also drop a few steps after it; that is called an embargo.</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[18:38] Real numbers. At any moment on average 6.9 labels are alive at once, at most 13. The average label is only 16 percent unique, which means 84 percent of its life is shared with others. So 219 labels carry about 34 labels' worth of new information. At the 60 percent cut, step 282, nine training labels cross into the test period. That is why the next part purges them. Demo 2 lets you drag the cut and watch the number change.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Second idea, meta-labeling, again inspired by the book. The first agent picks the side: buy or sell. A second check, the gate, looks at the situation and estimates the chance this trade wins. Only act above a line. The gate is trained on what happened to past trades and scored on a later period it has not seen. It decides whether to act, and in a bigger system also how much. Ours is a small logistic regression written out in plain code, three features: signal strength, the gap between Orca and Pyth prices, and recent volatility.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[18:42] We need an agent to label, and we do not want to depend on AI credits. So the pretend agent is a plain momentum rule: if the price moved at least as much as the recent noise, follow the move. It writes a reason for every decision, like an LLM agent would. On the right, the checker reads the facts in that text, direction, size in basis points and the gap between the two venues, and compares them with the data the agent had. It works on plain text, so you can paste reasons from any real agent. To test the checker, one in five reasons is given one wrong claim on purpose. That is simulated, fixed seed, flagged in the file.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[18:44] Two questions. One: was the reason true? Two: did the trade win? The checker caught 43 of the 43 wrong claims with no false alarms, which is easy because we made the errors ourselves; a real LLM will be messier. Now the surprise: trades with true reasons won 51.3 percent of the time, 113 trades; trades with a wrong claim won 50 percent, 30 trades. A true reason does not make a good trade. Facts first, then the label. Grade both.</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[18:46] The gate was trained on the first 82 training trades, with 6 purged for crossing the cut, and scored on the 55 test trades. Without the gate the hit rate is 45.5 percent plus or minus 13.2. With the gate, 47 trades, 48.9 percent plus or minus 14.3. It blocked 8 trades, 2 of which would have won. Those ranges overlap: with this few trades we cannot say the gate helps. I want you to leave with the method, with the plus-minus next to every hit rate, not a result to trust. Simulated, on recorded data, not advice.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[18:48] The Solana part. Each decision can be written to devnet in a Memo transaction, a short line with the step, the side, the label and a hash of the full record, so anyone can recompute it. We built the transaction by hand, no libraries. What is verified: devnet accepted three of them in a dry run, simulateTransaction, and the Memo program logged our exact text. What is not verified: sending. The public faucet refused our throwaway key with a 429, so no key was funded. A lead can fund one for you. We never fake a signature.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[18:49] Now your project. Solo or a team of 3 to 4, in one of three lanes. Agent: a trading agent or strategy with honest validation, like tonight's labeler. Exchange: a venue component, an order book, matching, a deposit watcher or custody. Tooling: anything that helps the trading process, data collection, monitoring, risk, explainability, dashboards. You are judged on utility, tests, devnet evidence and a clear explanation, never on simulated returns. With about ten of us, aim for two or three teams and do not force all three lanes.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[18:51] Starters you can run today, each with a first test you can measure, from our research notes. Agent: label your own strategy, the gate, the explanation checker. Exchange: a deposit watcher that caught a real devnet transfer about a second after it confirmed, a mini order book that gives exactly five trades on the ten-order fixture, an Orca Whirlpool devnet lab, Phoenix source reading. Tooling: a data collector, a change and staleness monitor, a label dashboard, a leak checker. Devnet SOL for any write comes from a lead: the public faucet rate-limits hard, as we saw.</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[18:54] A brief has nine lines: who has the problem, the failure you observed with your evidence, the smallest useful component, a measurable success test, the devnet component, the limitations, each person's contribution, each person's learning goal, and three first tasks with names. Plus how you will communicate and when you are free. If you cannot fill a line, that is your first task. Beginners get a meaningful task too: tests, reproduction steps, design, documentation, user feedback all count.</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The protocol, 25 minutes. Zero to five: each person pitches one problem with evidence they saw. Five to ten: choose your first interest and note a second choice. Ten to twenty: share what you bring and want to learn, find complementary people. Twenty to twenty-five: agree a provisional team of 3 to 4, a shared problem and first tasks. Fill the interest card: handle, first and second problem, skill I bring, skill I want to learn, availability. Teams can change by agreement, and we re-check on 12 November and 21 January. Leads rotate and help beginners find their contribution.</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[18:50] Demo 1. Open the triple barrier page. Predict first: if I double the width, do more labels become plus one or zero? Run npm run demo with mult 1.6, then drag the width slider. The room should see fewer touches and more time-outs, and the average width roughly doubles. Click a dot to see its three walls in the zoom panel. Then press Live: your browser reads real Orca and Pyth prices every five seconds and labels them with a shorter horizon. If Live is slow or rate limited, say so and stay on Recorded.</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[18:55] Demo 2. Each line is one label from decision to exit, the bottom chart is how many are alive at once. Predict where the cut should go so nothing leaks. Drag the cut: the red labels are the ones crossing it. Press Purge and they are dropped. Increase the time limit and watch the overlap and the leak grow. Effective independent labels: 34 out of 219 at the defaults. Live mode runs the same functions on the live path.</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[18:57] Demo 3. The pretend agent's reasons, each checked, each with its outcome. Predict: do trades with true reasons win more often? Raise the wrong-reasons slider to 40 percent, filter to Flagged, and read a checker message. Say clearly: the wrong claims are simulated with a fixed seed to test the checker. The point is that reason quality and outcome are two separate checks. In Live mode each new decision is written and checked from real Orca and Pyth reads; its outcome stays pending until a barrier is touched.</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[18:59] Demo 4. Every trade the agent wanted is a dot; height is the gate's estimated chance of winning; the dashed line is your threshold. Drag it. Blocked trades are struck through. Predict which blocked trades would have won: 2 of the 8 at the default. Look at the plus-minus: it is as wide as the gap. Switch to All trades to see the training period, where the gate looks better because it learned from those. Live mode scores new live decisions with the same weights.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[19:02] Demo 5, used in the team matching. Pick a lane, or answer two questions. Pick a starter and the brief fills in: the smallest component, the success test, the devnet evidence and the limitation come from our research notes. Add your skills, availability and three tasks. The right panel is the one-page brief; copy it or download it as a markdown file. Teammate matches use example cards, invented for the demo, not real people. The live button adds a real market reading to your evidence line.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Everyone open the demos on your laptop now: scan the code or type the address. No install, they run in the browser from recorded data, and each has a Recorded and Live switch. Do not all switch on Live at once: we share one campus connection, so the public endpoints rate limit. The same files are in the repo and open from disk. The picker is demo five; use it during team matching. Laptops open? Then we start the matching on slide 25.</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[19:25] Mini-lab, ten minutes, in your new teams. One: open out/minilab.md, it has ten real decisions with barrier prices and the next 24 prices each. Two: label each one, plus one, minus one or zero. Three: check against out/minilab-answers.md. Four: run the demo with mult 1.5 and relabel decision 1. You are done when your team agrees on all ten and can say why decision 1 changed. Argue about the ones you disagree on, that is the learning.</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[19:35] Open build, about twenty minutes, on your own project or your team's first task. The menu: label your own strategy's past decisions; build volatility-scaled barriers for another token; build the gate with your own features; build an explanation checker that flags reasons contradicting the data; label your Session 0 strategy and log it to devnet. Beginner and advanced items are marked. No AI credits needed: every item works with hand edits and npm run demo. Leads rotate; ask early.</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Three things to keep. One: a label turns a decision into a checkable outcome. Two: overlapping labels leak, so purge before you test, and always put a plus-minus next to a hit rate. Three: your team brief is the first thing you build. Before you leave, make sure your brief has your name on it and three first tasks.</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[19:56] Branch out after tonight. Beginner: change the width, time limit and floor and write down what moves. Standard: label your own decisions with labelAt, or add a feature to the gate and compare with the plus-minus range. Advanced: grade the reasons of your own LLM agent, write a purged k-fold split, or log your labels to devnet with the Memo logger.</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[19:57] Share back: by Friday the sixth, post your one-page brief in the group. On Thursday the twelfth, bring your first task done to Build night 3. On the twenty-first of January we check team fit again before Workshop 3. Fill in the post-workshop feedback form too, and send the 48-hour report details to the leads: GitHub handles, team lanes, blockers.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Everything is in one public repo: github.com/travisim/solana-agentic-trading-nus, in the folder for tonight, 0004-labeling-trades-forming-teams. Scan the code. Then cd into demo slash code, npm install, npm run demo with recorded. Node 24 or newer. Reads use public mainnet data, every write is devnet only, no real funds. Never paste a seed phrase or a private key anywhere in this project.</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[19:59] If you want to talk about your project, or you want a code review before the next session, find me on LinkedIn or Telegram. The codes are on screen. Thanks for coming. See you on the twelfth for Build night 3: position sizing and the trade ledger.</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End slide. Leave it on screen while people pack up. Leads: scan the last check-in QR, take photos for the report, note GitHub handles and each team's lane.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6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6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6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6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7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72.png"/><Relationship Id="rId4" Type="http://schemas.openxmlformats.org/officeDocument/2006/relationships/image" Target="../media/image7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81.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Workshop 2"/>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Workshop 2</a:t>
            </a:r>
          </a:p>
        </p:txBody>
      </p:sp>
      <p:sp>
        <p:nvSpPr>
          <p:cNvPr id="4" name="text:Labeling Trades and Forming Teams"/>
          <p:cNvSpPr txBox="1"/>
          <p:nvPr/>
        </p:nvSpPr>
        <p:spPr>
          <a:xfrm>
            <a:off x="5257800" y="1417320"/>
            <a:ext cx="3566160" cy="109728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Labeling Trades</a:t>
            </a:r>
          </a:p>
          <a:p>
            <a:pPr>
              <a:lnSpc>
                <a:spcPct val="106000"/>
              </a:lnSpc>
              <a:spcAft>
                <a:spcPts val="400"/>
              </a:spcAft>
              <a:defRPr sz="2200" b="0">
                <a:solidFill>
                  <a:srgbClr val="F2F5F8"/>
                </a:solidFill>
                <a:latin typeface="Helvetica Neue"/>
              </a:defRPr>
            </a:pPr>
            <a:r>
              <a:t>and Forming Teams</a:t>
            </a:r>
          </a:p>
        </p:txBody>
      </p:sp>
      <p:sp>
        <p:nvSpPr>
          <p:cNvPr id="5" name="text:Give every agent decision an outcome"/>
          <p:cNvSpPr txBox="1"/>
          <p:nvPr/>
        </p:nvSpPr>
        <p:spPr>
          <a:xfrm>
            <a:off x="5257800" y="2514600"/>
            <a:ext cx="3383280" cy="82296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Give every agent decision an outcome you can check, then pick a lane and a team.</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5 Nov 2026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5 Nov 2026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re we ar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Where we are</a:t>
            </a:r>
          </a:p>
        </p:txBody>
      </p:sp>
      <p:sp>
        <p:nvSpPr>
          <p:cNvPr id="3" name="text:Today's question: how do we know if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Today's question: how do we know if a decision was any good?</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783080"/>
            <a:ext cx="2560320" cy="2331720"/>
          </a:xfrm>
          <a:prstGeom prst="roundRect">
            <a:avLst>
              <a:gd name="adj" fmla="val 549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92807"/>
            <a:ext cx="619963" cy="219456"/>
          </a:xfrm>
          <a:prstGeom prst="roundRect">
            <a:avLst>
              <a:gd name="adj" fmla="val 5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DONE"/>
          <p:cNvSpPr txBox="1"/>
          <p:nvPr/>
        </p:nvSpPr>
        <p:spPr>
          <a:xfrm>
            <a:off x="74980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DONE</a:t>
            </a:r>
          </a:p>
        </p:txBody>
      </p:sp>
      <p:sp>
        <p:nvSpPr>
          <p:cNvPr id="8" name="text:Build night 2"/>
          <p:cNvSpPr txBox="1"/>
          <p:nvPr/>
        </p:nvSpPr>
        <p:spPr>
          <a:xfrm>
            <a:off x="74980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2</a:t>
            </a:r>
          </a:p>
        </p:txBody>
      </p:sp>
      <p:sp>
        <p:nvSpPr>
          <p:cNvPr id="9" name="text:Thu 29 Oct"/>
          <p:cNvSpPr txBox="1"/>
          <p:nvPr/>
        </p:nvSpPr>
        <p:spPr>
          <a:xfrm>
            <a:off x="74980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Thu 29 Oct</a:t>
            </a:r>
          </a:p>
        </p:txBody>
      </p:sp>
      <p:sp>
        <p:nvSpPr>
          <p:cNvPr id="10" name="text:Data bars and change alerts"/>
          <p:cNvSpPr txBox="1"/>
          <p:nvPr/>
        </p:nvSpPr>
        <p:spPr>
          <a:xfrm>
            <a:off x="74980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Data bars and change alerts</a:t>
            </a:r>
          </a:p>
        </p:txBody>
      </p:sp>
      <p:cxnSp>
        <p:nvCxnSpPr>
          <p:cNvPr id="11" name="Connector 10"/>
          <p:cNvCxnSpPr/>
          <p:nvPr/>
        </p:nvCxnSpPr>
        <p:spPr>
          <a:xfrm>
            <a:off x="313639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83080"/>
            <a:ext cx="2560320" cy="2331720"/>
          </a:xfrm>
          <a:prstGeom prst="roundRect">
            <a:avLst>
              <a:gd name="adj" fmla="val 549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38728" y="1892807"/>
            <a:ext cx="706374" cy="219456"/>
          </a:xfrm>
          <a:prstGeom prst="roundRect">
            <a:avLst>
              <a:gd name="adj" fmla="val 50000"/>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ODAY"/>
          <p:cNvSpPr txBox="1"/>
          <p:nvPr/>
        </p:nvSpPr>
        <p:spPr>
          <a:xfrm>
            <a:off x="3538728" y="1911095"/>
            <a:ext cx="706374"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TODAY</a:t>
            </a:r>
          </a:p>
        </p:txBody>
      </p:sp>
      <p:sp>
        <p:nvSpPr>
          <p:cNvPr id="15" name="text:Workshop 2"/>
          <p:cNvSpPr txBox="1"/>
          <p:nvPr/>
        </p:nvSpPr>
        <p:spPr>
          <a:xfrm>
            <a:off x="353872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2</a:t>
            </a:r>
          </a:p>
        </p:txBody>
      </p:sp>
      <p:sp>
        <p:nvSpPr>
          <p:cNvPr id="16" name="text:Thu 5 Nov"/>
          <p:cNvSpPr txBox="1"/>
          <p:nvPr/>
        </p:nvSpPr>
        <p:spPr>
          <a:xfrm>
            <a:off x="353872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Thu 5 Nov</a:t>
            </a:r>
          </a:p>
        </p:txBody>
      </p:sp>
      <p:sp>
        <p:nvSpPr>
          <p:cNvPr id="17" name="text:Labeling trades and forming teams"/>
          <p:cNvSpPr txBox="1"/>
          <p:nvPr/>
        </p:nvSpPr>
        <p:spPr>
          <a:xfrm>
            <a:off x="353872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Labeling trades and forming teams</a:t>
            </a:r>
          </a:p>
        </p:txBody>
      </p:sp>
      <p:cxnSp>
        <p:nvCxnSpPr>
          <p:cNvPr id="18" name="Connector 17"/>
          <p:cNvCxnSpPr/>
          <p:nvPr/>
        </p:nvCxnSpPr>
        <p:spPr>
          <a:xfrm>
            <a:off x="592531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783080"/>
            <a:ext cx="2560320" cy="2331720"/>
          </a:xfrm>
          <a:prstGeom prst="roundRect">
            <a:avLst>
              <a:gd name="adj" fmla="val 549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27648" y="1892807"/>
            <a:ext cx="619963" cy="219456"/>
          </a:xfrm>
          <a:prstGeom prst="roundRect">
            <a:avLst>
              <a:gd name="adj" fmla="val 50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NEXT"/>
          <p:cNvSpPr txBox="1"/>
          <p:nvPr/>
        </p:nvSpPr>
        <p:spPr>
          <a:xfrm>
            <a:off x="632764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NEXT</a:t>
            </a:r>
          </a:p>
        </p:txBody>
      </p:sp>
      <p:sp>
        <p:nvSpPr>
          <p:cNvPr id="22" name="text:Build night 3"/>
          <p:cNvSpPr txBox="1"/>
          <p:nvPr/>
        </p:nvSpPr>
        <p:spPr>
          <a:xfrm>
            <a:off x="632764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3</a:t>
            </a:r>
          </a:p>
        </p:txBody>
      </p:sp>
      <p:sp>
        <p:nvSpPr>
          <p:cNvPr id="23" name="text:Thu 12 Nov"/>
          <p:cNvSpPr txBox="1"/>
          <p:nvPr/>
        </p:nvSpPr>
        <p:spPr>
          <a:xfrm>
            <a:off x="632764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Thu 12 Nov</a:t>
            </a:r>
          </a:p>
        </p:txBody>
      </p:sp>
      <p:sp>
        <p:nvSpPr>
          <p:cNvPr id="24" name="text:Position sizing and the trade ledger"/>
          <p:cNvSpPr txBox="1"/>
          <p:nvPr/>
        </p:nvSpPr>
        <p:spPr>
          <a:xfrm>
            <a:off x="632764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Position sizing and the trade ledger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Tonight</a:t>
            </a:r>
          </a:p>
        </p:txBody>
      </p:sp>
      <p:sp>
        <p:nvSpPr>
          <p:cNvPr id="3" name="text:18:00 to 20:00. The first half is ab"/>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The first half is about labels, the second half is about your team.</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10"/>
          <p:cNvSpPr txBox="1"/>
          <p:nvPr/>
        </p:nvSpPr>
        <p:spPr>
          <a:xfrm>
            <a:off x="73152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18:10</a:t>
            </a:r>
          </a:p>
        </p:txBody>
      </p:sp>
      <p:sp>
        <p:nvSpPr>
          <p:cNvPr id="7" name="text:40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40 min</a:t>
            </a:r>
          </a:p>
        </p:txBody>
      </p:sp>
      <p:sp>
        <p:nvSpPr>
          <p:cNvPr id="8" name="text:Teaching"/>
          <p:cNvSpPr txBox="1"/>
          <p:nvPr/>
        </p:nvSpPr>
        <p:spPr>
          <a:xfrm>
            <a:off x="73152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Teaching</a:t>
            </a:r>
          </a:p>
        </p:txBody>
      </p:sp>
      <p:sp>
        <p:nvSpPr>
          <p:cNvPr id="9" name="text:labels, leaks, the gate, lanes"/>
          <p:cNvSpPr txBox="1"/>
          <p:nvPr/>
        </p:nvSpPr>
        <p:spPr>
          <a:xfrm>
            <a:off x="73152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labels, leaks, the gate, lanes</a:t>
            </a:r>
          </a:p>
        </p:txBody>
      </p:sp>
      <p:sp>
        <p:nvSpPr>
          <p:cNvPr id="10" name="Rounded Rectangle 9"/>
          <p:cNvSpPr/>
          <p:nvPr/>
        </p:nvSpPr>
        <p:spPr>
          <a:xfrm>
            <a:off x="333756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50"/>
          <p:cNvSpPr txBox="1"/>
          <p:nvPr/>
        </p:nvSpPr>
        <p:spPr>
          <a:xfrm>
            <a:off x="352044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18:50</a:t>
            </a:r>
          </a:p>
        </p:txBody>
      </p:sp>
      <p:sp>
        <p:nvSpPr>
          <p:cNvPr id="12" name="text:10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13" name="text:Live demos"/>
          <p:cNvSpPr txBox="1"/>
          <p:nvPr/>
        </p:nvSpPr>
        <p:spPr>
          <a:xfrm>
            <a:off x="352044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Live demos</a:t>
            </a:r>
          </a:p>
        </p:txBody>
      </p:sp>
      <p:sp>
        <p:nvSpPr>
          <p:cNvPr id="14" name="text:three demos on real prices"/>
          <p:cNvSpPr txBox="1"/>
          <p:nvPr/>
        </p:nvSpPr>
        <p:spPr>
          <a:xfrm>
            <a:off x="352044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three demos on real prices</a:t>
            </a:r>
          </a:p>
        </p:txBody>
      </p:sp>
      <p:sp>
        <p:nvSpPr>
          <p:cNvPr id="15" name="Rounded Rectangle 14"/>
          <p:cNvSpPr/>
          <p:nvPr/>
        </p:nvSpPr>
        <p:spPr>
          <a:xfrm>
            <a:off x="6126479" y="160020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9:00"/>
          <p:cNvSpPr txBox="1"/>
          <p:nvPr/>
        </p:nvSpPr>
        <p:spPr>
          <a:xfrm>
            <a:off x="6309359"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19:00</a:t>
            </a:r>
          </a:p>
        </p:txBody>
      </p:sp>
      <p:sp>
        <p:nvSpPr>
          <p:cNvPr id="17" name="text:25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25 min</a:t>
            </a:r>
          </a:p>
        </p:txBody>
      </p:sp>
      <p:sp>
        <p:nvSpPr>
          <p:cNvPr id="18" name="text:Team matching"/>
          <p:cNvSpPr txBox="1"/>
          <p:nvPr/>
        </p:nvSpPr>
        <p:spPr>
          <a:xfrm>
            <a:off x="6309359"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Team matching</a:t>
            </a:r>
          </a:p>
        </p:txBody>
      </p:sp>
      <p:sp>
        <p:nvSpPr>
          <p:cNvPr id="19" name="text:pitch, choose, find, agree"/>
          <p:cNvSpPr txBox="1"/>
          <p:nvPr/>
        </p:nvSpPr>
        <p:spPr>
          <a:xfrm>
            <a:off x="6309359"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pitch, choose, find, agree</a:t>
            </a:r>
          </a:p>
        </p:txBody>
      </p:sp>
      <p:sp>
        <p:nvSpPr>
          <p:cNvPr id="20" name="Rounded Rectangle 19"/>
          <p:cNvSpPr/>
          <p:nvPr/>
        </p:nvSpPr>
        <p:spPr>
          <a:xfrm>
            <a:off x="54864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9:25"/>
          <p:cNvSpPr txBox="1"/>
          <p:nvPr/>
        </p:nvSpPr>
        <p:spPr>
          <a:xfrm>
            <a:off x="73152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19:25</a:t>
            </a:r>
          </a:p>
        </p:txBody>
      </p:sp>
      <p:sp>
        <p:nvSpPr>
          <p:cNvPr id="22" name="text:10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23" name="text:Mini-lab"/>
          <p:cNvSpPr txBox="1"/>
          <p:nvPr/>
        </p:nvSpPr>
        <p:spPr>
          <a:xfrm>
            <a:off x="73152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Mini-lab</a:t>
            </a:r>
          </a:p>
        </p:txBody>
      </p:sp>
      <p:sp>
        <p:nvSpPr>
          <p:cNvPr id="24" name="text:label ten decisions by hand"/>
          <p:cNvSpPr txBox="1"/>
          <p:nvPr/>
        </p:nvSpPr>
        <p:spPr>
          <a:xfrm>
            <a:off x="73152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label ten decisions by hand</a:t>
            </a:r>
          </a:p>
        </p:txBody>
      </p:sp>
      <p:sp>
        <p:nvSpPr>
          <p:cNvPr id="25" name="Rounded Rectangle 24"/>
          <p:cNvSpPr/>
          <p:nvPr/>
        </p:nvSpPr>
        <p:spPr>
          <a:xfrm>
            <a:off x="333756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35"/>
          <p:cNvSpPr txBox="1"/>
          <p:nvPr/>
        </p:nvSpPr>
        <p:spPr>
          <a:xfrm>
            <a:off x="352044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19:35</a:t>
            </a:r>
          </a:p>
        </p:txBody>
      </p:sp>
      <p:sp>
        <p:nvSpPr>
          <p:cNvPr id="27" name="text:20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28" name="text:Open build"/>
          <p:cNvSpPr txBox="1"/>
          <p:nvPr/>
        </p:nvSpPr>
        <p:spPr>
          <a:xfrm>
            <a:off x="352044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Open build</a:t>
            </a:r>
          </a:p>
        </p:txBody>
      </p:sp>
      <p:sp>
        <p:nvSpPr>
          <p:cNvPr id="29" name="text:your own project"/>
          <p:cNvSpPr txBox="1"/>
          <p:nvPr/>
        </p:nvSpPr>
        <p:spPr>
          <a:xfrm>
            <a:off x="352044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your own project</a:t>
            </a:r>
          </a:p>
        </p:txBody>
      </p:sp>
      <p:sp>
        <p:nvSpPr>
          <p:cNvPr id="30" name="Rounded Rectangle 29"/>
          <p:cNvSpPr/>
          <p:nvPr/>
        </p:nvSpPr>
        <p:spPr>
          <a:xfrm>
            <a:off x="6126479"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55"/>
          <p:cNvSpPr txBox="1"/>
          <p:nvPr/>
        </p:nvSpPr>
        <p:spPr>
          <a:xfrm>
            <a:off x="6309359"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19:55</a:t>
            </a:r>
          </a:p>
        </p:txBody>
      </p:sp>
      <p:sp>
        <p:nvSpPr>
          <p:cNvPr id="32" name="text:5 min"/>
          <p:cNvSpPr txBox="1"/>
          <p:nvPr/>
        </p:nvSpPr>
        <p:spPr>
          <a:xfrm>
            <a:off x="7589519"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 min</a:t>
            </a:r>
          </a:p>
        </p:txBody>
      </p:sp>
      <p:sp>
        <p:nvSpPr>
          <p:cNvPr id="33" name="text:Push"/>
          <p:cNvSpPr txBox="1"/>
          <p:nvPr/>
        </p:nvSpPr>
        <p:spPr>
          <a:xfrm>
            <a:off x="6309359"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Push</a:t>
            </a:r>
          </a:p>
        </p:txBody>
      </p:sp>
      <p:sp>
        <p:nvSpPr>
          <p:cNvPr id="34" name="text:one line on the next step"/>
          <p:cNvSpPr txBox="1"/>
          <p:nvPr/>
        </p:nvSpPr>
        <p:spPr>
          <a:xfrm>
            <a:off x="6309359"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one line on the next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decision needs a checkable outcom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decision needs a checkable outcome</a:t>
            </a:r>
          </a:p>
        </p:txBody>
      </p:sp>
      <p:sp>
        <p:nvSpPr>
          <p:cNvPr id="3" name="text:Until you can say &quot;that one worked&quo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Until you can say "that one worked", you cannot test an agent.</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600200"/>
            <a:ext cx="3566160" cy="2011680"/>
          </a:xfrm>
          <a:prstGeom prst="roundRect">
            <a:avLst>
              <a:gd name="adj" fmla="val 6363"/>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HE AGENT SAYS"/>
          <p:cNvSpPr txBox="1"/>
          <p:nvPr/>
        </p:nvSpPr>
        <p:spPr>
          <a:xfrm>
            <a:off x="777240" y="1755648"/>
            <a:ext cx="310896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THE AGENT SAYS</a:t>
            </a:r>
          </a:p>
        </p:txBody>
      </p:sp>
      <p:sp>
        <p:nvSpPr>
          <p:cNvPr id="7" name="text:Buy SOL. It rose 6 bps in the last m"/>
          <p:cNvSpPr txBox="1"/>
          <p:nvPr/>
        </p:nvSpPr>
        <p:spPr>
          <a:xfrm>
            <a:off x="777240" y="2103120"/>
            <a:ext cx="3154680" cy="12801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Buy SOL. It rose 6 bps in the last minute.</a:t>
            </a:r>
          </a:p>
        </p:txBody>
      </p:sp>
      <p:cxnSp>
        <p:nvCxnSpPr>
          <p:cNvPr id="8" name="Connector 7"/>
          <p:cNvCxnSpPr/>
          <p:nvPr/>
        </p:nvCxnSpPr>
        <p:spPr>
          <a:xfrm>
            <a:off x="4160520" y="2606040"/>
            <a:ext cx="640080"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46320" y="1600200"/>
            <a:ext cx="3794760" cy="2011680"/>
          </a:xfrm>
          <a:prstGeom prst="roundRect">
            <a:avLst>
              <a:gd name="adj" fmla="val 636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WHAT WE NEED"/>
          <p:cNvSpPr txBox="1"/>
          <p:nvPr/>
        </p:nvSpPr>
        <p:spPr>
          <a:xfrm>
            <a:off x="5074920" y="1755648"/>
            <a:ext cx="329184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WHAT WE NEED</a:t>
            </a:r>
          </a:p>
        </p:txBody>
      </p:sp>
      <p:sp>
        <p:nvSpPr>
          <p:cNvPr id="11" name="text:A label: right, wrong, or nothing ha"/>
          <p:cNvSpPr txBox="1"/>
          <p:nvPr/>
        </p:nvSpPr>
        <p:spPr>
          <a:xfrm>
            <a:off x="5074920" y="2103120"/>
            <a:ext cx="3383280" cy="64008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A label: right, wrong, or nothing happened.</a:t>
            </a:r>
          </a:p>
        </p:txBody>
      </p:sp>
      <p:sp>
        <p:nvSpPr>
          <p:cNvPr id="12" name="Rounded Rectangle 11"/>
          <p:cNvSpPr/>
          <p:nvPr/>
        </p:nvSpPr>
        <p:spPr>
          <a:xfrm>
            <a:off x="5074920" y="2880360"/>
            <a:ext cx="96012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right"/>
          <p:cNvSpPr txBox="1"/>
          <p:nvPr/>
        </p:nvSpPr>
        <p:spPr>
          <a:xfrm>
            <a:off x="5074920" y="2898648"/>
            <a:ext cx="96012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right</a:t>
            </a:r>
          </a:p>
        </p:txBody>
      </p:sp>
      <p:sp>
        <p:nvSpPr>
          <p:cNvPr id="14" name="Rounded Rectangle 13"/>
          <p:cNvSpPr/>
          <p:nvPr/>
        </p:nvSpPr>
        <p:spPr>
          <a:xfrm>
            <a:off x="6172200" y="2880360"/>
            <a:ext cx="96012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wrong"/>
          <p:cNvSpPr txBox="1"/>
          <p:nvPr/>
        </p:nvSpPr>
        <p:spPr>
          <a:xfrm>
            <a:off x="6172200" y="2898648"/>
            <a:ext cx="96012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wrong</a:t>
            </a:r>
          </a:p>
        </p:txBody>
      </p:sp>
      <p:sp>
        <p:nvSpPr>
          <p:cNvPr id="16" name="Rounded Rectangle 15"/>
          <p:cNvSpPr/>
          <p:nvPr/>
        </p:nvSpPr>
        <p:spPr>
          <a:xfrm>
            <a:off x="5074920" y="3200400"/>
            <a:ext cx="155448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nothing happened"/>
          <p:cNvSpPr txBox="1"/>
          <p:nvPr/>
        </p:nvSpPr>
        <p:spPr>
          <a:xfrm>
            <a:off x="5074920" y="3218688"/>
            <a:ext cx="155448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nothing happened</a:t>
            </a:r>
          </a:p>
        </p:txBody>
      </p:sp>
      <p:sp>
        <p:nvSpPr>
          <p:cNvPr id="18" name="Rounded Rectangle 17"/>
          <p:cNvSpPr/>
          <p:nvPr/>
        </p:nvSpPr>
        <p:spPr>
          <a:xfrm>
            <a:off x="548640" y="3840480"/>
            <a:ext cx="8092440" cy="566928"/>
          </a:xfrm>
          <a:prstGeom prst="roundRect">
            <a:avLst>
              <a:gd name="adj" fmla="val 2258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A label turns a decision into a row "/>
          <p:cNvSpPr txBox="1"/>
          <p:nvPr/>
        </p:nvSpPr>
        <p:spPr>
          <a:xfrm>
            <a:off x="731520" y="3840480"/>
            <a:ext cx="7726679"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A label turns a decision into a row you can count, chart and test.</a:t>
            </a:r>
          </a:p>
        </p:txBody>
      </p:sp>
      <p:sp>
        <p:nvSpPr>
          <p:cNvPr id="20" name="text:Illustrativ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ixed-time labels are cru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Fixed-time labels are crude</a:t>
            </a:r>
          </a:p>
        </p:txBody>
      </p:sp>
      <p:sp>
        <p:nvSpPr>
          <p:cNvPr id="3" name="text:&quot;Look 2 minutes later&quot; ignores what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"Look 2 minutes later" ignores what happened on the way.</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Rounded Rectangle 4"/>
          <p:cNvSpPr/>
          <p:nvPr/>
        </p:nvSpPr>
        <p:spPr>
          <a:xfrm>
            <a:off x="548640" y="1508760"/>
            <a:ext cx="3886200" cy="2148840"/>
          </a:xfrm>
          <a:prstGeom prst="roundRect">
            <a:avLst>
              <a:gd name="adj" fmla="val 595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ATH A"/>
          <p:cNvSpPr txBox="1"/>
          <p:nvPr/>
        </p:nvSpPr>
        <p:spPr>
          <a:xfrm>
            <a:off x="749808" y="1627632"/>
            <a:ext cx="18288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PATH A</a:t>
            </a:r>
          </a:p>
        </p:txBody>
      </p:sp>
      <p:sp>
        <p:nvSpPr>
          <p:cNvPr id="7" name="text:Falls 6 bps first, then recovers"/>
          <p:cNvSpPr txBox="1"/>
          <p:nvPr/>
        </p:nvSpPr>
        <p:spPr>
          <a:xfrm>
            <a:off x="749808" y="1828800"/>
            <a:ext cx="34747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Falls 6 bps first, then recovers</a:t>
            </a:r>
          </a:p>
        </p:txBody>
      </p:sp>
      <p:cxnSp>
        <p:nvCxnSpPr>
          <p:cNvPr id="8" name="Connector 7"/>
          <p:cNvCxnSpPr/>
          <p:nvPr/>
        </p:nvCxnSpPr>
        <p:spPr>
          <a:xfrm>
            <a:off x="822959" y="3139440"/>
            <a:ext cx="3291841" cy="0"/>
          </a:xfrm>
          <a:prstGeom prst="line">
            <a:avLst/>
          </a:prstGeom>
          <a:ln w="12700">
            <a:solidFill>
              <a:srgbClr val="FD51FC"/>
            </a:solidFill>
            <a:prstDash val="dash"/>
          </a:ln>
        </p:spPr>
        <p:style>
          <a:lnRef idx="2">
            <a:schemeClr val="accent1"/>
          </a:lnRef>
          <a:fillRef idx="0">
            <a:schemeClr val="accent1"/>
          </a:fillRef>
          <a:effectRef idx="1">
            <a:schemeClr val="accent1"/>
          </a:effectRef>
          <a:fontRef idx="minor">
            <a:schemeClr val="tx1"/>
          </a:fontRef>
        </p:style>
      </p:cxnSp>
      <p:sp>
        <p:nvSpPr>
          <p:cNvPr id="9" name="text:stop"/>
          <p:cNvSpPr txBox="1"/>
          <p:nvPr/>
        </p:nvSpPr>
        <p:spPr>
          <a:xfrm>
            <a:off x="3657600" y="3157728"/>
            <a:ext cx="457200" cy="182880"/>
          </a:xfrm>
          <a:prstGeom prst="rect">
            <a:avLst/>
          </a:prstGeom>
          <a:noFill/>
        </p:spPr>
        <p:txBody>
          <a:bodyPr wrap="square" lIns="9144" rIns="9144" tIns="0" bIns="0">
            <a:spAutoFit/>
          </a:bodyPr>
          <a:lstStyle/>
          <a:p>
            <a:pPr algn="r">
              <a:lnSpc>
                <a:spcPct val="106000"/>
              </a:lnSpc>
              <a:spcAft>
                <a:spcPts val="400"/>
              </a:spcAft>
              <a:defRPr sz="850" b="0">
                <a:solidFill>
                  <a:srgbClr val="FD51FC"/>
                </a:solidFill>
                <a:latin typeface="Helvetica Neue"/>
              </a:defRPr>
            </a:pPr>
            <a:r>
              <a:t>stop</a:t>
            </a:r>
          </a:p>
        </p:txBody>
      </p:sp>
      <p:sp>
        <p:nvSpPr>
          <p:cNvPr id="10" name="Freeform 9"/>
          <p:cNvSpPr/>
          <p:nvPr/>
        </p:nvSpPr>
        <p:spPr>
          <a:xfrm>
            <a:off x="822959" y="2406396"/>
            <a:ext cx="3291841" cy="792479"/>
          </a:xfrm>
          <a:custGeom>
            <a:avLst/>
            <a:gdLst/>
            <a:ahLst/>
            <a:cxnLst/>
            <a:rect l="l" t="t" r="r" b="b"/>
            <a:pathLst>
              <a:path w="3291841" h="792479">
                <a:moveTo>
                  <a:pt x="0" y="336804"/>
                </a:moveTo>
                <a:lnTo>
                  <a:pt x="365760" y="455676"/>
                </a:lnTo>
                <a:lnTo>
                  <a:pt x="731521" y="614172"/>
                </a:lnTo>
                <a:lnTo>
                  <a:pt x="1097281" y="792479"/>
                </a:lnTo>
                <a:lnTo>
                  <a:pt x="1463041" y="693420"/>
                </a:lnTo>
                <a:lnTo>
                  <a:pt x="1828801" y="495300"/>
                </a:lnTo>
                <a:lnTo>
                  <a:pt x="2194561" y="336804"/>
                </a:lnTo>
                <a:lnTo>
                  <a:pt x="2560320" y="178308"/>
                </a:lnTo>
                <a:lnTo>
                  <a:pt x="2926080" y="59436"/>
                </a:lnTo>
                <a:lnTo>
                  <a:pt x="3291841" y="0"/>
                </a:lnTo>
              </a:path>
            </a:pathLst>
          </a:custGeom>
          <a:noFill/>
          <a:ln w="2032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39" y="2697480"/>
            <a:ext cx="91440" cy="91440"/>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059936" y="235153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56232" y="3134868"/>
            <a:ext cx="128016" cy="128016"/>
          </a:xfrm>
          <a:prstGeom prst="ellipse">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34640" y="1600200"/>
            <a:ext cx="1371600" cy="228600"/>
          </a:xfrm>
          <a:prstGeom prst="roundRect">
            <a:avLst>
              <a:gd name="adj" fmla="val 48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fixed label: +"/>
          <p:cNvSpPr txBox="1"/>
          <p:nvPr/>
        </p:nvSpPr>
        <p:spPr>
          <a:xfrm>
            <a:off x="2834640" y="1618488"/>
            <a:ext cx="1371600" cy="210312"/>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fixed label: +</a:t>
            </a:r>
          </a:p>
        </p:txBody>
      </p:sp>
      <p:sp>
        <p:nvSpPr>
          <p:cNvPr id="16" name="Rounded Rectangle 15"/>
          <p:cNvSpPr/>
          <p:nvPr/>
        </p:nvSpPr>
        <p:spPr>
          <a:xfrm>
            <a:off x="4709160" y="1508760"/>
            <a:ext cx="3886200" cy="2148840"/>
          </a:xfrm>
          <a:prstGeom prst="roundRect">
            <a:avLst>
              <a:gd name="adj" fmla="val 595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PATH B"/>
          <p:cNvSpPr txBox="1"/>
          <p:nvPr/>
        </p:nvSpPr>
        <p:spPr>
          <a:xfrm>
            <a:off x="4910328" y="1627632"/>
            <a:ext cx="18288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PATH B</a:t>
            </a:r>
          </a:p>
        </p:txBody>
      </p:sp>
      <p:sp>
        <p:nvSpPr>
          <p:cNvPr id="18" name="text:Climbs slowly and steadily"/>
          <p:cNvSpPr txBox="1"/>
          <p:nvPr/>
        </p:nvSpPr>
        <p:spPr>
          <a:xfrm>
            <a:off x="4910328" y="1828800"/>
            <a:ext cx="34747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Climbs slowly and steadily</a:t>
            </a:r>
          </a:p>
        </p:txBody>
      </p:sp>
      <p:sp>
        <p:nvSpPr>
          <p:cNvPr id="19" name="Freeform 18"/>
          <p:cNvSpPr/>
          <p:nvPr/>
        </p:nvSpPr>
        <p:spPr>
          <a:xfrm>
            <a:off x="4983480" y="2406396"/>
            <a:ext cx="3291840" cy="336804"/>
          </a:xfrm>
          <a:custGeom>
            <a:avLst/>
            <a:gdLst/>
            <a:ahLst/>
            <a:cxnLst/>
            <a:rect l="l" t="t" r="r" b="b"/>
            <a:pathLst>
              <a:path w="3291840" h="336804">
                <a:moveTo>
                  <a:pt x="0" y="336804"/>
                </a:moveTo>
                <a:lnTo>
                  <a:pt x="365760" y="297180"/>
                </a:lnTo>
                <a:lnTo>
                  <a:pt x="731520" y="277368"/>
                </a:lnTo>
                <a:lnTo>
                  <a:pt x="1097280" y="217932"/>
                </a:lnTo>
                <a:lnTo>
                  <a:pt x="1463040" y="198120"/>
                </a:lnTo>
                <a:lnTo>
                  <a:pt x="1828800" y="138684"/>
                </a:lnTo>
                <a:lnTo>
                  <a:pt x="2194560" y="118872"/>
                </a:lnTo>
                <a:lnTo>
                  <a:pt x="2560320" y="59436"/>
                </a:lnTo>
                <a:lnTo>
                  <a:pt x="2926080" y="19812"/>
                </a:lnTo>
                <a:lnTo>
                  <a:pt x="3291840" y="0"/>
                </a:lnTo>
              </a:path>
            </a:pathLst>
          </a:custGeom>
          <a:noFill/>
          <a:ln w="2032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937760" y="2697480"/>
            <a:ext cx="91440" cy="91440"/>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0456" y="235153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95160" y="1600200"/>
            <a:ext cx="1371600" cy="228600"/>
          </a:xfrm>
          <a:prstGeom prst="roundRect">
            <a:avLst>
              <a:gd name="adj" fmla="val 48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fixed label: +"/>
          <p:cNvSpPr txBox="1"/>
          <p:nvPr/>
        </p:nvSpPr>
        <p:spPr>
          <a:xfrm>
            <a:off x="6995160" y="1618488"/>
            <a:ext cx="1371600" cy="210312"/>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fixed label: +</a:t>
            </a:r>
          </a:p>
        </p:txBody>
      </p:sp>
      <p:sp>
        <p:nvSpPr>
          <p:cNvPr id="24" name="Rounded Rectangle 23"/>
          <p:cNvSpPr/>
          <p:nvPr/>
        </p:nvSpPr>
        <p:spPr>
          <a:xfrm>
            <a:off x="548640" y="3840480"/>
            <a:ext cx="8092440" cy="566928"/>
          </a:xfrm>
          <a:prstGeom prst="roundRect">
            <a:avLst>
              <a:gd name="adj" fmla="val 22580"/>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A fixed-time label calls both &quot;+&quot;. A"/>
          <p:cNvSpPr txBox="1"/>
          <p:nvPr/>
        </p:nvSpPr>
        <p:spPr>
          <a:xfrm>
            <a:off x="731520" y="3840480"/>
            <a:ext cx="7726679"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A fixed-time label calls both "+". A trader with a stop was already out of A.</a:t>
            </a:r>
          </a:p>
        </p:txBody>
      </p:sp>
      <p:sp>
        <p:nvSpPr>
          <p:cNvPr id="26" name="text:Illustrative path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paths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triple barri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triple barrier</a:t>
            </a:r>
          </a:p>
        </p:txBody>
      </p:sp>
      <p:sp>
        <p:nvSpPr>
          <p:cNvPr id="3" name="text:Put walls around the decisio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Put walls around the decision.</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Rounded Rectangle 4"/>
          <p:cNvSpPr/>
          <p:nvPr/>
        </p:nvSpPr>
        <p:spPr>
          <a:xfrm>
            <a:off x="502920" y="1371600"/>
            <a:ext cx="4846320" cy="3154680"/>
          </a:xfrm>
          <a:prstGeom prst="roundRect">
            <a:avLst>
              <a:gd name="adj" fmla="val 2318"/>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ICE"/>
          <p:cNvSpPr txBox="1"/>
          <p:nvPr/>
        </p:nvSpPr>
        <p:spPr>
          <a:xfrm>
            <a:off x="640080" y="1444752"/>
            <a:ext cx="9144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PRICE</a:t>
            </a:r>
          </a:p>
        </p:txBody>
      </p:sp>
      <p:sp>
        <p:nvSpPr>
          <p:cNvPr id="7" name="Freeform 6"/>
          <p:cNvSpPr/>
          <p:nvPr/>
        </p:nvSpPr>
        <p:spPr>
          <a:xfrm>
            <a:off x="1005840" y="2057400"/>
            <a:ext cx="2880360" cy="868680"/>
          </a:xfrm>
          <a:custGeom>
            <a:avLst/>
            <a:gdLst/>
            <a:ahLst/>
            <a:cxnLst/>
            <a:rect l="l" t="t" r="r" b="b"/>
            <a:pathLst>
              <a:path w="2880360" h="868680">
                <a:moveTo>
                  <a:pt x="0" y="731520"/>
                </a:moveTo>
                <a:lnTo>
                  <a:pt x="320040" y="640080"/>
                </a:lnTo>
                <a:lnTo>
                  <a:pt x="640080" y="868680"/>
                </a:lnTo>
                <a:lnTo>
                  <a:pt x="960120" y="685800"/>
                </a:lnTo>
                <a:lnTo>
                  <a:pt x="1280160" y="502920"/>
                </a:lnTo>
                <a:lnTo>
                  <a:pt x="1600200" y="640080"/>
                </a:lnTo>
                <a:lnTo>
                  <a:pt x="1920240" y="338328"/>
                </a:lnTo>
                <a:lnTo>
                  <a:pt x="2240280" y="429768"/>
                </a:lnTo>
                <a:lnTo>
                  <a:pt x="2560320" y="182880"/>
                </a:lnTo>
                <a:lnTo>
                  <a:pt x="2880360" y="0"/>
                </a:lnTo>
              </a:path>
            </a:pathLst>
          </a:custGeom>
          <a:noFill/>
          <a:ln w="228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1832" y="2724912"/>
            <a:ext cx="128016" cy="128016"/>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decision"/>
          <p:cNvSpPr txBox="1"/>
          <p:nvPr/>
        </p:nvSpPr>
        <p:spPr>
          <a:xfrm>
            <a:off x="566928" y="2898648"/>
            <a:ext cx="822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decision</a:t>
            </a:r>
          </a:p>
        </p:txBody>
      </p:sp>
      <p:cxnSp>
        <p:nvCxnSpPr>
          <p:cNvPr id="10" name="Connector 9"/>
          <p:cNvCxnSpPr/>
          <p:nvPr/>
        </p:nvCxnSpPr>
        <p:spPr>
          <a:xfrm>
            <a:off x="960119" y="2057400"/>
            <a:ext cx="3703321" cy="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sp>
        <p:nvSpPr>
          <p:cNvPr id="11" name="text:profit target"/>
          <p:cNvSpPr txBox="1"/>
          <p:nvPr/>
        </p:nvSpPr>
        <p:spPr>
          <a:xfrm>
            <a:off x="1005840" y="1801368"/>
            <a:ext cx="1463040" cy="201168"/>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profit target</a:t>
            </a:r>
          </a:p>
        </p:txBody>
      </p:sp>
      <p:sp>
        <p:nvSpPr>
          <p:cNvPr id="12" name="Rounded Rectangle 11"/>
          <p:cNvSpPr/>
          <p:nvPr/>
        </p:nvSpPr>
        <p:spPr>
          <a:xfrm>
            <a:off x="5577840" y="1417320"/>
            <a:ext cx="3063240" cy="3108960"/>
          </a:xfrm>
          <a:prstGeom prst="roundRect">
            <a:avLst>
              <a:gd name="adj" fmla="val 417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STEP 1 OF 3"/>
          <p:cNvSpPr txBox="1"/>
          <p:nvPr/>
        </p:nvSpPr>
        <p:spPr>
          <a:xfrm>
            <a:off x="5779007" y="1572768"/>
            <a:ext cx="22860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STEP 1 OF 3</a:t>
            </a:r>
          </a:p>
        </p:txBody>
      </p:sp>
      <p:sp>
        <p:nvSpPr>
          <p:cNvPr id="14" name="text:A profit target above the entry pric"/>
          <p:cNvSpPr txBox="1"/>
          <p:nvPr/>
        </p:nvSpPr>
        <p:spPr>
          <a:xfrm>
            <a:off x="5779007" y="1874519"/>
            <a:ext cx="2660904" cy="1463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profit target above the entry price. Touch it first and the decision worked.</a:t>
            </a:r>
          </a:p>
        </p:txBody>
      </p:sp>
      <p:sp>
        <p:nvSpPr>
          <p:cNvPr id="15" name="text:LABEL RULE"/>
          <p:cNvSpPr txBox="1"/>
          <p:nvPr/>
        </p:nvSpPr>
        <p:spPr>
          <a:xfrm>
            <a:off x="5779007" y="3520440"/>
            <a:ext cx="1828800" cy="164592"/>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LABEL RULE</a:t>
            </a:r>
          </a:p>
        </p:txBody>
      </p:sp>
      <p:sp>
        <p:nvSpPr>
          <p:cNvPr id="16" name="text:upper barrier -&gt; label +1"/>
          <p:cNvSpPr txBox="1"/>
          <p:nvPr/>
        </p:nvSpPr>
        <p:spPr>
          <a:xfrm>
            <a:off x="5779007" y="3749039"/>
            <a:ext cx="2660904" cy="54864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upper barrier -&gt; label +1</a:t>
            </a:r>
          </a:p>
        </p:txBody>
      </p:sp>
      <p:sp>
        <p:nvSpPr>
          <p:cNvPr id="17" name="text:Illustrative price path"/>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price path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triple barri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triple barrier</a:t>
            </a:r>
          </a:p>
        </p:txBody>
      </p:sp>
      <p:sp>
        <p:nvSpPr>
          <p:cNvPr id="3" name="text:Put walls around the decisio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Put walls around the decision.</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02920" y="1371600"/>
            <a:ext cx="4846320" cy="3154680"/>
          </a:xfrm>
          <a:prstGeom prst="roundRect">
            <a:avLst>
              <a:gd name="adj" fmla="val 2318"/>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ICE"/>
          <p:cNvSpPr txBox="1"/>
          <p:nvPr/>
        </p:nvSpPr>
        <p:spPr>
          <a:xfrm>
            <a:off x="640080" y="1444752"/>
            <a:ext cx="9144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PRICE</a:t>
            </a:r>
          </a:p>
        </p:txBody>
      </p:sp>
      <p:sp>
        <p:nvSpPr>
          <p:cNvPr id="7" name="Freeform 6"/>
          <p:cNvSpPr/>
          <p:nvPr/>
        </p:nvSpPr>
        <p:spPr>
          <a:xfrm>
            <a:off x="1005840" y="2057400"/>
            <a:ext cx="2880360" cy="868680"/>
          </a:xfrm>
          <a:custGeom>
            <a:avLst/>
            <a:gdLst/>
            <a:ahLst/>
            <a:cxnLst/>
            <a:rect l="l" t="t" r="r" b="b"/>
            <a:pathLst>
              <a:path w="2880360" h="868680">
                <a:moveTo>
                  <a:pt x="0" y="731520"/>
                </a:moveTo>
                <a:lnTo>
                  <a:pt x="320040" y="640080"/>
                </a:lnTo>
                <a:lnTo>
                  <a:pt x="640080" y="868680"/>
                </a:lnTo>
                <a:lnTo>
                  <a:pt x="960120" y="685800"/>
                </a:lnTo>
                <a:lnTo>
                  <a:pt x="1280160" y="502920"/>
                </a:lnTo>
                <a:lnTo>
                  <a:pt x="1600200" y="640080"/>
                </a:lnTo>
                <a:lnTo>
                  <a:pt x="1920240" y="338328"/>
                </a:lnTo>
                <a:lnTo>
                  <a:pt x="2240280" y="429768"/>
                </a:lnTo>
                <a:lnTo>
                  <a:pt x="2560320" y="182880"/>
                </a:lnTo>
                <a:lnTo>
                  <a:pt x="2880360" y="0"/>
                </a:lnTo>
              </a:path>
            </a:pathLst>
          </a:custGeom>
          <a:noFill/>
          <a:ln w="228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1832" y="2724912"/>
            <a:ext cx="128016" cy="128016"/>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decision"/>
          <p:cNvSpPr txBox="1"/>
          <p:nvPr/>
        </p:nvSpPr>
        <p:spPr>
          <a:xfrm>
            <a:off x="566928" y="2898648"/>
            <a:ext cx="822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decision</a:t>
            </a:r>
          </a:p>
        </p:txBody>
      </p:sp>
      <p:cxnSp>
        <p:nvCxnSpPr>
          <p:cNvPr id="10" name="Connector 9"/>
          <p:cNvCxnSpPr/>
          <p:nvPr/>
        </p:nvCxnSpPr>
        <p:spPr>
          <a:xfrm>
            <a:off x="960119" y="2057400"/>
            <a:ext cx="3703321" cy="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sp>
        <p:nvSpPr>
          <p:cNvPr id="11" name="text:profit target"/>
          <p:cNvSpPr txBox="1"/>
          <p:nvPr/>
        </p:nvSpPr>
        <p:spPr>
          <a:xfrm>
            <a:off x="1005840" y="1801368"/>
            <a:ext cx="1463040" cy="201168"/>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profit target</a:t>
            </a:r>
          </a:p>
        </p:txBody>
      </p:sp>
      <p:cxnSp>
        <p:nvCxnSpPr>
          <p:cNvPr id="12" name="Connector 11"/>
          <p:cNvCxnSpPr/>
          <p:nvPr/>
        </p:nvCxnSpPr>
        <p:spPr>
          <a:xfrm>
            <a:off x="960119" y="3520440"/>
            <a:ext cx="3703321" cy="0"/>
          </a:xfrm>
          <a:prstGeom prst="line">
            <a:avLst/>
          </a:prstGeom>
          <a:ln w="25400">
            <a:solidFill>
              <a:srgbClr val="FD51FC"/>
            </a:solidFill>
          </a:ln>
        </p:spPr>
        <p:style>
          <a:lnRef idx="2">
            <a:schemeClr val="accent1"/>
          </a:lnRef>
          <a:fillRef idx="0">
            <a:schemeClr val="accent1"/>
          </a:fillRef>
          <a:effectRef idx="1">
            <a:schemeClr val="accent1"/>
          </a:effectRef>
          <a:fontRef idx="minor">
            <a:schemeClr val="tx1"/>
          </a:fontRef>
        </p:style>
      </p:cxnSp>
      <p:sp>
        <p:nvSpPr>
          <p:cNvPr id="13" name="text:stop"/>
          <p:cNvSpPr txBox="1"/>
          <p:nvPr/>
        </p:nvSpPr>
        <p:spPr>
          <a:xfrm>
            <a:off x="1005840" y="3566160"/>
            <a:ext cx="1463040" cy="201168"/>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stop</a:t>
            </a:r>
          </a:p>
        </p:txBody>
      </p:sp>
      <p:sp>
        <p:nvSpPr>
          <p:cNvPr id="14" name="Rounded Rectangle 13"/>
          <p:cNvSpPr/>
          <p:nvPr/>
        </p:nvSpPr>
        <p:spPr>
          <a:xfrm>
            <a:off x="5577840" y="1417320"/>
            <a:ext cx="3063240" cy="3108960"/>
          </a:xfrm>
          <a:prstGeom prst="roundRect">
            <a:avLst>
              <a:gd name="adj" fmla="val 417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EP 2 OF 3"/>
          <p:cNvSpPr txBox="1"/>
          <p:nvPr/>
        </p:nvSpPr>
        <p:spPr>
          <a:xfrm>
            <a:off x="5779007" y="1572768"/>
            <a:ext cx="22860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STEP 2 OF 3</a:t>
            </a:r>
          </a:p>
        </p:txBody>
      </p:sp>
      <p:sp>
        <p:nvSpPr>
          <p:cNvPr id="16" name="text:A stop below the entry price. Touch "/>
          <p:cNvSpPr txBox="1"/>
          <p:nvPr/>
        </p:nvSpPr>
        <p:spPr>
          <a:xfrm>
            <a:off x="5779007" y="1874519"/>
            <a:ext cx="2660904" cy="1463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stop below the entry price. Touch it first and the decision failed.</a:t>
            </a:r>
          </a:p>
        </p:txBody>
      </p:sp>
      <p:sp>
        <p:nvSpPr>
          <p:cNvPr id="17" name="text:LABEL RULE"/>
          <p:cNvSpPr txBox="1"/>
          <p:nvPr/>
        </p:nvSpPr>
        <p:spPr>
          <a:xfrm>
            <a:off x="5779007" y="3520440"/>
            <a:ext cx="1828800" cy="164592"/>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LABEL RULE</a:t>
            </a:r>
          </a:p>
        </p:txBody>
      </p:sp>
      <p:sp>
        <p:nvSpPr>
          <p:cNvPr id="18" name="text:lower barrier -&gt; label -1"/>
          <p:cNvSpPr txBox="1"/>
          <p:nvPr/>
        </p:nvSpPr>
        <p:spPr>
          <a:xfrm>
            <a:off x="5779007" y="3749039"/>
            <a:ext cx="2660904" cy="54864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lower barrier -&gt; label -1</a:t>
            </a:r>
          </a:p>
        </p:txBody>
      </p:sp>
      <p:sp>
        <p:nvSpPr>
          <p:cNvPr id="19" name="text:Illustrative price path"/>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price path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triple barri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triple barrier</a:t>
            </a:r>
          </a:p>
        </p:txBody>
      </p:sp>
      <p:sp>
        <p:nvSpPr>
          <p:cNvPr id="3" name="text:The first wall the price touches is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first wall the price touches is the label.</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02920" y="1371600"/>
            <a:ext cx="4846320" cy="3154680"/>
          </a:xfrm>
          <a:prstGeom prst="roundRect">
            <a:avLst>
              <a:gd name="adj" fmla="val 2318"/>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ICE"/>
          <p:cNvSpPr txBox="1"/>
          <p:nvPr/>
        </p:nvSpPr>
        <p:spPr>
          <a:xfrm>
            <a:off x="640080" y="1444752"/>
            <a:ext cx="9144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PRICE</a:t>
            </a:r>
          </a:p>
        </p:txBody>
      </p:sp>
      <p:sp>
        <p:nvSpPr>
          <p:cNvPr id="7" name="Freeform 6"/>
          <p:cNvSpPr/>
          <p:nvPr/>
        </p:nvSpPr>
        <p:spPr>
          <a:xfrm>
            <a:off x="1005840" y="2057400"/>
            <a:ext cx="2880360" cy="868680"/>
          </a:xfrm>
          <a:custGeom>
            <a:avLst/>
            <a:gdLst/>
            <a:ahLst/>
            <a:cxnLst/>
            <a:rect l="l" t="t" r="r" b="b"/>
            <a:pathLst>
              <a:path w="2880360" h="868680">
                <a:moveTo>
                  <a:pt x="0" y="731520"/>
                </a:moveTo>
                <a:lnTo>
                  <a:pt x="320040" y="640080"/>
                </a:lnTo>
                <a:lnTo>
                  <a:pt x="640080" y="868680"/>
                </a:lnTo>
                <a:lnTo>
                  <a:pt x="960120" y="685800"/>
                </a:lnTo>
                <a:lnTo>
                  <a:pt x="1280160" y="502920"/>
                </a:lnTo>
                <a:lnTo>
                  <a:pt x="1600200" y="640080"/>
                </a:lnTo>
                <a:lnTo>
                  <a:pt x="1920240" y="338328"/>
                </a:lnTo>
                <a:lnTo>
                  <a:pt x="2240280" y="429768"/>
                </a:lnTo>
                <a:lnTo>
                  <a:pt x="2560320" y="182880"/>
                </a:lnTo>
                <a:lnTo>
                  <a:pt x="2880360" y="0"/>
                </a:lnTo>
              </a:path>
            </a:pathLst>
          </a:custGeom>
          <a:noFill/>
          <a:ln w="228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1832" y="2724912"/>
            <a:ext cx="128016" cy="128016"/>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decision"/>
          <p:cNvSpPr txBox="1"/>
          <p:nvPr/>
        </p:nvSpPr>
        <p:spPr>
          <a:xfrm>
            <a:off x="566928" y="2898648"/>
            <a:ext cx="822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decision</a:t>
            </a:r>
          </a:p>
        </p:txBody>
      </p:sp>
      <p:cxnSp>
        <p:nvCxnSpPr>
          <p:cNvPr id="10" name="Connector 9"/>
          <p:cNvCxnSpPr/>
          <p:nvPr/>
        </p:nvCxnSpPr>
        <p:spPr>
          <a:xfrm>
            <a:off x="960119" y="2057400"/>
            <a:ext cx="3703321" cy="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sp>
        <p:nvSpPr>
          <p:cNvPr id="11" name="text:profit target"/>
          <p:cNvSpPr txBox="1"/>
          <p:nvPr/>
        </p:nvSpPr>
        <p:spPr>
          <a:xfrm>
            <a:off x="1005840" y="1801368"/>
            <a:ext cx="1463040" cy="201168"/>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profit target</a:t>
            </a:r>
          </a:p>
        </p:txBody>
      </p:sp>
      <p:cxnSp>
        <p:nvCxnSpPr>
          <p:cNvPr id="12" name="Connector 11"/>
          <p:cNvCxnSpPr/>
          <p:nvPr/>
        </p:nvCxnSpPr>
        <p:spPr>
          <a:xfrm>
            <a:off x="960119" y="3520440"/>
            <a:ext cx="3703321" cy="0"/>
          </a:xfrm>
          <a:prstGeom prst="line">
            <a:avLst/>
          </a:prstGeom>
          <a:ln w="25400">
            <a:solidFill>
              <a:srgbClr val="FD51FC"/>
            </a:solidFill>
          </a:ln>
        </p:spPr>
        <p:style>
          <a:lnRef idx="2">
            <a:schemeClr val="accent1"/>
          </a:lnRef>
          <a:fillRef idx="0">
            <a:schemeClr val="accent1"/>
          </a:fillRef>
          <a:effectRef idx="1">
            <a:schemeClr val="accent1"/>
          </a:effectRef>
          <a:fontRef idx="minor">
            <a:schemeClr val="tx1"/>
          </a:fontRef>
        </p:style>
      </p:cxnSp>
      <p:sp>
        <p:nvSpPr>
          <p:cNvPr id="13" name="text:stop"/>
          <p:cNvSpPr txBox="1"/>
          <p:nvPr/>
        </p:nvSpPr>
        <p:spPr>
          <a:xfrm>
            <a:off x="1005840" y="3566160"/>
            <a:ext cx="1463040" cy="201168"/>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stop</a:t>
            </a:r>
          </a:p>
        </p:txBody>
      </p:sp>
      <p:cxnSp>
        <p:nvCxnSpPr>
          <p:cNvPr id="14" name="Connector 13"/>
          <p:cNvCxnSpPr/>
          <p:nvPr/>
        </p:nvCxnSpPr>
        <p:spPr>
          <a:xfrm>
            <a:off x="4663440" y="1874519"/>
            <a:ext cx="0" cy="1828801"/>
          </a:xfrm>
          <a:prstGeom prst="line">
            <a:avLst/>
          </a:prstGeom>
          <a:ln w="20320">
            <a:solidFill>
              <a:srgbClr val="B3A5FF"/>
            </a:solidFill>
            <a:prstDash val="dash"/>
          </a:ln>
        </p:spPr>
        <p:style>
          <a:lnRef idx="2">
            <a:schemeClr val="accent1"/>
          </a:lnRef>
          <a:fillRef idx="0">
            <a:schemeClr val="accent1"/>
          </a:fillRef>
          <a:effectRef idx="1">
            <a:schemeClr val="accent1"/>
          </a:effectRef>
          <a:fontRef idx="minor">
            <a:schemeClr val="tx1"/>
          </a:fontRef>
        </p:style>
      </p:cxnSp>
      <p:sp>
        <p:nvSpPr>
          <p:cNvPr id="15" name="text:time limit"/>
          <p:cNvSpPr txBox="1"/>
          <p:nvPr/>
        </p:nvSpPr>
        <p:spPr>
          <a:xfrm>
            <a:off x="3977639" y="3776472"/>
            <a:ext cx="1371600" cy="201168"/>
          </a:xfrm>
          <a:prstGeom prst="rect">
            <a:avLst/>
          </a:prstGeom>
          <a:noFill/>
        </p:spPr>
        <p:txBody>
          <a:bodyPr wrap="square" lIns="9144" rIns="9144" tIns="0" bIns="0">
            <a:spAutoFit/>
          </a:bodyPr>
          <a:lstStyle/>
          <a:p>
            <a:pPr algn="ctr">
              <a:lnSpc>
                <a:spcPct val="106000"/>
              </a:lnSpc>
              <a:spcAft>
                <a:spcPts val="400"/>
              </a:spcAft>
              <a:defRPr sz="1000" b="0">
                <a:solidFill>
                  <a:srgbClr val="B3A5FF"/>
                </a:solidFill>
                <a:latin typeface="Helvetica Neue"/>
              </a:defRPr>
            </a:pPr>
            <a:r>
              <a:t>time limit</a:t>
            </a:r>
          </a:p>
        </p:txBody>
      </p:sp>
      <p:sp>
        <p:nvSpPr>
          <p:cNvPr id="16" name="Oval 15"/>
          <p:cNvSpPr/>
          <p:nvPr/>
        </p:nvSpPr>
        <p:spPr>
          <a:xfrm>
            <a:off x="3794760" y="1965960"/>
            <a:ext cx="182880" cy="18288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irst touched"/>
          <p:cNvSpPr txBox="1"/>
          <p:nvPr/>
        </p:nvSpPr>
        <p:spPr>
          <a:xfrm>
            <a:off x="2926080" y="1554480"/>
            <a:ext cx="1463040" cy="201168"/>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first touched</a:t>
            </a:r>
          </a:p>
        </p:txBody>
      </p:sp>
      <p:sp>
        <p:nvSpPr>
          <p:cNvPr id="18" name="Rounded Rectangle 17"/>
          <p:cNvSpPr/>
          <p:nvPr/>
        </p:nvSpPr>
        <p:spPr>
          <a:xfrm>
            <a:off x="1097280" y="4023360"/>
            <a:ext cx="1188720" cy="347472"/>
          </a:xfrm>
          <a:prstGeom prst="roundRect">
            <a:avLst>
              <a:gd name="adj" fmla="val 36842"/>
            </a:avLst>
          </a:prstGeom>
          <a:solidFill>
            <a:srgbClr val="100821"/>
          </a:solidFill>
          <a:ln w="1778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label +1"/>
          <p:cNvSpPr txBox="1"/>
          <p:nvPr/>
        </p:nvSpPr>
        <p:spPr>
          <a:xfrm>
            <a:off x="1097280" y="4023360"/>
            <a:ext cx="1188720" cy="347472"/>
          </a:xfrm>
          <a:prstGeom prst="rect">
            <a:avLst/>
          </a:prstGeom>
          <a:noFill/>
        </p:spPr>
        <p:txBody>
          <a:bodyPr wrap="square" lIns="9144" rIns="9144" tIns="0" bIns="0" anchor="ctr">
            <a:spAutoFit/>
          </a:bodyPr>
          <a:lstStyle/>
          <a:p>
            <a:pPr algn="ctr">
              <a:lnSpc>
                <a:spcPct val="106000"/>
              </a:lnSpc>
              <a:spcAft>
                <a:spcPts val="400"/>
              </a:spcAft>
              <a:defRPr sz="1200" b="0">
                <a:solidFill>
                  <a:srgbClr val="3DDC97"/>
                </a:solidFill>
                <a:latin typeface="Helvetica Neue"/>
              </a:defRPr>
            </a:pPr>
            <a:r>
              <a:t>label +1</a:t>
            </a:r>
          </a:p>
        </p:txBody>
      </p:sp>
      <p:sp>
        <p:nvSpPr>
          <p:cNvPr id="20" name="Rounded Rectangle 19"/>
          <p:cNvSpPr/>
          <p:nvPr/>
        </p:nvSpPr>
        <p:spPr>
          <a:xfrm>
            <a:off x="2468880" y="4023360"/>
            <a:ext cx="1188720" cy="347472"/>
          </a:xfrm>
          <a:prstGeom prst="roundRect">
            <a:avLst>
              <a:gd name="adj" fmla="val 36842"/>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label -1"/>
          <p:cNvSpPr txBox="1"/>
          <p:nvPr/>
        </p:nvSpPr>
        <p:spPr>
          <a:xfrm>
            <a:off x="2468880" y="4023360"/>
            <a:ext cx="1188720" cy="347472"/>
          </a:xfrm>
          <a:prstGeom prst="rect">
            <a:avLst/>
          </a:prstGeom>
          <a:noFill/>
        </p:spPr>
        <p:txBody>
          <a:bodyPr wrap="square" lIns="9144" rIns="9144" tIns="0" bIns="0" anchor="ctr">
            <a:spAutoFit/>
          </a:bodyPr>
          <a:lstStyle/>
          <a:p>
            <a:pPr algn="ctr">
              <a:lnSpc>
                <a:spcPct val="106000"/>
              </a:lnSpc>
              <a:spcAft>
                <a:spcPts val="400"/>
              </a:spcAft>
              <a:defRPr sz="1200" b="0">
                <a:solidFill>
                  <a:srgbClr val="FD51FC"/>
                </a:solidFill>
                <a:latin typeface="Helvetica Neue"/>
              </a:defRPr>
            </a:pPr>
            <a:r>
              <a:t>label -1</a:t>
            </a:r>
          </a:p>
        </p:txBody>
      </p:sp>
      <p:sp>
        <p:nvSpPr>
          <p:cNvPr id="22" name="Rounded Rectangle 21"/>
          <p:cNvSpPr/>
          <p:nvPr/>
        </p:nvSpPr>
        <p:spPr>
          <a:xfrm>
            <a:off x="3840480" y="4023360"/>
            <a:ext cx="1188720" cy="347472"/>
          </a:xfrm>
          <a:prstGeom prst="roundRect">
            <a:avLst>
              <a:gd name="adj" fmla="val 3684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label 0"/>
          <p:cNvSpPr txBox="1"/>
          <p:nvPr/>
        </p:nvSpPr>
        <p:spPr>
          <a:xfrm>
            <a:off x="3840480" y="4023360"/>
            <a:ext cx="1188720" cy="347472"/>
          </a:xfrm>
          <a:prstGeom prst="rect">
            <a:avLst/>
          </a:prstGeom>
          <a:noFill/>
        </p:spPr>
        <p:txBody>
          <a:bodyPr wrap="square" lIns="9144" rIns="9144" tIns="0" bIns="0" anchor="ctr">
            <a:spAutoFit/>
          </a:bodyPr>
          <a:lstStyle/>
          <a:p>
            <a:pPr algn="ctr">
              <a:lnSpc>
                <a:spcPct val="106000"/>
              </a:lnSpc>
              <a:spcAft>
                <a:spcPts val="400"/>
              </a:spcAft>
              <a:defRPr sz="1200" b="0">
                <a:solidFill>
                  <a:srgbClr val="B3A5FF"/>
                </a:solidFill>
                <a:latin typeface="Helvetica Neue"/>
              </a:defRPr>
            </a:pPr>
            <a:r>
              <a:t>label 0</a:t>
            </a:r>
          </a:p>
        </p:txBody>
      </p:sp>
      <p:sp>
        <p:nvSpPr>
          <p:cNvPr id="24" name="Rounded Rectangle 23"/>
          <p:cNvSpPr/>
          <p:nvPr/>
        </p:nvSpPr>
        <p:spPr>
          <a:xfrm>
            <a:off x="5577840" y="1417320"/>
            <a:ext cx="3063240" cy="3108960"/>
          </a:xfrm>
          <a:prstGeom prst="roundRect">
            <a:avLst>
              <a:gd name="adj" fmla="val 4179"/>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STEP 3 OF 3"/>
          <p:cNvSpPr txBox="1"/>
          <p:nvPr/>
        </p:nvSpPr>
        <p:spPr>
          <a:xfrm>
            <a:off x="5779007" y="1572768"/>
            <a:ext cx="22860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STEP 3 OF 3</a:t>
            </a:r>
          </a:p>
        </p:txBody>
      </p:sp>
      <p:sp>
        <p:nvSpPr>
          <p:cNvPr id="26" name="text:A time limit on the right. If neithe"/>
          <p:cNvSpPr txBox="1"/>
          <p:nvPr/>
        </p:nvSpPr>
        <p:spPr>
          <a:xfrm>
            <a:off x="5779007" y="1874519"/>
            <a:ext cx="2660904" cy="1463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time limit on the right. If neither wall is touched, nothing happened.</a:t>
            </a:r>
          </a:p>
        </p:txBody>
      </p:sp>
      <p:sp>
        <p:nvSpPr>
          <p:cNvPr id="27" name="text:LABEL RULE"/>
          <p:cNvSpPr txBox="1"/>
          <p:nvPr/>
        </p:nvSpPr>
        <p:spPr>
          <a:xfrm>
            <a:off x="5779007" y="3520440"/>
            <a:ext cx="1828800" cy="164592"/>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LABEL RULE</a:t>
            </a:r>
          </a:p>
        </p:txBody>
      </p:sp>
      <p:sp>
        <p:nvSpPr>
          <p:cNvPr id="28" name="text:time limit -&gt; label 0"/>
          <p:cNvSpPr txBox="1"/>
          <p:nvPr/>
        </p:nvSpPr>
        <p:spPr>
          <a:xfrm>
            <a:off x="5779007" y="3749039"/>
            <a:ext cx="2660904" cy="54864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time limit -&gt; label 0</a:t>
            </a:r>
          </a:p>
        </p:txBody>
      </p:sp>
      <p:sp>
        <p:nvSpPr>
          <p:cNvPr id="29" name="text:Illustrative price path"/>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price path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arrier width follows the nois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Barrier width follows the noise</a:t>
            </a:r>
          </a:p>
        </p:txBody>
      </p:sp>
      <p:sp>
        <p:nvSpPr>
          <p:cNvPr id="3" name="text:A fixed width is too wide on a quie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fixed width is too wide on a quiet day and too narrow on a busy one.</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548640" y="1417320"/>
            <a:ext cx="3886200" cy="1783080"/>
          </a:xfrm>
          <a:prstGeom prst="roundRect">
            <a:avLst>
              <a:gd name="adj" fmla="val 717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QUIET"/>
          <p:cNvSpPr txBox="1"/>
          <p:nvPr/>
        </p:nvSpPr>
        <p:spPr>
          <a:xfrm>
            <a:off x="749808" y="1508760"/>
            <a:ext cx="18288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QUIET</a:t>
            </a:r>
          </a:p>
        </p:txBody>
      </p:sp>
      <p:sp>
        <p:nvSpPr>
          <p:cNvPr id="7" name="text:Same width: the walls are never touc"/>
          <p:cNvSpPr txBox="1"/>
          <p:nvPr/>
        </p:nvSpPr>
        <p:spPr>
          <a:xfrm>
            <a:off x="749808" y="1719072"/>
            <a:ext cx="34747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Same width: the walls are never touched</a:t>
            </a:r>
          </a:p>
        </p:txBody>
      </p:sp>
      <p:cxnSp>
        <p:nvCxnSpPr>
          <p:cNvPr id="8" name="Connector 7"/>
          <p:cNvCxnSpPr/>
          <p:nvPr/>
        </p:nvCxnSpPr>
        <p:spPr>
          <a:xfrm>
            <a:off x="822959" y="2168956"/>
            <a:ext cx="3337561"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22959" y="3134563"/>
            <a:ext cx="3337561"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822959" y="2607868"/>
            <a:ext cx="3337561" cy="71323"/>
          </a:xfrm>
          <a:custGeom>
            <a:avLst/>
            <a:gdLst/>
            <a:ahLst/>
            <a:cxnLst/>
            <a:rect l="l" t="t" r="r" b="b"/>
            <a:pathLst>
              <a:path w="3337561" h="71323">
                <a:moveTo>
                  <a:pt x="0" y="43892"/>
                </a:moveTo>
                <a:lnTo>
                  <a:pt x="303415" y="16460"/>
                </a:lnTo>
                <a:lnTo>
                  <a:pt x="606830" y="71323"/>
                </a:lnTo>
                <a:lnTo>
                  <a:pt x="910244" y="0"/>
                </a:lnTo>
                <a:lnTo>
                  <a:pt x="1213659" y="32919"/>
                </a:lnTo>
                <a:lnTo>
                  <a:pt x="1517073" y="65837"/>
                </a:lnTo>
                <a:lnTo>
                  <a:pt x="1820488" y="10973"/>
                </a:lnTo>
                <a:lnTo>
                  <a:pt x="2123902" y="43892"/>
                </a:lnTo>
                <a:lnTo>
                  <a:pt x="2427317" y="16460"/>
                </a:lnTo>
                <a:lnTo>
                  <a:pt x="2730731" y="54864"/>
                </a:lnTo>
                <a:lnTo>
                  <a:pt x="3034146" y="21946"/>
                </a:lnTo>
                <a:lnTo>
                  <a:pt x="3337561" y="43892"/>
                </a:lnTo>
              </a:path>
            </a:pathLst>
          </a:custGeom>
          <a:noFill/>
          <a:ln w="1778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09160" y="1417320"/>
            <a:ext cx="3886200" cy="1783080"/>
          </a:xfrm>
          <a:prstGeom prst="roundRect">
            <a:avLst>
              <a:gd name="adj" fmla="val 717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USY"/>
          <p:cNvSpPr txBox="1"/>
          <p:nvPr/>
        </p:nvSpPr>
        <p:spPr>
          <a:xfrm>
            <a:off x="4910328" y="1508760"/>
            <a:ext cx="18288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BUSY</a:t>
            </a:r>
          </a:p>
        </p:txBody>
      </p:sp>
      <p:sp>
        <p:nvSpPr>
          <p:cNvPr id="13" name="text:Same width: touched in seconds, by n"/>
          <p:cNvSpPr txBox="1"/>
          <p:nvPr/>
        </p:nvSpPr>
        <p:spPr>
          <a:xfrm>
            <a:off x="4910328" y="1719072"/>
            <a:ext cx="34747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Same width: touched in seconds, by noise</a:t>
            </a:r>
          </a:p>
        </p:txBody>
      </p:sp>
      <p:cxnSp>
        <p:nvCxnSpPr>
          <p:cNvPr id="14" name="Connector 13"/>
          <p:cNvCxnSpPr/>
          <p:nvPr/>
        </p:nvCxnSpPr>
        <p:spPr>
          <a:xfrm>
            <a:off x="4983480" y="2168956"/>
            <a:ext cx="3337560" cy="0"/>
          </a:xfrm>
          <a:prstGeom prst="line">
            <a:avLst/>
          </a:prstGeom>
          <a:ln w="1651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83480" y="3134563"/>
            <a:ext cx="3337560" cy="0"/>
          </a:xfrm>
          <a:prstGeom prst="line">
            <a:avLst/>
          </a:prstGeom>
          <a:ln w="16510">
            <a:solidFill>
              <a:srgbClr val="FD51FC"/>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4983480" y="2103120"/>
            <a:ext cx="3337560" cy="1042416"/>
          </a:xfrm>
          <a:custGeom>
            <a:avLst/>
            <a:gdLst/>
            <a:ahLst/>
            <a:cxnLst/>
            <a:rect l="l" t="t" r="r" b="b"/>
            <a:pathLst>
              <a:path w="3337560" h="1042416">
                <a:moveTo>
                  <a:pt x="0" y="548640"/>
                </a:moveTo>
                <a:lnTo>
                  <a:pt x="303414" y="274320"/>
                </a:lnTo>
                <a:lnTo>
                  <a:pt x="606829" y="713232"/>
                </a:lnTo>
                <a:lnTo>
                  <a:pt x="910243" y="109728"/>
                </a:lnTo>
                <a:lnTo>
                  <a:pt x="1213658" y="877824"/>
                </a:lnTo>
                <a:lnTo>
                  <a:pt x="1517072" y="0"/>
                </a:lnTo>
                <a:lnTo>
                  <a:pt x="1820487" y="768095"/>
                </a:lnTo>
                <a:lnTo>
                  <a:pt x="2123901" y="54864"/>
                </a:lnTo>
                <a:lnTo>
                  <a:pt x="2427316" y="932688"/>
                </a:lnTo>
                <a:lnTo>
                  <a:pt x="2730730" y="219456"/>
                </a:lnTo>
                <a:lnTo>
                  <a:pt x="3034145" y="1042416"/>
                </a:lnTo>
                <a:lnTo>
                  <a:pt x="3337560" y="329184"/>
                </a:lnTo>
              </a:path>
            </a:pathLst>
          </a:custGeom>
          <a:noFill/>
          <a:ln w="1778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337560"/>
            <a:ext cx="8092440" cy="1234440"/>
          </a:xfrm>
          <a:prstGeom prst="roundRect">
            <a:avLst>
              <a:gd name="adj" fmla="val 1037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THE RULE WE USE"/>
          <p:cNvSpPr txBox="1"/>
          <p:nvPr/>
        </p:nvSpPr>
        <p:spPr>
          <a:xfrm>
            <a:off x="731520" y="3429000"/>
            <a:ext cx="27432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THE RULE WE USE</a:t>
            </a:r>
          </a:p>
        </p:txBody>
      </p:sp>
      <p:sp>
        <p:nvSpPr>
          <p:cNvPr id="19" name="text:width = max(floor, 0.8 x noise x sqr"/>
          <p:cNvSpPr txBox="1"/>
          <p:nvPr/>
        </p:nvSpPr>
        <p:spPr>
          <a:xfrm>
            <a:off x="731520" y="3657600"/>
            <a:ext cx="7680960"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width = max(floor, 0.8 x noise x sqrt(24 steps))</a:t>
            </a:r>
          </a:p>
        </p:txBody>
      </p:sp>
      <p:sp>
        <p:nvSpPr>
          <p:cNvPr id="20" name="text:One real decision: noise 0.92 bps pe"/>
          <p:cNvSpPr txBox="1"/>
          <p:nvPr/>
        </p:nvSpPr>
        <p:spPr>
          <a:xfrm>
            <a:off x="731520" y="3977639"/>
            <a:ext cx="7680960" cy="22860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One real decision: noise 0.92 bps per step, 24 steps, so 0.8 x 0.92 x 4.9 = 3.6 bps.</a:t>
            </a:r>
          </a:p>
        </p:txBody>
      </p:sp>
      <p:sp>
        <p:nvSpPr>
          <p:cNvPr id="21" name="text:The floor (2 bps) stops a flat stret"/>
          <p:cNvSpPr txBox="1"/>
          <p:nvPr/>
        </p:nvSpPr>
        <p:spPr>
          <a:xfrm>
            <a:off x="731520" y="4251960"/>
            <a:ext cx="768096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The floor (2 bps) stops a flat stretch from making the walls touch the price.</a:t>
            </a:r>
          </a:p>
        </p:txBody>
      </p:sp>
      <p:sp>
        <p:nvSpPr>
          <p:cNvPr id="22" name="text:Illustrative; the example numbers a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the example numbers are from out/labels.json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win has to beat the cos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win has to beat the cost</a:t>
            </a:r>
          </a:p>
        </p:txBody>
      </p:sp>
      <p:sp>
        <p:nvSpPr>
          <p:cNvPr id="3" name="text:A label of +1 is gross. Fees come of"/>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label of +1 is gross. Fees come off afterwards.</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508760"/>
            <a:ext cx="4754880" cy="2331720"/>
          </a:xfrm>
          <a:prstGeom prst="roundRect">
            <a:avLst>
              <a:gd name="adj" fmla="val 549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ARRIER WIDTH VERSUS COST (bps)"/>
          <p:cNvSpPr txBox="1"/>
          <p:nvPr/>
        </p:nvSpPr>
        <p:spPr>
          <a:xfrm>
            <a:off x="731520" y="1627632"/>
            <a:ext cx="4114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BARRIER WIDTH VERSUS COST (bps)</a:t>
            </a:r>
          </a:p>
        </p:txBody>
      </p:sp>
      <p:sp>
        <p:nvSpPr>
          <p:cNvPr id="7" name="text:Average barrier width"/>
          <p:cNvSpPr txBox="1"/>
          <p:nvPr/>
        </p:nvSpPr>
        <p:spPr>
          <a:xfrm>
            <a:off x="731520" y="2057400"/>
            <a:ext cx="320040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Average barrier width</a:t>
            </a:r>
          </a:p>
        </p:txBody>
      </p:sp>
      <p:sp>
        <p:nvSpPr>
          <p:cNvPr id="8" name="Rounded Rectangle 7"/>
          <p:cNvSpPr/>
          <p:nvPr/>
        </p:nvSpPr>
        <p:spPr>
          <a:xfrm>
            <a:off x="731520" y="2331720"/>
            <a:ext cx="1689811" cy="274320"/>
          </a:xfrm>
          <a:prstGeom prst="roundRect">
            <a:avLst>
              <a:gd name="adj" fmla="val 2000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3.36"/>
          <p:cNvSpPr txBox="1"/>
          <p:nvPr/>
        </p:nvSpPr>
        <p:spPr>
          <a:xfrm>
            <a:off x="2512771" y="2331720"/>
            <a:ext cx="731520" cy="274320"/>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3.36</a:t>
            </a:r>
          </a:p>
        </p:txBody>
      </p:sp>
      <p:sp>
        <p:nvSpPr>
          <p:cNvPr id="10" name="text:Round trip in pool fees"/>
          <p:cNvSpPr txBox="1"/>
          <p:nvPr/>
        </p:nvSpPr>
        <p:spPr>
          <a:xfrm>
            <a:off x="731520" y="2880360"/>
            <a:ext cx="320040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Round trip in pool fees</a:t>
            </a:r>
          </a:p>
        </p:txBody>
      </p:sp>
      <p:sp>
        <p:nvSpPr>
          <p:cNvPr id="11" name="Rounded Rectangle 10"/>
          <p:cNvSpPr/>
          <p:nvPr/>
        </p:nvSpPr>
        <p:spPr>
          <a:xfrm>
            <a:off x="731520" y="3154679"/>
            <a:ext cx="4023360" cy="274320"/>
          </a:xfrm>
          <a:prstGeom prst="roundRect">
            <a:avLst>
              <a:gd name="adj" fmla="val 20000"/>
            </a:avLst>
          </a:prstGeom>
          <a:solidFill>
            <a:srgbClr val="FD51FC"/>
          </a:solid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
          <p:cNvSpPr txBox="1"/>
          <p:nvPr/>
        </p:nvSpPr>
        <p:spPr>
          <a:xfrm>
            <a:off x="4846320" y="3154679"/>
            <a:ext cx="731520" cy="274320"/>
          </a:xfrm>
          <a:prstGeom prst="rect">
            <a:avLst/>
          </a:prstGeom>
          <a:noFill/>
        </p:spPr>
        <p:txBody>
          <a:bodyPr wrap="square" lIns="9144" rIns="9144" tIns="0" bIns="0" anchor="ctr">
            <a:spAutoFit/>
          </a:bodyPr>
          <a:lstStyle/>
          <a:p>
            <a:pPr>
              <a:lnSpc>
                <a:spcPct val="106000"/>
              </a:lnSpc>
              <a:spcAft>
                <a:spcPts val="400"/>
              </a:spcAft>
              <a:defRPr sz="1400" b="0">
                <a:solidFill>
                  <a:srgbClr val="FD51FC"/>
                </a:solidFill>
                <a:latin typeface="Helvetica Neue"/>
              </a:defRPr>
            </a:pPr>
            <a:r>
              <a:t>8</a:t>
            </a:r>
          </a:p>
        </p:txBody>
      </p:sp>
      <p:sp>
        <p:nvSpPr>
          <p:cNvPr id="13" name="Rounded Rectangle 12"/>
          <p:cNvSpPr/>
          <p:nvPr/>
        </p:nvSpPr>
        <p:spPr>
          <a:xfrm>
            <a:off x="5532120" y="1508760"/>
            <a:ext cx="3108960" cy="2331720"/>
          </a:xfrm>
          <a:prstGeom prst="roundRect">
            <a:avLst>
              <a:gd name="adj" fmla="val 5490"/>
            </a:avLst>
          </a:prstGeom>
          <a:solidFill>
            <a:srgbClr val="100821"/>
          </a:solid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ROUND TRIP IN POOL FEES"/>
          <p:cNvSpPr txBox="1"/>
          <p:nvPr/>
        </p:nvSpPr>
        <p:spPr>
          <a:xfrm>
            <a:off x="5715000" y="1627632"/>
            <a:ext cx="274320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ROUND TRIP IN POOL FEES</a:t>
            </a:r>
          </a:p>
        </p:txBody>
      </p:sp>
      <p:sp>
        <p:nvSpPr>
          <p:cNvPr id="15" name="text:0.04% each way"/>
          <p:cNvSpPr txBox="1"/>
          <p:nvPr/>
        </p:nvSpPr>
        <p:spPr>
          <a:xfrm>
            <a:off x="5715000" y="1874519"/>
            <a:ext cx="274320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0.04% each way</a:t>
            </a:r>
          </a:p>
        </p:txBody>
      </p:sp>
      <p:sp>
        <p:nvSpPr>
          <p:cNvPr id="16" name="text:0 of 73"/>
          <p:cNvSpPr txBox="1"/>
          <p:nvPr/>
        </p:nvSpPr>
        <p:spPr>
          <a:xfrm>
            <a:off x="5715000" y="2331720"/>
            <a:ext cx="27432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0 of 73</a:t>
            </a:r>
          </a:p>
        </p:txBody>
      </p:sp>
      <p:sp>
        <p:nvSpPr>
          <p:cNvPr id="17" name="text:winning labels had a barrier at leas"/>
          <p:cNvSpPr txBox="1"/>
          <p:nvPr/>
        </p:nvSpPr>
        <p:spPr>
          <a:xfrm>
            <a:off x="5715000" y="2971800"/>
            <a:ext cx="2743200" cy="54864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winning labels had a barrier at least 8 bps wide.</a:t>
            </a:r>
          </a:p>
        </p:txBody>
      </p:sp>
      <p:sp>
        <p:nvSpPr>
          <p:cNvPr id="18" name="Rounded Rectangle 17"/>
          <p:cNvSpPr/>
          <p:nvPr/>
        </p:nvSpPr>
        <p:spPr>
          <a:xfrm>
            <a:off x="548640" y="4023360"/>
            <a:ext cx="8092440" cy="548640"/>
          </a:xfrm>
          <a:prstGeom prst="roundRect">
            <a:avLst>
              <a:gd name="adj" fmla="val 23333"/>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A &quot;win&quot; narrower than the cost still"/>
          <p:cNvSpPr txBox="1"/>
          <p:nvPr/>
        </p:nvSpPr>
        <p:spPr>
          <a:xfrm>
            <a:off x="731520" y="4023360"/>
            <a:ext cx="7726679" cy="54864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A "win" narrower than the cost still loses money. Set the width floor to your costs.</a:t>
            </a:r>
          </a:p>
        </p:txBody>
      </p:sp>
      <p:sp>
        <p:nvSpPr>
          <p:cNvPr id="20" name="text:Orca SOL/USDC pool fee 0.04% (recor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Orca SOL/USDC pool fee 0.04% (recorded/SOURCES.md); widths from out/labels.json and out/agent.json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al labels on real pric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Real labels on real prices</a:t>
            </a:r>
          </a:p>
        </p:txBody>
      </p:sp>
      <p:sp>
        <p:nvSpPr>
          <p:cNvPr id="3" name="text:SOL/USDC, 40 minutes, a decision ev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SOL/USDC, 40 minutes, a decision every 10 seconds.</a:t>
            </a:r>
          </a:p>
        </p:txBody>
      </p:sp>
      <p:sp>
        <p:nvSpPr>
          <p:cNvPr id="4"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5" name="Rounded Rectangle 4"/>
          <p:cNvSpPr/>
          <p:nvPr/>
        </p:nvSpPr>
        <p:spPr>
          <a:xfrm>
            <a:off x="548640" y="1417320"/>
            <a:ext cx="5394960" cy="2743200"/>
          </a:xfrm>
          <a:prstGeom prst="roundRect">
            <a:avLst>
              <a:gd name="adj" fmla="val 4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731520" y="1691639"/>
            <a:ext cx="5029200" cy="2240281"/>
          </a:xfrm>
          <a:custGeom>
            <a:avLst/>
            <a:gdLst/>
            <a:ahLst/>
            <a:cxnLst/>
            <a:rect l="l" t="t" r="r" b="b"/>
            <a:pathLst>
              <a:path w="5029200" h="2240281">
                <a:moveTo>
                  <a:pt x="0" y="2240281"/>
                </a:moveTo>
                <a:lnTo>
                  <a:pt x="10477" y="2201313"/>
                </a:lnTo>
                <a:lnTo>
                  <a:pt x="20955" y="2040899"/>
                </a:lnTo>
                <a:lnTo>
                  <a:pt x="31432" y="2040899"/>
                </a:lnTo>
                <a:lnTo>
                  <a:pt x="41910" y="1913607"/>
                </a:lnTo>
                <a:lnTo>
                  <a:pt x="52387" y="1912633"/>
                </a:lnTo>
                <a:lnTo>
                  <a:pt x="62865" y="1912633"/>
                </a:lnTo>
                <a:lnTo>
                  <a:pt x="73342" y="1974330"/>
                </a:lnTo>
                <a:lnTo>
                  <a:pt x="83820" y="1974330"/>
                </a:lnTo>
                <a:lnTo>
                  <a:pt x="94297" y="1974330"/>
                </a:lnTo>
                <a:lnTo>
                  <a:pt x="104775" y="1974330"/>
                </a:lnTo>
                <a:lnTo>
                  <a:pt x="115252" y="1973356"/>
                </a:lnTo>
                <a:lnTo>
                  <a:pt x="125730" y="2030508"/>
                </a:lnTo>
                <a:lnTo>
                  <a:pt x="136207" y="2180206"/>
                </a:lnTo>
                <a:lnTo>
                  <a:pt x="146685" y="2186051"/>
                </a:lnTo>
                <a:lnTo>
                  <a:pt x="157162" y="2186051"/>
                </a:lnTo>
                <a:lnTo>
                  <a:pt x="167640" y="2186051"/>
                </a:lnTo>
                <a:lnTo>
                  <a:pt x="178117" y="2186051"/>
                </a:lnTo>
                <a:lnTo>
                  <a:pt x="188595" y="2186051"/>
                </a:lnTo>
                <a:lnTo>
                  <a:pt x="199072" y="2186051"/>
                </a:lnTo>
                <a:lnTo>
                  <a:pt x="209550" y="2186051"/>
                </a:lnTo>
                <a:lnTo>
                  <a:pt x="220027" y="2017844"/>
                </a:lnTo>
                <a:lnTo>
                  <a:pt x="230505" y="2017844"/>
                </a:lnTo>
                <a:lnTo>
                  <a:pt x="240982" y="2008751"/>
                </a:lnTo>
                <a:lnTo>
                  <a:pt x="251460" y="1951924"/>
                </a:lnTo>
                <a:lnTo>
                  <a:pt x="261937" y="1951600"/>
                </a:lnTo>
                <a:lnTo>
                  <a:pt x="272415" y="1951600"/>
                </a:lnTo>
                <a:lnTo>
                  <a:pt x="282892" y="1951275"/>
                </a:lnTo>
                <a:lnTo>
                  <a:pt x="293370" y="1933740"/>
                </a:lnTo>
                <a:lnTo>
                  <a:pt x="303847" y="1903865"/>
                </a:lnTo>
                <a:lnTo>
                  <a:pt x="314325" y="1903865"/>
                </a:lnTo>
                <a:lnTo>
                  <a:pt x="324802" y="1844765"/>
                </a:lnTo>
                <a:lnTo>
                  <a:pt x="335280" y="1844440"/>
                </a:lnTo>
                <a:lnTo>
                  <a:pt x="345757" y="1844440"/>
                </a:lnTo>
                <a:lnTo>
                  <a:pt x="356235" y="1844440"/>
                </a:lnTo>
                <a:lnTo>
                  <a:pt x="366712" y="1918478"/>
                </a:lnTo>
                <a:lnTo>
                  <a:pt x="377190" y="1983423"/>
                </a:lnTo>
                <a:lnTo>
                  <a:pt x="387667" y="1992190"/>
                </a:lnTo>
                <a:lnTo>
                  <a:pt x="398145" y="2028560"/>
                </a:lnTo>
                <a:lnTo>
                  <a:pt x="408622" y="2028560"/>
                </a:lnTo>
                <a:lnTo>
                  <a:pt x="419100" y="2028560"/>
                </a:lnTo>
                <a:lnTo>
                  <a:pt x="429577" y="2028235"/>
                </a:lnTo>
                <a:lnTo>
                  <a:pt x="440055" y="2028235"/>
                </a:lnTo>
                <a:lnTo>
                  <a:pt x="450532" y="2028235"/>
                </a:lnTo>
                <a:lnTo>
                  <a:pt x="461010" y="2028235"/>
                </a:lnTo>
                <a:lnTo>
                  <a:pt x="471487" y="2028235"/>
                </a:lnTo>
                <a:lnTo>
                  <a:pt x="481965" y="2028235"/>
                </a:lnTo>
                <a:lnTo>
                  <a:pt x="492442" y="1974330"/>
                </a:lnTo>
                <a:lnTo>
                  <a:pt x="502920" y="1951924"/>
                </a:lnTo>
                <a:lnTo>
                  <a:pt x="513397" y="1951924"/>
                </a:lnTo>
                <a:lnTo>
                  <a:pt x="523875" y="1951924"/>
                </a:lnTo>
                <a:lnTo>
                  <a:pt x="534352" y="1951924"/>
                </a:lnTo>
                <a:lnTo>
                  <a:pt x="544830" y="1939260"/>
                </a:lnTo>
                <a:lnTo>
                  <a:pt x="555307" y="1938935"/>
                </a:lnTo>
                <a:lnTo>
                  <a:pt x="565785" y="1938935"/>
                </a:lnTo>
                <a:lnTo>
                  <a:pt x="576262" y="1938935"/>
                </a:lnTo>
                <a:lnTo>
                  <a:pt x="586740" y="1938935"/>
                </a:lnTo>
                <a:lnTo>
                  <a:pt x="597217" y="1938935"/>
                </a:lnTo>
                <a:lnTo>
                  <a:pt x="607695" y="1938935"/>
                </a:lnTo>
                <a:lnTo>
                  <a:pt x="618172" y="1938935"/>
                </a:lnTo>
                <a:lnTo>
                  <a:pt x="628650" y="1923998"/>
                </a:lnTo>
                <a:lnTo>
                  <a:pt x="639127" y="1923998"/>
                </a:lnTo>
                <a:lnTo>
                  <a:pt x="649605" y="1788263"/>
                </a:lnTo>
                <a:lnTo>
                  <a:pt x="660082" y="1689222"/>
                </a:lnTo>
                <a:lnTo>
                  <a:pt x="670560" y="1689222"/>
                </a:lnTo>
                <a:lnTo>
                  <a:pt x="681037" y="1689222"/>
                </a:lnTo>
                <a:lnTo>
                  <a:pt x="691515" y="1689222"/>
                </a:lnTo>
                <a:lnTo>
                  <a:pt x="701992" y="1689222"/>
                </a:lnTo>
                <a:lnTo>
                  <a:pt x="712470" y="1688897"/>
                </a:lnTo>
                <a:lnTo>
                  <a:pt x="722947" y="1642786"/>
                </a:lnTo>
                <a:lnTo>
                  <a:pt x="733425" y="1615834"/>
                </a:lnTo>
                <a:lnTo>
                  <a:pt x="743902" y="1615834"/>
                </a:lnTo>
                <a:lnTo>
                  <a:pt x="754380" y="1615834"/>
                </a:lnTo>
                <a:lnTo>
                  <a:pt x="764857" y="1615834"/>
                </a:lnTo>
                <a:lnTo>
                  <a:pt x="775335" y="1615834"/>
                </a:lnTo>
                <a:lnTo>
                  <a:pt x="785812" y="1615834"/>
                </a:lnTo>
                <a:lnTo>
                  <a:pt x="796290" y="1620380"/>
                </a:lnTo>
                <a:lnTo>
                  <a:pt x="806767" y="1528483"/>
                </a:lnTo>
                <a:lnTo>
                  <a:pt x="817245" y="1496984"/>
                </a:lnTo>
                <a:lnTo>
                  <a:pt x="827722" y="1476851"/>
                </a:lnTo>
                <a:lnTo>
                  <a:pt x="838200" y="1476851"/>
                </a:lnTo>
                <a:lnTo>
                  <a:pt x="848677" y="1442755"/>
                </a:lnTo>
                <a:lnTo>
                  <a:pt x="859155" y="1333323"/>
                </a:lnTo>
                <a:lnTo>
                  <a:pt x="869632" y="1211875"/>
                </a:lnTo>
                <a:lnTo>
                  <a:pt x="880110" y="1212200"/>
                </a:lnTo>
                <a:lnTo>
                  <a:pt x="890587" y="1134591"/>
                </a:lnTo>
                <a:lnTo>
                  <a:pt x="901065" y="1144008"/>
                </a:lnTo>
                <a:lnTo>
                  <a:pt x="911542" y="1144008"/>
                </a:lnTo>
                <a:lnTo>
                  <a:pt x="922020" y="1144008"/>
                </a:lnTo>
                <a:lnTo>
                  <a:pt x="932497" y="1144008"/>
                </a:lnTo>
                <a:lnTo>
                  <a:pt x="942975" y="1144008"/>
                </a:lnTo>
                <a:lnTo>
                  <a:pt x="953452" y="1142709"/>
                </a:lnTo>
                <a:lnTo>
                  <a:pt x="963930" y="1142709"/>
                </a:lnTo>
                <a:lnTo>
                  <a:pt x="974407" y="1142709"/>
                </a:lnTo>
                <a:lnTo>
                  <a:pt x="984885" y="1239802"/>
                </a:lnTo>
                <a:lnTo>
                  <a:pt x="995362" y="1244997"/>
                </a:lnTo>
                <a:lnTo>
                  <a:pt x="1005840" y="1245647"/>
                </a:lnTo>
                <a:lnTo>
                  <a:pt x="1016317" y="1307020"/>
                </a:lnTo>
                <a:lnTo>
                  <a:pt x="1026795" y="1330075"/>
                </a:lnTo>
                <a:lnTo>
                  <a:pt x="1037272" y="1358327"/>
                </a:lnTo>
                <a:lnTo>
                  <a:pt x="1047750" y="1486268"/>
                </a:lnTo>
                <a:lnTo>
                  <a:pt x="1058227" y="1487242"/>
                </a:lnTo>
                <a:lnTo>
                  <a:pt x="1068705" y="1487242"/>
                </a:lnTo>
                <a:lnTo>
                  <a:pt x="1079182" y="1487242"/>
                </a:lnTo>
                <a:lnTo>
                  <a:pt x="1089660" y="1487242"/>
                </a:lnTo>
                <a:lnTo>
                  <a:pt x="1100137" y="1487242"/>
                </a:lnTo>
                <a:lnTo>
                  <a:pt x="1110615" y="1484645"/>
                </a:lnTo>
                <a:lnTo>
                  <a:pt x="1121092" y="1416777"/>
                </a:lnTo>
                <a:lnTo>
                  <a:pt x="1131570" y="1412880"/>
                </a:lnTo>
                <a:lnTo>
                  <a:pt x="1142047" y="1400216"/>
                </a:lnTo>
                <a:lnTo>
                  <a:pt x="1152525" y="1400216"/>
                </a:lnTo>
                <a:lnTo>
                  <a:pt x="1163002" y="1378784"/>
                </a:lnTo>
                <a:lnTo>
                  <a:pt x="1173480" y="1378784"/>
                </a:lnTo>
                <a:lnTo>
                  <a:pt x="1183957" y="1347935"/>
                </a:lnTo>
                <a:lnTo>
                  <a:pt x="1194435" y="1347935"/>
                </a:lnTo>
                <a:lnTo>
                  <a:pt x="1204912" y="1347935"/>
                </a:lnTo>
                <a:lnTo>
                  <a:pt x="1215389" y="1347935"/>
                </a:lnTo>
                <a:lnTo>
                  <a:pt x="1225867" y="1347935"/>
                </a:lnTo>
                <a:lnTo>
                  <a:pt x="1236345" y="1347935"/>
                </a:lnTo>
                <a:lnTo>
                  <a:pt x="1246822" y="1352806"/>
                </a:lnTo>
                <a:lnTo>
                  <a:pt x="1257299" y="1354105"/>
                </a:lnTo>
                <a:lnTo>
                  <a:pt x="1267777" y="1354430"/>
                </a:lnTo>
                <a:lnTo>
                  <a:pt x="1278255" y="1370991"/>
                </a:lnTo>
                <a:lnTo>
                  <a:pt x="1288732" y="1374888"/>
                </a:lnTo>
                <a:lnTo>
                  <a:pt x="1299210" y="1374888"/>
                </a:lnTo>
                <a:lnTo>
                  <a:pt x="1309687" y="1374888"/>
                </a:lnTo>
                <a:lnTo>
                  <a:pt x="1320165" y="1374888"/>
                </a:lnTo>
                <a:lnTo>
                  <a:pt x="1330642" y="1374888"/>
                </a:lnTo>
                <a:lnTo>
                  <a:pt x="1341120" y="1375212"/>
                </a:lnTo>
                <a:lnTo>
                  <a:pt x="1351597" y="1375212"/>
                </a:lnTo>
                <a:lnTo>
                  <a:pt x="1362075" y="1323906"/>
                </a:lnTo>
                <a:lnTo>
                  <a:pt x="1372552" y="1323581"/>
                </a:lnTo>
                <a:lnTo>
                  <a:pt x="1383030" y="1323581"/>
                </a:lnTo>
                <a:lnTo>
                  <a:pt x="1393507" y="1323581"/>
                </a:lnTo>
                <a:lnTo>
                  <a:pt x="1403985" y="1323581"/>
                </a:lnTo>
                <a:lnTo>
                  <a:pt x="1414462" y="1317736"/>
                </a:lnTo>
                <a:lnTo>
                  <a:pt x="1424940" y="1293381"/>
                </a:lnTo>
                <a:lnTo>
                  <a:pt x="1435417" y="1293381"/>
                </a:lnTo>
                <a:lnTo>
                  <a:pt x="1445895" y="1293706"/>
                </a:lnTo>
                <a:lnTo>
                  <a:pt x="1456372" y="1293381"/>
                </a:lnTo>
                <a:lnTo>
                  <a:pt x="1466850" y="1293381"/>
                </a:lnTo>
                <a:lnTo>
                  <a:pt x="1477327" y="1293057"/>
                </a:lnTo>
                <a:lnTo>
                  <a:pt x="1487805" y="1293057"/>
                </a:lnTo>
                <a:lnTo>
                  <a:pt x="1498282" y="1293057"/>
                </a:lnTo>
                <a:lnTo>
                  <a:pt x="1508760" y="1293057"/>
                </a:lnTo>
                <a:lnTo>
                  <a:pt x="1519237" y="1293057"/>
                </a:lnTo>
                <a:lnTo>
                  <a:pt x="1529715" y="1402164"/>
                </a:lnTo>
                <a:lnTo>
                  <a:pt x="1540192" y="1480748"/>
                </a:lnTo>
                <a:lnTo>
                  <a:pt x="1550670" y="1481397"/>
                </a:lnTo>
                <a:lnTo>
                  <a:pt x="1561147" y="1481397"/>
                </a:lnTo>
                <a:lnTo>
                  <a:pt x="1571625" y="1481397"/>
                </a:lnTo>
                <a:lnTo>
                  <a:pt x="1582102" y="1481397"/>
                </a:lnTo>
                <a:lnTo>
                  <a:pt x="1592580" y="1481397"/>
                </a:lnTo>
                <a:lnTo>
                  <a:pt x="1603057" y="1481397"/>
                </a:lnTo>
                <a:lnTo>
                  <a:pt x="1613535" y="1481397"/>
                </a:lnTo>
                <a:lnTo>
                  <a:pt x="1624012" y="1480748"/>
                </a:lnTo>
                <a:lnTo>
                  <a:pt x="1634490" y="1480748"/>
                </a:lnTo>
                <a:lnTo>
                  <a:pt x="1644967" y="1480748"/>
                </a:lnTo>
                <a:lnTo>
                  <a:pt x="1655445" y="1485619"/>
                </a:lnTo>
                <a:lnTo>
                  <a:pt x="1665922" y="1433663"/>
                </a:lnTo>
                <a:lnTo>
                  <a:pt x="1676400" y="1381382"/>
                </a:lnTo>
                <a:lnTo>
                  <a:pt x="1686877" y="1381382"/>
                </a:lnTo>
                <a:lnTo>
                  <a:pt x="1697355" y="1381382"/>
                </a:lnTo>
                <a:lnTo>
                  <a:pt x="1707832" y="1381382"/>
                </a:lnTo>
                <a:lnTo>
                  <a:pt x="1718310" y="1381382"/>
                </a:lnTo>
                <a:lnTo>
                  <a:pt x="1728787" y="1381382"/>
                </a:lnTo>
                <a:lnTo>
                  <a:pt x="1739265" y="1381382"/>
                </a:lnTo>
                <a:lnTo>
                  <a:pt x="1749742" y="1382356"/>
                </a:lnTo>
                <a:lnTo>
                  <a:pt x="1760220" y="1382356"/>
                </a:lnTo>
                <a:lnTo>
                  <a:pt x="1770697" y="1382356"/>
                </a:lnTo>
                <a:lnTo>
                  <a:pt x="1781175" y="1382356"/>
                </a:lnTo>
                <a:lnTo>
                  <a:pt x="1791652" y="1382356"/>
                </a:lnTo>
                <a:lnTo>
                  <a:pt x="1802130" y="1382031"/>
                </a:lnTo>
                <a:lnTo>
                  <a:pt x="1812607" y="1382031"/>
                </a:lnTo>
                <a:lnTo>
                  <a:pt x="1823085" y="1359625"/>
                </a:lnTo>
                <a:lnTo>
                  <a:pt x="1833562" y="1311241"/>
                </a:lnTo>
                <a:lnTo>
                  <a:pt x="1844040" y="1311241"/>
                </a:lnTo>
                <a:lnTo>
                  <a:pt x="1854517" y="1311241"/>
                </a:lnTo>
                <a:lnTo>
                  <a:pt x="1864995" y="1311241"/>
                </a:lnTo>
                <a:lnTo>
                  <a:pt x="1875472" y="1311241"/>
                </a:lnTo>
                <a:lnTo>
                  <a:pt x="1885950" y="1310592"/>
                </a:lnTo>
                <a:lnTo>
                  <a:pt x="1896427" y="1310592"/>
                </a:lnTo>
                <a:lnTo>
                  <a:pt x="1906905" y="1310592"/>
                </a:lnTo>
                <a:lnTo>
                  <a:pt x="1917382" y="1310592"/>
                </a:lnTo>
                <a:lnTo>
                  <a:pt x="1927860" y="1273898"/>
                </a:lnTo>
                <a:lnTo>
                  <a:pt x="1938337" y="1271625"/>
                </a:lnTo>
                <a:lnTo>
                  <a:pt x="1948815" y="1271625"/>
                </a:lnTo>
                <a:lnTo>
                  <a:pt x="1959292" y="1271625"/>
                </a:lnTo>
                <a:lnTo>
                  <a:pt x="1969770" y="1190119"/>
                </a:lnTo>
                <a:lnTo>
                  <a:pt x="1980247" y="1190119"/>
                </a:lnTo>
                <a:lnTo>
                  <a:pt x="1990725" y="1179728"/>
                </a:lnTo>
                <a:lnTo>
                  <a:pt x="2001202" y="1179728"/>
                </a:lnTo>
                <a:lnTo>
                  <a:pt x="2011680" y="1179403"/>
                </a:lnTo>
                <a:lnTo>
                  <a:pt x="2022157" y="1178753"/>
                </a:lnTo>
                <a:lnTo>
                  <a:pt x="2032635" y="1178753"/>
                </a:lnTo>
                <a:lnTo>
                  <a:pt x="2043112" y="1179078"/>
                </a:lnTo>
                <a:lnTo>
                  <a:pt x="2053590" y="1129720"/>
                </a:lnTo>
                <a:lnTo>
                  <a:pt x="2064067" y="1075491"/>
                </a:lnTo>
                <a:lnTo>
                  <a:pt x="2074544" y="1032952"/>
                </a:lnTo>
                <a:lnTo>
                  <a:pt x="2085022" y="1030029"/>
                </a:lnTo>
                <a:lnTo>
                  <a:pt x="2095500" y="1028730"/>
                </a:lnTo>
                <a:lnTo>
                  <a:pt x="2105977" y="1028730"/>
                </a:lnTo>
                <a:lnTo>
                  <a:pt x="2116454" y="1025808"/>
                </a:lnTo>
                <a:lnTo>
                  <a:pt x="2126932" y="993985"/>
                </a:lnTo>
                <a:lnTo>
                  <a:pt x="2137410" y="889098"/>
                </a:lnTo>
                <a:lnTo>
                  <a:pt x="2147887" y="889098"/>
                </a:lnTo>
                <a:lnTo>
                  <a:pt x="2158365" y="889423"/>
                </a:lnTo>
                <a:lnTo>
                  <a:pt x="2168842" y="889423"/>
                </a:lnTo>
                <a:lnTo>
                  <a:pt x="2179320" y="889423"/>
                </a:lnTo>
                <a:lnTo>
                  <a:pt x="2189797" y="889423"/>
                </a:lnTo>
                <a:lnTo>
                  <a:pt x="2200275" y="889423"/>
                </a:lnTo>
                <a:lnTo>
                  <a:pt x="2210752" y="886825"/>
                </a:lnTo>
                <a:lnTo>
                  <a:pt x="2221230" y="826751"/>
                </a:lnTo>
                <a:lnTo>
                  <a:pt x="2231707" y="756611"/>
                </a:lnTo>
                <a:lnTo>
                  <a:pt x="2242185" y="756611"/>
                </a:lnTo>
                <a:lnTo>
                  <a:pt x="2252662" y="756611"/>
                </a:lnTo>
                <a:lnTo>
                  <a:pt x="2263140" y="756286"/>
                </a:lnTo>
                <a:lnTo>
                  <a:pt x="2273617" y="753039"/>
                </a:lnTo>
                <a:lnTo>
                  <a:pt x="2284095" y="752714"/>
                </a:lnTo>
                <a:lnTo>
                  <a:pt x="2294572" y="752714"/>
                </a:lnTo>
                <a:lnTo>
                  <a:pt x="2305050" y="752714"/>
                </a:lnTo>
                <a:lnTo>
                  <a:pt x="2315527" y="752714"/>
                </a:lnTo>
                <a:lnTo>
                  <a:pt x="2326005" y="752714"/>
                </a:lnTo>
                <a:lnTo>
                  <a:pt x="2336482" y="752714"/>
                </a:lnTo>
                <a:lnTo>
                  <a:pt x="2346960" y="752714"/>
                </a:lnTo>
                <a:lnTo>
                  <a:pt x="2357437" y="752389"/>
                </a:lnTo>
                <a:lnTo>
                  <a:pt x="2367915" y="752389"/>
                </a:lnTo>
                <a:lnTo>
                  <a:pt x="2378392" y="752389"/>
                </a:lnTo>
                <a:lnTo>
                  <a:pt x="2388869" y="752389"/>
                </a:lnTo>
                <a:lnTo>
                  <a:pt x="2399347" y="726736"/>
                </a:lnTo>
                <a:lnTo>
                  <a:pt x="2409825" y="703356"/>
                </a:lnTo>
                <a:lnTo>
                  <a:pt x="2420302" y="651724"/>
                </a:lnTo>
                <a:lnTo>
                  <a:pt x="2430779" y="649126"/>
                </a:lnTo>
                <a:lnTo>
                  <a:pt x="2441257" y="535148"/>
                </a:lnTo>
                <a:lnTo>
                  <a:pt x="2451735" y="418571"/>
                </a:lnTo>
                <a:lnTo>
                  <a:pt x="2462212" y="418571"/>
                </a:lnTo>
                <a:lnTo>
                  <a:pt x="2472690" y="422793"/>
                </a:lnTo>
                <a:lnTo>
                  <a:pt x="2483167" y="438055"/>
                </a:lnTo>
                <a:lnTo>
                  <a:pt x="2493645" y="479620"/>
                </a:lnTo>
                <a:lnTo>
                  <a:pt x="2504122" y="479620"/>
                </a:lnTo>
                <a:lnTo>
                  <a:pt x="2514600" y="479620"/>
                </a:lnTo>
                <a:lnTo>
                  <a:pt x="2525077" y="479945"/>
                </a:lnTo>
                <a:lnTo>
                  <a:pt x="2535555" y="619252"/>
                </a:lnTo>
                <a:lnTo>
                  <a:pt x="2546032" y="641333"/>
                </a:lnTo>
                <a:lnTo>
                  <a:pt x="2556510" y="653348"/>
                </a:lnTo>
                <a:lnTo>
                  <a:pt x="2566987" y="655946"/>
                </a:lnTo>
                <a:lnTo>
                  <a:pt x="2577465" y="713747"/>
                </a:lnTo>
                <a:lnTo>
                  <a:pt x="2587942" y="713747"/>
                </a:lnTo>
                <a:lnTo>
                  <a:pt x="2598420" y="711798"/>
                </a:lnTo>
                <a:lnTo>
                  <a:pt x="2608897" y="704654"/>
                </a:lnTo>
                <a:lnTo>
                  <a:pt x="2619375" y="569569"/>
                </a:lnTo>
                <a:lnTo>
                  <a:pt x="2629852" y="569893"/>
                </a:lnTo>
                <a:lnTo>
                  <a:pt x="2640330" y="569893"/>
                </a:lnTo>
                <a:lnTo>
                  <a:pt x="2650807" y="569893"/>
                </a:lnTo>
                <a:lnTo>
                  <a:pt x="2661285" y="548786"/>
                </a:lnTo>
                <a:lnTo>
                  <a:pt x="2671762" y="541318"/>
                </a:lnTo>
                <a:lnTo>
                  <a:pt x="2682240" y="516638"/>
                </a:lnTo>
                <a:lnTo>
                  <a:pt x="2692717" y="516638"/>
                </a:lnTo>
                <a:lnTo>
                  <a:pt x="2703194" y="516638"/>
                </a:lnTo>
                <a:lnTo>
                  <a:pt x="2713672" y="492609"/>
                </a:lnTo>
                <a:lnTo>
                  <a:pt x="2724150" y="452668"/>
                </a:lnTo>
                <a:lnTo>
                  <a:pt x="2734627" y="427014"/>
                </a:lnTo>
                <a:lnTo>
                  <a:pt x="2745104" y="427339"/>
                </a:lnTo>
                <a:lnTo>
                  <a:pt x="2755582" y="427339"/>
                </a:lnTo>
                <a:lnTo>
                  <a:pt x="2766060" y="396165"/>
                </a:lnTo>
                <a:lnTo>
                  <a:pt x="2776537" y="391619"/>
                </a:lnTo>
                <a:lnTo>
                  <a:pt x="2787015" y="391619"/>
                </a:lnTo>
                <a:lnTo>
                  <a:pt x="2797492" y="367914"/>
                </a:lnTo>
                <a:lnTo>
                  <a:pt x="2807970" y="367914"/>
                </a:lnTo>
                <a:lnTo>
                  <a:pt x="2818447" y="367914"/>
                </a:lnTo>
                <a:lnTo>
                  <a:pt x="2828925" y="367914"/>
                </a:lnTo>
                <a:lnTo>
                  <a:pt x="2839402" y="367914"/>
                </a:lnTo>
                <a:lnTo>
                  <a:pt x="2849880" y="354601"/>
                </a:lnTo>
                <a:lnTo>
                  <a:pt x="2860357" y="354601"/>
                </a:lnTo>
                <a:lnTo>
                  <a:pt x="2870835" y="354601"/>
                </a:lnTo>
                <a:lnTo>
                  <a:pt x="2881312" y="354601"/>
                </a:lnTo>
                <a:lnTo>
                  <a:pt x="2891790" y="328623"/>
                </a:lnTo>
                <a:lnTo>
                  <a:pt x="2902267" y="322453"/>
                </a:lnTo>
                <a:lnTo>
                  <a:pt x="2912745" y="313036"/>
                </a:lnTo>
                <a:lnTo>
                  <a:pt x="2923222" y="312711"/>
                </a:lnTo>
                <a:lnTo>
                  <a:pt x="2933700" y="312062"/>
                </a:lnTo>
                <a:lnTo>
                  <a:pt x="2944177" y="275043"/>
                </a:lnTo>
                <a:lnTo>
                  <a:pt x="2954655" y="274718"/>
                </a:lnTo>
                <a:lnTo>
                  <a:pt x="2965132" y="274718"/>
                </a:lnTo>
                <a:lnTo>
                  <a:pt x="2975610" y="274718"/>
                </a:lnTo>
                <a:lnTo>
                  <a:pt x="2986087" y="274718"/>
                </a:lnTo>
                <a:lnTo>
                  <a:pt x="2996565" y="274718"/>
                </a:lnTo>
                <a:lnTo>
                  <a:pt x="3007042" y="275043"/>
                </a:lnTo>
                <a:lnTo>
                  <a:pt x="3017519" y="268873"/>
                </a:lnTo>
                <a:lnTo>
                  <a:pt x="3027997" y="219840"/>
                </a:lnTo>
                <a:lnTo>
                  <a:pt x="3038475" y="219840"/>
                </a:lnTo>
                <a:lnTo>
                  <a:pt x="3048952" y="219840"/>
                </a:lnTo>
                <a:lnTo>
                  <a:pt x="3059429" y="219840"/>
                </a:lnTo>
                <a:lnTo>
                  <a:pt x="3069907" y="216917"/>
                </a:lnTo>
                <a:lnTo>
                  <a:pt x="3080385" y="216917"/>
                </a:lnTo>
                <a:lnTo>
                  <a:pt x="3090862" y="216917"/>
                </a:lnTo>
                <a:lnTo>
                  <a:pt x="3101340" y="216917"/>
                </a:lnTo>
                <a:lnTo>
                  <a:pt x="3111817" y="216917"/>
                </a:lnTo>
                <a:lnTo>
                  <a:pt x="3122295" y="102289"/>
                </a:lnTo>
                <a:lnTo>
                  <a:pt x="3132772" y="87676"/>
                </a:lnTo>
                <a:lnTo>
                  <a:pt x="3143250" y="87027"/>
                </a:lnTo>
                <a:lnTo>
                  <a:pt x="3153727" y="87027"/>
                </a:lnTo>
                <a:lnTo>
                  <a:pt x="3164205" y="87676"/>
                </a:lnTo>
                <a:lnTo>
                  <a:pt x="3174682" y="87676"/>
                </a:lnTo>
                <a:lnTo>
                  <a:pt x="3185160" y="162363"/>
                </a:lnTo>
                <a:lnTo>
                  <a:pt x="3195637" y="204902"/>
                </a:lnTo>
                <a:lnTo>
                  <a:pt x="3206115" y="231205"/>
                </a:lnTo>
                <a:lnTo>
                  <a:pt x="3216592" y="231205"/>
                </a:lnTo>
                <a:lnTo>
                  <a:pt x="3227070" y="231205"/>
                </a:lnTo>
                <a:lnTo>
                  <a:pt x="3237547" y="231205"/>
                </a:lnTo>
                <a:lnTo>
                  <a:pt x="3248025" y="231205"/>
                </a:lnTo>
                <a:lnTo>
                  <a:pt x="3258502" y="231205"/>
                </a:lnTo>
                <a:lnTo>
                  <a:pt x="3268980" y="231205"/>
                </a:lnTo>
                <a:lnTo>
                  <a:pt x="3279457" y="231205"/>
                </a:lnTo>
                <a:lnTo>
                  <a:pt x="3289935" y="231205"/>
                </a:lnTo>
                <a:lnTo>
                  <a:pt x="3300412" y="231205"/>
                </a:lnTo>
                <a:lnTo>
                  <a:pt x="3310890" y="231205"/>
                </a:lnTo>
                <a:lnTo>
                  <a:pt x="3321367" y="230880"/>
                </a:lnTo>
                <a:lnTo>
                  <a:pt x="3331844" y="163337"/>
                </a:lnTo>
                <a:lnTo>
                  <a:pt x="3342322" y="125669"/>
                </a:lnTo>
                <a:lnTo>
                  <a:pt x="3352800" y="113330"/>
                </a:lnTo>
                <a:lnTo>
                  <a:pt x="3363277" y="100016"/>
                </a:lnTo>
                <a:lnTo>
                  <a:pt x="3373754" y="100016"/>
                </a:lnTo>
                <a:lnTo>
                  <a:pt x="3384232" y="100016"/>
                </a:lnTo>
                <a:lnTo>
                  <a:pt x="3394710" y="100016"/>
                </a:lnTo>
                <a:lnTo>
                  <a:pt x="3405187" y="100016"/>
                </a:lnTo>
                <a:lnTo>
                  <a:pt x="3415665" y="100016"/>
                </a:lnTo>
                <a:lnTo>
                  <a:pt x="3426142" y="114953"/>
                </a:lnTo>
                <a:lnTo>
                  <a:pt x="3436620" y="138658"/>
                </a:lnTo>
                <a:lnTo>
                  <a:pt x="3447097" y="173079"/>
                </a:lnTo>
                <a:lnTo>
                  <a:pt x="3457575" y="195810"/>
                </a:lnTo>
                <a:lnTo>
                  <a:pt x="3468052" y="197433"/>
                </a:lnTo>
                <a:lnTo>
                  <a:pt x="3478530" y="87352"/>
                </a:lnTo>
                <a:lnTo>
                  <a:pt x="3489007" y="11041"/>
                </a:lnTo>
                <a:lnTo>
                  <a:pt x="3499485" y="325"/>
                </a:lnTo>
                <a:lnTo>
                  <a:pt x="3509962" y="0"/>
                </a:lnTo>
                <a:lnTo>
                  <a:pt x="3520440" y="0"/>
                </a:lnTo>
                <a:lnTo>
                  <a:pt x="3530917" y="0"/>
                </a:lnTo>
                <a:lnTo>
                  <a:pt x="3541395" y="0"/>
                </a:lnTo>
                <a:lnTo>
                  <a:pt x="3551872" y="0"/>
                </a:lnTo>
                <a:lnTo>
                  <a:pt x="3562350" y="0"/>
                </a:lnTo>
                <a:lnTo>
                  <a:pt x="3572827" y="0"/>
                </a:lnTo>
                <a:lnTo>
                  <a:pt x="3583305" y="39617"/>
                </a:lnTo>
                <a:lnTo>
                  <a:pt x="3593782" y="101315"/>
                </a:lnTo>
                <a:lnTo>
                  <a:pt x="3604260" y="130540"/>
                </a:lnTo>
                <a:lnTo>
                  <a:pt x="3614737" y="193212"/>
                </a:lnTo>
                <a:lnTo>
                  <a:pt x="3625215" y="213345"/>
                </a:lnTo>
                <a:lnTo>
                  <a:pt x="3635692" y="230231"/>
                </a:lnTo>
                <a:lnTo>
                  <a:pt x="3646170" y="231530"/>
                </a:lnTo>
                <a:lnTo>
                  <a:pt x="3656647" y="231530"/>
                </a:lnTo>
                <a:lnTo>
                  <a:pt x="3667125" y="344859"/>
                </a:lnTo>
                <a:lnTo>
                  <a:pt x="3677602" y="345833"/>
                </a:lnTo>
                <a:lnTo>
                  <a:pt x="3688080" y="345833"/>
                </a:lnTo>
                <a:lnTo>
                  <a:pt x="3698557" y="345833"/>
                </a:lnTo>
                <a:lnTo>
                  <a:pt x="3709035" y="341936"/>
                </a:lnTo>
                <a:lnTo>
                  <a:pt x="3719512" y="341936"/>
                </a:lnTo>
                <a:lnTo>
                  <a:pt x="3729990" y="341936"/>
                </a:lnTo>
                <a:lnTo>
                  <a:pt x="3740467" y="341936"/>
                </a:lnTo>
                <a:lnTo>
                  <a:pt x="3750945" y="294526"/>
                </a:lnTo>
                <a:lnTo>
                  <a:pt x="3761422" y="294526"/>
                </a:lnTo>
                <a:lnTo>
                  <a:pt x="3771900" y="294851"/>
                </a:lnTo>
                <a:lnTo>
                  <a:pt x="3782377" y="294851"/>
                </a:lnTo>
                <a:lnTo>
                  <a:pt x="3792854" y="294851"/>
                </a:lnTo>
                <a:lnTo>
                  <a:pt x="3803332" y="371486"/>
                </a:lnTo>
                <a:lnTo>
                  <a:pt x="3813810" y="402985"/>
                </a:lnTo>
                <a:lnTo>
                  <a:pt x="3824287" y="450719"/>
                </a:lnTo>
                <a:lnTo>
                  <a:pt x="3834764" y="450719"/>
                </a:lnTo>
                <a:lnTo>
                  <a:pt x="3845242" y="451369"/>
                </a:lnTo>
                <a:lnTo>
                  <a:pt x="3855720" y="451369"/>
                </a:lnTo>
                <a:lnTo>
                  <a:pt x="3866197" y="451693"/>
                </a:lnTo>
                <a:lnTo>
                  <a:pt x="3876675" y="452992"/>
                </a:lnTo>
                <a:lnTo>
                  <a:pt x="3887152" y="457863"/>
                </a:lnTo>
                <a:lnTo>
                  <a:pt x="3897630" y="463384"/>
                </a:lnTo>
                <a:lnTo>
                  <a:pt x="3908107" y="463384"/>
                </a:lnTo>
                <a:lnTo>
                  <a:pt x="3918585" y="463384"/>
                </a:lnTo>
                <a:lnTo>
                  <a:pt x="3929062" y="441627"/>
                </a:lnTo>
                <a:lnTo>
                  <a:pt x="3939540" y="441302"/>
                </a:lnTo>
                <a:lnTo>
                  <a:pt x="3950017" y="441302"/>
                </a:lnTo>
                <a:lnTo>
                  <a:pt x="3960495" y="441627"/>
                </a:lnTo>
                <a:lnTo>
                  <a:pt x="3970972" y="441627"/>
                </a:lnTo>
                <a:lnTo>
                  <a:pt x="3981450" y="441627"/>
                </a:lnTo>
                <a:lnTo>
                  <a:pt x="3991927" y="441627"/>
                </a:lnTo>
                <a:lnTo>
                  <a:pt x="4002405" y="441627"/>
                </a:lnTo>
                <a:lnTo>
                  <a:pt x="4012882" y="441627"/>
                </a:lnTo>
                <a:lnTo>
                  <a:pt x="4023360" y="441952"/>
                </a:lnTo>
                <a:lnTo>
                  <a:pt x="4033837" y="441952"/>
                </a:lnTo>
                <a:lnTo>
                  <a:pt x="4044315" y="441952"/>
                </a:lnTo>
                <a:lnTo>
                  <a:pt x="4054792" y="441952"/>
                </a:lnTo>
                <a:lnTo>
                  <a:pt x="4065270" y="448771"/>
                </a:lnTo>
                <a:lnTo>
                  <a:pt x="4075747" y="394542"/>
                </a:lnTo>
                <a:lnTo>
                  <a:pt x="4086225" y="394542"/>
                </a:lnTo>
                <a:lnTo>
                  <a:pt x="4096702" y="396165"/>
                </a:lnTo>
                <a:lnTo>
                  <a:pt x="4107179" y="396165"/>
                </a:lnTo>
                <a:lnTo>
                  <a:pt x="4117657" y="395841"/>
                </a:lnTo>
                <a:lnTo>
                  <a:pt x="4128135" y="393892"/>
                </a:lnTo>
                <a:lnTo>
                  <a:pt x="4138612" y="347781"/>
                </a:lnTo>
                <a:lnTo>
                  <a:pt x="4149089" y="347781"/>
                </a:lnTo>
                <a:lnTo>
                  <a:pt x="4159567" y="347781"/>
                </a:lnTo>
                <a:lnTo>
                  <a:pt x="4170045" y="347781"/>
                </a:lnTo>
                <a:lnTo>
                  <a:pt x="4180522" y="347781"/>
                </a:lnTo>
                <a:lnTo>
                  <a:pt x="4191000" y="347781"/>
                </a:lnTo>
                <a:lnTo>
                  <a:pt x="4201477" y="347781"/>
                </a:lnTo>
                <a:lnTo>
                  <a:pt x="4211955" y="362719"/>
                </a:lnTo>
                <a:lnTo>
                  <a:pt x="4222432" y="362719"/>
                </a:lnTo>
                <a:lnTo>
                  <a:pt x="4232910" y="374734"/>
                </a:lnTo>
                <a:lnTo>
                  <a:pt x="4243387" y="423118"/>
                </a:lnTo>
                <a:lnTo>
                  <a:pt x="4253865" y="423118"/>
                </a:lnTo>
                <a:lnTo>
                  <a:pt x="4264342" y="422793"/>
                </a:lnTo>
                <a:lnTo>
                  <a:pt x="4274820" y="422793"/>
                </a:lnTo>
                <a:lnTo>
                  <a:pt x="4285297" y="422468"/>
                </a:lnTo>
                <a:lnTo>
                  <a:pt x="4295775" y="422468"/>
                </a:lnTo>
                <a:lnTo>
                  <a:pt x="4306252" y="421819"/>
                </a:lnTo>
                <a:lnTo>
                  <a:pt x="4316730" y="421819"/>
                </a:lnTo>
                <a:lnTo>
                  <a:pt x="4327207" y="421819"/>
                </a:lnTo>
                <a:lnTo>
                  <a:pt x="4337685" y="421819"/>
                </a:lnTo>
                <a:lnTo>
                  <a:pt x="4348162" y="427339"/>
                </a:lnTo>
                <a:lnTo>
                  <a:pt x="4358640" y="440003"/>
                </a:lnTo>
                <a:lnTo>
                  <a:pt x="4369117" y="440003"/>
                </a:lnTo>
                <a:lnTo>
                  <a:pt x="4379595" y="440003"/>
                </a:lnTo>
                <a:lnTo>
                  <a:pt x="4390072" y="439679"/>
                </a:lnTo>
                <a:lnTo>
                  <a:pt x="4400550" y="439679"/>
                </a:lnTo>
                <a:lnTo>
                  <a:pt x="4411027" y="439679"/>
                </a:lnTo>
                <a:lnTo>
                  <a:pt x="4421504" y="452668"/>
                </a:lnTo>
                <a:lnTo>
                  <a:pt x="4431982" y="498129"/>
                </a:lnTo>
                <a:lnTo>
                  <a:pt x="4442460" y="498779"/>
                </a:lnTo>
                <a:lnTo>
                  <a:pt x="4452937" y="540019"/>
                </a:lnTo>
                <a:lnTo>
                  <a:pt x="4463414" y="567945"/>
                </a:lnTo>
                <a:lnTo>
                  <a:pt x="4473892" y="567945"/>
                </a:lnTo>
                <a:lnTo>
                  <a:pt x="4484370" y="623798"/>
                </a:lnTo>
                <a:lnTo>
                  <a:pt x="4494847" y="623798"/>
                </a:lnTo>
                <a:lnTo>
                  <a:pt x="4505325" y="673481"/>
                </a:lnTo>
                <a:lnTo>
                  <a:pt x="4515802" y="713747"/>
                </a:lnTo>
                <a:lnTo>
                  <a:pt x="4526280" y="730632"/>
                </a:lnTo>
                <a:lnTo>
                  <a:pt x="4536757" y="730632"/>
                </a:lnTo>
                <a:lnTo>
                  <a:pt x="4547235" y="731282"/>
                </a:lnTo>
                <a:lnTo>
                  <a:pt x="4557712" y="731282"/>
                </a:lnTo>
                <a:lnTo>
                  <a:pt x="4568190" y="731282"/>
                </a:lnTo>
                <a:lnTo>
                  <a:pt x="4578667" y="731282"/>
                </a:lnTo>
                <a:lnTo>
                  <a:pt x="4589145" y="729983"/>
                </a:lnTo>
                <a:lnTo>
                  <a:pt x="4599622" y="729658"/>
                </a:lnTo>
                <a:lnTo>
                  <a:pt x="4610100" y="728035"/>
                </a:lnTo>
                <a:lnTo>
                  <a:pt x="4620577" y="678676"/>
                </a:lnTo>
                <a:lnTo>
                  <a:pt x="4631055" y="653023"/>
                </a:lnTo>
                <a:lnTo>
                  <a:pt x="4641532" y="650101"/>
                </a:lnTo>
                <a:lnTo>
                  <a:pt x="4652010" y="650101"/>
                </a:lnTo>
                <a:lnTo>
                  <a:pt x="4662487" y="650101"/>
                </a:lnTo>
                <a:lnTo>
                  <a:pt x="4672965" y="650101"/>
                </a:lnTo>
                <a:lnTo>
                  <a:pt x="4683442" y="628669"/>
                </a:lnTo>
                <a:lnTo>
                  <a:pt x="4693920" y="628669"/>
                </a:lnTo>
                <a:lnTo>
                  <a:pt x="4704397" y="609835"/>
                </a:lnTo>
                <a:lnTo>
                  <a:pt x="4714875" y="567620"/>
                </a:lnTo>
                <a:lnTo>
                  <a:pt x="4725352" y="567620"/>
                </a:lnTo>
                <a:lnTo>
                  <a:pt x="4735829" y="567296"/>
                </a:lnTo>
                <a:lnTo>
                  <a:pt x="4746307" y="567296"/>
                </a:lnTo>
                <a:lnTo>
                  <a:pt x="4756785" y="567296"/>
                </a:lnTo>
                <a:lnTo>
                  <a:pt x="4767262" y="567296"/>
                </a:lnTo>
                <a:lnTo>
                  <a:pt x="4777739" y="567296"/>
                </a:lnTo>
                <a:lnTo>
                  <a:pt x="4788217" y="567296"/>
                </a:lnTo>
                <a:lnTo>
                  <a:pt x="4798695" y="567296"/>
                </a:lnTo>
                <a:lnTo>
                  <a:pt x="4809172" y="567296"/>
                </a:lnTo>
                <a:lnTo>
                  <a:pt x="4819650" y="567296"/>
                </a:lnTo>
                <a:lnTo>
                  <a:pt x="4830127" y="567296"/>
                </a:lnTo>
                <a:lnTo>
                  <a:pt x="4840605" y="567296"/>
                </a:lnTo>
                <a:lnTo>
                  <a:pt x="4851082" y="567296"/>
                </a:lnTo>
                <a:lnTo>
                  <a:pt x="4861560" y="567296"/>
                </a:lnTo>
                <a:lnTo>
                  <a:pt x="4872037" y="567296"/>
                </a:lnTo>
                <a:lnTo>
                  <a:pt x="4882515" y="567296"/>
                </a:lnTo>
                <a:lnTo>
                  <a:pt x="4892992" y="567296"/>
                </a:lnTo>
                <a:lnTo>
                  <a:pt x="4903470" y="567296"/>
                </a:lnTo>
                <a:lnTo>
                  <a:pt x="4913947" y="549436"/>
                </a:lnTo>
                <a:lnTo>
                  <a:pt x="4924425" y="509495"/>
                </a:lnTo>
                <a:lnTo>
                  <a:pt x="4934902" y="509819"/>
                </a:lnTo>
                <a:lnTo>
                  <a:pt x="4945380" y="509819"/>
                </a:lnTo>
                <a:lnTo>
                  <a:pt x="4955857" y="509819"/>
                </a:lnTo>
                <a:lnTo>
                  <a:pt x="4966335" y="484815"/>
                </a:lnTo>
                <a:lnTo>
                  <a:pt x="4976812" y="420845"/>
                </a:lnTo>
                <a:lnTo>
                  <a:pt x="4987290" y="394217"/>
                </a:lnTo>
                <a:lnTo>
                  <a:pt x="4997767" y="365641"/>
                </a:lnTo>
                <a:lnTo>
                  <a:pt x="5008245" y="332519"/>
                </a:lnTo>
                <a:lnTo>
                  <a:pt x="5018722" y="313685"/>
                </a:lnTo>
                <a:lnTo>
                  <a:pt x="5029200" y="309788"/>
                </a:lnTo>
              </a:path>
            </a:pathLst>
          </a:custGeom>
          <a:noFill/>
          <a:ln w="1397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5466" y="385208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6421" y="3683879"/>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7376" y="3617960"/>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331" y="3617635"/>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99286" y="3599776"/>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0241" y="356990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41196" y="351047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62151" y="351047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83106" y="3649459"/>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4061" y="369459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5016" y="369459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45971" y="369427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66926" y="369427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87881" y="369427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08836" y="361796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29791" y="361796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250746" y="360529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271701" y="360497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92656" y="360497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13611" y="360497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334566" y="359003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355521" y="345429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76476" y="335525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97431" y="335525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418386" y="335493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439341" y="328187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460296" y="328187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481251" y="328187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502206" y="328641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23161" y="316302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544116" y="314288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65071" y="299935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586026" y="287823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606981" y="281004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627936" y="281004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648891" y="281004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669846" y="2808745"/>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690801" y="2905838"/>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711756" y="291168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732711" y="299611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753666" y="3152304"/>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774621" y="3153278"/>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795576" y="3153278"/>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816531" y="3150680"/>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837486" y="3078916"/>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858441" y="3066252"/>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879396" y="3044820"/>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900351" y="301397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921306" y="301397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942261" y="301397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963216" y="302014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984171" y="3037027"/>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05126" y="304092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026081" y="304092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047036" y="304124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067991" y="2989941"/>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088946" y="298961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109901" y="298961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130856" y="295941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151811" y="2959742"/>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172766" y="295941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193721" y="295909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214676" y="295909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235631" y="3068200"/>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256586" y="3147433"/>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277541" y="3147433"/>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298496" y="314743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2319451" y="314743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340406" y="314678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361361" y="315165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382316" y="3047418"/>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403271" y="3047418"/>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424226" y="304741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445181" y="304741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466136" y="3048392"/>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2487091" y="3048392"/>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508046" y="304806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529001" y="302566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549956" y="297727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570911" y="297727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591866" y="297662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612821" y="297662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633776" y="293993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654731" y="293766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675686" y="285615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696641" y="284576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717596" y="284543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738551" y="284478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759506" y="279575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780461" y="269898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801416" y="269476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822371" y="269184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843326" y="2555134"/>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864281" y="255545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885236" y="255545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906191" y="255545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927146" y="249278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948101" y="242264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2969056" y="2422322"/>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990011" y="241875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010966" y="241875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031921" y="241875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052876" y="241875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073831" y="241842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094786" y="241842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115741" y="236939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136696" y="2315162"/>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157651" y="208460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178606" y="2088829"/>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199561" y="214565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220516" y="214565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241471" y="228528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262426" y="231938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283381" y="237978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304336" y="237783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325291" y="2235605"/>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346246" y="223592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367201" y="2214822"/>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388156" y="218267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409111" y="218267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430066" y="211870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451021" y="209337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471976" y="206220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492931" y="205765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513886" y="203395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534841" y="203395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555796" y="202063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576751" y="202063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597706" y="199465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618661" y="1979072"/>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639616" y="197809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660571" y="194075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681526" y="194075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3702481" y="194075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3723436" y="193490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744391" y="188587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3765346" y="188587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786301" y="188295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3807256" y="188295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3828211" y="1768325"/>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3849166" y="175306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3870121" y="1753712"/>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3891076" y="1828399"/>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3912031" y="189724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3932986" y="189724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3953941" y="189724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974896" y="189724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3995851" y="189724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016806" y="189724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37761" y="182937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4058716" y="177936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079671" y="1766052"/>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100626" y="1766052"/>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21581" y="1766052"/>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142536" y="1804694"/>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4163491" y="186184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184446" y="175338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205401" y="1666361"/>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226356" y="166603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4247311" y="166603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268266" y="166603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289221" y="170565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310176" y="1796576"/>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331131" y="1879381"/>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352086" y="1897565"/>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373041" y="2010895"/>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393996" y="2011869"/>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414951" y="2007972"/>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4435906" y="2007972"/>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4456861" y="1960562"/>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4477816" y="196088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4498771" y="196088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519726" y="2069020"/>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540681" y="2116755"/>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561636" y="2117404"/>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582591" y="2119028"/>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603546" y="212941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624501" y="212941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645456" y="210733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666411" y="210766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687366" y="210766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708321" y="2107663"/>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4729276" y="210798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750231" y="210798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771186" y="2114807"/>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4792141" y="2060578"/>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813096" y="2062201"/>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834051" y="2059928"/>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855006" y="201381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875961" y="201381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896916" y="2013817"/>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917871" y="202875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938826" y="2040769"/>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959781" y="208915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980736" y="2088829"/>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5001691" y="208850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5022646" y="208785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5043601" y="208785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5064556" y="2106039"/>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5085511" y="2106039"/>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5106466" y="210571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5127421" y="2118703"/>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5148376" y="216481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5169331" y="2233981"/>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5190286" y="2289834"/>
            <a:ext cx="51206" cy="51206"/>
          </a:xfrm>
          <a:prstGeom prst="ellipse">
            <a:avLst/>
          </a:prstGeom>
          <a:solidFill>
            <a:srgbClr val="FD5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5211241" y="2339517"/>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5232196" y="239666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5253151" y="239731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5274106" y="2397318"/>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5295061" y="2396019"/>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5316016" y="2394070"/>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5336971" y="2319059"/>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5357926" y="2316136"/>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5378881" y="2316136"/>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5399836" y="2294705"/>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5420791" y="2233656"/>
            <a:ext cx="51206" cy="51206"/>
          </a:xfrm>
          <a:prstGeom prst="ellipse">
            <a:avLst/>
          </a:prstGeom>
          <a:solidFill>
            <a:srgbClr val="B3A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5441746" y="223333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5462701" y="223333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5483656" y="2233331"/>
            <a:ext cx="51206" cy="51206"/>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108.68"/>
          <p:cNvSpPr txBox="1"/>
          <p:nvPr/>
        </p:nvSpPr>
        <p:spPr>
          <a:xfrm>
            <a:off x="566928" y="1481328"/>
            <a:ext cx="640080" cy="164592"/>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$108.68</a:t>
            </a:r>
          </a:p>
        </p:txBody>
      </p:sp>
      <p:sp>
        <p:nvSpPr>
          <p:cNvPr id="227" name="text:$107.99"/>
          <p:cNvSpPr txBox="1"/>
          <p:nvPr/>
        </p:nvSpPr>
        <p:spPr>
          <a:xfrm>
            <a:off x="5257800" y="3703320"/>
            <a:ext cx="640080" cy="164592"/>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$107.99</a:t>
            </a:r>
          </a:p>
        </p:txBody>
      </p:sp>
      <p:sp>
        <p:nvSpPr>
          <p:cNvPr id="228" name="text:Each dot is one decision, coloured b"/>
          <p:cNvSpPr txBox="1"/>
          <p:nvPr/>
        </p:nvSpPr>
        <p:spPr>
          <a:xfrm>
            <a:off x="731520" y="3931920"/>
            <a:ext cx="5120640" cy="201168"/>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Each dot is one decision, coloured by its label. Orca SOL/USDC pool price, one sample every 5 seconds.</a:t>
            </a:r>
          </a:p>
        </p:txBody>
      </p:sp>
      <p:sp>
        <p:nvSpPr>
          <p:cNvPr id="229" name="Rounded Rectangle 228"/>
          <p:cNvSpPr/>
          <p:nvPr/>
        </p:nvSpPr>
        <p:spPr>
          <a:xfrm>
            <a:off x="6126480" y="1417320"/>
            <a:ext cx="2514600" cy="621792"/>
          </a:xfrm>
          <a:prstGeom prst="roundRect">
            <a:avLst>
              <a:gd name="adj" fmla="val 20588"/>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PROFIT TARGET FIRST (+1)"/>
          <p:cNvSpPr txBox="1"/>
          <p:nvPr/>
        </p:nvSpPr>
        <p:spPr>
          <a:xfrm>
            <a:off x="6291072" y="1481328"/>
            <a:ext cx="2194560" cy="164592"/>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PROFIT TARGET FIRST (+1)</a:t>
            </a:r>
          </a:p>
        </p:txBody>
      </p:sp>
      <p:sp>
        <p:nvSpPr>
          <p:cNvPr id="231" name="text:118"/>
          <p:cNvSpPr txBox="1"/>
          <p:nvPr/>
        </p:nvSpPr>
        <p:spPr>
          <a:xfrm>
            <a:off x="6291072" y="1645920"/>
            <a:ext cx="91440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118</a:t>
            </a:r>
          </a:p>
        </p:txBody>
      </p:sp>
      <p:sp>
        <p:nvSpPr>
          <p:cNvPr id="232" name="text:54% of 219"/>
          <p:cNvSpPr txBox="1"/>
          <p:nvPr/>
        </p:nvSpPr>
        <p:spPr>
          <a:xfrm>
            <a:off x="7132320" y="1728216"/>
            <a:ext cx="141732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54% of 219</a:t>
            </a:r>
          </a:p>
        </p:txBody>
      </p:sp>
      <p:sp>
        <p:nvSpPr>
          <p:cNvPr id="233" name="Rounded Rectangle 232"/>
          <p:cNvSpPr/>
          <p:nvPr/>
        </p:nvSpPr>
        <p:spPr>
          <a:xfrm>
            <a:off x="6126480" y="2130552"/>
            <a:ext cx="2514600" cy="621792"/>
          </a:xfrm>
          <a:prstGeom prst="roundRect">
            <a:avLst>
              <a:gd name="adj" fmla="val 20588"/>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STOP FIRST (-1)"/>
          <p:cNvSpPr txBox="1"/>
          <p:nvPr/>
        </p:nvSpPr>
        <p:spPr>
          <a:xfrm>
            <a:off x="6291072" y="2194560"/>
            <a:ext cx="2194560" cy="164592"/>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STOP FIRST (-1)</a:t>
            </a:r>
          </a:p>
        </p:txBody>
      </p:sp>
      <p:sp>
        <p:nvSpPr>
          <p:cNvPr id="235" name="text:56"/>
          <p:cNvSpPr txBox="1"/>
          <p:nvPr/>
        </p:nvSpPr>
        <p:spPr>
          <a:xfrm>
            <a:off x="6291072" y="2359152"/>
            <a:ext cx="91440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56</a:t>
            </a:r>
          </a:p>
        </p:txBody>
      </p:sp>
      <p:sp>
        <p:nvSpPr>
          <p:cNvPr id="236" name="text:26% of 219"/>
          <p:cNvSpPr txBox="1"/>
          <p:nvPr/>
        </p:nvSpPr>
        <p:spPr>
          <a:xfrm>
            <a:off x="7132320" y="2441448"/>
            <a:ext cx="141732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26% of 219</a:t>
            </a:r>
          </a:p>
        </p:txBody>
      </p:sp>
      <p:sp>
        <p:nvSpPr>
          <p:cNvPr id="237" name="Rounded Rectangle 236"/>
          <p:cNvSpPr/>
          <p:nvPr/>
        </p:nvSpPr>
        <p:spPr>
          <a:xfrm>
            <a:off x="6126480" y="2843784"/>
            <a:ext cx="2514600" cy="621792"/>
          </a:xfrm>
          <a:prstGeom prst="roundRect">
            <a:avLst>
              <a:gd name="adj" fmla="val 20588"/>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TIME RAN OUT (0)"/>
          <p:cNvSpPr txBox="1"/>
          <p:nvPr/>
        </p:nvSpPr>
        <p:spPr>
          <a:xfrm>
            <a:off x="6291072" y="2907792"/>
            <a:ext cx="219456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TIME RAN OUT (0)</a:t>
            </a:r>
          </a:p>
        </p:txBody>
      </p:sp>
      <p:sp>
        <p:nvSpPr>
          <p:cNvPr id="239" name="text:45"/>
          <p:cNvSpPr txBox="1"/>
          <p:nvPr/>
        </p:nvSpPr>
        <p:spPr>
          <a:xfrm>
            <a:off x="6291072" y="3072384"/>
            <a:ext cx="91440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45</a:t>
            </a:r>
          </a:p>
        </p:txBody>
      </p:sp>
      <p:sp>
        <p:nvSpPr>
          <p:cNvPr id="240" name="text:21% of 219"/>
          <p:cNvSpPr txBox="1"/>
          <p:nvPr/>
        </p:nvSpPr>
        <p:spPr>
          <a:xfrm>
            <a:off x="7132320" y="3154680"/>
            <a:ext cx="141732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21% of 219</a:t>
            </a:r>
          </a:p>
        </p:txBody>
      </p:sp>
      <p:sp>
        <p:nvSpPr>
          <p:cNvPr id="241" name="Rounded Rectangle 240"/>
          <p:cNvSpPr/>
          <p:nvPr/>
        </p:nvSpPr>
        <p:spPr>
          <a:xfrm>
            <a:off x="6126480" y="3566160"/>
            <a:ext cx="2514600" cy="594360"/>
          </a:xfrm>
          <a:prstGeom prst="roundRect">
            <a:avLst>
              <a:gd name="adj" fmla="val 21538"/>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A fixed-time label disagrees on 57 o"/>
          <p:cNvSpPr txBox="1"/>
          <p:nvPr/>
        </p:nvSpPr>
        <p:spPr>
          <a:xfrm>
            <a:off x="6263640" y="3566160"/>
            <a:ext cx="2286000" cy="594360"/>
          </a:xfrm>
          <a:prstGeom prst="rect">
            <a:avLst/>
          </a:prstGeom>
          <a:noFill/>
        </p:spPr>
        <p:txBody>
          <a:bodyPr wrap="square" lIns="9144" rIns="9144" tIns="0" bIns="0" anchor="ctr">
            <a:spAutoFit/>
          </a:bodyPr>
          <a:lstStyle/>
          <a:p>
            <a:pPr>
              <a:lnSpc>
                <a:spcPct val="106000"/>
              </a:lnSpc>
              <a:spcAft>
                <a:spcPts val="400"/>
              </a:spcAft>
              <a:defRPr sz="1050" b="0">
                <a:solidFill>
                  <a:srgbClr val="F2F5F8"/>
                </a:solidFill>
                <a:latin typeface="Helvetica Neue"/>
              </a:defRPr>
            </a:pPr>
            <a:r>
              <a:t>A fixed-time label disagrees on 57 of 219 (26%).</a:t>
            </a:r>
          </a:p>
        </p:txBody>
      </p:sp>
      <p:sp>
        <p:nvSpPr>
          <p:cNvPr id="243" name="Rounded Rectangle 242"/>
          <p:cNvSpPr/>
          <p:nvPr/>
        </p:nvSpPr>
        <p:spPr>
          <a:xfrm>
            <a:off x="548640" y="4251960"/>
            <a:ext cx="809244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Reads use public mainnet data; every"/>
          <p:cNvSpPr txBox="1"/>
          <p:nvPr/>
        </p:nvSpPr>
        <p:spPr>
          <a:xfrm>
            <a:off x="713232" y="4251960"/>
            <a:ext cx="7818120" cy="411480"/>
          </a:xfrm>
          <a:prstGeom prst="rect">
            <a:avLst/>
          </a:prstGeom>
          <a:noFill/>
        </p:spPr>
        <p:txBody>
          <a:bodyPr wrap="square" lIns="9144" rIns="9144" tIns="0" bIns="0" anchor="ctr">
            <a:spAutoFit/>
          </a:bodyPr>
          <a:lstStyle/>
          <a:p>
            <a:pPr>
              <a:lnSpc>
                <a:spcPct val="106000"/>
              </a:lnSpc>
              <a:spcAft>
                <a:spcPts val="400"/>
              </a:spcAft>
              <a:defRPr sz="1050" b="0">
                <a:solidFill>
                  <a:srgbClr val="F2F5F8"/>
                </a:solidFill>
                <a:latin typeface="Helvetica Neue"/>
              </a:defRPr>
            </a:pPr>
            <a:r>
              <a:t>Reads use public mainnet data; every write is devnet only; no real funds.  Simulated, on recorded data; not advice.</a:t>
            </a:r>
          </a:p>
        </p:txBody>
      </p:sp>
      <p:sp>
        <p:nvSpPr>
          <p:cNvPr id="245" name="text:Source: out/labels.json, recorded O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out/labels.json, recorded Orca SOL/USDC pool price, 21 Oct 2026 17:14 to 17:54 UTC, 481 samples (from build night 1). Gross of fees.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abels depend on the price path"/>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Labels depend on the price path</a:t>
            </a:r>
          </a:p>
        </p:txBody>
      </p:sp>
      <p:sp>
        <p:nvSpPr>
          <p:cNvPr id="3" name="text:Same agent, same settings, three re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Same agent, same settings, three real price paths.</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text:PRICE PATH"/>
          <p:cNvSpPr txBox="1"/>
          <p:nvPr/>
        </p:nvSpPr>
        <p:spPr>
          <a:xfrm>
            <a:off x="777240" y="1463040"/>
            <a:ext cx="14630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PRICE PATH</a:t>
            </a:r>
          </a:p>
        </p:txBody>
      </p:sp>
      <p:sp>
        <p:nvSpPr>
          <p:cNvPr id="6" name="text:UP"/>
          <p:cNvSpPr txBox="1"/>
          <p:nvPr/>
        </p:nvSpPr>
        <p:spPr>
          <a:xfrm>
            <a:off x="2350008" y="1463040"/>
            <a:ext cx="7315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UP</a:t>
            </a:r>
          </a:p>
        </p:txBody>
      </p:sp>
      <p:sp>
        <p:nvSpPr>
          <p:cNvPr id="7" name="text:DOWN"/>
          <p:cNvSpPr txBox="1"/>
          <p:nvPr/>
        </p:nvSpPr>
        <p:spPr>
          <a:xfrm>
            <a:off x="3191256" y="1463040"/>
            <a:ext cx="7315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DOWN</a:t>
            </a:r>
          </a:p>
        </p:txBody>
      </p:sp>
      <p:sp>
        <p:nvSpPr>
          <p:cNvPr id="8" name="text:TIME"/>
          <p:cNvSpPr txBox="1"/>
          <p:nvPr/>
        </p:nvSpPr>
        <p:spPr>
          <a:xfrm>
            <a:off x="4032504" y="1463040"/>
            <a:ext cx="7315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TIME</a:t>
            </a:r>
          </a:p>
        </p:txBody>
      </p:sp>
      <p:sp>
        <p:nvSpPr>
          <p:cNvPr id="9" name="text:WIDTH"/>
          <p:cNvSpPr txBox="1"/>
          <p:nvPr/>
        </p:nvSpPr>
        <p:spPr>
          <a:xfrm>
            <a:off x="4873752" y="1463040"/>
            <a:ext cx="914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WIDTH</a:t>
            </a:r>
          </a:p>
        </p:txBody>
      </p:sp>
      <p:sp>
        <p:nvSpPr>
          <p:cNvPr id="10" name="text:TRADES"/>
          <p:cNvSpPr txBox="1"/>
          <p:nvPr/>
        </p:nvSpPr>
        <p:spPr>
          <a:xfrm>
            <a:off x="5897880" y="1463040"/>
            <a:ext cx="914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TRADES</a:t>
            </a:r>
          </a:p>
        </p:txBody>
      </p:sp>
      <p:sp>
        <p:nvSpPr>
          <p:cNvPr id="11" name="text:HIT RATE"/>
          <p:cNvSpPr txBox="1"/>
          <p:nvPr/>
        </p:nvSpPr>
        <p:spPr>
          <a:xfrm>
            <a:off x="6922008" y="1463040"/>
            <a:ext cx="10058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HIT RATE</a:t>
            </a:r>
          </a:p>
        </p:txBody>
      </p:sp>
      <p:sp>
        <p:nvSpPr>
          <p:cNvPr id="12" name="Rounded Rectangle 11"/>
          <p:cNvSpPr/>
          <p:nvPr/>
        </p:nvSpPr>
        <p:spPr>
          <a:xfrm>
            <a:off x="548640" y="1737360"/>
            <a:ext cx="8092440" cy="566928"/>
          </a:xfrm>
          <a:prstGeom prst="roundRect">
            <a:avLst>
              <a:gd name="adj" fmla="val 2258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Pyth oracle"/>
          <p:cNvSpPr txBox="1"/>
          <p:nvPr/>
        </p:nvSpPr>
        <p:spPr>
          <a:xfrm>
            <a:off x="777240" y="1737360"/>
            <a:ext cx="1463040" cy="566928"/>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Pyth oracle</a:t>
            </a:r>
          </a:p>
        </p:txBody>
      </p:sp>
      <p:sp>
        <p:nvSpPr>
          <p:cNvPr id="14" name="text:86"/>
          <p:cNvSpPr txBox="1"/>
          <p:nvPr/>
        </p:nvSpPr>
        <p:spPr>
          <a:xfrm>
            <a:off x="2350008" y="1737360"/>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86</a:t>
            </a:r>
          </a:p>
        </p:txBody>
      </p:sp>
      <p:sp>
        <p:nvSpPr>
          <p:cNvPr id="15" name="text:45"/>
          <p:cNvSpPr txBox="1"/>
          <p:nvPr/>
        </p:nvSpPr>
        <p:spPr>
          <a:xfrm>
            <a:off x="3191256" y="1737360"/>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45</a:t>
            </a:r>
          </a:p>
        </p:txBody>
      </p:sp>
      <p:sp>
        <p:nvSpPr>
          <p:cNvPr id="16" name="text:88"/>
          <p:cNvSpPr txBox="1"/>
          <p:nvPr/>
        </p:nvSpPr>
        <p:spPr>
          <a:xfrm>
            <a:off x="4032504" y="1737360"/>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88</a:t>
            </a:r>
          </a:p>
        </p:txBody>
      </p:sp>
      <p:sp>
        <p:nvSpPr>
          <p:cNvPr id="17" name="text:7.4 bps"/>
          <p:cNvSpPr txBox="1"/>
          <p:nvPr/>
        </p:nvSpPr>
        <p:spPr>
          <a:xfrm>
            <a:off x="4873752" y="1737360"/>
            <a:ext cx="914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7.4 bps</a:t>
            </a:r>
          </a:p>
        </p:txBody>
      </p:sp>
      <p:sp>
        <p:nvSpPr>
          <p:cNvPr id="18" name="text:67"/>
          <p:cNvSpPr txBox="1"/>
          <p:nvPr/>
        </p:nvSpPr>
        <p:spPr>
          <a:xfrm>
            <a:off x="5897880" y="1737360"/>
            <a:ext cx="914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67</a:t>
            </a:r>
          </a:p>
        </p:txBody>
      </p:sp>
      <p:sp>
        <p:nvSpPr>
          <p:cNvPr id="19" name="text:14.9%"/>
          <p:cNvSpPr txBox="1"/>
          <p:nvPr/>
        </p:nvSpPr>
        <p:spPr>
          <a:xfrm>
            <a:off x="6922008" y="1737360"/>
            <a:ext cx="100584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14.9%</a:t>
            </a:r>
          </a:p>
        </p:txBody>
      </p:sp>
      <p:sp>
        <p:nvSpPr>
          <p:cNvPr id="20" name="Rounded Rectangle 19"/>
          <p:cNvSpPr/>
          <p:nvPr/>
        </p:nvSpPr>
        <p:spPr>
          <a:xfrm>
            <a:off x="548640" y="2395728"/>
            <a:ext cx="8092440" cy="566928"/>
          </a:xfrm>
          <a:prstGeom prst="roundRect">
            <a:avLst>
              <a:gd name="adj" fmla="val 2258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Jupiter quote"/>
          <p:cNvSpPr txBox="1"/>
          <p:nvPr/>
        </p:nvSpPr>
        <p:spPr>
          <a:xfrm>
            <a:off x="777240" y="2395728"/>
            <a:ext cx="1463040" cy="566928"/>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Jupiter quote</a:t>
            </a:r>
          </a:p>
        </p:txBody>
      </p:sp>
      <p:sp>
        <p:nvSpPr>
          <p:cNvPr id="22" name="text:94"/>
          <p:cNvSpPr txBox="1"/>
          <p:nvPr/>
        </p:nvSpPr>
        <p:spPr>
          <a:xfrm>
            <a:off x="2350008" y="2395728"/>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94</a:t>
            </a:r>
          </a:p>
        </p:txBody>
      </p:sp>
      <p:sp>
        <p:nvSpPr>
          <p:cNvPr id="23" name="text:58"/>
          <p:cNvSpPr txBox="1"/>
          <p:nvPr/>
        </p:nvSpPr>
        <p:spPr>
          <a:xfrm>
            <a:off x="3191256" y="2395728"/>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58</a:t>
            </a:r>
          </a:p>
        </p:txBody>
      </p:sp>
      <p:sp>
        <p:nvSpPr>
          <p:cNvPr id="24" name="text:67"/>
          <p:cNvSpPr txBox="1"/>
          <p:nvPr/>
        </p:nvSpPr>
        <p:spPr>
          <a:xfrm>
            <a:off x="4032504" y="2395728"/>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67</a:t>
            </a:r>
          </a:p>
        </p:txBody>
      </p:sp>
      <p:sp>
        <p:nvSpPr>
          <p:cNvPr id="25" name="text:7.2 bps"/>
          <p:cNvSpPr txBox="1"/>
          <p:nvPr/>
        </p:nvSpPr>
        <p:spPr>
          <a:xfrm>
            <a:off x="4873752" y="2395728"/>
            <a:ext cx="914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7.2 bps</a:t>
            </a:r>
          </a:p>
        </p:txBody>
      </p:sp>
      <p:sp>
        <p:nvSpPr>
          <p:cNvPr id="26" name="text:75"/>
          <p:cNvSpPr txBox="1"/>
          <p:nvPr/>
        </p:nvSpPr>
        <p:spPr>
          <a:xfrm>
            <a:off x="5897880" y="2395728"/>
            <a:ext cx="914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75</a:t>
            </a:r>
          </a:p>
        </p:txBody>
      </p:sp>
      <p:sp>
        <p:nvSpPr>
          <p:cNvPr id="27" name="text:32%"/>
          <p:cNvSpPr txBox="1"/>
          <p:nvPr/>
        </p:nvSpPr>
        <p:spPr>
          <a:xfrm>
            <a:off x="6922008" y="2395728"/>
            <a:ext cx="100584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32%</a:t>
            </a:r>
          </a:p>
        </p:txBody>
      </p:sp>
      <p:sp>
        <p:nvSpPr>
          <p:cNvPr id="28" name="Rounded Rectangle 27"/>
          <p:cNvSpPr/>
          <p:nvPr/>
        </p:nvSpPr>
        <p:spPr>
          <a:xfrm>
            <a:off x="548640" y="3054096"/>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Orca pool price"/>
          <p:cNvSpPr txBox="1"/>
          <p:nvPr/>
        </p:nvSpPr>
        <p:spPr>
          <a:xfrm>
            <a:off x="777240" y="3054096"/>
            <a:ext cx="1463040" cy="566928"/>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Orca pool price</a:t>
            </a:r>
          </a:p>
        </p:txBody>
      </p:sp>
      <p:sp>
        <p:nvSpPr>
          <p:cNvPr id="30" name="text:118"/>
          <p:cNvSpPr txBox="1"/>
          <p:nvPr/>
        </p:nvSpPr>
        <p:spPr>
          <a:xfrm>
            <a:off x="2350008" y="3054096"/>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118</a:t>
            </a:r>
          </a:p>
        </p:txBody>
      </p:sp>
      <p:sp>
        <p:nvSpPr>
          <p:cNvPr id="31" name="text:56"/>
          <p:cNvSpPr txBox="1"/>
          <p:nvPr/>
        </p:nvSpPr>
        <p:spPr>
          <a:xfrm>
            <a:off x="3191256" y="3054096"/>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56</a:t>
            </a:r>
          </a:p>
        </p:txBody>
      </p:sp>
      <p:sp>
        <p:nvSpPr>
          <p:cNvPr id="32" name="text:45"/>
          <p:cNvSpPr txBox="1"/>
          <p:nvPr/>
        </p:nvSpPr>
        <p:spPr>
          <a:xfrm>
            <a:off x="4032504" y="3054096"/>
            <a:ext cx="73152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45</a:t>
            </a:r>
          </a:p>
        </p:txBody>
      </p:sp>
      <p:sp>
        <p:nvSpPr>
          <p:cNvPr id="33" name="text:3.4 bps"/>
          <p:cNvSpPr txBox="1"/>
          <p:nvPr/>
        </p:nvSpPr>
        <p:spPr>
          <a:xfrm>
            <a:off x="4873752" y="3054096"/>
            <a:ext cx="914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3.4 bps</a:t>
            </a:r>
          </a:p>
        </p:txBody>
      </p:sp>
      <p:sp>
        <p:nvSpPr>
          <p:cNvPr id="34" name="text:143"/>
          <p:cNvSpPr txBox="1"/>
          <p:nvPr/>
        </p:nvSpPr>
        <p:spPr>
          <a:xfrm>
            <a:off x="5897880" y="3054096"/>
            <a:ext cx="914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143</a:t>
            </a:r>
          </a:p>
        </p:txBody>
      </p:sp>
      <p:sp>
        <p:nvSpPr>
          <p:cNvPr id="35" name="text:51%"/>
          <p:cNvSpPr txBox="1"/>
          <p:nvPr/>
        </p:nvSpPr>
        <p:spPr>
          <a:xfrm>
            <a:off x="6922008" y="3054096"/>
            <a:ext cx="1005840" cy="566928"/>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51%</a:t>
            </a:r>
          </a:p>
        </p:txBody>
      </p:sp>
      <p:sp>
        <p:nvSpPr>
          <p:cNvPr id="36" name="Rounded Rectangle 35"/>
          <p:cNvSpPr/>
          <p:nvPr/>
        </p:nvSpPr>
        <p:spPr>
          <a:xfrm>
            <a:off x="548640" y="3749039"/>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Pyth updates about every 10 seconds "/>
          <p:cNvSpPr txBox="1"/>
          <p:nvPr/>
        </p:nvSpPr>
        <p:spPr>
          <a:xfrm>
            <a:off x="731520" y="3749039"/>
            <a:ext cx="7726679" cy="868680"/>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Pyth updates about every 10 seconds and Jupiter quotes include routing noise, so their paths are choppier than the pool price. Pick the path your agent really sees.</a:t>
            </a:r>
          </a:p>
        </p:txBody>
      </p:sp>
      <p:sp>
        <p:nvSpPr>
          <p:cNvPr id="38" name="text:out/sources.json (gross of fees; sim"/>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out/sources.json (gross of fees; simulated, on recorded data; not advice)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labeler in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labeler in code</a:t>
            </a:r>
          </a:p>
        </p:txBody>
      </p:sp>
      <p:sp>
        <p:nvSpPr>
          <p:cNvPr id="3"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4" name="Rounded Rectangle 3"/>
          <p:cNvSpPr/>
          <p:nvPr/>
        </p:nvSpPr>
        <p:spPr>
          <a:xfrm>
            <a:off x="548640" y="1325880"/>
            <a:ext cx="5440680" cy="3246120"/>
          </a:xfrm>
          <a:prstGeom prst="roundRect">
            <a:avLst>
              <a:gd name="adj" fmla="val 3943"/>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demo-repo/code/src/labels.ts"/>
          <p:cNvSpPr txBox="1"/>
          <p:nvPr/>
        </p:nvSpPr>
        <p:spPr>
          <a:xfrm>
            <a:off x="731520" y="1417320"/>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demo-repo/code/src/labels.ts</a:t>
            </a:r>
          </a:p>
        </p:txBody>
      </p:sp>
      <p:sp>
        <p:nvSpPr>
          <p:cNvPr id="6" name="text:  const last = i + p.horizon;   if ("/>
          <p:cNvSpPr txBox="1"/>
          <p:nvPr/>
        </p:nvSpPr>
        <p:spPr>
          <a:xfrm>
            <a:off x="731520" y="1691640"/>
            <a:ext cx="5212080" cy="2834640"/>
          </a:xfrm>
          <a:prstGeom prst="rect">
            <a:avLst/>
          </a:prstGeom>
          <a:noFill/>
        </p:spPr>
        <p:txBody>
          <a:bodyPr wrap="square" lIns="9144" rIns="9144" tIns="0" bIns="0">
            <a:spAutoFit/>
          </a:bodyPr>
          <a:lstStyle/>
          <a:p>
            <a:pPr>
              <a:lnSpc>
                <a:spcPct val="100000"/>
              </a:lnSpc>
              <a:spcAft>
                <a:spcPts val="400"/>
              </a:spcAft>
              <a:defRPr sz="800" b="0">
                <a:solidFill>
                  <a:srgbClr val="F2F5F8"/>
                </a:solidFill>
                <a:latin typeface="Menlo"/>
              </a:defRPr>
            </a:pPr>
            <a:r>
              <a:t>  const last = i + p.horizon;</a:t>
            </a:r>
          </a:p>
          <a:p>
            <a:pPr>
              <a:lnSpc>
                <a:spcPct val="100000"/>
              </a:lnSpc>
              <a:spcAft>
                <a:spcPts val="400"/>
              </a:spcAft>
              <a:defRPr sz="800" b="0">
                <a:solidFill>
                  <a:srgbClr val="F2F5F8"/>
                </a:solidFill>
                <a:latin typeface="Menlo"/>
              </a:defRPr>
            </a:pPr>
            <a:r>
              <a:t>  if (last &gt; prices.length - 1) return null;</a:t>
            </a:r>
          </a:p>
          <a:p>
            <a:pPr>
              <a:lnSpc>
                <a:spcPct val="100000"/>
              </a:lnSpc>
              <a:spcAft>
                <a:spcPts val="400"/>
              </a:spcAft>
              <a:defRPr sz="800" b="0">
                <a:solidFill>
                  <a:srgbClr val="F2F5F8"/>
                </a:solidFill>
                <a:latin typeface="Menlo"/>
              </a:defRPr>
            </a:pPr>
            <a:r>
              <a:t>  const price = prices[i]!;</a:t>
            </a:r>
          </a:p>
          <a:p>
            <a:pPr>
              <a:lnSpc>
                <a:spcPct val="100000"/>
              </a:lnSpc>
              <a:spcAft>
                <a:spcPts val="400"/>
              </a:spcAft>
              <a:defRPr sz="800" b="0">
                <a:solidFill>
                  <a:srgbClr val="F2F5F8"/>
                </a:solidFill>
                <a:latin typeface="Menlo"/>
              </a:defRPr>
            </a:pPr>
            <a:r>
              <a:t>  const widthBps = barrierWidthBps(v, p);</a:t>
            </a:r>
          </a:p>
          <a:p>
            <a:pPr>
              <a:lnSpc>
                <a:spcPct val="100000"/>
              </a:lnSpc>
              <a:spcAft>
                <a:spcPts val="400"/>
              </a:spcAft>
              <a:defRPr sz="800" b="0">
                <a:solidFill>
                  <a:srgbClr val="F2F5F8"/>
                </a:solidFill>
                <a:latin typeface="Menlo"/>
              </a:defRPr>
            </a:pPr>
            <a:r>
              <a:t>  const up = price * (1 + widthBps / 10_000);</a:t>
            </a:r>
          </a:p>
          <a:p>
            <a:pPr>
              <a:lnSpc>
                <a:spcPct val="100000"/>
              </a:lnSpc>
              <a:spcAft>
                <a:spcPts val="400"/>
              </a:spcAft>
              <a:defRPr sz="800" b="0">
                <a:solidFill>
                  <a:srgbClr val="F2F5F8"/>
                </a:solidFill>
                <a:latin typeface="Menlo"/>
              </a:defRPr>
            </a:pPr>
            <a:r>
              <a:t>  const dn = price * (1 - widthBps / 10_000);</a:t>
            </a:r>
          </a:p>
          <a:p>
            <a:pPr>
              <a:lnSpc>
                <a:spcPct val="100000"/>
              </a:lnSpc>
              <a:spcAft>
                <a:spcPts val="400"/>
              </a:spcAft>
              <a:defRPr sz="800" b="0">
                <a:solidFill>
                  <a:srgbClr val="F2F5F8"/>
                </a:solidFill>
                <a:latin typeface="Menlo"/>
              </a:defRPr>
            </a:pPr>
            <a:r>
              <a:t>  let exitI = last;</a:t>
            </a:r>
          </a:p>
          <a:p>
            <a:pPr>
              <a:lnSpc>
                <a:spcPct val="100000"/>
              </a:lnSpc>
              <a:spcAft>
                <a:spcPts val="400"/>
              </a:spcAft>
              <a:defRPr sz="800" b="0">
                <a:solidFill>
                  <a:srgbClr val="F2F5F8"/>
                </a:solidFill>
                <a:latin typeface="Menlo"/>
              </a:defRPr>
            </a:pPr>
            <a:r>
              <a:t>  let touch: Label["touch"] = "time";</a:t>
            </a:r>
          </a:p>
          <a:p>
            <a:pPr>
              <a:lnSpc>
                <a:spcPct val="100000"/>
              </a:lnSpc>
              <a:spcAft>
                <a:spcPts val="400"/>
              </a:spcAft>
              <a:defRPr sz="800" b="0">
                <a:solidFill>
                  <a:srgbClr val="F2F5F8"/>
                </a:solidFill>
                <a:latin typeface="Menlo"/>
              </a:defRPr>
            </a:pPr>
            <a:r>
              <a:t>  for (let k = i + 1; k &lt;= last; k++) {</a:t>
            </a:r>
          </a:p>
          <a:p>
            <a:pPr>
              <a:lnSpc>
                <a:spcPct val="100000"/>
              </a:lnSpc>
              <a:spcAft>
                <a:spcPts val="400"/>
              </a:spcAft>
              <a:defRPr sz="800" b="0">
                <a:solidFill>
                  <a:srgbClr val="F2F5F8"/>
                </a:solidFill>
                <a:latin typeface="Menlo"/>
              </a:defRPr>
            </a:pPr>
            <a:r>
              <a:t>    const x = prices[k]!;</a:t>
            </a:r>
          </a:p>
          <a:p>
            <a:pPr>
              <a:lnSpc>
                <a:spcPct val="100000"/>
              </a:lnSpc>
              <a:spcAft>
                <a:spcPts val="400"/>
              </a:spcAft>
              <a:defRPr sz="800" b="0">
                <a:solidFill>
                  <a:srgbClr val="F2F5F8"/>
                </a:solidFill>
                <a:latin typeface="Menlo"/>
              </a:defRPr>
            </a:pPr>
            <a:r>
              <a:t>    if (x &gt;= up) { exitI = k; touch = "up"; break; }</a:t>
            </a:r>
          </a:p>
          <a:p>
            <a:pPr>
              <a:lnSpc>
                <a:spcPct val="100000"/>
              </a:lnSpc>
              <a:spcAft>
                <a:spcPts val="400"/>
              </a:spcAft>
              <a:defRPr sz="800" b="0">
                <a:solidFill>
                  <a:srgbClr val="F2F5F8"/>
                </a:solidFill>
                <a:latin typeface="Menlo"/>
              </a:defRPr>
            </a:pPr>
            <a:r>
              <a:t>    if (x &lt;= dn) { exitI = k; touch = "down"; break; }</a:t>
            </a:r>
          </a:p>
          <a:p>
            <a:pPr>
              <a:lnSpc>
                <a:spcPct val="100000"/>
              </a:lnSpc>
              <a:spcAft>
                <a:spcPts val="400"/>
              </a:spcAft>
              <a:defRPr sz="800" b="0">
                <a:solidFill>
                  <a:srgbClr val="F2F5F8"/>
                </a:solidFill>
                <a:latin typeface="Menlo"/>
              </a:defRPr>
            </a:pPr>
            <a:r>
              <a:t>  }</a:t>
            </a:r>
          </a:p>
        </p:txBody>
      </p:sp>
      <p:sp>
        <p:nvSpPr>
          <p:cNvPr id="7" name="Rounded Rectangle 6"/>
          <p:cNvSpPr/>
          <p:nvPr/>
        </p:nvSpPr>
        <p:spPr>
          <a:xfrm>
            <a:off x="6217920" y="1325880"/>
            <a:ext cx="242316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1"/>
          <p:cNvSpPr txBox="1"/>
          <p:nvPr/>
        </p:nvSpPr>
        <p:spPr>
          <a:xfrm>
            <a:off x="6382512" y="141732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9" name="text:Walk forward"/>
          <p:cNvSpPr txBox="1"/>
          <p:nvPr/>
        </p:nvSpPr>
        <p:spPr>
          <a:xfrm>
            <a:off x="6720840" y="1435607"/>
            <a:ext cx="182880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Walk forward</a:t>
            </a:r>
          </a:p>
        </p:txBody>
      </p:sp>
      <p:sp>
        <p:nvSpPr>
          <p:cNvPr id="10" name="text:Step by step, up to the time limit."/>
          <p:cNvSpPr txBox="1"/>
          <p:nvPr/>
        </p:nvSpPr>
        <p:spPr>
          <a:xfrm>
            <a:off x="6720840" y="1737360"/>
            <a:ext cx="1828800" cy="5029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Step by step, up to the time limit.</a:t>
            </a:r>
          </a:p>
        </p:txBody>
      </p:sp>
      <p:sp>
        <p:nvSpPr>
          <p:cNvPr id="11" name="Rounded Rectangle 10"/>
          <p:cNvSpPr/>
          <p:nvPr/>
        </p:nvSpPr>
        <p:spPr>
          <a:xfrm>
            <a:off x="6217920" y="2423160"/>
            <a:ext cx="242316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6382512" y="251460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3" name="text:First touch wins"/>
          <p:cNvSpPr txBox="1"/>
          <p:nvPr/>
        </p:nvSpPr>
        <p:spPr>
          <a:xfrm>
            <a:off x="6720840" y="2532888"/>
            <a:ext cx="182880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First touch wins</a:t>
            </a:r>
          </a:p>
        </p:txBody>
      </p:sp>
      <p:sp>
        <p:nvSpPr>
          <p:cNvPr id="14" name="text:The loop stops at the first barrier."/>
          <p:cNvSpPr txBox="1"/>
          <p:nvPr/>
        </p:nvSpPr>
        <p:spPr>
          <a:xfrm>
            <a:off x="6720840" y="2834640"/>
            <a:ext cx="1828800" cy="5029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loop stops at the first barrier.</a:t>
            </a:r>
          </a:p>
        </p:txBody>
      </p:sp>
      <p:sp>
        <p:nvSpPr>
          <p:cNvPr id="15" name="Rounded Rectangle 14"/>
          <p:cNvSpPr/>
          <p:nvPr/>
        </p:nvSpPr>
        <p:spPr>
          <a:xfrm>
            <a:off x="6217920" y="3520439"/>
            <a:ext cx="242316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6382512" y="3611879"/>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7" name="text:Not known yet"/>
          <p:cNvSpPr txBox="1"/>
          <p:nvPr/>
        </p:nvSpPr>
        <p:spPr>
          <a:xfrm>
            <a:off x="6720840" y="3630168"/>
            <a:ext cx="182880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Not known yet</a:t>
            </a:r>
          </a:p>
        </p:txBody>
      </p:sp>
      <p:sp>
        <p:nvSpPr>
          <p:cNvPr id="18" name="text:No label if the time limit runs past"/>
          <p:cNvSpPr txBox="1"/>
          <p:nvPr/>
        </p:nvSpPr>
        <p:spPr>
          <a:xfrm>
            <a:off x="6720840" y="3931920"/>
            <a:ext cx="1828800" cy="5029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No label if the time limit runs past the data.</a:t>
            </a:r>
          </a:p>
        </p:txBody>
      </p:sp>
      <p:sp>
        <p:nvSpPr>
          <p:cNvPr id="19" name="text:Source: demo-repo/code/src/labels.t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demo-repo/code/src/labels.ts, function labelAt (comments and blank lines removed)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abels overlap"/>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Labels overlap</a:t>
            </a:r>
          </a:p>
        </p:txBody>
      </p:sp>
      <p:sp>
        <p:nvSpPr>
          <p:cNvPr id="3" name="text:Decide often, look far ahead: the l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Decide often, look far ahead: the labels share the same future.</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02920" y="1417320"/>
            <a:ext cx="5212080" cy="3108960"/>
          </a:xfrm>
          <a:prstGeom prst="roundRect">
            <a:avLst>
              <a:gd name="adj" fmla="val 2352"/>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920240"/>
            <a:ext cx="3265714" cy="310896"/>
          </a:xfrm>
          <a:prstGeom prst="roundRect">
            <a:avLst>
              <a:gd name="adj" fmla="val 14705"/>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label 1"/>
          <p:cNvSpPr txBox="1"/>
          <p:nvPr/>
        </p:nvSpPr>
        <p:spPr>
          <a:xfrm>
            <a:off x="896112" y="1920240"/>
            <a:ext cx="1188720" cy="310896"/>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label 1</a:t>
            </a:r>
          </a:p>
        </p:txBody>
      </p:sp>
      <p:sp>
        <p:nvSpPr>
          <p:cNvPr id="8" name="Oval 7"/>
          <p:cNvSpPr/>
          <p:nvPr/>
        </p:nvSpPr>
        <p:spPr>
          <a:xfrm>
            <a:off x="777240" y="2029968"/>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76102" y="2423160"/>
            <a:ext cx="3265714" cy="310896"/>
          </a:xfrm>
          <a:prstGeom prst="roundRect">
            <a:avLst>
              <a:gd name="adj" fmla="val 14705"/>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label 2"/>
          <p:cNvSpPr txBox="1"/>
          <p:nvPr/>
        </p:nvSpPr>
        <p:spPr>
          <a:xfrm>
            <a:off x="1549254" y="2423160"/>
            <a:ext cx="1188720" cy="310896"/>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label 2</a:t>
            </a:r>
          </a:p>
        </p:txBody>
      </p:sp>
      <p:sp>
        <p:nvSpPr>
          <p:cNvPr id="11" name="Oval 10"/>
          <p:cNvSpPr/>
          <p:nvPr/>
        </p:nvSpPr>
        <p:spPr>
          <a:xfrm>
            <a:off x="1430382" y="2532888"/>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29245" y="2926080"/>
            <a:ext cx="3265714" cy="310896"/>
          </a:xfrm>
          <a:prstGeom prst="roundRect">
            <a:avLst>
              <a:gd name="adj" fmla="val 14705"/>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label 3"/>
          <p:cNvSpPr txBox="1"/>
          <p:nvPr/>
        </p:nvSpPr>
        <p:spPr>
          <a:xfrm>
            <a:off x="2202397" y="2926080"/>
            <a:ext cx="1188720" cy="310896"/>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label 3</a:t>
            </a:r>
          </a:p>
        </p:txBody>
      </p:sp>
      <p:sp>
        <p:nvSpPr>
          <p:cNvPr id="14" name="Oval 13"/>
          <p:cNvSpPr/>
          <p:nvPr/>
        </p:nvSpPr>
        <p:spPr>
          <a:xfrm>
            <a:off x="2083525" y="3035808"/>
            <a:ext cx="91440" cy="9144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129245" y="1874519"/>
            <a:ext cx="1959428" cy="1600200"/>
          </a:xfrm>
          <a:prstGeom prst="roundRect">
            <a:avLst>
              <a:gd name="adj" fmla="val 2285"/>
            </a:avLst>
          </a:prstGeom>
          <a:solidFill>
            <a:srgbClr val="0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1920240"/>
            <a:ext cx="3265714" cy="310896"/>
          </a:xfrm>
          <a:prstGeom prst="roundRect">
            <a:avLst>
              <a:gd name="adj" fmla="val 14705"/>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label 1"/>
          <p:cNvSpPr txBox="1"/>
          <p:nvPr/>
        </p:nvSpPr>
        <p:spPr>
          <a:xfrm>
            <a:off x="896112" y="1920240"/>
            <a:ext cx="1188720" cy="310896"/>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label 1</a:t>
            </a:r>
          </a:p>
        </p:txBody>
      </p:sp>
      <p:sp>
        <p:nvSpPr>
          <p:cNvPr id="18" name="Rounded Rectangle 17"/>
          <p:cNvSpPr/>
          <p:nvPr/>
        </p:nvSpPr>
        <p:spPr>
          <a:xfrm>
            <a:off x="1476102" y="2423160"/>
            <a:ext cx="3265714" cy="310896"/>
          </a:xfrm>
          <a:prstGeom prst="roundRect">
            <a:avLst>
              <a:gd name="adj" fmla="val 14705"/>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label 2"/>
          <p:cNvSpPr txBox="1"/>
          <p:nvPr/>
        </p:nvSpPr>
        <p:spPr>
          <a:xfrm>
            <a:off x="1549254" y="2423160"/>
            <a:ext cx="1188720" cy="310896"/>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label 2</a:t>
            </a:r>
          </a:p>
        </p:txBody>
      </p:sp>
      <p:sp>
        <p:nvSpPr>
          <p:cNvPr id="20" name="Rounded Rectangle 19"/>
          <p:cNvSpPr/>
          <p:nvPr/>
        </p:nvSpPr>
        <p:spPr>
          <a:xfrm>
            <a:off x="2129245" y="2926080"/>
            <a:ext cx="3265714" cy="310896"/>
          </a:xfrm>
          <a:prstGeom prst="roundRect">
            <a:avLst>
              <a:gd name="adj" fmla="val 14705"/>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label 3"/>
          <p:cNvSpPr txBox="1"/>
          <p:nvPr/>
        </p:nvSpPr>
        <p:spPr>
          <a:xfrm>
            <a:off x="2202397" y="2926080"/>
            <a:ext cx="1188720" cy="310896"/>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label 3</a:t>
            </a:r>
          </a:p>
        </p:txBody>
      </p:sp>
      <p:cxnSp>
        <p:nvCxnSpPr>
          <p:cNvPr id="22" name="Connector 21"/>
          <p:cNvCxnSpPr/>
          <p:nvPr/>
        </p:nvCxnSpPr>
        <p:spPr>
          <a:xfrm>
            <a:off x="822960" y="3657600"/>
            <a:ext cx="4572000" cy="0"/>
          </a:xfrm>
          <a:prstGeom prst="line">
            <a:avLst/>
          </a:prstGeom>
          <a:ln w="10160">
            <a:solidFill>
              <a:srgbClr val="666666"/>
            </a:solidFill>
          </a:ln>
        </p:spPr>
        <p:style>
          <a:lnRef idx="2">
            <a:schemeClr val="accent1"/>
          </a:lnRef>
          <a:fillRef idx="0">
            <a:schemeClr val="accent1"/>
          </a:fillRef>
          <a:effectRef idx="1">
            <a:schemeClr val="accent1"/>
          </a:effectRef>
          <a:fontRef idx="minor">
            <a:schemeClr val="tx1"/>
          </a:fontRef>
        </p:style>
      </p:cxnSp>
      <p:sp>
        <p:nvSpPr>
          <p:cNvPr id="23" name="text:0 s"/>
          <p:cNvSpPr txBox="1"/>
          <p:nvPr/>
        </p:nvSpPr>
        <p:spPr>
          <a:xfrm>
            <a:off x="640080" y="3703320"/>
            <a:ext cx="457200" cy="182880"/>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0 s</a:t>
            </a:r>
          </a:p>
        </p:txBody>
      </p:sp>
      <p:sp>
        <p:nvSpPr>
          <p:cNvPr id="24" name="text:40 s"/>
          <p:cNvSpPr txBox="1"/>
          <p:nvPr/>
        </p:nvSpPr>
        <p:spPr>
          <a:xfrm>
            <a:off x="1946365" y="3703320"/>
            <a:ext cx="457200" cy="182880"/>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40 s</a:t>
            </a:r>
          </a:p>
        </p:txBody>
      </p:sp>
      <p:sp>
        <p:nvSpPr>
          <p:cNvPr id="25" name="text:80 s"/>
          <p:cNvSpPr txBox="1"/>
          <p:nvPr/>
        </p:nvSpPr>
        <p:spPr>
          <a:xfrm>
            <a:off x="3252651" y="3703320"/>
            <a:ext cx="457200" cy="182880"/>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80 s</a:t>
            </a:r>
          </a:p>
        </p:txBody>
      </p:sp>
      <p:sp>
        <p:nvSpPr>
          <p:cNvPr id="26" name="text:120 s"/>
          <p:cNvSpPr txBox="1"/>
          <p:nvPr/>
        </p:nvSpPr>
        <p:spPr>
          <a:xfrm>
            <a:off x="4558937" y="3703320"/>
            <a:ext cx="457200" cy="182880"/>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120 s</a:t>
            </a:r>
          </a:p>
        </p:txBody>
      </p:sp>
      <p:sp>
        <p:nvSpPr>
          <p:cNvPr id="27" name="text:A decision every 20 seconds, each lo"/>
          <p:cNvSpPr txBox="1"/>
          <p:nvPr/>
        </p:nvSpPr>
        <p:spPr>
          <a:xfrm>
            <a:off x="685800" y="4023360"/>
            <a:ext cx="4937760" cy="4114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A decision every 20 seconds, each looking 100 seconds ahead (illustrative)</a:t>
            </a:r>
          </a:p>
        </p:txBody>
      </p:sp>
      <p:sp>
        <p:nvSpPr>
          <p:cNvPr id="28" name="text:shared future"/>
          <p:cNvSpPr txBox="1"/>
          <p:nvPr/>
        </p:nvSpPr>
        <p:spPr>
          <a:xfrm>
            <a:off x="2220685" y="3273552"/>
            <a:ext cx="22860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shared future</a:t>
            </a:r>
          </a:p>
        </p:txBody>
      </p:sp>
      <p:sp>
        <p:nvSpPr>
          <p:cNvPr id="29" name="Rounded Rectangle 28"/>
          <p:cNvSpPr/>
          <p:nvPr/>
        </p:nvSpPr>
        <p:spPr>
          <a:xfrm>
            <a:off x="5897880" y="1417320"/>
            <a:ext cx="2743200" cy="3108960"/>
          </a:xfrm>
          <a:prstGeom prst="roundRect">
            <a:avLst>
              <a:gd name="adj" fmla="val 4666"/>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Three labels, one price path. The sh"/>
          <p:cNvSpPr txBox="1"/>
          <p:nvPr/>
        </p:nvSpPr>
        <p:spPr>
          <a:xfrm>
            <a:off x="6099048" y="1645920"/>
            <a:ext cx="2340864" cy="14630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Three labels, one price path. The shaded part is future that two or more labels use.</a:t>
            </a:r>
          </a:p>
        </p:txBody>
      </p:sp>
      <p:sp>
        <p:nvSpPr>
          <p:cNvPr id="31" name="text:Each label feels like a new fact. Mo"/>
          <p:cNvSpPr txBox="1"/>
          <p:nvPr/>
        </p:nvSpPr>
        <p:spPr>
          <a:xfrm>
            <a:off x="6099048" y="3154680"/>
            <a:ext cx="2340864" cy="128016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Each label feels like a new fact. Most of it is the same fact.</a:t>
            </a:r>
          </a:p>
        </p:txBody>
      </p:sp>
      <p:sp>
        <p:nvSpPr>
          <p:cNvPr id="32" name="text:Illustrativ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verlap leaks into the tes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Overlap leaks into the test</a:t>
            </a:r>
          </a:p>
        </p:txBody>
      </p:sp>
      <p:sp>
        <p:nvSpPr>
          <p:cNvPr id="3" name="text:A label decided before the cut can u"/>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label decided before the cut can use prices after the cut.</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02920" y="1417320"/>
            <a:ext cx="5212080" cy="3108960"/>
          </a:xfrm>
          <a:prstGeom prst="roundRect">
            <a:avLst>
              <a:gd name="adj" fmla="val 2352"/>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2560320" cy="3017520"/>
          </a:xfrm>
          <a:prstGeom prst="roundRect">
            <a:avLst>
              <a:gd name="adj" fmla="val 1785"/>
            </a:avLst>
          </a:prstGeom>
          <a:solidFill>
            <a:srgbClr val="1A1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08960" y="1463040"/>
            <a:ext cx="2286000" cy="3017520"/>
          </a:xfrm>
          <a:prstGeom prst="roundRect">
            <a:avLst>
              <a:gd name="adj" fmla="val 1999"/>
            </a:avLst>
          </a:prstGeom>
          <a:solidFill>
            <a:srgbClr val="0F2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TRAIN"/>
          <p:cNvSpPr txBox="1"/>
          <p:nvPr/>
        </p:nvSpPr>
        <p:spPr>
          <a:xfrm>
            <a:off x="685800" y="1536192"/>
            <a:ext cx="1371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TRAIN</a:t>
            </a:r>
          </a:p>
        </p:txBody>
      </p:sp>
      <p:sp>
        <p:nvSpPr>
          <p:cNvPr id="9" name="text:TEST"/>
          <p:cNvSpPr txBox="1"/>
          <p:nvPr/>
        </p:nvSpPr>
        <p:spPr>
          <a:xfrm>
            <a:off x="3246120" y="1536192"/>
            <a:ext cx="137160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TEST</a:t>
            </a:r>
          </a:p>
        </p:txBody>
      </p:sp>
      <p:sp>
        <p:nvSpPr>
          <p:cNvPr id="10" name="Rounded Rectangle 9"/>
          <p:cNvSpPr/>
          <p:nvPr/>
        </p:nvSpPr>
        <p:spPr>
          <a:xfrm>
            <a:off x="731520" y="1828800"/>
            <a:ext cx="1371599" cy="201168"/>
          </a:xfrm>
          <a:prstGeom prst="roundRect">
            <a:avLst>
              <a:gd name="adj" fmla="val 1818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97280" y="2176272"/>
            <a:ext cx="1371600" cy="201168"/>
          </a:xfrm>
          <a:prstGeom prst="roundRect">
            <a:avLst>
              <a:gd name="adj" fmla="val 1818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463040" y="2523744"/>
            <a:ext cx="1371600" cy="201168"/>
          </a:xfrm>
          <a:prstGeom prst="roundRect">
            <a:avLst>
              <a:gd name="adj" fmla="val 1818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011680" y="2871216"/>
            <a:ext cx="1371600" cy="201168"/>
          </a:xfrm>
          <a:prstGeom prst="roundRect">
            <a:avLst>
              <a:gd name="adj" fmla="val 18181"/>
            </a:avLst>
          </a:prstGeom>
          <a:noFill/>
          <a:ln w="2540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86000" y="3218688"/>
            <a:ext cx="457200" cy="201168"/>
          </a:xfrm>
          <a:prstGeom prst="roundRect">
            <a:avLst>
              <a:gd name="adj" fmla="val 18181"/>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83280" y="3566160"/>
            <a:ext cx="1463039" cy="201168"/>
          </a:xfrm>
          <a:prstGeom prst="roundRect">
            <a:avLst>
              <a:gd name="adj" fmla="val 18181"/>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49039" y="3913632"/>
            <a:ext cx="1371600" cy="201168"/>
          </a:xfrm>
          <a:prstGeom prst="roundRect">
            <a:avLst>
              <a:gd name="adj" fmla="val 18181"/>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3108960" y="1463040"/>
            <a:ext cx="0" cy="3017520"/>
          </a:xfrm>
          <a:prstGeom prst="line">
            <a:avLst/>
          </a:prstGeom>
          <a:ln w="17780">
            <a:solidFill>
              <a:srgbClr val="F2F5F8"/>
            </a:solidFill>
            <a:prstDash val="dash"/>
          </a:ln>
        </p:spPr>
        <p:style>
          <a:lnRef idx="2">
            <a:schemeClr val="accent1"/>
          </a:lnRef>
          <a:fillRef idx="0">
            <a:schemeClr val="accent1"/>
          </a:fillRef>
          <a:effectRef idx="1">
            <a:schemeClr val="accent1"/>
          </a:effectRef>
          <a:fontRef idx="minor">
            <a:schemeClr val="tx1"/>
          </a:fontRef>
        </p:style>
      </p:cxnSp>
      <p:sp>
        <p:nvSpPr>
          <p:cNvPr id="18" name="text:cut"/>
          <p:cNvSpPr txBox="1"/>
          <p:nvPr/>
        </p:nvSpPr>
        <p:spPr>
          <a:xfrm>
            <a:off x="2880360" y="4224528"/>
            <a:ext cx="457200" cy="182880"/>
          </a:xfrm>
          <a:prstGeom prst="rect">
            <a:avLst/>
          </a:prstGeom>
          <a:noFill/>
        </p:spPr>
        <p:txBody>
          <a:bodyPr wrap="square" lIns="9144" rIns="9144" tIns="0" bIns="0">
            <a:spAutoFit/>
          </a:bodyPr>
          <a:lstStyle/>
          <a:p>
            <a:pPr algn="ctr">
              <a:lnSpc>
                <a:spcPct val="106000"/>
              </a:lnSpc>
              <a:spcAft>
                <a:spcPts val="400"/>
              </a:spcAft>
              <a:defRPr sz="900" b="0">
                <a:solidFill>
                  <a:srgbClr val="F2F5F8"/>
                </a:solidFill>
                <a:latin typeface="Helvetica Neue"/>
              </a:defRPr>
            </a:pPr>
            <a:r>
              <a:t>cut</a:t>
            </a:r>
          </a:p>
        </p:txBody>
      </p:sp>
      <p:sp>
        <p:nvSpPr>
          <p:cNvPr id="19" name="text:decided here, answered here"/>
          <p:cNvSpPr txBox="1"/>
          <p:nvPr/>
        </p:nvSpPr>
        <p:spPr>
          <a:xfrm>
            <a:off x="3456432" y="2898648"/>
            <a:ext cx="1920240" cy="182880"/>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decided here, answered here</a:t>
            </a:r>
          </a:p>
        </p:txBody>
      </p:sp>
      <p:sp>
        <p:nvSpPr>
          <p:cNvPr id="20" name="Rounded Rectangle 19"/>
          <p:cNvSpPr/>
          <p:nvPr/>
        </p:nvSpPr>
        <p:spPr>
          <a:xfrm>
            <a:off x="5897880" y="1417320"/>
            <a:ext cx="2743200" cy="1600200"/>
          </a:xfrm>
          <a:prstGeom prst="roundRect">
            <a:avLst>
              <a:gd name="adj" fmla="val 8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The crossing label was decided in th"/>
          <p:cNvSpPr txBox="1"/>
          <p:nvPr/>
        </p:nvSpPr>
        <p:spPr>
          <a:xfrm>
            <a:off x="6080760" y="1508760"/>
            <a:ext cx="2377440" cy="146304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The crossing label was decided in the train period, but its answer comes from test prices.</a:t>
            </a:r>
          </a:p>
        </p:txBody>
      </p:sp>
      <p:sp>
        <p:nvSpPr>
          <p:cNvPr id="22" name="Rounded Rectangle 21"/>
          <p:cNvSpPr/>
          <p:nvPr/>
        </p:nvSpPr>
        <p:spPr>
          <a:xfrm>
            <a:off x="5897880" y="3154680"/>
            <a:ext cx="2743200" cy="1371600"/>
          </a:xfrm>
          <a:prstGeom prst="roundRect">
            <a:avLst>
              <a:gd name="adj" fmla="val 9333"/>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THE FIX"/>
          <p:cNvSpPr txBox="1"/>
          <p:nvPr/>
        </p:nvSpPr>
        <p:spPr>
          <a:xfrm>
            <a:off x="6080760" y="3246120"/>
            <a:ext cx="18288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THE FIX</a:t>
            </a:r>
          </a:p>
        </p:txBody>
      </p:sp>
      <p:sp>
        <p:nvSpPr>
          <p:cNvPr id="24" name="text:Purge the labels that cross the cut "/>
          <p:cNvSpPr txBox="1"/>
          <p:nvPr/>
        </p:nvSpPr>
        <p:spPr>
          <a:xfrm>
            <a:off x="6080760" y="3474720"/>
            <a:ext cx="2377440" cy="10058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Purge the labels that cross the cut before you fit anything.</a:t>
            </a:r>
          </a:p>
        </p:txBody>
      </p:sp>
      <p:sp>
        <p:nvSpPr>
          <p:cNvPr id="25" name="text:Illustrativ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How much is really new?"/>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How much is really new?</a:t>
            </a:r>
          </a:p>
        </p:txBody>
      </p:sp>
      <p:sp>
        <p:nvSpPr>
          <p:cNvPr id="3" name="text:Real labels from the 40-minute reco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Real labels from the 40-minute recording.</a:t>
            </a:r>
          </a:p>
        </p:txBody>
      </p:sp>
      <p:sp>
        <p:nvSpPr>
          <p:cNvPr id="4"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5" name="Rounded Rectangle 4"/>
          <p:cNvSpPr/>
          <p:nvPr/>
        </p:nvSpPr>
        <p:spPr>
          <a:xfrm>
            <a:off x="548640" y="1508760"/>
            <a:ext cx="1828800" cy="1600200"/>
          </a:xfrm>
          <a:prstGeom prst="roundRect">
            <a:avLst>
              <a:gd name="adj" fmla="val 8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ALIVE AT ONCE"/>
          <p:cNvSpPr txBox="1"/>
          <p:nvPr/>
        </p:nvSpPr>
        <p:spPr>
          <a:xfrm>
            <a:off x="713232"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ALIVE AT ONCE</a:t>
            </a:r>
          </a:p>
        </p:txBody>
      </p:sp>
      <p:sp>
        <p:nvSpPr>
          <p:cNvPr id="7" name="text:6.9"/>
          <p:cNvSpPr txBox="1"/>
          <p:nvPr/>
        </p:nvSpPr>
        <p:spPr>
          <a:xfrm>
            <a:off x="713232" y="1920240"/>
            <a:ext cx="155448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6.9</a:t>
            </a:r>
          </a:p>
        </p:txBody>
      </p:sp>
      <p:sp>
        <p:nvSpPr>
          <p:cNvPr id="8" name="text:on average, at most 13"/>
          <p:cNvSpPr txBox="1"/>
          <p:nvPr/>
        </p:nvSpPr>
        <p:spPr>
          <a:xfrm>
            <a:off x="713232" y="2606040"/>
            <a:ext cx="155448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on average, at most 13</a:t>
            </a:r>
          </a:p>
        </p:txBody>
      </p:sp>
      <p:sp>
        <p:nvSpPr>
          <p:cNvPr id="9" name="Rounded Rectangle 8"/>
          <p:cNvSpPr/>
          <p:nvPr/>
        </p:nvSpPr>
        <p:spPr>
          <a:xfrm>
            <a:off x="2636215" y="1508760"/>
            <a:ext cx="1828800" cy="1600200"/>
          </a:xfrm>
          <a:prstGeom prst="roundRect">
            <a:avLst>
              <a:gd name="adj" fmla="val 8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AVERAGE UNIQUENESS"/>
          <p:cNvSpPr txBox="1"/>
          <p:nvPr/>
        </p:nvSpPr>
        <p:spPr>
          <a:xfrm>
            <a:off x="2800807"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AVERAGE UNIQUENESS</a:t>
            </a:r>
          </a:p>
        </p:txBody>
      </p:sp>
      <p:sp>
        <p:nvSpPr>
          <p:cNvPr id="11" name="text:16%"/>
          <p:cNvSpPr txBox="1"/>
          <p:nvPr/>
        </p:nvSpPr>
        <p:spPr>
          <a:xfrm>
            <a:off x="2800807" y="1920240"/>
            <a:ext cx="155448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16%</a:t>
            </a:r>
          </a:p>
        </p:txBody>
      </p:sp>
      <p:sp>
        <p:nvSpPr>
          <p:cNvPr id="12" name="text:of a label is not shared"/>
          <p:cNvSpPr txBox="1"/>
          <p:nvPr/>
        </p:nvSpPr>
        <p:spPr>
          <a:xfrm>
            <a:off x="2800807" y="2606040"/>
            <a:ext cx="155448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of a label is not shared</a:t>
            </a:r>
          </a:p>
        </p:txBody>
      </p:sp>
      <p:sp>
        <p:nvSpPr>
          <p:cNvPr id="13" name="Rounded Rectangle 12"/>
          <p:cNvSpPr/>
          <p:nvPr/>
        </p:nvSpPr>
        <p:spPr>
          <a:xfrm>
            <a:off x="4723790" y="1508760"/>
            <a:ext cx="1828800" cy="1600200"/>
          </a:xfrm>
          <a:prstGeom prst="roundRect">
            <a:avLst>
              <a:gd name="adj" fmla="val 800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INDEPENDENT LABELS"/>
          <p:cNvSpPr txBox="1"/>
          <p:nvPr/>
        </p:nvSpPr>
        <p:spPr>
          <a:xfrm>
            <a:off x="4888382"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INDEPENDENT LABELS</a:t>
            </a:r>
          </a:p>
        </p:txBody>
      </p:sp>
      <p:sp>
        <p:nvSpPr>
          <p:cNvPr id="15" name="text:34"/>
          <p:cNvSpPr txBox="1"/>
          <p:nvPr/>
        </p:nvSpPr>
        <p:spPr>
          <a:xfrm>
            <a:off x="4888382" y="1920240"/>
            <a:ext cx="155448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34</a:t>
            </a:r>
          </a:p>
        </p:txBody>
      </p:sp>
      <p:sp>
        <p:nvSpPr>
          <p:cNvPr id="16" name="text:worth of new facts in 219 labels"/>
          <p:cNvSpPr txBox="1"/>
          <p:nvPr/>
        </p:nvSpPr>
        <p:spPr>
          <a:xfrm>
            <a:off x="4888382" y="2606040"/>
            <a:ext cx="155448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worth of new facts in 219 labels</a:t>
            </a:r>
          </a:p>
        </p:txBody>
      </p:sp>
      <p:sp>
        <p:nvSpPr>
          <p:cNvPr id="17" name="Rounded Rectangle 16"/>
          <p:cNvSpPr/>
          <p:nvPr/>
        </p:nvSpPr>
        <p:spPr>
          <a:xfrm>
            <a:off x="6811365" y="1508760"/>
            <a:ext cx="1828800" cy="1600200"/>
          </a:xfrm>
          <a:prstGeom prst="roundRect">
            <a:avLst>
              <a:gd name="adj" fmla="val 8000"/>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CROSS THE CUT"/>
          <p:cNvSpPr txBox="1"/>
          <p:nvPr/>
        </p:nvSpPr>
        <p:spPr>
          <a:xfrm>
            <a:off x="6975957"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CROSS THE CUT</a:t>
            </a:r>
          </a:p>
        </p:txBody>
      </p:sp>
      <p:sp>
        <p:nvSpPr>
          <p:cNvPr id="19" name="text:9"/>
          <p:cNvSpPr txBox="1"/>
          <p:nvPr/>
        </p:nvSpPr>
        <p:spPr>
          <a:xfrm>
            <a:off x="6975957" y="1920240"/>
            <a:ext cx="155448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9</a:t>
            </a:r>
          </a:p>
        </p:txBody>
      </p:sp>
      <p:sp>
        <p:nvSpPr>
          <p:cNvPr id="20" name="text:training labels at step 282 of 481"/>
          <p:cNvSpPr txBox="1"/>
          <p:nvPr/>
        </p:nvSpPr>
        <p:spPr>
          <a:xfrm>
            <a:off x="6975957" y="2606040"/>
            <a:ext cx="155448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training labels at step 282 of 481</a:t>
            </a:r>
          </a:p>
        </p:txBody>
      </p:sp>
      <p:sp>
        <p:nvSpPr>
          <p:cNvPr id="21" name="Rounded Rectangle 20"/>
          <p:cNvSpPr/>
          <p:nvPr/>
        </p:nvSpPr>
        <p:spPr>
          <a:xfrm>
            <a:off x="548640" y="3291840"/>
            <a:ext cx="8092440" cy="128016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LABELS VERSUS INDEPENDENT LABELS"/>
          <p:cNvSpPr txBox="1"/>
          <p:nvPr/>
        </p:nvSpPr>
        <p:spPr>
          <a:xfrm>
            <a:off x="731520" y="3383280"/>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LABELS VERSUS INDEPENDENT LABELS</a:t>
            </a:r>
          </a:p>
        </p:txBody>
      </p:sp>
      <p:sp>
        <p:nvSpPr>
          <p:cNvPr id="23" name="Rounded Rectangle 22"/>
          <p:cNvSpPr/>
          <p:nvPr/>
        </p:nvSpPr>
        <p:spPr>
          <a:xfrm>
            <a:off x="731520" y="3657600"/>
            <a:ext cx="7680960" cy="292608"/>
          </a:xfrm>
          <a:prstGeom prst="roundRect">
            <a:avLst>
              <a:gd name="adj" fmla="val 15625"/>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219 labels"/>
          <p:cNvSpPr txBox="1"/>
          <p:nvPr/>
        </p:nvSpPr>
        <p:spPr>
          <a:xfrm>
            <a:off x="822960" y="3657600"/>
            <a:ext cx="1828800" cy="292608"/>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219 labels</a:t>
            </a:r>
          </a:p>
        </p:txBody>
      </p:sp>
      <p:sp>
        <p:nvSpPr>
          <p:cNvPr id="25" name="Rounded Rectangle 24"/>
          <p:cNvSpPr/>
          <p:nvPr/>
        </p:nvSpPr>
        <p:spPr>
          <a:xfrm>
            <a:off x="731520" y="4069080"/>
            <a:ext cx="1200158" cy="292608"/>
          </a:xfrm>
          <a:prstGeom prst="roundRect">
            <a:avLst>
              <a:gd name="adj" fmla="val 15625"/>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about 34 independent"/>
          <p:cNvSpPr txBox="1"/>
          <p:nvPr/>
        </p:nvSpPr>
        <p:spPr>
          <a:xfrm>
            <a:off x="2023118" y="4069080"/>
            <a:ext cx="2743200" cy="292608"/>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about 34 independent</a:t>
            </a:r>
          </a:p>
        </p:txBody>
      </p:sp>
      <p:sp>
        <p:nvSpPr>
          <p:cNvPr id="27" name="text:out/overlap.json (time limit 24 step"/>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out/overlap.json (time limit 24 steps, a decision every 2 steps, cut at 60% of the labels)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second opinio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second opinion</a:t>
            </a:r>
          </a:p>
        </p:txBody>
      </p:sp>
      <p:sp>
        <p:nvSpPr>
          <p:cNvPr id="3" name="text:The agent picks the side. A second c"/>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agent picks the side. A second check decides whether to act.</a:t>
            </a:r>
          </a:p>
        </p:txBody>
      </p:sp>
      <p:sp>
        <p:nvSpPr>
          <p:cNvPr id="4"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5" name="Rounded Rectangle 4"/>
          <p:cNvSpPr/>
          <p:nvPr/>
        </p:nvSpPr>
        <p:spPr>
          <a:xfrm>
            <a:off x="548640" y="1645920"/>
            <a:ext cx="2468880" cy="1371600"/>
          </a:xfrm>
          <a:prstGeom prst="roundRect">
            <a:avLst>
              <a:gd name="adj" fmla="val 9333"/>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365760" cy="365760"/>
          </a:xfrm>
          <a:prstGeom prst="rect">
            <a:avLst/>
          </a:prstGeom>
          <a:noFill/>
        </p:spPr>
        <p:txBody>
          <a:bodyPr wrap="square" lIns="9144" rIns="9144" tIns="0" bIns="0">
            <a:spAutoFit/>
          </a:bodyPr>
          <a:lstStyle/>
          <a:p>
            <a:pPr>
              <a:lnSpc>
                <a:spcPct val="106000"/>
              </a:lnSpc>
              <a:spcAft>
                <a:spcPts val="400"/>
              </a:spcAft>
              <a:defRPr sz="1800" b="0">
                <a:solidFill>
                  <a:srgbClr val="3DDC97"/>
                </a:solidFill>
                <a:latin typeface="Helvetica Neue"/>
              </a:defRPr>
            </a:pPr>
            <a:r>
              <a:t>1</a:t>
            </a:r>
          </a:p>
        </p:txBody>
      </p:sp>
      <p:sp>
        <p:nvSpPr>
          <p:cNvPr id="7" name="text:AGENT"/>
          <p:cNvSpPr txBox="1"/>
          <p:nvPr/>
        </p:nvSpPr>
        <p:spPr>
          <a:xfrm>
            <a:off x="1097280" y="1783080"/>
            <a:ext cx="1737360" cy="274320"/>
          </a:xfrm>
          <a:prstGeom prst="rect">
            <a:avLst/>
          </a:prstGeom>
          <a:noFill/>
        </p:spPr>
        <p:txBody>
          <a:bodyPr wrap="square" lIns="9144" rIns="9144" tIns="0" bIns="0">
            <a:spAutoFit/>
          </a:bodyPr>
          <a:lstStyle/>
          <a:p>
            <a:pPr>
              <a:lnSpc>
                <a:spcPct val="106000"/>
              </a:lnSpc>
              <a:spcAft>
                <a:spcPts val="400"/>
              </a:spcAft>
              <a:defRPr sz="1600" b="0">
                <a:solidFill>
                  <a:srgbClr val="B3A5FF"/>
                </a:solidFill>
                <a:latin typeface="Helvetica Neue"/>
              </a:defRPr>
            </a:pPr>
            <a:r>
              <a:t>AGENT</a:t>
            </a:r>
          </a:p>
        </p:txBody>
      </p:sp>
      <p:sp>
        <p:nvSpPr>
          <p:cNvPr id="8" name="text:Buy or sell?"/>
          <p:cNvSpPr txBox="1"/>
          <p:nvPr/>
        </p:nvSpPr>
        <p:spPr>
          <a:xfrm>
            <a:off x="749808" y="2331720"/>
            <a:ext cx="2103120" cy="548640"/>
          </a:xfrm>
          <a:prstGeom prst="rect">
            <a:avLst/>
          </a:prstGeom>
          <a:noFill/>
        </p:spPr>
        <p:txBody>
          <a:bodyPr wrap="square" lIns="9144" rIns="9144" tIns="0" bIns="0">
            <a:spAutoFit/>
          </a:bodyPr>
          <a:lstStyle/>
          <a:p>
            <a:pPr>
              <a:lnSpc>
                <a:spcPct val="106000"/>
              </a:lnSpc>
              <a:spcAft>
                <a:spcPts val="400"/>
              </a:spcAft>
              <a:defRPr sz="1400" b="0">
                <a:solidFill>
                  <a:srgbClr val="9A9AA2"/>
                </a:solidFill>
                <a:latin typeface="Helvetica Neue"/>
              </a:defRPr>
            </a:pPr>
            <a:r>
              <a:t>Buy or sell?</a:t>
            </a:r>
          </a:p>
        </p:txBody>
      </p:sp>
      <p:cxnSp>
        <p:nvCxnSpPr>
          <p:cNvPr id="9" name="Connector 8"/>
          <p:cNvCxnSpPr/>
          <p:nvPr/>
        </p:nvCxnSpPr>
        <p:spPr>
          <a:xfrm>
            <a:off x="3035808" y="2331720"/>
            <a:ext cx="28346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37560" y="1645920"/>
            <a:ext cx="2468880" cy="1371600"/>
          </a:xfrm>
          <a:prstGeom prst="roundRect">
            <a:avLst>
              <a:gd name="adj" fmla="val 933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3520440" y="1737360"/>
            <a:ext cx="365760" cy="365760"/>
          </a:xfrm>
          <a:prstGeom prst="rect">
            <a:avLst/>
          </a:prstGeom>
          <a:noFill/>
        </p:spPr>
        <p:txBody>
          <a:bodyPr wrap="square" lIns="9144" rIns="9144" tIns="0" bIns="0">
            <a:spAutoFit/>
          </a:bodyPr>
          <a:lstStyle/>
          <a:p>
            <a:pPr>
              <a:lnSpc>
                <a:spcPct val="106000"/>
              </a:lnSpc>
              <a:spcAft>
                <a:spcPts val="400"/>
              </a:spcAft>
              <a:defRPr sz="1800" b="0">
                <a:solidFill>
                  <a:srgbClr val="3DDC97"/>
                </a:solidFill>
                <a:latin typeface="Helvetica Neue"/>
              </a:defRPr>
            </a:pPr>
            <a:r>
              <a:t>2</a:t>
            </a:r>
          </a:p>
        </p:txBody>
      </p:sp>
      <p:sp>
        <p:nvSpPr>
          <p:cNvPr id="12" name="text:GATE"/>
          <p:cNvSpPr txBox="1"/>
          <p:nvPr/>
        </p:nvSpPr>
        <p:spPr>
          <a:xfrm>
            <a:off x="3886200" y="1783080"/>
            <a:ext cx="1737360" cy="274320"/>
          </a:xfrm>
          <a:prstGeom prst="rect">
            <a:avLst/>
          </a:prstGeom>
          <a:noFill/>
        </p:spPr>
        <p:txBody>
          <a:bodyPr wrap="square" lIns="9144" rIns="9144" tIns="0" bIns="0">
            <a:spAutoFit/>
          </a:bodyPr>
          <a:lstStyle/>
          <a:p>
            <a:pPr>
              <a:lnSpc>
                <a:spcPct val="106000"/>
              </a:lnSpc>
              <a:spcAft>
                <a:spcPts val="400"/>
              </a:spcAft>
              <a:defRPr sz="1600" b="0">
                <a:solidFill>
                  <a:srgbClr val="3DDC97"/>
                </a:solidFill>
                <a:latin typeface="Helvetica Neue"/>
              </a:defRPr>
            </a:pPr>
            <a:r>
              <a:t>GATE</a:t>
            </a:r>
          </a:p>
        </p:txBody>
      </p:sp>
      <p:sp>
        <p:nvSpPr>
          <p:cNvPr id="13" name="text:Chance it wins?"/>
          <p:cNvSpPr txBox="1"/>
          <p:nvPr/>
        </p:nvSpPr>
        <p:spPr>
          <a:xfrm>
            <a:off x="3538728" y="2331720"/>
            <a:ext cx="2103120" cy="548640"/>
          </a:xfrm>
          <a:prstGeom prst="rect">
            <a:avLst/>
          </a:prstGeom>
          <a:noFill/>
        </p:spPr>
        <p:txBody>
          <a:bodyPr wrap="square" lIns="9144" rIns="9144" tIns="0" bIns="0">
            <a:spAutoFit/>
          </a:bodyPr>
          <a:lstStyle/>
          <a:p>
            <a:pPr>
              <a:lnSpc>
                <a:spcPct val="106000"/>
              </a:lnSpc>
              <a:spcAft>
                <a:spcPts val="400"/>
              </a:spcAft>
              <a:defRPr sz="1400" b="0">
                <a:solidFill>
                  <a:srgbClr val="9A9AA2"/>
                </a:solidFill>
                <a:latin typeface="Helvetica Neue"/>
              </a:defRPr>
            </a:pPr>
            <a:r>
              <a:t>Chance it wins?</a:t>
            </a:r>
          </a:p>
        </p:txBody>
      </p:sp>
      <p:cxnSp>
        <p:nvCxnSpPr>
          <p:cNvPr id="14" name="Connector 13"/>
          <p:cNvCxnSpPr/>
          <p:nvPr/>
        </p:nvCxnSpPr>
        <p:spPr>
          <a:xfrm>
            <a:off x="5824728" y="2331720"/>
            <a:ext cx="28346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26479" y="1645920"/>
            <a:ext cx="2468880" cy="1371600"/>
          </a:xfrm>
          <a:prstGeom prst="roundRect">
            <a:avLst>
              <a:gd name="adj" fmla="val 9333"/>
            </a:avLst>
          </a:prstGeom>
          <a:noFill/>
          <a:ln w="1524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6309359" y="1737360"/>
            <a:ext cx="365760" cy="365760"/>
          </a:xfrm>
          <a:prstGeom prst="rect">
            <a:avLst/>
          </a:prstGeom>
          <a:noFill/>
        </p:spPr>
        <p:txBody>
          <a:bodyPr wrap="square" lIns="9144" rIns="9144" tIns="0" bIns="0">
            <a:spAutoFit/>
          </a:bodyPr>
          <a:lstStyle/>
          <a:p>
            <a:pPr>
              <a:lnSpc>
                <a:spcPct val="106000"/>
              </a:lnSpc>
              <a:spcAft>
                <a:spcPts val="400"/>
              </a:spcAft>
              <a:defRPr sz="1800" b="0">
                <a:solidFill>
                  <a:srgbClr val="3DDC97"/>
                </a:solidFill>
                <a:latin typeface="Helvetica Neue"/>
              </a:defRPr>
            </a:pPr>
            <a:r>
              <a:t>3</a:t>
            </a:r>
          </a:p>
        </p:txBody>
      </p:sp>
      <p:sp>
        <p:nvSpPr>
          <p:cNvPr id="17" name="text:ACT"/>
          <p:cNvSpPr txBox="1"/>
          <p:nvPr/>
        </p:nvSpPr>
        <p:spPr>
          <a:xfrm>
            <a:off x="6675119" y="1783080"/>
            <a:ext cx="173736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ACT</a:t>
            </a:r>
          </a:p>
        </p:txBody>
      </p:sp>
      <p:sp>
        <p:nvSpPr>
          <p:cNvPr id="18" name="text:Only above the line"/>
          <p:cNvSpPr txBox="1"/>
          <p:nvPr/>
        </p:nvSpPr>
        <p:spPr>
          <a:xfrm>
            <a:off x="6327647" y="2331720"/>
            <a:ext cx="2103120" cy="548640"/>
          </a:xfrm>
          <a:prstGeom prst="rect">
            <a:avLst/>
          </a:prstGeom>
          <a:noFill/>
        </p:spPr>
        <p:txBody>
          <a:bodyPr wrap="square" lIns="9144" rIns="9144" tIns="0" bIns="0">
            <a:spAutoFit/>
          </a:bodyPr>
          <a:lstStyle/>
          <a:p>
            <a:pPr>
              <a:lnSpc>
                <a:spcPct val="106000"/>
              </a:lnSpc>
              <a:spcAft>
                <a:spcPts val="400"/>
              </a:spcAft>
              <a:defRPr sz="1400" b="0">
                <a:solidFill>
                  <a:srgbClr val="9A9AA2"/>
                </a:solidFill>
                <a:latin typeface="Helvetica Neue"/>
              </a:defRPr>
            </a:pPr>
            <a:r>
              <a:t>Only above the line</a:t>
            </a:r>
          </a:p>
        </p:txBody>
      </p:sp>
      <p:sp>
        <p:nvSpPr>
          <p:cNvPr id="19" name="Rounded Rectangle 18"/>
          <p:cNvSpPr/>
          <p:nvPr/>
        </p:nvSpPr>
        <p:spPr>
          <a:xfrm>
            <a:off x="548640" y="3246120"/>
            <a:ext cx="8092440" cy="566928"/>
          </a:xfrm>
          <a:prstGeom prst="roundRect">
            <a:avLst>
              <a:gd name="adj" fmla="val 2258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TRAIN"/>
          <p:cNvSpPr txBox="1"/>
          <p:nvPr/>
        </p:nvSpPr>
        <p:spPr>
          <a:xfrm>
            <a:off x="731520" y="3246120"/>
            <a:ext cx="731520" cy="566928"/>
          </a:xfrm>
          <a:prstGeom prst="rect">
            <a:avLst/>
          </a:prstGeom>
          <a:noFill/>
        </p:spPr>
        <p:txBody>
          <a:bodyPr wrap="square" lIns="9144" rIns="9144" tIns="0" bIns="0" anchor="ctr">
            <a:spAutoFit/>
          </a:bodyPr>
          <a:lstStyle/>
          <a:p>
            <a:pPr>
              <a:lnSpc>
                <a:spcPct val="106000"/>
              </a:lnSpc>
              <a:spcAft>
                <a:spcPts val="400"/>
              </a:spcAft>
              <a:defRPr sz="900" b="0">
                <a:solidFill>
                  <a:srgbClr val="B3A5FF"/>
                </a:solidFill>
                <a:latin typeface="Helvetica Neue"/>
              </a:defRPr>
            </a:pPr>
            <a:r>
              <a:t>TRAIN</a:t>
            </a:r>
          </a:p>
        </p:txBody>
      </p:sp>
      <p:sp>
        <p:nvSpPr>
          <p:cNvPr id="21" name="Rounded Rectangle 20"/>
          <p:cNvSpPr/>
          <p:nvPr/>
        </p:nvSpPr>
        <p:spPr>
          <a:xfrm>
            <a:off x="1463040" y="3383280"/>
            <a:ext cx="3840480" cy="292608"/>
          </a:xfrm>
          <a:prstGeom prst="roundRect">
            <a:avLst>
              <a:gd name="adj" fmla="val 15625"/>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early trades: the gate learns"/>
          <p:cNvSpPr txBox="1"/>
          <p:nvPr/>
        </p:nvSpPr>
        <p:spPr>
          <a:xfrm>
            <a:off x="1554480" y="3383280"/>
            <a:ext cx="3657600" cy="292608"/>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early trades: the gate learns</a:t>
            </a:r>
          </a:p>
        </p:txBody>
      </p:sp>
      <p:sp>
        <p:nvSpPr>
          <p:cNvPr id="23" name="Rounded Rectangle 22"/>
          <p:cNvSpPr/>
          <p:nvPr/>
        </p:nvSpPr>
        <p:spPr>
          <a:xfrm>
            <a:off x="5303520" y="3383280"/>
            <a:ext cx="320040" cy="292608"/>
          </a:xfrm>
          <a:prstGeom prst="roundRect">
            <a:avLst>
              <a:gd name="adj" fmla="val 9375"/>
            </a:avLst>
          </a:prstGeom>
          <a:solidFill>
            <a:srgbClr val="3A1A1A"/>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purge"/>
          <p:cNvSpPr txBox="1"/>
          <p:nvPr/>
        </p:nvSpPr>
        <p:spPr>
          <a:xfrm>
            <a:off x="5074920" y="3675887"/>
            <a:ext cx="777240" cy="146304"/>
          </a:xfrm>
          <a:prstGeom prst="rect">
            <a:avLst/>
          </a:prstGeom>
          <a:noFill/>
        </p:spPr>
        <p:txBody>
          <a:bodyPr wrap="square" lIns="9144" rIns="9144" tIns="0" bIns="0">
            <a:spAutoFit/>
          </a:bodyPr>
          <a:lstStyle/>
          <a:p>
            <a:pPr algn="ctr">
              <a:lnSpc>
                <a:spcPct val="106000"/>
              </a:lnSpc>
              <a:spcAft>
                <a:spcPts val="400"/>
              </a:spcAft>
              <a:defRPr sz="750" b="0">
                <a:solidFill>
                  <a:srgbClr val="FD51FC"/>
                </a:solidFill>
                <a:latin typeface="Helvetica Neue"/>
              </a:defRPr>
            </a:pPr>
            <a:r>
              <a:t>purge</a:t>
            </a:r>
          </a:p>
        </p:txBody>
      </p:sp>
      <p:sp>
        <p:nvSpPr>
          <p:cNvPr id="25" name="Rounded Rectangle 24"/>
          <p:cNvSpPr/>
          <p:nvPr/>
        </p:nvSpPr>
        <p:spPr>
          <a:xfrm>
            <a:off x="5623560" y="3383280"/>
            <a:ext cx="2834640" cy="292608"/>
          </a:xfrm>
          <a:prstGeom prst="roundRect">
            <a:avLst>
              <a:gd name="adj" fmla="val 15625"/>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later trades: the gate is scored"/>
          <p:cNvSpPr txBox="1"/>
          <p:nvPr/>
        </p:nvSpPr>
        <p:spPr>
          <a:xfrm>
            <a:off x="5715000" y="3383280"/>
            <a:ext cx="2743200" cy="292608"/>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later trades: the gate is scored</a:t>
            </a:r>
          </a:p>
        </p:txBody>
      </p:sp>
      <p:sp>
        <p:nvSpPr>
          <p:cNvPr id="27" name="Rounded Rectangle 26"/>
          <p:cNvSpPr/>
          <p:nvPr/>
        </p:nvSpPr>
        <p:spPr>
          <a:xfrm>
            <a:off x="548640" y="3977639"/>
            <a:ext cx="8092440" cy="594360"/>
          </a:xfrm>
          <a:prstGeom prst="roundRect">
            <a:avLst>
              <a:gd name="adj" fmla="val 21538"/>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The gate is trained on what happened"/>
          <p:cNvSpPr txBox="1"/>
          <p:nvPr/>
        </p:nvSpPr>
        <p:spPr>
          <a:xfrm>
            <a:off x="731520" y="3977639"/>
            <a:ext cx="7726679" cy="59436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The gate is trained on what happened to past trades, and tested on a later period it has not seen.</a:t>
            </a:r>
          </a:p>
        </p:txBody>
      </p:sp>
      <p:sp>
        <p:nvSpPr>
          <p:cNvPr id="29" name="text:Illustrative flow"/>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flow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pretend agent writes reason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pretend agent writes reasons</a:t>
            </a:r>
          </a:p>
        </p:txBody>
      </p:sp>
      <p:sp>
        <p:nvSpPr>
          <p:cNvPr id="3" name="text:No AI credits, no network: a rule th"/>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No AI credits, no network: a rule that explains itself.</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417320"/>
            <a:ext cx="4114800" cy="2743200"/>
          </a:xfrm>
          <a:prstGeom prst="roundRect">
            <a:avLst>
              <a:gd name="adj" fmla="val 4666"/>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A WRITTEN REASON"/>
          <p:cNvSpPr txBox="1"/>
          <p:nvPr/>
        </p:nvSpPr>
        <p:spPr>
          <a:xfrm>
            <a:off x="731520" y="1536192"/>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A WRITTEN REASON</a:t>
            </a:r>
          </a:p>
        </p:txBody>
      </p:sp>
      <p:sp>
        <p:nvSpPr>
          <p:cNvPr id="7" name="text:&quot;Buy: SOL fell 9.7 bps in the last 6"/>
          <p:cNvSpPr txBox="1"/>
          <p:nvPr/>
        </p:nvSpPr>
        <p:spPr>
          <a:xfrm>
            <a:off x="731520" y="1810512"/>
            <a:ext cx="3749039" cy="146304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"Buy: SOL fell 9.7 bps in the last 60 s, 2.2x the recent noise, so follow the move. The two venues agree within 4.0 bps."</a:t>
            </a:r>
          </a:p>
        </p:txBody>
      </p:sp>
      <p:sp>
        <p:nvSpPr>
          <p:cNvPr id="8" name="Rounded Rectangle 7"/>
          <p:cNvSpPr/>
          <p:nvPr/>
        </p:nvSpPr>
        <p:spPr>
          <a:xfrm>
            <a:off x="731520" y="3474720"/>
            <a:ext cx="640080" cy="237744"/>
          </a:xfrm>
          <a:prstGeom prst="roundRect">
            <a:avLst>
              <a:gd name="adj" fmla="val 4615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UY"/>
          <p:cNvSpPr txBox="1"/>
          <p:nvPr/>
        </p:nvSpPr>
        <p:spPr>
          <a:xfrm>
            <a:off x="731520" y="3493008"/>
            <a:ext cx="640080" cy="219456"/>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BUY</a:t>
            </a:r>
          </a:p>
        </p:txBody>
      </p:sp>
      <p:sp>
        <p:nvSpPr>
          <p:cNvPr id="10" name="text:one claim in this reason was given a"/>
          <p:cNvSpPr txBox="1"/>
          <p:nvPr/>
        </p:nvSpPr>
        <p:spPr>
          <a:xfrm>
            <a:off x="1508760" y="3493008"/>
            <a:ext cx="3017520" cy="201168"/>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one claim in this reason was given a simulated error</a:t>
            </a:r>
          </a:p>
        </p:txBody>
      </p:sp>
      <p:sp>
        <p:nvSpPr>
          <p:cNvPr id="11" name="text:The wrong-claim rate is 20%, fixed s"/>
          <p:cNvSpPr txBox="1"/>
          <p:nvPr/>
        </p:nvSpPr>
        <p:spPr>
          <a:xfrm>
            <a:off x="731520" y="3794760"/>
            <a:ext cx="3749039" cy="32004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The wrong-claim rate is 20%, fixed seed, flagged in out/agent.json.</a:t>
            </a:r>
          </a:p>
        </p:txBody>
      </p:sp>
      <p:sp>
        <p:nvSpPr>
          <p:cNvPr id="12" name="text:THE CHECKER READS THE FACTS"/>
          <p:cNvSpPr txBox="1"/>
          <p:nvPr/>
        </p:nvSpPr>
        <p:spPr>
          <a:xfrm>
            <a:off x="4846320" y="1417320"/>
            <a:ext cx="3749039"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THE CHECKER READS THE FACTS</a:t>
            </a:r>
          </a:p>
        </p:txBody>
      </p:sp>
      <p:sp>
        <p:nvSpPr>
          <p:cNvPr id="13" name="Rounded Rectangle 12"/>
          <p:cNvSpPr/>
          <p:nvPr/>
        </p:nvSpPr>
        <p:spPr>
          <a:xfrm>
            <a:off x="4846320" y="1691640"/>
            <a:ext cx="3794760" cy="530352"/>
          </a:xfrm>
          <a:prstGeom prst="roundRect">
            <a:avLst>
              <a:gd name="adj" fmla="val 24137"/>
            </a:avLst>
          </a:prstGeom>
          <a:noFill/>
          <a:ln w="1270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Direction"/>
          <p:cNvSpPr txBox="1"/>
          <p:nvPr/>
        </p:nvSpPr>
        <p:spPr>
          <a:xfrm>
            <a:off x="4983480" y="1737360"/>
            <a:ext cx="109728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Direction</a:t>
            </a:r>
          </a:p>
        </p:txBody>
      </p:sp>
      <p:sp>
        <p:nvSpPr>
          <p:cNvPr id="15" name="text:says fell"/>
          <p:cNvSpPr txBox="1"/>
          <p:nvPr/>
        </p:nvSpPr>
        <p:spPr>
          <a:xfrm>
            <a:off x="4983480" y="1938528"/>
            <a:ext cx="1554480" cy="22860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says fell</a:t>
            </a:r>
          </a:p>
        </p:txBody>
      </p:sp>
      <p:sp>
        <p:nvSpPr>
          <p:cNvPr id="16" name="text:data: rose"/>
          <p:cNvSpPr txBox="1"/>
          <p:nvPr/>
        </p:nvSpPr>
        <p:spPr>
          <a:xfrm>
            <a:off x="6446520" y="1938528"/>
            <a:ext cx="137160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data: rose</a:t>
            </a:r>
          </a:p>
        </p:txBody>
      </p:sp>
      <p:sp>
        <p:nvSpPr>
          <p:cNvPr id="17" name="Rounded Rectangle 16"/>
          <p:cNvSpPr/>
          <p:nvPr/>
        </p:nvSpPr>
        <p:spPr>
          <a:xfrm>
            <a:off x="7818120" y="1837944"/>
            <a:ext cx="731520" cy="228600"/>
          </a:xfrm>
          <a:prstGeom prst="roundRect">
            <a:avLst>
              <a:gd name="adj" fmla="val 48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WRONG"/>
          <p:cNvSpPr txBox="1"/>
          <p:nvPr/>
        </p:nvSpPr>
        <p:spPr>
          <a:xfrm>
            <a:off x="7818120" y="1856232"/>
            <a:ext cx="731520" cy="210312"/>
          </a:xfrm>
          <a:prstGeom prst="rect">
            <a:avLst/>
          </a:prstGeom>
          <a:noFill/>
        </p:spPr>
        <p:txBody>
          <a:bodyPr wrap="square" lIns="9144" rIns="9144" tIns="0" bIns="0" anchor="ctr">
            <a:spAutoFit/>
          </a:bodyPr>
          <a:lstStyle/>
          <a:p>
            <a:pPr algn="ctr">
              <a:lnSpc>
                <a:spcPct val="106000"/>
              </a:lnSpc>
              <a:spcAft>
                <a:spcPts val="400"/>
              </a:spcAft>
              <a:defRPr sz="850" b="0">
                <a:solidFill>
                  <a:srgbClr val="FD51FC"/>
                </a:solidFill>
                <a:latin typeface="Helvetica Neue"/>
              </a:defRPr>
            </a:pPr>
            <a:r>
              <a:t>WRONG</a:t>
            </a:r>
          </a:p>
        </p:txBody>
      </p:sp>
      <p:sp>
        <p:nvSpPr>
          <p:cNvPr id="19" name="Rounded Rectangle 18"/>
          <p:cNvSpPr/>
          <p:nvPr/>
        </p:nvSpPr>
        <p:spPr>
          <a:xfrm>
            <a:off x="4846320" y="2295144"/>
            <a:ext cx="3794760" cy="530352"/>
          </a:xfrm>
          <a:prstGeom prst="roundRect">
            <a:avLst>
              <a:gd name="adj" fmla="val 24137"/>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Size"/>
          <p:cNvSpPr txBox="1"/>
          <p:nvPr/>
        </p:nvSpPr>
        <p:spPr>
          <a:xfrm>
            <a:off x="4983480" y="2340864"/>
            <a:ext cx="109728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Size</a:t>
            </a:r>
          </a:p>
        </p:txBody>
      </p:sp>
      <p:sp>
        <p:nvSpPr>
          <p:cNvPr id="21" name="text:says 9.7 bps"/>
          <p:cNvSpPr txBox="1"/>
          <p:nvPr/>
        </p:nvSpPr>
        <p:spPr>
          <a:xfrm>
            <a:off x="4983480" y="2542032"/>
            <a:ext cx="1554480" cy="22860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says 9.7 bps</a:t>
            </a:r>
          </a:p>
        </p:txBody>
      </p:sp>
      <p:sp>
        <p:nvSpPr>
          <p:cNvPr id="22" name="text:data: 9.7 bps"/>
          <p:cNvSpPr txBox="1"/>
          <p:nvPr/>
        </p:nvSpPr>
        <p:spPr>
          <a:xfrm>
            <a:off x="6446520" y="2542032"/>
            <a:ext cx="137160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data: 9.7 bps</a:t>
            </a:r>
          </a:p>
        </p:txBody>
      </p:sp>
      <p:sp>
        <p:nvSpPr>
          <p:cNvPr id="23" name="Rounded Rectangle 22"/>
          <p:cNvSpPr/>
          <p:nvPr/>
        </p:nvSpPr>
        <p:spPr>
          <a:xfrm>
            <a:off x="7818120" y="2441448"/>
            <a:ext cx="731520" cy="228600"/>
          </a:xfrm>
          <a:prstGeom prst="roundRect">
            <a:avLst>
              <a:gd name="adj" fmla="val 48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TRUE"/>
          <p:cNvSpPr txBox="1"/>
          <p:nvPr/>
        </p:nvSpPr>
        <p:spPr>
          <a:xfrm>
            <a:off x="7818120" y="2459736"/>
            <a:ext cx="731520" cy="210312"/>
          </a:xfrm>
          <a:prstGeom prst="rect">
            <a:avLst/>
          </a:prstGeom>
          <a:noFill/>
        </p:spPr>
        <p:txBody>
          <a:bodyPr wrap="square" lIns="9144" rIns="9144" tIns="0" bIns="0" anchor="ctr">
            <a:spAutoFit/>
          </a:bodyPr>
          <a:lstStyle/>
          <a:p>
            <a:pPr algn="ctr">
              <a:lnSpc>
                <a:spcPct val="106000"/>
              </a:lnSpc>
              <a:spcAft>
                <a:spcPts val="400"/>
              </a:spcAft>
              <a:defRPr sz="850" b="0">
                <a:solidFill>
                  <a:srgbClr val="3DDC97"/>
                </a:solidFill>
                <a:latin typeface="Helvetica Neue"/>
              </a:defRPr>
            </a:pPr>
            <a:r>
              <a:t>TRUE</a:t>
            </a:r>
          </a:p>
        </p:txBody>
      </p:sp>
      <p:sp>
        <p:nvSpPr>
          <p:cNvPr id="25" name="Rounded Rectangle 24"/>
          <p:cNvSpPr/>
          <p:nvPr/>
        </p:nvSpPr>
        <p:spPr>
          <a:xfrm>
            <a:off x="4846320" y="2898648"/>
            <a:ext cx="3794760" cy="530352"/>
          </a:xfrm>
          <a:prstGeom prst="roundRect">
            <a:avLst>
              <a:gd name="adj" fmla="val 24137"/>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Noise ratio"/>
          <p:cNvSpPr txBox="1"/>
          <p:nvPr/>
        </p:nvSpPr>
        <p:spPr>
          <a:xfrm>
            <a:off x="4983480" y="2944368"/>
            <a:ext cx="109728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Noise ratio</a:t>
            </a:r>
          </a:p>
        </p:txBody>
      </p:sp>
      <p:sp>
        <p:nvSpPr>
          <p:cNvPr id="27" name="text:says 2.2x"/>
          <p:cNvSpPr txBox="1"/>
          <p:nvPr/>
        </p:nvSpPr>
        <p:spPr>
          <a:xfrm>
            <a:off x="4983480" y="3145536"/>
            <a:ext cx="1554480" cy="22860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says 2.2x</a:t>
            </a:r>
          </a:p>
        </p:txBody>
      </p:sp>
      <p:sp>
        <p:nvSpPr>
          <p:cNvPr id="28" name="text:data: 2.2x"/>
          <p:cNvSpPr txBox="1"/>
          <p:nvPr/>
        </p:nvSpPr>
        <p:spPr>
          <a:xfrm>
            <a:off x="6446520" y="3145536"/>
            <a:ext cx="137160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data: 2.2x</a:t>
            </a:r>
          </a:p>
        </p:txBody>
      </p:sp>
      <p:sp>
        <p:nvSpPr>
          <p:cNvPr id="29" name="Rounded Rectangle 28"/>
          <p:cNvSpPr/>
          <p:nvPr/>
        </p:nvSpPr>
        <p:spPr>
          <a:xfrm>
            <a:off x="7818120" y="3044952"/>
            <a:ext cx="731520" cy="228600"/>
          </a:xfrm>
          <a:prstGeom prst="roundRect">
            <a:avLst>
              <a:gd name="adj" fmla="val 48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TRUE"/>
          <p:cNvSpPr txBox="1"/>
          <p:nvPr/>
        </p:nvSpPr>
        <p:spPr>
          <a:xfrm>
            <a:off x="7818120" y="3063240"/>
            <a:ext cx="731520" cy="210312"/>
          </a:xfrm>
          <a:prstGeom prst="rect">
            <a:avLst/>
          </a:prstGeom>
          <a:noFill/>
        </p:spPr>
        <p:txBody>
          <a:bodyPr wrap="square" lIns="9144" rIns="9144" tIns="0" bIns="0" anchor="ctr">
            <a:spAutoFit/>
          </a:bodyPr>
          <a:lstStyle/>
          <a:p>
            <a:pPr algn="ctr">
              <a:lnSpc>
                <a:spcPct val="106000"/>
              </a:lnSpc>
              <a:spcAft>
                <a:spcPts val="400"/>
              </a:spcAft>
              <a:defRPr sz="850" b="0">
                <a:solidFill>
                  <a:srgbClr val="3DDC97"/>
                </a:solidFill>
                <a:latin typeface="Helvetica Neue"/>
              </a:defRPr>
            </a:pPr>
            <a:r>
              <a:t>TRUE</a:t>
            </a:r>
          </a:p>
        </p:txBody>
      </p:sp>
      <p:sp>
        <p:nvSpPr>
          <p:cNvPr id="31" name="Rounded Rectangle 30"/>
          <p:cNvSpPr/>
          <p:nvPr/>
        </p:nvSpPr>
        <p:spPr>
          <a:xfrm>
            <a:off x="4846320" y="3502152"/>
            <a:ext cx="3794760" cy="530352"/>
          </a:xfrm>
          <a:prstGeom prst="roundRect">
            <a:avLst>
              <a:gd name="adj" fmla="val 24137"/>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Venue gap"/>
          <p:cNvSpPr txBox="1"/>
          <p:nvPr/>
        </p:nvSpPr>
        <p:spPr>
          <a:xfrm>
            <a:off x="4983480" y="3547872"/>
            <a:ext cx="109728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Venue gap</a:t>
            </a:r>
          </a:p>
        </p:txBody>
      </p:sp>
      <p:sp>
        <p:nvSpPr>
          <p:cNvPr id="33" name="text:within 4.0 bps"/>
          <p:cNvSpPr txBox="1"/>
          <p:nvPr/>
        </p:nvSpPr>
        <p:spPr>
          <a:xfrm>
            <a:off x="4983480" y="3749039"/>
            <a:ext cx="1554480" cy="22860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within 4.0 bps</a:t>
            </a:r>
          </a:p>
        </p:txBody>
      </p:sp>
      <p:sp>
        <p:nvSpPr>
          <p:cNvPr id="34" name="text:data: 4.0 bps"/>
          <p:cNvSpPr txBox="1"/>
          <p:nvPr/>
        </p:nvSpPr>
        <p:spPr>
          <a:xfrm>
            <a:off x="6446520" y="3749039"/>
            <a:ext cx="137160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data: 4.0 bps</a:t>
            </a:r>
          </a:p>
        </p:txBody>
      </p:sp>
      <p:sp>
        <p:nvSpPr>
          <p:cNvPr id="35" name="Rounded Rectangle 34"/>
          <p:cNvSpPr/>
          <p:nvPr/>
        </p:nvSpPr>
        <p:spPr>
          <a:xfrm>
            <a:off x="7818120" y="3648456"/>
            <a:ext cx="731520" cy="228600"/>
          </a:xfrm>
          <a:prstGeom prst="roundRect">
            <a:avLst>
              <a:gd name="adj" fmla="val 48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TRUE"/>
          <p:cNvSpPr txBox="1"/>
          <p:nvPr/>
        </p:nvSpPr>
        <p:spPr>
          <a:xfrm>
            <a:off x="7818120" y="3666744"/>
            <a:ext cx="731520" cy="210312"/>
          </a:xfrm>
          <a:prstGeom prst="rect">
            <a:avLst/>
          </a:prstGeom>
          <a:noFill/>
        </p:spPr>
        <p:txBody>
          <a:bodyPr wrap="square" lIns="9144" rIns="9144" tIns="0" bIns="0" anchor="ctr">
            <a:spAutoFit/>
          </a:bodyPr>
          <a:lstStyle/>
          <a:p>
            <a:pPr algn="ctr">
              <a:lnSpc>
                <a:spcPct val="106000"/>
              </a:lnSpc>
              <a:spcAft>
                <a:spcPts val="400"/>
              </a:spcAft>
              <a:defRPr sz="850" b="0">
                <a:solidFill>
                  <a:srgbClr val="3DDC97"/>
                </a:solidFill>
                <a:latin typeface="Helvetica Neue"/>
              </a:defRPr>
            </a:pPr>
            <a:r>
              <a:t>TRUE</a:t>
            </a:r>
          </a:p>
        </p:txBody>
      </p:sp>
      <p:sp>
        <p:nvSpPr>
          <p:cNvPr id="37" name="Rounded Rectangle 36"/>
          <p:cNvSpPr/>
          <p:nvPr/>
        </p:nvSpPr>
        <p:spPr>
          <a:xfrm>
            <a:off x="548640" y="4224528"/>
            <a:ext cx="8092440" cy="411480"/>
          </a:xfrm>
          <a:prstGeom prst="roundRect">
            <a:avLst>
              <a:gd name="adj" fmla="val 31111"/>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It checks direction, size and the ve"/>
          <p:cNvSpPr txBox="1"/>
          <p:nvPr/>
        </p:nvSpPr>
        <p:spPr>
          <a:xfrm>
            <a:off x="731520" y="4224528"/>
            <a:ext cx="7726679" cy="41148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It checks direction, size and the venue gap. It does not judge the idea.</a:t>
            </a:r>
          </a:p>
        </p:txBody>
      </p:sp>
      <p:sp>
        <p:nvSpPr>
          <p:cNvPr id="39" name="text:out/agent.jso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out/agent.json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rade the reasons, then the resul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Grade the reasons, then the result</a:t>
            </a:r>
          </a:p>
        </p:txBody>
      </p:sp>
      <p:sp>
        <p:nvSpPr>
          <p:cNvPr id="3" name="text:Two separate questions, and the answ"/>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Two separate questions, and the answers do not have to agree.</a:t>
            </a:r>
          </a:p>
        </p:txBody>
      </p:sp>
      <p:sp>
        <p:nvSpPr>
          <p:cNvPr id="4"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5" name="Rounded Rectangle 4"/>
          <p:cNvSpPr/>
          <p:nvPr/>
        </p:nvSpPr>
        <p:spPr>
          <a:xfrm>
            <a:off x="548640" y="1463040"/>
            <a:ext cx="3840480" cy="2286000"/>
          </a:xfrm>
          <a:prstGeom prst="roundRect">
            <a:avLst>
              <a:gd name="adj" fmla="val 560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QUESTION 1: WAS THE REASON TRUE?"/>
          <p:cNvSpPr txBox="1"/>
          <p:nvPr/>
        </p:nvSpPr>
        <p:spPr>
          <a:xfrm>
            <a:off x="731520" y="15727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QUESTION 1: WAS THE REASON TRUE?</a:t>
            </a:r>
          </a:p>
        </p:txBody>
      </p:sp>
      <p:sp>
        <p:nvSpPr>
          <p:cNvPr id="7" name="text:43 of 43"/>
          <p:cNvSpPr txBox="1"/>
          <p:nvPr/>
        </p:nvSpPr>
        <p:spPr>
          <a:xfrm>
            <a:off x="731520" y="1828800"/>
            <a:ext cx="3474720" cy="640080"/>
          </a:xfrm>
          <a:prstGeom prst="rect">
            <a:avLst/>
          </a:prstGeom>
          <a:noFill/>
        </p:spPr>
        <p:txBody>
          <a:bodyPr wrap="square" lIns="9144" rIns="9144" tIns="0" bIns="0">
            <a:spAutoFit/>
          </a:bodyPr>
          <a:lstStyle/>
          <a:p>
            <a:pPr>
              <a:lnSpc>
                <a:spcPct val="106000"/>
              </a:lnSpc>
              <a:spcAft>
                <a:spcPts val="400"/>
              </a:spcAft>
              <a:defRPr sz="3600" b="0">
                <a:solidFill>
                  <a:srgbClr val="F2F5F8"/>
                </a:solidFill>
                <a:latin typeface="Helvetica Neue"/>
              </a:defRPr>
            </a:pPr>
            <a:r>
              <a:t>43 of 43</a:t>
            </a:r>
          </a:p>
        </p:txBody>
      </p:sp>
      <p:sp>
        <p:nvSpPr>
          <p:cNvPr id="8" name="text:simulated wrong claims caught"/>
          <p:cNvSpPr txBox="1"/>
          <p:nvPr/>
        </p:nvSpPr>
        <p:spPr>
          <a:xfrm>
            <a:off x="731520" y="2560320"/>
            <a:ext cx="3474720" cy="22860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simulated wrong claims caught</a:t>
            </a:r>
          </a:p>
        </p:txBody>
      </p:sp>
      <p:sp>
        <p:nvSpPr>
          <p:cNvPr id="9" name="text:0 false alarms on 176 true reasons. "/>
          <p:cNvSpPr txBox="1"/>
          <p:nvPr/>
        </p:nvSpPr>
        <p:spPr>
          <a:xfrm>
            <a:off x="731520" y="2880360"/>
            <a:ext cx="3474720" cy="7315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0 false alarms on 176 true reasons. Easy: we made the errors ourselves.</a:t>
            </a:r>
          </a:p>
        </p:txBody>
      </p:sp>
      <p:sp>
        <p:nvSpPr>
          <p:cNvPr id="10" name="Rounded Rectangle 9"/>
          <p:cNvSpPr/>
          <p:nvPr/>
        </p:nvSpPr>
        <p:spPr>
          <a:xfrm>
            <a:off x="4617720" y="1463040"/>
            <a:ext cx="4023360" cy="2286000"/>
          </a:xfrm>
          <a:prstGeom prst="roundRect">
            <a:avLst>
              <a:gd name="adj" fmla="val 560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QUESTION 2: DID THE TRADE WIN?"/>
          <p:cNvSpPr txBox="1"/>
          <p:nvPr/>
        </p:nvSpPr>
        <p:spPr>
          <a:xfrm>
            <a:off x="4800600" y="1572768"/>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QUESTION 2: DID THE TRADE WIN?</a:t>
            </a:r>
          </a:p>
        </p:txBody>
      </p:sp>
      <p:sp>
        <p:nvSpPr>
          <p:cNvPr id="12" name="text:Reason was true"/>
          <p:cNvSpPr txBox="1"/>
          <p:nvPr/>
        </p:nvSpPr>
        <p:spPr>
          <a:xfrm>
            <a:off x="4800600" y="1920240"/>
            <a:ext cx="356616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Reason was true</a:t>
            </a:r>
          </a:p>
        </p:txBody>
      </p:sp>
      <p:sp>
        <p:nvSpPr>
          <p:cNvPr id="13" name="text:51.3%"/>
          <p:cNvSpPr txBox="1"/>
          <p:nvPr/>
        </p:nvSpPr>
        <p:spPr>
          <a:xfrm>
            <a:off x="4800600" y="2167128"/>
            <a:ext cx="164592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51.3%</a:t>
            </a:r>
          </a:p>
        </p:txBody>
      </p:sp>
      <p:sp>
        <p:nvSpPr>
          <p:cNvPr id="14" name="text:hit rate, 113 trades"/>
          <p:cNvSpPr txBox="1"/>
          <p:nvPr/>
        </p:nvSpPr>
        <p:spPr>
          <a:xfrm>
            <a:off x="6263640" y="2304288"/>
            <a:ext cx="219456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hit rate, 113 trades</a:t>
            </a:r>
          </a:p>
        </p:txBody>
      </p:sp>
      <p:sp>
        <p:nvSpPr>
          <p:cNvPr id="15" name="text:Reason had a wrong claim"/>
          <p:cNvSpPr txBox="1"/>
          <p:nvPr/>
        </p:nvSpPr>
        <p:spPr>
          <a:xfrm>
            <a:off x="4800600" y="2788920"/>
            <a:ext cx="356616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Reason had a wrong claim</a:t>
            </a:r>
          </a:p>
        </p:txBody>
      </p:sp>
      <p:sp>
        <p:nvSpPr>
          <p:cNvPr id="16" name="text:50%"/>
          <p:cNvSpPr txBox="1"/>
          <p:nvPr/>
        </p:nvSpPr>
        <p:spPr>
          <a:xfrm>
            <a:off x="4800600" y="3035808"/>
            <a:ext cx="164592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50%</a:t>
            </a:r>
          </a:p>
        </p:txBody>
      </p:sp>
      <p:sp>
        <p:nvSpPr>
          <p:cNvPr id="17" name="text:hit rate, 30 trades"/>
          <p:cNvSpPr txBox="1"/>
          <p:nvPr/>
        </p:nvSpPr>
        <p:spPr>
          <a:xfrm>
            <a:off x="6263640" y="3172968"/>
            <a:ext cx="219456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hit rate, 30 trades</a:t>
            </a:r>
          </a:p>
        </p:txBody>
      </p:sp>
      <p:sp>
        <p:nvSpPr>
          <p:cNvPr id="18" name="Rounded Rectangle 17"/>
          <p:cNvSpPr/>
          <p:nvPr/>
        </p:nvSpPr>
        <p:spPr>
          <a:xfrm>
            <a:off x="548640" y="3931920"/>
            <a:ext cx="8092440" cy="640080"/>
          </a:xfrm>
          <a:prstGeom prst="roundRect">
            <a:avLst>
              <a:gd name="adj" fmla="val 2000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A true reason did not make a better "/>
          <p:cNvSpPr txBox="1"/>
          <p:nvPr/>
        </p:nvSpPr>
        <p:spPr>
          <a:xfrm>
            <a:off x="731520" y="3931920"/>
            <a:ext cx="7726679" cy="64008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A true reason did not make a better trade: 51.3% versus 50%. Grade the facts first, then the label.</a:t>
            </a:r>
          </a:p>
        </p:txBody>
      </p:sp>
      <p:sp>
        <p:nvSpPr>
          <p:cNvPr id="20" name="text:out/agent.json (gross of fees; simul"/>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out/agent.json (gross of fees; simulated, on recorded data; not advice)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gate on the test perio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gate on the test period</a:t>
            </a:r>
          </a:p>
        </p:txBody>
      </p:sp>
      <p:sp>
        <p:nvSpPr>
          <p:cNvPr id="3" name="text:Trained on early trades, scored on l"/>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Trained on early trades, scored on later ones, with a +/- range.</a:t>
            </a:r>
          </a:p>
        </p:txBody>
      </p:sp>
      <p:sp>
        <p:nvSpPr>
          <p:cNvPr id="4"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5" name="Rounded Rectangle 4"/>
          <p:cNvSpPr/>
          <p:nvPr/>
        </p:nvSpPr>
        <p:spPr>
          <a:xfrm>
            <a:off x="548640" y="1463040"/>
            <a:ext cx="5212080" cy="2331720"/>
          </a:xfrm>
          <a:prstGeom prst="roundRect">
            <a:avLst>
              <a:gd name="adj" fmla="val 549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HIT RATE ON 55 TEST TRADES, WITH A +"/>
          <p:cNvSpPr txBox="1"/>
          <p:nvPr/>
        </p:nvSpPr>
        <p:spPr>
          <a:xfrm>
            <a:off x="731520" y="1554480"/>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HIT RATE ON 55 TEST TRADES, WITH A +/- RANGE</a:t>
            </a:r>
          </a:p>
        </p:txBody>
      </p:sp>
      <p:sp>
        <p:nvSpPr>
          <p:cNvPr id="7" name="text:No gate: 55 trades, 45.5% (+/- 13.2)"/>
          <p:cNvSpPr txBox="1"/>
          <p:nvPr/>
        </p:nvSpPr>
        <p:spPr>
          <a:xfrm>
            <a:off x="731520" y="1965960"/>
            <a:ext cx="48463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No gate: 55 trades, 45.5% (+/- 13.2)</a:t>
            </a:r>
          </a:p>
        </p:txBody>
      </p:sp>
      <p:cxnSp>
        <p:nvCxnSpPr>
          <p:cNvPr id="8" name="Connector 7"/>
          <p:cNvCxnSpPr/>
          <p:nvPr/>
        </p:nvCxnSpPr>
        <p:spPr>
          <a:xfrm>
            <a:off x="1725015" y="2423160"/>
            <a:ext cx="2132381" cy="0"/>
          </a:xfrm>
          <a:prstGeom prst="line">
            <a:avLst/>
          </a:prstGeom>
          <a:ln w="50800">
            <a:solidFill>
              <a:srgbClr val="B3A5FF"/>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727198" y="2359152"/>
            <a:ext cx="128016" cy="128016"/>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With the gate: 47 trades, 48.9% (+/-"/>
          <p:cNvSpPr txBox="1"/>
          <p:nvPr/>
        </p:nvSpPr>
        <p:spPr>
          <a:xfrm>
            <a:off x="731520" y="2743200"/>
            <a:ext cx="48463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With the gate: 47 trades, 48.9% (+/- 14.3)</a:t>
            </a:r>
          </a:p>
        </p:txBody>
      </p:sp>
      <p:cxnSp>
        <p:nvCxnSpPr>
          <p:cNvPr id="11" name="Connector 10"/>
          <p:cNvCxnSpPr/>
          <p:nvPr/>
        </p:nvCxnSpPr>
        <p:spPr>
          <a:xfrm>
            <a:off x="1910791" y="3200400"/>
            <a:ext cx="2310079" cy="0"/>
          </a:xfrm>
          <a:prstGeom prst="line">
            <a:avLst/>
          </a:prstGeom>
          <a:ln w="50800">
            <a:solidFill>
              <a:srgbClr val="3DDC97"/>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001822" y="3136392"/>
            <a:ext cx="128016" cy="128016"/>
          </a:xfrm>
          <a:prstGeom prst="ellipse">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20%"/>
          <p:cNvSpPr txBox="1"/>
          <p:nvPr/>
        </p:nvSpPr>
        <p:spPr>
          <a:xfrm>
            <a:off x="548640" y="3520440"/>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20%</a:t>
            </a:r>
          </a:p>
        </p:txBody>
      </p:sp>
      <p:sp>
        <p:nvSpPr>
          <p:cNvPr id="14" name="text:40%"/>
          <p:cNvSpPr txBox="1"/>
          <p:nvPr/>
        </p:nvSpPr>
        <p:spPr>
          <a:xfrm>
            <a:off x="2164079" y="3520440"/>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40%</a:t>
            </a:r>
          </a:p>
        </p:txBody>
      </p:sp>
      <p:sp>
        <p:nvSpPr>
          <p:cNvPr id="15" name="text:60%"/>
          <p:cNvSpPr txBox="1"/>
          <p:nvPr/>
        </p:nvSpPr>
        <p:spPr>
          <a:xfrm>
            <a:off x="3779519" y="3520440"/>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60%</a:t>
            </a:r>
          </a:p>
        </p:txBody>
      </p:sp>
      <p:sp>
        <p:nvSpPr>
          <p:cNvPr id="16" name="text:80%"/>
          <p:cNvSpPr txBox="1"/>
          <p:nvPr/>
        </p:nvSpPr>
        <p:spPr>
          <a:xfrm>
            <a:off x="5394959" y="3520440"/>
            <a:ext cx="365760" cy="164592"/>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80%</a:t>
            </a:r>
          </a:p>
        </p:txBody>
      </p:sp>
      <p:sp>
        <p:nvSpPr>
          <p:cNvPr id="17" name="Rounded Rectangle 16"/>
          <p:cNvSpPr/>
          <p:nvPr/>
        </p:nvSpPr>
        <p:spPr>
          <a:xfrm>
            <a:off x="5943600" y="1463040"/>
            <a:ext cx="2697480" cy="1097280"/>
          </a:xfrm>
          <a:prstGeom prst="roundRect">
            <a:avLst>
              <a:gd name="adj" fmla="val 11666"/>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LOCKED BY THE GATE"/>
          <p:cNvSpPr txBox="1"/>
          <p:nvPr/>
        </p:nvSpPr>
        <p:spPr>
          <a:xfrm>
            <a:off x="6126480" y="1554480"/>
            <a:ext cx="237744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BLOCKED BY THE GATE</a:t>
            </a:r>
          </a:p>
        </p:txBody>
      </p:sp>
      <p:sp>
        <p:nvSpPr>
          <p:cNvPr id="19" name="text:8 trades"/>
          <p:cNvSpPr txBox="1"/>
          <p:nvPr/>
        </p:nvSpPr>
        <p:spPr>
          <a:xfrm>
            <a:off x="6126480" y="1783080"/>
            <a:ext cx="2377440" cy="41148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8 trades</a:t>
            </a:r>
          </a:p>
        </p:txBody>
      </p:sp>
      <p:sp>
        <p:nvSpPr>
          <p:cNvPr id="20" name="text:2 of them would have won"/>
          <p:cNvSpPr txBox="1"/>
          <p:nvPr/>
        </p:nvSpPr>
        <p:spPr>
          <a:xfrm>
            <a:off x="6126480" y="2240280"/>
            <a:ext cx="237744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2 of them would have won</a:t>
            </a:r>
          </a:p>
        </p:txBody>
      </p:sp>
      <p:sp>
        <p:nvSpPr>
          <p:cNvPr id="21" name="Rounded Rectangle 20"/>
          <p:cNvSpPr/>
          <p:nvPr/>
        </p:nvSpPr>
        <p:spPr>
          <a:xfrm>
            <a:off x="5943600" y="2697480"/>
            <a:ext cx="2697480" cy="1097280"/>
          </a:xfrm>
          <a:prstGeom prst="roundRect">
            <a:avLst>
              <a:gd name="adj" fmla="val 11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Trained on 82 trades; 6 more were pu"/>
          <p:cNvSpPr txBox="1"/>
          <p:nvPr/>
        </p:nvSpPr>
        <p:spPr>
          <a:xfrm>
            <a:off x="6126480" y="2743200"/>
            <a:ext cx="2377440" cy="100584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Trained on 82 trades; 6 more were purged for crossing the cut.</a:t>
            </a:r>
          </a:p>
        </p:txBody>
      </p:sp>
      <p:sp>
        <p:nvSpPr>
          <p:cNvPr id="23" name="Rounded Rectangle 22"/>
          <p:cNvSpPr/>
          <p:nvPr/>
        </p:nvSpPr>
        <p:spPr>
          <a:xfrm>
            <a:off x="548640" y="3977639"/>
            <a:ext cx="8092440" cy="594360"/>
          </a:xfrm>
          <a:prstGeom prst="roundRect">
            <a:avLst>
              <a:gd name="adj" fmla="val 21538"/>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With this few trades the +/- ranges "/>
          <p:cNvSpPr txBox="1"/>
          <p:nvPr/>
        </p:nvSpPr>
        <p:spPr>
          <a:xfrm>
            <a:off x="731520" y="3977639"/>
            <a:ext cx="7726679" cy="59436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With this few trades the +/- ranges overlap. This is a method to practise, not a result to trust.</a:t>
            </a:r>
          </a:p>
        </p:txBody>
      </p:sp>
      <p:sp>
        <p:nvSpPr>
          <p:cNvPr id="25" name="text:out/meta.json (simulated, on record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out/meta.json (simulated, on recorded data; not advice)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n on-chain recor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An on-chain record</a:t>
            </a:r>
          </a:p>
        </p:txBody>
      </p:sp>
      <p:sp>
        <p:nvSpPr>
          <p:cNvPr id="3" name="text:Write each decision to devnet with 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Write each decision to devnet with the Memo program: a record outside your laptop.</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691640"/>
            <a:ext cx="3977639" cy="1097280"/>
          </a:xfrm>
          <a:prstGeom prst="roundRect">
            <a:avLst>
              <a:gd name="adj" fmla="val 11666"/>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MEMO LINE"/>
          <p:cNvSpPr txBox="1"/>
          <p:nvPr/>
        </p:nvSpPr>
        <p:spPr>
          <a:xfrm>
            <a:off x="713232" y="1764792"/>
            <a:ext cx="27432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MEMO LINE</a:t>
            </a:r>
          </a:p>
        </p:txBody>
      </p:sp>
      <p:sp>
        <p:nvSpPr>
          <p:cNvPr id="7" name="text:{&quot;app&quot;:&quot;labeler&quot;,&quot;i&quot;:20,&quot;t&quot;:17926029"/>
          <p:cNvSpPr txBox="1"/>
          <p:nvPr/>
        </p:nvSpPr>
        <p:spPr>
          <a:xfrm>
            <a:off x="713232" y="1965960"/>
            <a:ext cx="3657600" cy="777240"/>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Menlo"/>
              </a:defRPr>
            </a:pPr>
            <a:r>
              <a:t>{"app":"labeler","i":20,"t":1792602939,"side":"sell","label":1,"h":"b77d9610847aaf99"}</a:t>
            </a:r>
          </a:p>
        </p:txBody>
      </p:sp>
      <p:sp>
        <p:nvSpPr>
          <p:cNvPr id="8" name="Rounded Rectangle 7"/>
          <p:cNvSpPr/>
          <p:nvPr/>
        </p:nvSpPr>
        <p:spPr>
          <a:xfrm>
            <a:off x="548640" y="2926080"/>
            <a:ext cx="3977639" cy="1097280"/>
          </a:xfrm>
          <a:prstGeom prst="roundRect">
            <a:avLst>
              <a:gd name="adj" fmla="val 11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HOW IT IS BUILT"/>
          <p:cNvSpPr txBox="1"/>
          <p:nvPr/>
        </p:nvSpPr>
        <p:spPr>
          <a:xfrm>
            <a:off x="713232" y="2999232"/>
            <a:ext cx="27432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HOW IT IS BUILT</a:t>
            </a:r>
          </a:p>
        </p:txBody>
      </p:sp>
      <p:sp>
        <p:nvSpPr>
          <p:cNvPr id="10" name="text:step, side, label and a hash of the "/>
          <p:cNvSpPr txBox="1"/>
          <p:nvPr/>
        </p:nvSpPr>
        <p:spPr>
          <a:xfrm>
            <a:off x="713232" y="3218688"/>
            <a:ext cx="3657600" cy="77724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step, side, label and a hash of the full record. One signer, one Memo instruction, hand-built, Node ed25519.</a:t>
            </a:r>
          </a:p>
        </p:txBody>
      </p:sp>
      <p:sp>
        <p:nvSpPr>
          <p:cNvPr id="11" name="Rounded Rectangle 10"/>
          <p:cNvSpPr/>
          <p:nvPr/>
        </p:nvSpPr>
        <p:spPr>
          <a:xfrm>
            <a:off x="4709160" y="1691640"/>
            <a:ext cx="3931920" cy="1600200"/>
          </a:xfrm>
          <a:prstGeom prst="roundRect">
            <a:avLst>
              <a:gd name="adj" fmla="val 800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DEVNET DRY RUN (simulateTransaction)"/>
          <p:cNvSpPr txBox="1"/>
          <p:nvPr/>
        </p:nvSpPr>
        <p:spPr>
          <a:xfrm>
            <a:off x="4873752" y="1764792"/>
            <a:ext cx="3566160" cy="164592"/>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DEVNET DRY RUN (simulateTransaction)</a:t>
            </a:r>
          </a:p>
        </p:txBody>
      </p:sp>
      <p:sp>
        <p:nvSpPr>
          <p:cNvPr id="13" name="text:Program Memo...GmfcHr invoke [1] Pro"/>
          <p:cNvSpPr txBox="1"/>
          <p:nvPr/>
        </p:nvSpPr>
        <p:spPr>
          <a:xfrm>
            <a:off x="4873752" y="2011680"/>
            <a:ext cx="3657600" cy="914400"/>
          </a:xfrm>
          <a:prstGeom prst="rect">
            <a:avLst/>
          </a:prstGeom>
          <a:noFill/>
        </p:spPr>
        <p:txBody>
          <a:bodyPr wrap="square" lIns="9144" rIns="9144" tIns="0" bIns="0">
            <a:spAutoFit/>
          </a:bodyPr>
          <a:lstStyle/>
          <a:p>
            <a:pPr>
              <a:lnSpc>
                <a:spcPct val="106000"/>
              </a:lnSpc>
              <a:spcAft>
                <a:spcPts val="400"/>
              </a:spcAft>
              <a:defRPr sz="850" b="0">
                <a:solidFill>
                  <a:srgbClr val="F2F5F8"/>
                </a:solidFill>
                <a:latin typeface="Menlo"/>
              </a:defRPr>
            </a:pPr>
            <a:r>
              <a:t>Program Memo...GmfcHr invoke [1]</a:t>
            </a:r>
          </a:p>
          <a:p>
            <a:pPr>
              <a:lnSpc>
                <a:spcPct val="106000"/>
              </a:lnSpc>
              <a:spcAft>
                <a:spcPts val="400"/>
              </a:spcAft>
              <a:defRPr sz="850" b="0">
                <a:solidFill>
                  <a:srgbClr val="F2F5F8"/>
                </a:solidFill>
                <a:latin typeface="Menlo"/>
              </a:defRPr>
            </a:pPr>
            <a:r>
              <a:t>Program log: Memo (len 86): "{...}"</a:t>
            </a:r>
          </a:p>
          <a:p>
            <a:pPr>
              <a:lnSpc>
                <a:spcPct val="106000"/>
              </a:lnSpc>
              <a:spcAft>
                <a:spcPts val="400"/>
              </a:spcAft>
              <a:defRPr sz="850" b="0">
                <a:solidFill>
                  <a:srgbClr val="F2F5F8"/>
                </a:solidFill>
                <a:latin typeface="Menlo"/>
              </a:defRPr>
            </a:pPr>
            <a:r>
              <a:t>Program Memo...GmfcHr success</a:t>
            </a:r>
          </a:p>
        </p:txBody>
      </p:sp>
      <p:sp>
        <p:nvSpPr>
          <p:cNvPr id="14" name="text:3 of 3 accepted, err null, 44,922 to"/>
          <p:cNvSpPr txBox="1"/>
          <p:nvPr/>
        </p:nvSpPr>
        <p:spPr>
          <a:xfrm>
            <a:off x="4873752" y="2926080"/>
            <a:ext cx="3657600" cy="32004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3 of 3 accepted, err null, 44,922 to 45,286 compute units of 200,000</a:t>
            </a:r>
          </a:p>
        </p:txBody>
      </p:sp>
      <p:sp>
        <p:nvSpPr>
          <p:cNvPr id="15" name="Rounded Rectangle 14"/>
          <p:cNvSpPr/>
          <p:nvPr/>
        </p:nvSpPr>
        <p:spPr>
          <a:xfrm>
            <a:off x="4709160" y="3429000"/>
            <a:ext cx="3931920" cy="594360"/>
          </a:xfrm>
          <a:prstGeom prst="roundRect">
            <a:avLst>
              <a:gd name="adj" fmla="val 21538"/>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Status: dry run on devnet works. Sen"/>
          <p:cNvSpPr txBox="1"/>
          <p:nvPr/>
        </p:nvSpPr>
        <p:spPr>
          <a:xfrm>
            <a:off x="4846320" y="3429000"/>
            <a:ext cx="3657600" cy="594360"/>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Status: dry run on devnet works. Sending needs a funded devnet key: ask a lead.</a:t>
            </a:r>
          </a:p>
        </p:txBody>
      </p:sp>
      <p:sp>
        <p:nvSpPr>
          <p:cNvPr id="17" name="text:recorded/devnet-simulation.json (sim"/>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recorded/devnet-simulation.json (simulateTransaction on devnet, nothing sent)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lan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lanes</a:t>
            </a:r>
          </a:p>
        </p:txBody>
      </p:sp>
      <p:sp>
        <p:nvSpPr>
          <p:cNvPr id="3" name="text:Solo or a team of 3 to 4. Pick one l"/>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Solo or a team of 3 to 4. Pick one lane for the final project.</a:t>
            </a:r>
          </a:p>
        </p:txBody>
      </p:sp>
      <p:sp>
        <p:nvSpPr>
          <p:cNvPr id="4"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5" name="Rounded Rectangle 4"/>
          <p:cNvSpPr/>
          <p:nvPr/>
        </p:nvSpPr>
        <p:spPr>
          <a:xfrm>
            <a:off x="548640" y="1554480"/>
            <a:ext cx="2560320" cy="2331720"/>
          </a:xfrm>
          <a:prstGeom prst="roundRect">
            <a:avLst>
              <a:gd name="adj" fmla="val 549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37360"/>
            <a:ext cx="1097280" cy="256032"/>
          </a:xfrm>
          <a:prstGeom prst="roundRect">
            <a:avLst>
              <a:gd name="adj" fmla="val 4285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AGENT"/>
          <p:cNvSpPr txBox="1"/>
          <p:nvPr/>
        </p:nvSpPr>
        <p:spPr>
          <a:xfrm>
            <a:off x="749808" y="1755648"/>
            <a:ext cx="1097280" cy="237744"/>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AGENT</a:t>
            </a:r>
          </a:p>
        </p:txBody>
      </p:sp>
      <p:sp>
        <p:nvSpPr>
          <p:cNvPr id="8" name="text:A trading agent or strategy with hon"/>
          <p:cNvSpPr txBox="1"/>
          <p:nvPr/>
        </p:nvSpPr>
        <p:spPr>
          <a:xfrm>
            <a:off x="749808" y="2240280"/>
            <a:ext cx="2194560" cy="155448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 trading agent or strategy with honest validation.</a:t>
            </a:r>
          </a:p>
        </p:txBody>
      </p:sp>
      <p:sp>
        <p:nvSpPr>
          <p:cNvPr id="9" name="Rounded Rectangle 8"/>
          <p:cNvSpPr/>
          <p:nvPr/>
        </p:nvSpPr>
        <p:spPr>
          <a:xfrm>
            <a:off x="3337560" y="1554480"/>
            <a:ext cx="2560320" cy="2331720"/>
          </a:xfrm>
          <a:prstGeom prst="roundRect">
            <a:avLst>
              <a:gd name="adj" fmla="val 549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737360"/>
            <a:ext cx="1097280" cy="256032"/>
          </a:xfrm>
          <a:prstGeom prst="roundRect">
            <a:avLst>
              <a:gd name="adj" fmla="val 42857"/>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EXCHANGE"/>
          <p:cNvSpPr txBox="1"/>
          <p:nvPr/>
        </p:nvSpPr>
        <p:spPr>
          <a:xfrm>
            <a:off x="3538728" y="1755648"/>
            <a:ext cx="1097280" cy="237744"/>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EXCHANGE</a:t>
            </a:r>
          </a:p>
        </p:txBody>
      </p:sp>
      <p:sp>
        <p:nvSpPr>
          <p:cNvPr id="12" name="text:A venue component: order book, match"/>
          <p:cNvSpPr txBox="1"/>
          <p:nvPr/>
        </p:nvSpPr>
        <p:spPr>
          <a:xfrm>
            <a:off x="3538728" y="2240280"/>
            <a:ext cx="2194560" cy="155448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 venue component: order book, matching, deposit or custody flow.</a:t>
            </a:r>
          </a:p>
        </p:txBody>
      </p:sp>
      <p:sp>
        <p:nvSpPr>
          <p:cNvPr id="13" name="Rounded Rectangle 12"/>
          <p:cNvSpPr/>
          <p:nvPr/>
        </p:nvSpPr>
        <p:spPr>
          <a:xfrm>
            <a:off x="6126479" y="1554480"/>
            <a:ext cx="2560320" cy="2331720"/>
          </a:xfrm>
          <a:prstGeom prst="roundRect">
            <a:avLst>
              <a:gd name="adj" fmla="val 5490"/>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737360"/>
            <a:ext cx="1097280" cy="256032"/>
          </a:xfrm>
          <a:prstGeom prst="roundRect">
            <a:avLst>
              <a:gd name="adj" fmla="val 42857"/>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OOLING"/>
          <p:cNvSpPr txBox="1"/>
          <p:nvPr/>
        </p:nvSpPr>
        <p:spPr>
          <a:xfrm>
            <a:off x="6327647" y="1755648"/>
            <a:ext cx="1097280" cy="237744"/>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TOOLING</a:t>
            </a:r>
          </a:p>
        </p:txBody>
      </p:sp>
      <p:sp>
        <p:nvSpPr>
          <p:cNvPr id="16" name="text:Anything that helps the trading proc"/>
          <p:cNvSpPr txBox="1"/>
          <p:nvPr/>
        </p:nvSpPr>
        <p:spPr>
          <a:xfrm>
            <a:off x="6327647" y="2240280"/>
            <a:ext cx="2194560" cy="155448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Anything that helps the trading process: data, monitoring, risk, explainability, dashboards.</a:t>
            </a:r>
          </a:p>
        </p:txBody>
      </p:sp>
      <p:sp>
        <p:nvSpPr>
          <p:cNvPr id="17" name="Rounded Rectangle 16"/>
          <p:cNvSpPr/>
          <p:nvPr/>
        </p:nvSpPr>
        <p:spPr>
          <a:xfrm>
            <a:off x="548640" y="4023360"/>
            <a:ext cx="8092440" cy="548640"/>
          </a:xfrm>
          <a:prstGeom prst="roundRect">
            <a:avLst>
              <a:gd name="adj" fmla="val 23333"/>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Judged on utility, tests, devnet evi"/>
          <p:cNvSpPr txBox="1"/>
          <p:nvPr/>
        </p:nvSpPr>
        <p:spPr>
          <a:xfrm>
            <a:off x="731520" y="4023360"/>
            <a:ext cx="7726679" cy="54864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Judged on utility, tests, devnet evidence and a clear explanation. Never on simulated returns.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tarters you can run today"/>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Starters you can run today</a:t>
            </a:r>
          </a:p>
        </p:txBody>
      </p:sp>
      <p:sp>
        <p:nvSpPr>
          <p:cNvPr id="3" name="text:Each one has a first test you can 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Each one has a first test you can measure.</a:t>
            </a:r>
          </a:p>
        </p:txBody>
      </p:sp>
      <p:sp>
        <p:nvSpPr>
          <p:cNvPr id="4"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5" name="Rounded Rectangle 4"/>
          <p:cNvSpPr/>
          <p:nvPr/>
        </p:nvSpPr>
        <p:spPr>
          <a:xfrm>
            <a:off x="548640" y="1417320"/>
            <a:ext cx="2560320" cy="2743200"/>
          </a:xfrm>
          <a:prstGeom prst="roundRect">
            <a:avLst>
              <a:gd name="adj" fmla="val 500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AGENT"/>
          <p:cNvSpPr txBox="1"/>
          <p:nvPr/>
        </p:nvSpPr>
        <p:spPr>
          <a:xfrm>
            <a:off x="731520" y="1508760"/>
            <a:ext cx="219456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AGENT</a:t>
            </a:r>
          </a:p>
        </p:txBody>
      </p:sp>
      <p:sp>
        <p:nvSpPr>
          <p:cNvPr id="7" name="text:Label my own strategy"/>
          <p:cNvSpPr txBox="1"/>
          <p:nvPr/>
        </p:nvSpPr>
        <p:spPr>
          <a:xfrm>
            <a:off x="731520" y="1810512"/>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Label my own strategy</a:t>
            </a:r>
          </a:p>
        </p:txBody>
      </p:sp>
      <p:sp>
        <p:nvSpPr>
          <p:cNvPr id="8" name="Rounded Rectangle 7"/>
          <p:cNvSpPr/>
          <p:nvPr/>
        </p:nvSpPr>
        <p:spPr>
          <a:xfrm>
            <a:off x="2423160" y="1828800"/>
            <a:ext cx="530352" cy="182880"/>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EG"/>
          <p:cNvSpPr txBox="1"/>
          <p:nvPr/>
        </p:nvSpPr>
        <p:spPr>
          <a:xfrm>
            <a:off x="2423160" y="1847088"/>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3DDC97"/>
                </a:solidFill>
                <a:latin typeface="Helvetica Neue"/>
              </a:defRPr>
            </a:pPr>
            <a:r>
              <a:t>BEG</a:t>
            </a:r>
          </a:p>
        </p:txBody>
      </p:sp>
      <p:sp>
        <p:nvSpPr>
          <p:cNvPr id="10" name="text:Build the second-opinion gate"/>
          <p:cNvSpPr txBox="1"/>
          <p:nvPr/>
        </p:nvSpPr>
        <p:spPr>
          <a:xfrm>
            <a:off x="731520" y="2395728"/>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Build the second-opinion gate</a:t>
            </a:r>
          </a:p>
        </p:txBody>
      </p:sp>
      <p:sp>
        <p:nvSpPr>
          <p:cNvPr id="11" name="Rounded Rectangle 10"/>
          <p:cNvSpPr/>
          <p:nvPr/>
        </p:nvSpPr>
        <p:spPr>
          <a:xfrm>
            <a:off x="2423160" y="2414016"/>
            <a:ext cx="530352" cy="182880"/>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STD"/>
          <p:cNvSpPr txBox="1"/>
          <p:nvPr/>
        </p:nvSpPr>
        <p:spPr>
          <a:xfrm>
            <a:off x="2423160" y="2432304"/>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B3A5FF"/>
                </a:solidFill>
                <a:latin typeface="Helvetica Neue"/>
              </a:defRPr>
            </a:pPr>
            <a:r>
              <a:t>STD</a:t>
            </a:r>
          </a:p>
        </p:txBody>
      </p:sp>
      <p:sp>
        <p:nvSpPr>
          <p:cNvPr id="13" name="text:Explanation checker for an LLM agent"/>
          <p:cNvSpPr txBox="1"/>
          <p:nvPr/>
        </p:nvSpPr>
        <p:spPr>
          <a:xfrm>
            <a:off x="731520" y="2980944"/>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Explanation checker for an LLM agent</a:t>
            </a:r>
          </a:p>
        </p:txBody>
      </p:sp>
      <p:sp>
        <p:nvSpPr>
          <p:cNvPr id="14" name="Rounded Rectangle 13"/>
          <p:cNvSpPr/>
          <p:nvPr/>
        </p:nvSpPr>
        <p:spPr>
          <a:xfrm>
            <a:off x="2423160" y="2999232"/>
            <a:ext cx="530352" cy="182880"/>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D"/>
          <p:cNvSpPr txBox="1"/>
          <p:nvPr/>
        </p:nvSpPr>
        <p:spPr>
          <a:xfrm>
            <a:off x="2423160" y="3017520"/>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B3A5FF"/>
                </a:solidFill>
                <a:latin typeface="Helvetica Neue"/>
              </a:defRPr>
            </a:pPr>
            <a:r>
              <a:t>STD</a:t>
            </a:r>
          </a:p>
        </p:txBody>
      </p:sp>
      <p:sp>
        <p:nvSpPr>
          <p:cNvPr id="16" name="text:Agent with a risk hook and a label l"/>
          <p:cNvSpPr txBox="1"/>
          <p:nvPr/>
        </p:nvSpPr>
        <p:spPr>
          <a:xfrm>
            <a:off x="731520" y="3566160"/>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Agent with a risk hook and a label log</a:t>
            </a:r>
          </a:p>
        </p:txBody>
      </p:sp>
      <p:sp>
        <p:nvSpPr>
          <p:cNvPr id="17" name="Rounded Rectangle 16"/>
          <p:cNvSpPr/>
          <p:nvPr/>
        </p:nvSpPr>
        <p:spPr>
          <a:xfrm>
            <a:off x="2423160" y="3584448"/>
            <a:ext cx="530352" cy="182880"/>
          </a:xfrm>
          <a:prstGeom prst="roundRect">
            <a:avLst>
              <a:gd name="adj" fmla="val 50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ADV"/>
          <p:cNvSpPr txBox="1"/>
          <p:nvPr/>
        </p:nvSpPr>
        <p:spPr>
          <a:xfrm>
            <a:off x="2423160" y="3602736"/>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FD51FC"/>
                </a:solidFill>
                <a:latin typeface="Helvetica Neue"/>
              </a:defRPr>
            </a:pPr>
            <a:r>
              <a:t>ADV</a:t>
            </a:r>
          </a:p>
        </p:txBody>
      </p:sp>
      <p:sp>
        <p:nvSpPr>
          <p:cNvPr id="19" name="Rounded Rectangle 18"/>
          <p:cNvSpPr/>
          <p:nvPr/>
        </p:nvSpPr>
        <p:spPr>
          <a:xfrm>
            <a:off x="3337560" y="1417320"/>
            <a:ext cx="2560320" cy="2743200"/>
          </a:xfrm>
          <a:prstGeom prst="roundRect">
            <a:avLst>
              <a:gd name="adj" fmla="val 500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EXCHANGE"/>
          <p:cNvSpPr txBox="1"/>
          <p:nvPr/>
        </p:nvSpPr>
        <p:spPr>
          <a:xfrm>
            <a:off x="3520440" y="1508760"/>
            <a:ext cx="219456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EXCHANGE</a:t>
            </a:r>
          </a:p>
        </p:txBody>
      </p:sp>
      <p:sp>
        <p:nvSpPr>
          <p:cNvPr id="21" name="text:Deposit watcher"/>
          <p:cNvSpPr txBox="1"/>
          <p:nvPr/>
        </p:nvSpPr>
        <p:spPr>
          <a:xfrm>
            <a:off x="3520440" y="1810512"/>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Deposit watcher</a:t>
            </a:r>
          </a:p>
        </p:txBody>
      </p:sp>
      <p:sp>
        <p:nvSpPr>
          <p:cNvPr id="22" name="Rounded Rectangle 21"/>
          <p:cNvSpPr/>
          <p:nvPr/>
        </p:nvSpPr>
        <p:spPr>
          <a:xfrm>
            <a:off x="5212079" y="1828800"/>
            <a:ext cx="530352" cy="182880"/>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EG"/>
          <p:cNvSpPr txBox="1"/>
          <p:nvPr/>
        </p:nvSpPr>
        <p:spPr>
          <a:xfrm>
            <a:off x="5212079" y="1847088"/>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3DDC97"/>
                </a:solidFill>
                <a:latin typeface="Helvetica Neue"/>
              </a:defRPr>
            </a:pPr>
            <a:r>
              <a:t>BEG</a:t>
            </a:r>
          </a:p>
        </p:txBody>
      </p:sp>
      <p:sp>
        <p:nvSpPr>
          <p:cNvPr id="24" name="text:Mini order book"/>
          <p:cNvSpPr txBox="1"/>
          <p:nvPr/>
        </p:nvSpPr>
        <p:spPr>
          <a:xfrm>
            <a:off x="3520440" y="2395728"/>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Mini order book</a:t>
            </a:r>
          </a:p>
        </p:txBody>
      </p:sp>
      <p:sp>
        <p:nvSpPr>
          <p:cNvPr id="25" name="Rounded Rectangle 24"/>
          <p:cNvSpPr/>
          <p:nvPr/>
        </p:nvSpPr>
        <p:spPr>
          <a:xfrm>
            <a:off x="5212079" y="2414016"/>
            <a:ext cx="530352" cy="182880"/>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STD"/>
          <p:cNvSpPr txBox="1"/>
          <p:nvPr/>
        </p:nvSpPr>
        <p:spPr>
          <a:xfrm>
            <a:off x="5212079" y="2432304"/>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B3A5FF"/>
                </a:solidFill>
                <a:latin typeface="Helvetica Neue"/>
              </a:defRPr>
            </a:pPr>
            <a:r>
              <a:t>STD</a:t>
            </a:r>
          </a:p>
        </p:txBody>
      </p:sp>
      <p:sp>
        <p:nvSpPr>
          <p:cNvPr id="27" name="text:Orca Whirlpool devnet lab"/>
          <p:cNvSpPr txBox="1"/>
          <p:nvPr/>
        </p:nvSpPr>
        <p:spPr>
          <a:xfrm>
            <a:off x="3520440" y="2980944"/>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Orca Whirlpool devnet lab</a:t>
            </a:r>
          </a:p>
        </p:txBody>
      </p:sp>
      <p:sp>
        <p:nvSpPr>
          <p:cNvPr id="28" name="Rounded Rectangle 27"/>
          <p:cNvSpPr/>
          <p:nvPr/>
        </p:nvSpPr>
        <p:spPr>
          <a:xfrm>
            <a:off x="5212079" y="2999232"/>
            <a:ext cx="530352" cy="182880"/>
          </a:xfrm>
          <a:prstGeom prst="roundRect">
            <a:avLst>
              <a:gd name="adj" fmla="val 50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ADV"/>
          <p:cNvSpPr txBox="1"/>
          <p:nvPr/>
        </p:nvSpPr>
        <p:spPr>
          <a:xfrm>
            <a:off x="5212079" y="3017520"/>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FD51FC"/>
                </a:solidFill>
                <a:latin typeface="Helvetica Neue"/>
              </a:defRPr>
            </a:pPr>
            <a:r>
              <a:t>ADV</a:t>
            </a:r>
          </a:p>
        </p:txBody>
      </p:sp>
      <p:sp>
        <p:nvSpPr>
          <p:cNvPr id="30" name="text:Read a real on-chain order book (Pho"/>
          <p:cNvSpPr txBox="1"/>
          <p:nvPr/>
        </p:nvSpPr>
        <p:spPr>
          <a:xfrm>
            <a:off x="3520440" y="3566160"/>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Read a real on-chain order book (Phoenix)</a:t>
            </a:r>
          </a:p>
        </p:txBody>
      </p:sp>
      <p:sp>
        <p:nvSpPr>
          <p:cNvPr id="31" name="Rounded Rectangle 30"/>
          <p:cNvSpPr/>
          <p:nvPr/>
        </p:nvSpPr>
        <p:spPr>
          <a:xfrm>
            <a:off x="5212079" y="3584448"/>
            <a:ext cx="530352" cy="182880"/>
          </a:xfrm>
          <a:prstGeom prst="roundRect">
            <a:avLst>
              <a:gd name="adj" fmla="val 50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ADV"/>
          <p:cNvSpPr txBox="1"/>
          <p:nvPr/>
        </p:nvSpPr>
        <p:spPr>
          <a:xfrm>
            <a:off x="5212079" y="3602736"/>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FD51FC"/>
                </a:solidFill>
                <a:latin typeface="Helvetica Neue"/>
              </a:defRPr>
            </a:pPr>
            <a:r>
              <a:t>ADV</a:t>
            </a:r>
          </a:p>
        </p:txBody>
      </p:sp>
      <p:sp>
        <p:nvSpPr>
          <p:cNvPr id="33" name="Rounded Rectangle 32"/>
          <p:cNvSpPr/>
          <p:nvPr/>
        </p:nvSpPr>
        <p:spPr>
          <a:xfrm>
            <a:off x="6126479" y="1417320"/>
            <a:ext cx="2560320" cy="2743200"/>
          </a:xfrm>
          <a:prstGeom prst="roundRect">
            <a:avLst>
              <a:gd name="adj" fmla="val 5000"/>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TOOLING"/>
          <p:cNvSpPr txBox="1"/>
          <p:nvPr/>
        </p:nvSpPr>
        <p:spPr>
          <a:xfrm>
            <a:off x="6309359" y="1508760"/>
            <a:ext cx="219456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TOOLING</a:t>
            </a:r>
          </a:p>
        </p:txBody>
      </p:sp>
      <p:sp>
        <p:nvSpPr>
          <p:cNvPr id="35" name="text:Data collector for another market"/>
          <p:cNvSpPr txBox="1"/>
          <p:nvPr/>
        </p:nvSpPr>
        <p:spPr>
          <a:xfrm>
            <a:off x="6309359" y="1810512"/>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Data collector for another market</a:t>
            </a:r>
          </a:p>
        </p:txBody>
      </p:sp>
      <p:sp>
        <p:nvSpPr>
          <p:cNvPr id="36" name="Rounded Rectangle 35"/>
          <p:cNvSpPr/>
          <p:nvPr/>
        </p:nvSpPr>
        <p:spPr>
          <a:xfrm>
            <a:off x="8001000" y="1828800"/>
            <a:ext cx="530352" cy="182880"/>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EG"/>
          <p:cNvSpPr txBox="1"/>
          <p:nvPr/>
        </p:nvSpPr>
        <p:spPr>
          <a:xfrm>
            <a:off x="8001000" y="1847088"/>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3DDC97"/>
                </a:solidFill>
                <a:latin typeface="Helvetica Neue"/>
              </a:defRPr>
            </a:pPr>
            <a:r>
              <a:t>BEG</a:t>
            </a:r>
          </a:p>
        </p:txBody>
      </p:sp>
      <p:sp>
        <p:nvSpPr>
          <p:cNvPr id="38" name="text:Change and staleness monitor"/>
          <p:cNvSpPr txBox="1"/>
          <p:nvPr/>
        </p:nvSpPr>
        <p:spPr>
          <a:xfrm>
            <a:off x="6309359" y="2395728"/>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Change and staleness monitor</a:t>
            </a:r>
          </a:p>
        </p:txBody>
      </p:sp>
      <p:sp>
        <p:nvSpPr>
          <p:cNvPr id="39" name="Rounded Rectangle 38"/>
          <p:cNvSpPr/>
          <p:nvPr/>
        </p:nvSpPr>
        <p:spPr>
          <a:xfrm>
            <a:off x="8001000" y="2414016"/>
            <a:ext cx="530352" cy="182880"/>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STD"/>
          <p:cNvSpPr txBox="1"/>
          <p:nvPr/>
        </p:nvSpPr>
        <p:spPr>
          <a:xfrm>
            <a:off x="8001000" y="2432304"/>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B3A5FF"/>
                </a:solidFill>
                <a:latin typeface="Helvetica Neue"/>
              </a:defRPr>
            </a:pPr>
            <a:r>
              <a:t>STD</a:t>
            </a:r>
          </a:p>
        </p:txBody>
      </p:sp>
      <p:sp>
        <p:nvSpPr>
          <p:cNvPr id="41" name="text:Label and gate dashboard"/>
          <p:cNvSpPr txBox="1"/>
          <p:nvPr/>
        </p:nvSpPr>
        <p:spPr>
          <a:xfrm>
            <a:off x="6309359" y="2980944"/>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Label and gate dashboard</a:t>
            </a:r>
          </a:p>
        </p:txBody>
      </p:sp>
      <p:sp>
        <p:nvSpPr>
          <p:cNvPr id="42" name="Rounded Rectangle 41"/>
          <p:cNvSpPr/>
          <p:nvPr/>
        </p:nvSpPr>
        <p:spPr>
          <a:xfrm>
            <a:off x="8001000" y="2999232"/>
            <a:ext cx="530352" cy="182880"/>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STD"/>
          <p:cNvSpPr txBox="1"/>
          <p:nvPr/>
        </p:nvSpPr>
        <p:spPr>
          <a:xfrm>
            <a:off x="8001000" y="3017520"/>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B3A5FF"/>
                </a:solidFill>
                <a:latin typeface="Helvetica Neue"/>
              </a:defRPr>
            </a:pPr>
            <a:r>
              <a:t>STD</a:t>
            </a:r>
          </a:p>
        </p:txBody>
      </p:sp>
      <p:sp>
        <p:nvSpPr>
          <p:cNvPr id="44" name="text:Leak checker for backtests"/>
          <p:cNvSpPr txBox="1"/>
          <p:nvPr/>
        </p:nvSpPr>
        <p:spPr>
          <a:xfrm>
            <a:off x="6309359" y="3566160"/>
            <a:ext cx="1627632" cy="5029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Leak checker for backtests</a:t>
            </a:r>
          </a:p>
        </p:txBody>
      </p:sp>
      <p:sp>
        <p:nvSpPr>
          <p:cNvPr id="45" name="Rounded Rectangle 44"/>
          <p:cNvSpPr/>
          <p:nvPr/>
        </p:nvSpPr>
        <p:spPr>
          <a:xfrm>
            <a:off x="8001000" y="3584448"/>
            <a:ext cx="530352" cy="182880"/>
          </a:xfrm>
          <a:prstGeom prst="roundRect">
            <a:avLst>
              <a:gd name="adj" fmla="val 50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ADV"/>
          <p:cNvSpPr txBox="1"/>
          <p:nvPr/>
        </p:nvSpPr>
        <p:spPr>
          <a:xfrm>
            <a:off x="8001000" y="3602736"/>
            <a:ext cx="530352" cy="164592"/>
          </a:xfrm>
          <a:prstGeom prst="rect">
            <a:avLst/>
          </a:prstGeom>
          <a:noFill/>
        </p:spPr>
        <p:txBody>
          <a:bodyPr wrap="square" lIns="9144" rIns="9144" tIns="0" bIns="0" anchor="ctr">
            <a:spAutoFit/>
          </a:bodyPr>
          <a:lstStyle/>
          <a:p>
            <a:pPr algn="ctr">
              <a:lnSpc>
                <a:spcPct val="106000"/>
              </a:lnSpc>
              <a:spcAft>
                <a:spcPts val="400"/>
              </a:spcAft>
              <a:defRPr sz="750" b="0">
                <a:solidFill>
                  <a:srgbClr val="FD51FC"/>
                </a:solidFill>
                <a:latin typeface="Helvetica Neue"/>
              </a:defRPr>
            </a:pPr>
            <a:r>
              <a:t>ADV</a:t>
            </a:r>
          </a:p>
        </p:txBody>
      </p:sp>
      <p:sp>
        <p:nvSpPr>
          <p:cNvPr id="47" name="text:Suggestions, not a menu. Bring your "/>
          <p:cNvSpPr txBox="1"/>
          <p:nvPr/>
        </p:nvSpPr>
        <p:spPr>
          <a:xfrm>
            <a:off x="548640" y="4224528"/>
            <a:ext cx="809244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Suggestions, not a menu. Bring your own idea if you have one.</a:t>
            </a:r>
          </a:p>
        </p:txBody>
      </p:sp>
      <p:sp>
        <p:nvSpPr>
          <p:cNvPr id="48" name="text:demo-repo/code/data/lanes.json (from"/>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demo-repo/code/data/lanes.json (from research/experiments, checked 20-21 Oct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one-page brie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one-page brief</a:t>
            </a:r>
          </a:p>
        </p:txBody>
      </p:sp>
      <p:sp>
        <p:nvSpPr>
          <p:cNvPr id="3" name="text:Nine lines. If you cannot fill one,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Nine lines. If you cannot fill one, that is the first task.</a:t>
            </a:r>
          </a:p>
        </p:txBody>
      </p:sp>
      <p:sp>
        <p:nvSpPr>
          <p:cNvPr id="4" name="text:2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24</a:t>
            </a:r>
          </a:p>
        </p:txBody>
      </p:sp>
      <p:sp>
        <p:nvSpPr>
          <p:cNvPr id="5" name="Rounded Rectangle 4"/>
          <p:cNvSpPr/>
          <p:nvPr/>
        </p:nvSpPr>
        <p:spPr>
          <a:xfrm>
            <a:off x="548640" y="1463040"/>
            <a:ext cx="256032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685800" y="150876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1</a:t>
            </a:r>
          </a:p>
        </p:txBody>
      </p:sp>
      <p:sp>
        <p:nvSpPr>
          <p:cNvPr id="7" name="text:User"/>
          <p:cNvSpPr txBox="1"/>
          <p:nvPr/>
        </p:nvSpPr>
        <p:spPr>
          <a:xfrm>
            <a:off x="1005840" y="153619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User</a:t>
            </a:r>
          </a:p>
        </p:txBody>
      </p:sp>
      <p:sp>
        <p:nvSpPr>
          <p:cNvPr id="8" name="text:who has this problem"/>
          <p:cNvSpPr txBox="1"/>
          <p:nvPr/>
        </p:nvSpPr>
        <p:spPr>
          <a:xfrm>
            <a:off x="1005840" y="184708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who has this problem</a:t>
            </a:r>
          </a:p>
        </p:txBody>
      </p:sp>
      <p:sp>
        <p:nvSpPr>
          <p:cNvPr id="9" name="Rounded Rectangle 8"/>
          <p:cNvSpPr/>
          <p:nvPr/>
        </p:nvSpPr>
        <p:spPr>
          <a:xfrm>
            <a:off x="3337560" y="1463040"/>
            <a:ext cx="256032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3474720" y="150876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2</a:t>
            </a:r>
          </a:p>
        </p:txBody>
      </p:sp>
      <p:sp>
        <p:nvSpPr>
          <p:cNvPr id="11" name="text:Observed failure"/>
          <p:cNvSpPr txBox="1"/>
          <p:nvPr/>
        </p:nvSpPr>
        <p:spPr>
          <a:xfrm>
            <a:off x="3794760" y="153619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Observed failure</a:t>
            </a:r>
          </a:p>
        </p:txBody>
      </p:sp>
      <p:sp>
        <p:nvSpPr>
          <p:cNvPr id="12" name="text:and your evidence"/>
          <p:cNvSpPr txBox="1"/>
          <p:nvPr/>
        </p:nvSpPr>
        <p:spPr>
          <a:xfrm>
            <a:off x="3794760" y="184708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and your evidence</a:t>
            </a:r>
          </a:p>
        </p:txBody>
      </p:sp>
      <p:sp>
        <p:nvSpPr>
          <p:cNvPr id="13" name="Rounded Rectangle 12"/>
          <p:cNvSpPr/>
          <p:nvPr/>
        </p:nvSpPr>
        <p:spPr>
          <a:xfrm>
            <a:off x="6126479" y="1463040"/>
            <a:ext cx="256032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6263640" y="150876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3</a:t>
            </a:r>
          </a:p>
        </p:txBody>
      </p:sp>
      <p:sp>
        <p:nvSpPr>
          <p:cNvPr id="15" name="text:Smallest useful component"/>
          <p:cNvSpPr txBox="1"/>
          <p:nvPr/>
        </p:nvSpPr>
        <p:spPr>
          <a:xfrm>
            <a:off x="6583679" y="153619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Smallest useful component</a:t>
            </a:r>
          </a:p>
        </p:txBody>
      </p:sp>
      <p:sp>
        <p:nvSpPr>
          <p:cNvPr id="16" name="text:what you will build first"/>
          <p:cNvSpPr txBox="1"/>
          <p:nvPr/>
        </p:nvSpPr>
        <p:spPr>
          <a:xfrm>
            <a:off x="6583679" y="184708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what you will build first</a:t>
            </a:r>
          </a:p>
        </p:txBody>
      </p:sp>
      <p:sp>
        <p:nvSpPr>
          <p:cNvPr id="17" name="Rounded Rectangle 16"/>
          <p:cNvSpPr/>
          <p:nvPr/>
        </p:nvSpPr>
        <p:spPr>
          <a:xfrm>
            <a:off x="548640" y="2423160"/>
            <a:ext cx="2560320" cy="841248"/>
          </a:xfrm>
          <a:prstGeom prst="roundRect">
            <a:avLst>
              <a:gd name="adj" fmla="val 1521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4"/>
          <p:cNvSpPr txBox="1"/>
          <p:nvPr/>
        </p:nvSpPr>
        <p:spPr>
          <a:xfrm>
            <a:off x="685800" y="246888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4</a:t>
            </a:r>
          </a:p>
        </p:txBody>
      </p:sp>
      <p:sp>
        <p:nvSpPr>
          <p:cNvPr id="19" name="text:Success test"/>
          <p:cNvSpPr txBox="1"/>
          <p:nvPr/>
        </p:nvSpPr>
        <p:spPr>
          <a:xfrm>
            <a:off x="1005840" y="249631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Success test</a:t>
            </a:r>
          </a:p>
        </p:txBody>
      </p:sp>
      <p:sp>
        <p:nvSpPr>
          <p:cNvPr id="20" name="text:measurable"/>
          <p:cNvSpPr txBox="1"/>
          <p:nvPr/>
        </p:nvSpPr>
        <p:spPr>
          <a:xfrm>
            <a:off x="1005840" y="280720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measurable</a:t>
            </a:r>
          </a:p>
        </p:txBody>
      </p:sp>
      <p:sp>
        <p:nvSpPr>
          <p:cNvPr id="21" name="Rounded Rectangle 20"/>
          <p:cNvSpPr/>
          <p:nvPr/>
        </p:nvSpPr>
        <p:spPr>
          <a:xfrm>
            <a:off x="3337560" y="2423160"/>
            <a:ext cx="2560320" cy="841248"/>
          </a:xfrm>
          <a:prstGeom prst="roundRect">
            <a:avLst>
              <a:gd name="adj" fmla="val 1521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5"/>
          <p:cNvSpPr txBox="1"/>
          <p:nvPr/>
        </p:nvSpPr>
        <p:spPr>
          <a:xfrm>
            <a:off x="3474720" y="246888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5</a:t>
            </a:r>
          </a:p>
        </p:txBody>
      </p:sp>
      <p:sp>
        <p:nvSpPr>
          <p:cNvPr id="23" name="text:Devnet component"/>
          <p:cNvSpPr txBox="1"/>
          <p:nvPr/>
        </p:nvSpPr>
        <p:spPr>
          <a:xfrm>
            <a:off x="3794760" y="249631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Devnet component</a:t>
            </a:r>
          </a:p>
        </p:txBody>
      </p:sp>
      <p:sp>
        <p:nvSpPr>
          <p:cNvPr id="24" name="text:the on-chain evidence"/>
          <p:cNvSpPr txBox="1"/>
          <p:nvPr/>
        </p:nvSpPr>
        <p:spPr>
          <a:xfrm>
            <a:off x="3794760" y="280720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on-chain evidence</a:t>
            </a:r>
          </a:p>
        </p:txBody>
      </p:sp>
      <p:sp>
        <p:nvSpPr>
          <p:cNvPr id="25" name="Rounded Rectangle 24"/>
          <p:cNvSpPr/>
          <p:nvPr/>
        </p:nvSpPr>
        <p:spPr>
          <a:xfrm>
            <a:off x="6126479" y="2423160"/>
            <a:ext cx="256032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6"/>
          <p:cNvSpPr txBox="1"/>
          <p:nvPr/>
        </p:nvSpPr>
        <p:spPr>
          <a:xfrm>
            <a:off x="6263640" y="246888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6</a:t>
            </a:r>
          </a:p>
        </p:txBody>
      </p:sp>
      <p:sp>
        <p:nvSpPr>
          <p:cNvPr id="27" name="text:Limitations"/>
          <p:cNvSpPr txBox="1"/>
          <p:nvPr/>
        </p:nvSpPr>
        <p:spPr>
          <a:xfrm>
            <a:off x="6583679" y="249631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Limitations</a:t>
            </a:r>
          </a:p>
        </p:txBody>
      </p:sp>
      <p:sp>
        <p:nvSpPr>
          <p:cNvPr id="28" name="text:what it will not do"/>
          <p:cNvSpPr txBox="1"/>
          <p:nvPr/>
        </p:nvSpPr>
        <p:spPr>
          <a:xfrm>
            <a:off x="6583679" y="280720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what it will not do</a:t>
            </a:r>
          </a:p>
        </p:txBody>
      </p:sp>
      <p:sp>
        <p:nvSpPr>
          <p:cNvPr id="29" name="Rounded Rectangle 28"/>
          <p:cNvSpPr/>
          <p:nvPr/>
        </p:nvSpPr>
        <p:spPr>
          <a:xfrm>
            <a:off x="548640" y="3383280"/>
            <a:ext cx="256032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7"/>
          <p:cNvSpPr txBox="1"/>
          <p:nvPr/>
        </p:nvSpPr>
        <p:spPr>
          <a:xfrm>
            <a:off x="685800" y="342900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7</a:t>
            </a:r>
          </a:p>
        </p:txBody>
      </p:sp>
      <p:sp>
        <p:nvSpPr>
          <p:cNvPr id="31" name="text:Contributions"/>
          <p:cNvSpPr txBox="1"/>
          <p:nvPr/>
        </p:nvSpPr>
        <p:spPr>
          <a:xfrm>
            <a:off x="1005840" y="345643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Contributions</a:t>
            </a:r>
          </a:p>
        </p:txBody>
      </p:sp>
      <p:sp>
        <p:nvSpPr>
          <p:cNvPr id="32" name="text:what each person brings"/>
          <p:cNvSpPr txBox="1"/>
          <p:nvPr/>
        </p:nvSpPr>
        <p:spPr>
          <a:xfrm>
            <a:off x="1005840" y="376732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what each person brings</a:t>
            </a:r>
          </a:p>
        </p:txBody>
      </p:sp>
      <p:sp>
        <p:nvSpPr>
          <p:cNvPr id="33" name="Rounded Rectangle 32"/>
          <p:cNvSpPr/>
          <p:nvPr/>
        </p:nvSpPr>
        <p:spPr>
          <a:xfrm>
            <a:off x="3337560" y="3383280"/>
            <a:ext cx="256032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8"/>
          <p:cNvSpPr txBox="1"/>
          <p:nvPr/>
        </p:nvSpPr>
        <p:spPr>
          <a:xfrm>
            <a:off x="3474720" y="342900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8</a:t>
            </a:r>
          </a:p>
        </p:txBody>
      </p:sp>
      <p:sp>
        <p:nvSpPr>
          <p:cNvPr id="35" name="text:Learning goals"/>
          <p:cNvSpPr txBox="1"/>
          <p:nvPr/>
        </p:nvSpPr>
        <p:spPr>
          <a:xfrm>
            <a:off x="3794760" y="345643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Learning goals</a:t>
            </a:r>
          </a:p>
        </p:txBody>
      </p:sp>
      <p:sp>
        <p:nvSpPr>
          <p:cNvPr id="36" name="text:what each person wants to learn"/>
          <p:cNvSpPr txBox="1"/>
          <p:nvPr/>
        </p:nvSpPr>
        <p:spPr>
          <a:xfrm>
            <a:off x="3794760" y="376732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what each person wants to learn</a:t>
            </a:r>
          </a:p>
        </p:txBody>
      </p:sp>
      <p:sp>
        <p:nvSpPr>
          <p:cNvPr id="37" name="Rounded Rectangle 36"/>
          <p:cNvSpPr/>
          <p:nvPr/>
        </p:nvSpPr>
        <p:spPr>
          <a:xfrm>
            <a:off x="6126479" y="3383280"/>
            <a:ext cx="256032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9"/>
          <p:cNvSpPr txBox="1"/>
          <p:nvPr/>
        </p:nvSpPr>
        <p:spPr>
          <a:xfrm>
            <a:off x="6263640" y="3429000"/>
            <a:ext cx="2743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9</a:t>
            </a:r>
          </a:p>
        </p:txBody>
      </p:sp>
      <p:sp>
        <p:nvSpPr>
          <p:cNvPr id="39" name="text:First tasks"/>
          <p:cNvSpPr txBox="1"/>
          <p:nvPr/>
        </p:nvSpPr>
        <p:spPr>
          <a:xfrm>
            <a:off x="6583679" y="3456432"/>
            <a:ext cx="2011680" cy="2286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First tasks</a:t>
            </a:r>
          </a:p>
        </p:txBody>
      </p:sp>
      <p:sp>
        <p:nvSpPr>
          <p:cNvPr id="40" name="text:three, with names"/>
          <p:cNvSpPr txBox="1"/>
          <p:nvPr/>
        </p:nvSpPr>
        <p:spPr>
          <a:xfrm>
            <a:off x="6583679" y="3767328"/>
            <a:ext cx="2011680" cy="4114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three, with names</a:t>
            </a:r>
          </a:p>
        </p:txBody>
      </p:sp>
      <p:sp>
        <p:nvSpPr>
          <p:cNvPr id="41" name="text:Plus how you will talk to each other"/>
          <p:cNvSpPr txBox="1"/>
          <p:nvPr/>
        </p:nvSpPr>
        <p:spPr>
          <a:xfrm>
            <a:off x="548640" y="4389120"/>
            <a:ext cx="8092440" cy="228600"/>
          </a:xfrm>
          <a:prstGeom prst="rect">
            <a:avLst/>
          </a:prstGeom>
          <a:noFill/>
        </p:spPr>
        <p:txBody>
          <a:bodyPr wrap="square" lIns="9144" rIns="9144" tIns="0" bIns="0">
            <a:spAutoFit/>
          </a:bodyPr>
          <a:lstStyle/>
          <a:p>
            <a:pPr>
              <a:lnSpc>
                <a:spcPct val="106000"/>
              </a:lnSpc>
              <a:spcAft>
                <a:spcPts val="400"/>
              </a:spcAft>
              <a:defRPr sz="1100" b="0">
                <a:solidFill>
                  <a:srgbClr val="B3A5FF"/>
                </a:solidFill>
                <a:latin typeface="Helvetica Neue"/>
              </a:defRPr>
            </a:pPr>
            <a:r>
              <a:t>Plus how you will talk to each other and when you are free.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eam matching in 25 minut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Team matching in 25 minutes</a:t>
            </a:r>
          </a:p>
        </p:txBody>
      </p:sp>
      <p:sp>
        <p:nvSpPr>
          <p:cNvPr id="3" name="text:About 10 students: aim for two or th"/>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About 10 students: aim for two or three teams. Solo is fine.</a:t>
            </a:r>
          </a:p>
        </p:txBody>
      </p:sp>
      <p:sp>
        <p:nvSpPr>
          <p:cNvPr id="4" name="text:2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25</a:t>
            </a:r>
          </a:p>
        </p:txBody>
      </p:sp>
      <p:sp>
        <p:nvSpPr>
          <p:cNvPr id="5" name="Rounded Rectangle 4"/>
          <p:cNvSpPr/>
          <p:nvPr/>
        </p:nvSpPr>
        <p:spPr>
          <a:xfrm>
            <a:off x="548640" y="1508760"/>
            <a:ext cx="1920240" cy="1737360"/>
          </a:xfrm>
          <a:prstGeom prst="roundRect">
            <a:avLst>
              <a:gd name="adj" fmla="val 736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5 min"/>
          <p:cNvSpPr txBox="1"/>
          <p:nvPr/>
        </p:nvSpPr>
        <p:spPr>
          <a:xfrm>
            <a:off x="713232" y="1627632"/>
            <a:ext cx="1645920" cy="228600"/>
          </a:xfrm>
          <a:prstGeom prst="rect">
            <a:avLst/>
          </a:prstGeom>
          <a:noFill/>
        </p:spPr>
        <p:txBody>
          <a:bodyPr wrap="square" lIns="9144" rIns="9144" tIns="0" bIns="0">
            <a:spAutoFit/>
          </a:bodyPr>
          <a:lstStyle/>
          <a:p>
            <a:pPr>
              <a:lnSpc>
                <a:spcPct val="106000"/>
              </a:lnSpc>
              <a:spcAft>
                <a:spcPts val="400"/>
              </a:spcAft>
              <a:defRPr sz="1100" b="0">
                <a:solidFill>
                  <a:srgbClr val="3DDC97"/>
                </a:solidFill>
                <a:latin typeface="Helvetica Neue"/>
              </a:defRPr>
            </a:pPr>
            <a:r>
              <a:t>0-5 min</a:t>
            </a:r>
          </a:p>
        </p:txBody>
      </p:sp>
      <p:sp>
        <p:nvSpPr>
          <p:cNvPr id="7" name="text:Pitch"/>
          <p:cNvSpPr txBox="1"/>
          <p:nvPr/>
        </p:nvSpPr>
        <p:spPr>
          <a:xfrm>
            <a:off x="713232" y="1920240"/>
            <a:ext cx="1645920" cy="32004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Pitch</a:t>
            </a:r>
          </a:p>
        </p:txBody>
      </p:sp>
      <p:sp>
        <p:nvSpPr>
          <p:cNvPr id="8" name="text:one problem each, with evidence you "/>
          <p:cNvSpPr txBox="1"/>
          <p:nvPr/>
        </p:nvSpPr>
        <p:spPr>
          <a:xfrm>
            <a:off x="713232" y="237744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one problem each, with evidence you saw</a:t>
            </a:r>
          </a:p>
        </p:txBody>
      </p:sp>
      <p:cxnSp>
        <p:nvCxnSpPr>
          <p:cNvPr id="9" name="Connector 8"/>
          <p:cNvCxnSpPr/>
          <p:nvPr/>
        </p:nvCxnSpPr>
        <p:spPr>
          <a:xfrm>
            <a:off x="2487168" y="2377440"/>
            <a:ext cx="10058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508760"/>
            <a:ext cx="1920240" cy="1737360"/>
          </a:xfrm>
          <a:prstGeom prst="roundRect">
            <a:avLst>
              <a:gd name="adj" fmla="val 736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5-10 min"/>
          <p:cNvSpPr txBox="1"/>
          <p:nvPr/>
        </p:nvSpPr>
        <p:spPr>
          <a:xfrm>
            <a:off x="2770632" y="1627632"/>
            <a:ext cx="1645920" cy="228600"/>
          </a:xfrm>
          <a:prstGeom prst="rect">
            <a:avLst/>
          </a:prstGeom>
          <a:noFill/>
        </p:spPr>
        <p:txBody>
          <a:bodyPr wrap="square" lIns="9144" rIns="9144" tIns="0" bIns="0">
            <a:spAutoFit/>
          </a:bodyPr>
          <a:lstStyle/>
          <a:p>
            <a:pPr>
              <a:lnSpc>
                <a:spcPct val="106000"/>
              </a:lnSpc>
              <a:spcAft>
                <a:spcPts val="400"/>
              </a:spcAft>
              <a:defRPr sz="1100" b="0">
                <a:solidFill>
                  <a:srgbClr val="3DDC97"/>
                </a:solidFill>
                <a:latin typeface="Helvetica Neue"/>
              </a:defRPr>
            </a:pPr>
            <a:r>
              <a:t>5-10 min</a:t>
            </a:r>
          </a:p>
        </p:txBody>
      </p:sp>
      <p:sp>
        <p:nvSpPr>
          <p:cNvPr id="12" name="text:Choose"/>
          <p:cNvSpPr txBox="1"/>
          <p:nvPr/>
        </p:nvSpPr>
        <p:spPr>
          <a:xfrm>
            <a:off x="2770632" y="1920240"/>
            <a:ext cx="1645920" cy="32004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Choose</a:t>
            </a:r>
          </a:p>
        </p:txBody>
      </p:sp>
      <p:sp>
        <p:nvSpPr>
          <p:cNvPr id="13" name="text:first interest, second choice"/>
          <p:cNvSpPr txBox="1"/>
          <p:nvPr/>
        </p:nvSpPr>
        <p:spPr>
          <a:xfrm>
            <a:off x="2770632" y="237744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first interest, second choice</a:t>
            </a:r>
          </a:p>
        </p:txBody>
      </p:sp>
      <p:cxnSp>
        <p:nvCxnSpPr>
          <p:cNvPr id="14" name="Connector 13"/>
          <p:cNvCxnSpPr/>
          <p:nvPr/>
        </p:nvCxnSpPr>
        <p:spPr>
          <a:xfrm>
            <a:off x="4544568" y="2377440"/>
            <a:ext cx="10058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508760"/>
            <a:ext cx="1920240" cy="1737360"/>
          </a:xfrm>
          <a:prstGeom prst="roundRect">
            <a:avLst>
              <a:gd name="adj" fmla="val 736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0-20 min"/>
          <p:cNvSpPr txBox="1"/>
          <p:nvPr/>
        </p:nvSpPr>
        <p:spPr>
          <a:xfrm>
            <a:off x="4828031" y="1627632"/>
            <a:ext cx="1645920" cy="228600"/>
          </a:xfrm>
          <a:prstGeom prst="rect">
            <a:avLst/>
          </a:prstGeom>
          <a:noFill/>
        </p:spPr>
        <p:txBody>
          <a:bodyPr wrap="square" lIns="9144" rIns="9144" tIns="0" bIns="0">
            <a:spAutoFit/>
          </a:bodyPr>
          <a:lstStyle/>
          <a:p>
            <a:pPr>
              <a:lnSpc>
                <a:spcPct val="106000"/>
              </a:lnSpc>
              <a:spcAft>
                <a:spcPts val="400"/>
              </a:spcAft>
              <a:defRPr sz="1100" b="0">
                <a:solidFill>
                  <a:srgbClr val="3DDC97"/>
                </a:solidFill>
                <a:latin typeface="Helvetica Neue"/>
              </a:defRPr>
            </a:pPr>
            <a:r>
              <a:t>10-20 min</a:t>
            </a:r>
          </a:p>
        </p:txBody>
      </p:sp>
      <p:sp>
        <p:nvSpPr>
          <p:cNvPr id="17" name="text:Find"/>
          <p:cNvSpPr txBox="1"/>
          <p:nvPr/>
        </p:nvSpPr>
        <p:spPr>
          <a:xfrm>
            <a:off x="4828031" y="1920240"/>
            <a:ext cx="1645920" cy="32004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Find</a:t>
            </a:r>
          </a:p>
        </p:txBody>
      </p:sp>
      <p:sp>
        <p:nvSpPr>
          <p:cNvPr id="18" name="text:share what you bring and want to lea"/>
          <p:cNvSpPr txBox="1"/>
          <p:nvPr/>
        </p:nvSpPr>
        <p:spPr>
          <a:xfrm>
            <a:off x="4828031" y="237744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share what you bring and want to learn</a:t>
            </a:r>
          </a:p>
        </p:txBody>
      </p:sp>
      <p:cxnSp>
        <p:nvCxnSpPr>
          <p:cNvPr id="19" name="Connector 18"/>
          <p:cNvCxnSpPr/>
          <p:nvPr/>
        </p:nvCxnSpPr>
        <p:spPr>
          <a:xfrm>
            <a:off x="6601968" y="2377440"/>
            <a:ext cx="10058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508760"/>
            <a:ext cx="1920240" cy="1737360"/>
          </a:xfrm>
          <a:prstGeom prst="roundRect">
            <a:avLst>
              <a:gd name="adj" fmla="val 7368"/>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20-25 min"/>
          <p:cNvSpPr txBox="1"/>
          <p:nvPr/>
        </p:nvSpPr>
        <p:spPr>
          <a:xfrm>
            <a:off x="6885431" y="1627632"/>
            <a:ext cx="1645920" cy="228600"/>
          </a:xfrm>
          <a:prstGeom prst="rect">
            <a:avLst/>
          </a:prstGeom>
          <a:noFill/>
        </p:spPr>
        <p:txBody>
          <a:bodyPr wrap="square" lIns="9144" rIns="9144" tIns="0" bIns="0">
            <a:spAutoFit/>
          </a:bodyPr>
          <a:lstStyle/>
          <a:p>
            <a:pPr>
              <a:lnSpc>
                <a:spcPct val="106000"/>
              </a:lnSpc>
              <a:spcAft>
                <a:spcPts val="400"/>
              </a:spcAft>
              <a:defRPr sz="1100" b="0">
                <a:solidFill>
                  <a:srgbClr val="3DDC97"/>
                </a:solidFill>
                <a:latin typeface="Helvetica Neue"/>
              </a:defRPr>
            </a:pPr>
            <a:r>
              <a:t>20-25 min</a:t>
            </a:r>
          </a:p>
        </p:txBody>
      </p:sp>
      <p:sp>
        <p:nvSpPr>
          <p:cNvPr id="22" name="text:Agree"/>
          <p:cNvSpPr txBox="1"/>
          <p:nvPr/>
        </p:nvSpPr>
        <p:spPr>
          <a:xfrm>
            <a:off x="6885431" y="1920240"/>
            <a:ext cx="1645920" cy="32004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Agree</a:t>
            </a:r>
          </a:p>
        </p:txBody>
      </p:sp>
      <p:sp>
        <p:nvSpPr>
          <p:cNvPr id="23" name="text:provisional team, shared problem, fi"/>
          <p:cNvSpPr txBox="1"/>
          <p:nvPr/>
        </p:nvSpPr>
        <p:spPr>
          <a:xfrm>
            <a:off x="6885431" y="237744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provisional team, shared problem, first tasks</a:t>
            </a:r>
          </a:p>
        </p:txBody>
      </p:sp>
      <p:sp>
        <p:nvSpPr>
          <p:cNvPr id="24" name="Rounded Rectangle 23"/>
          <p:cNvSpPr/>
          <p:nvPr/>
        </p:nvSpPr>
        <p:spPr>
          <a:xfrm>
            <a:off x="548640" y="3429000"/>
            <a:ext cx="8092440" cy="502920"/>
          </a:xfrm>
          <a:prstGeom prst="roundRect">
            <a:avLst>
              <a:gd name="adj" fmla="val 25454"/>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Interest card: handle | first and se"/>
          <p:cNvSpPr txBox="1"/>
          <p:nvPr/>
        </p:nvSpPr>
        <p:spPr>
          <a:xfrm>
            <a:off x="731520" y="3429000"/>
            <a:ext cx="7726679" cy="50292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Interest card: handle | first and second problem | skill I bring | skill I want to learn | availability</a:t>
            </a:r>
          </a:p>
        </p:txBody>
      </p:sp>
      <p:sp>
        <p:nvSpPr>
          <p:cNvPr id="26" name="text:Teams can change by agreement. We ch"/>
          <p:cNvSpPr txBox="1"/>
          <p:nvPr/>
        </p:nvSpPr>
        <p:spPr>
          <a:xfrm>
            <a:off x="548640" y="4114800"/>
            <a:ext cx="8092440" cy="3657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Teams can change by agreement. We check fit again on Thu 12 Nov and Thu 21 Jan.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Triple barrier on real pric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Triple barrier on real prices</a:t>
            </a:r>
          </a:p>
        </p:txBody>
      </p:sp>
      <p:sp>
        <p:nvSpPr>
          <p:cNvPr id="4" name="text:2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26</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If you double the width, do more lab"/>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If you double the width, do more labels become +1 or 0?</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mult "/>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000" b="0">
                <a:solidFill>
                  <a:srgbClr val="3DDC97"/>
                </a:solidFill>
                <a:latin typeface="Menlo"/>
              </a:defRPr>
            </a:pPr>
            <a:r>
              <a:t>$ npm run demo -- --recorded --mult 1.6</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Fewer touches, more &quot;time ran out&quot;"/>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Fewer touches, more "time ran out"</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average width roughly doubles"/>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average width roughly doubles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creenshot below; the lab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screenshot below; the lab page works from disk</a:t>
            </a:r>
          </a:p>
        </p:txBody>
      </p:sp>
      <p:pic>
        <p:nvPicPr>
          <p:cNvPr id="18" name="Picture 17" descr="01-triple-barrier.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nus-solana-demos.vercel.app/0004/01-triple-barrier.html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Overlap and leakag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Overlap and leakage</a:t>
            </a:r>
          </a:p>
        </p:txBody>
      </p:sp>
      <p:sp>
        <p:nvSpPr>
          <p:cNvPr id="4" name="text:2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27</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ere should the cut go so that noth"/>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Where should the cut go so that nothing leaks?</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open demo-repo/lab/02-overlap-leak"/>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open demo-repo/lab/02-overlap-leakage.html</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round 7 labels alive at once"/>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Around 7 labels alive at once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Purge removes the crossing labels"/>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Purge removes the crossing labels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creenshot below; the lab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screenshot below; the lab page works from disk</a:t>
            </a:r>
          </a:p>
        </p:txBody>
      </p:sp>
      <p:pic>
        <p:nvPicPr>
          <p:cNvPr id="18" name="Picture 17" descr="02-overlap-leakage.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nus-solana-demos.vercel.app/0004/02-overlap-leakage.html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a:t>
            </a:r>
          </a:p>
        </p:txBody>
      </p:sp>
      <p:sp>
        <p:nvSpPr>
          <p:cNvPr id="3" name="text:Agent report car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Agent report card</a:t>
            </a:r>
          </a:p>
        </p:txBody>
      </p:sp>
      <p:sp>
        <p:nvSpPr>
          <p:cNvPr id="4" name="text:2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28</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Do the trades with true reasons win "/>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Do the trades with true reasons win more often?</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error"/>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demo -- --recorded --error-rate 40</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 flagged reason shows what is wrong"/>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flagged reason shows what is wrong</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rue reasons do not guarantee wins"/>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True reasons do not guarantee wins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creenshot below; the lab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screenshot below; the lab page works from disk</a:t>
            </a:r>
          </a:p>
        </p:txBody>
      </p:sp>
      <p:pic>
        <p:nvPicPr>
          <p:cNvPr id="18" name="Picture 17" descr="03-agent-report-card.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nus-solana-demos.vercel.app/0004/03-agent-report-card.html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4"/>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4</a:t>
            </a:r>
          </a:p>
        </p:txBody>
      </p:sp>
      <p:sp>
        <p:nvSpPr>
          <p:cNvPr id="3" name="text:The same agent, with a gat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same agent, with a gate</a:t>
            </a:r>
          </a:p>
        </p:txBody>
      </p:sp>
      <p:sp>
        <p:nvSpPr>
          <p:cNvPr id="4" name="text:2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29</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blocked trades would have won?"/>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blocked trades would have won?</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train"/>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demo -- --recorded --train-frac 0.5</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locked trades, some of them winners"/>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Blocked trades, some of them winners</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 +/- range as wide as the gap"/>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 range as wide as the gap</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creenshot below; the lab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screenshot below; the lab page works from disk</a:t>
            </a:r>
          </a:p>
        </p:txBody>
      </p:sp>
      <p:pic>
        <p:nvPicPr>
          <p:cNvPr id="18" name="Picture 17" descr="04-meta-gate.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nus-solana-demos.vercel.app/0004/04-meta-gate.html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5"/>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5</a:t>
            </a:r>
          </a:p>
        </p:txBody>
      </p:sp>
      <p:sp>
        <p:nvSpPr>
          <p:cNvPr id="3" name="text:Lane and team pick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Lane and team picker</a:t>
            </a:r>
          </a:p>
        </p:txBody>
      </p:sp>
      <p:sp>
        <p:nvSpPr>
          <p:cNvPr id="4" name="text:3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30</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o fits your card best?"/>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Who fits your card best?</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open demo-repo/lab/05-lane-team-pi"/>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open demo-repo/lab/05-lane-team-picker.html</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 starter fills in the brief"/>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starter fills in the brief</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Example teammates ranked by fit"/>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Example teammates ranked by fit</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creenshot below; the lab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screenshot below; the lab page works from disk</a:t>
            </a:r>
          </a:p>
        </p:txBody>
      </p:sp>
      <p:pic>
        <p:nvPicPr>
          <p:cNvPr id="18" name="Picture 17" descr="05-lane-team-picker.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nus-solana-demos.vercel.app/0004/05-lane-team-picker.html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3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31</a:t>
            </a:r>
          </a:p>
        </p:txBody>
      </p:sp>
      <p:sp>
        <p:nvSpPr>
          <p:cNvPr id="4" name="Rounded Rectangle 3"/>
          <p:cNvSpPr/>
          <p:nvPr/>
        </p:nvSpPr>
        <p:spPr>
          <a:xfrm>
            <a:off x="5394960" y="132588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demos-0004.png"/>
          <p:cNvPicPr>
            <a:picLocks noChangeAspect="1"/>
          </p:cNvPicPr>
          <p:nvPr/>
        </p:nvPicPr>
        <p:blipFill>
          <a:blip r:embed="rId3"/>
          <a:stretch>
            <a:fillRect/>
          </a:stretch>
        </p:blipFill>
        <p:spPr>
          <a:xfrm>
            <a:off x="5532120" y="1463040"/>
            <a:ext cx="2560320" cy="2560320"/>
          </a:xfrm>
          <a:prstGeom prst="rect">
            <a:avLst/>
          </a:prstGeom>
        </p:spPr>
      </p:pic>
      <p:sp>
        <p:nvSpPr>
          <p:cNvPr id="6" name="text:Scan to open the demos"/>
          <p:cNvSpPr txBox="1"/>
          <p:nvPr/>
        </p:nvSpPr>
        <p:spPr>
          <a:xfrm>
            <a:off x="5394960" y="425196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
        <p:nvSpPr>
          <p:cNvPr id="7" name="Rounded Rectangle 6"/>
          <p:cNvSpPr/>
          <p:nvPr/>
        </p:nvSpPr>
        <p:spPr>
          <a:xfrm>
            <a:off x="548640" y="1554480"/>
            <a:ext cx="448056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MOS"/>
          <p:cNvSpPr txBox="1"/>
          <p:nvPr/>
        </p:nvSpPr>
        <p:spPr>
          <a:xfrm>
            <a:off x="731520" y="162763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DEMOS</a:t>
            </a:r>
          </a:p>
        </p:txBody>
      </p:sp>
      <p:sp>
        <p:nvSpPr>
          <p:cNvPr id="9" name="text:nus-solana-demos.vercel.app/0004/"/>
          <p:cNvSpPr txBox="1"/>
          <p:nvPr/>
        </p:nvSpPr>
        <p:spPr>
          <a:xfrm>
            <a:off x="731520" y="1874519"/>
            <a:ext cx="4206240" cy="3200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Menlo"/>
              </a:defRPr>
            </a:pPr>
            <a:r>
              <a:t>nus-solana-demos.vercel.app/0004/</a:t>
            </a:r>
          </a:p>
        </p:txBody>
      </p:sp>
      <p:sp>
        <p:nvSpPr>
          <p:cNvPr id="10" name="text:Five demos. Open them now."/>
          <p:cNvSpPr txBox="1"/>
          <p:nvPr/>
        </p:nvSpPr>
        <p:spPr>
          <a:xfrm>
            <a:off x="548640" y="2651760"/>
            <a:ext cx="4480560" cy="91440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Five demos. Open them now.</a:t>
            </a:r>
          </a:p>
        </p:txBody>
      </p:sp>
      <p:sp>
        <p:nvSpPr>
          <p:cNvPr id="11" name="text:No install. The same files are in th"/>
          <p:cNvSpPr txBox="1"/>
          <p:nvPr/>
        </p:nvSpPr>
        <p:spPr>
          <a:xfrm>
            <a:off x="548640" y="3657600"/>
            <a:ext cx="4480560" cy="64008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No install. The same files are in the repo and open from disk. Do not all switch on Live at once: we share one connection.</a:t>
            </a:r>
          </a:p>
        </p:txBody>
      </p:sp>
      <p:sp>
        <p:nvSpPr>
          <p:cNvPr id="12" name="text:Source: demo-repo/lab (the five Lea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 (the five Learning Lab demos, deployed as static pages, recorded data)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Mini-lab: label ten decisions by ha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Mini-lab: label ten decisions by hand</a:t>
            </a:r>
          </a:p>
        </p:txBody>
      </p:sp>
      <p:sp>
        <p:nvSpPr>
          <p:cNvPr id="3" name="text:In your new teams. Ten minut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In your new teams. Ten minutes.</a:t>
            </a:r>
          </a:p>
        </p:txBody>
      </p:sp>
      <p:sp>
        <p:nvSpPr>
          <p:cNvPr id="4" name="text:3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32</a:t>
            </a:r>
          </a:p>
        </p:txBody>
      </p:sp>
      <p:sp>
        <p:nvSpPr>
          <p:cNvPr id="5" name="Rounded Rectangle 4"/>
          <p:cNvSpPr/>
          <p:nvPr/>
        </p:nvSpPr>
        <p:spPr>
          <a:xfrm>
            <a:off x="548640" y="1508760"/>
            <a:ext cx="1920240" cy="224028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627632"/>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Open the sheet"/>
          <p:cNvSpPr txBox="1"/>
          <p:nvPr/>
        </p:nvSpPr>
        <p:spPr>
          <a:xfrm>
            <a:off x="731520" y="2331720"/>
            <a:ext cx="164592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Open the sheet</a:t>
            </a:r>
          </a:p>
        </p:txBody>
      </p:sp>
      <p:sp>
        <p:nvSpPr>
          <p:cNvPr id="8" name="text:out/minilab.md has ten real decision"/>
          <p:cNvSpPr txBox="1"/>
          <p:nvPr/>
        </p:nvSpPr>
        <p:spPr>
          <a:xfrm>
            <a:off x="731520" y="2743200"/>
            <a:ext cx="1600200" cy="9144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Menlo"/>
              </a:defRPr>
            </a:pPr>
            <a:r>
              <a:t>out/minilab.md has ten real decisions</a:t>
            </a:r>
          </a:p>
        </p:txBody>
      </p:sp>
      <p:cxnSp>
        <p:nvCxnSpPr>
          <p:cNvPr id="9" name="Connector 8"/>
          <p:cNvCxnSpPr/>
          <p:nvPr/>
        </p:nvCxnSpPr>
        <p:spPr>
          <a:xfrm>
            <a:off x="2496312" y="256032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508760"/>
            <a:ext cx="1920240" cy="224028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627632"/>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Label them"/>
          <p:cNvSpPr txBox="1"/>
          <p:nvPr/>
        </p:nvSpPr>
        <p:spPr>
          <a:xfrm>
            <a:off x="2788920" y="2331720"/>
            <a:ext cx="164592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Label them</a:t>
            </a:r>
          </a:p>
        </p:txBody>
      </p:sp>
      <p:sp>
        <p:nvSpPr>
          <p:cNvPr id="13" name="text:+1, -1 or 0 from the price lists"/>
          <p:cNvSpPr txBox="1"/>
          <p:nvPr/>
        </p:nvSpPr>
        <p:spPr>
          <a:xfrm>
            <a:off x="2788920" y="2743200"/>
            <a:ext cx="1600200" cy="9144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+1, -1 or 0 from the price lists</a:t>
            </a:r>
          </a:p>
        </p:txBody>
      </p:sp>
      <p:cxnSp>
        <p:nvCxnSpPr>
          <p:cNvPr id="14" name="Connector 13"/>
          <p:cNvCxnSpPr/>
          <p:nvPr/>
        </p:nvCxnSpPr>
        <p:spPr>
          <a:xfrm>
            <a:off x="4553712" y="256032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508760"/>
            <a:ext cx="1920240" cy="224028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627632"/>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Check the key"/>
          <p:cNvSpPr txBox="1"/>
          <p:nvPr/>
        </p:nvSpPr>
        <p:spPr>
          <a:xfrm>
            <a:off x="4846320" y="2331720"/>
            <a:ext cx="164592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Check the key</a:t>
            </a:r>
          </a:p>
        </p:txBody>
      </p:sp>
      <p:sp>
        <p:nvSpPr>
          <p:cNvPr id="18" name="text:out/minilab-answers.md"/>
          <p:cNvSpPr txBox="1"/>
          <p:nvPr/>
        </p:nvSpPr>
        <p:spPr>
          <a:xfrm>
            <a:off x="4846320" y="2743200"/>
            <a:ext cx="1600200" cy="9144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Menlo"/>
              </a:defRPr>
            </a:pPr>
            <a:r>
              <a:t>out/minilab-answers.md</a:t>
            </a:r>
          </a:p>
        </p:txBody>
      </p:sp>
      <p:cxnSp>
        <p:nvCxnSpPr>
          <p:cNvPr id="19" name="Connector 18"/>
          <p:cNvCxnSpPr/>
          <p:nvPr/>
        </p:nvCxnSpPr>
        <p:spPr>
          <a:xfrm>
            <a:off x="6611112" y="256032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508760"/>
            <a:ext cx="1920240" cy="224028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627632"/>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Change one thing"/>
          <p:cNvSpPr txBox="1"/>
          <p:nvPr/>
        </p:nvSpPr>
        <p:spPr>
          <a:xfrm>
            <a:off x="6903720" y="2331720"/>
            <a:ext cx="164592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Change one thing</a:t>
            </a:r>
          </a:p>
        </p:txBody>
      </p:sp>
      <p:sp>
        <p:nvSpPr>
          <p:cNvPr id="23" name="text:npm run demo -- --mult 1.5 and relab"/>
          <p:cNvSpPr txBox="1"/>
          <p:nvPr/>
        </p:nvSpPr>
        <p:spPr>
          <a:xfrm>
            <a:off x="6903720" y="2743200"/>
            <a:ext cx="1600200" cy="9144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Menlo"/>
              </a:defRPr>
            </a:pPr>
            <a:r>
              <a:t>npm run demo -- --mult 1.5 and relabel decision 1</a:t>
            </a:r>
          </a:p>
        </p:txBody>
      </p:sp>
      <p:sp>
        <p:nvSpPr>
          <p:cNvPr id="24" name="Rounded Rectangle 23"/>
          <p:cNvSpPr/>
          <p:nvPr/>
        </p:nvSpPr>
        <p:spPr>
          <a:xfrm>
            <a:off x="548640" y="3931920"/>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Done when your team agrees on all te"/>
          <p:cNvSpPr txBox="1"/>
          <p:nvPr/>
        </p:nvSpPr>
        <p:spPr>
          <a:xfrm>
            <a:off x="731520" y="3931920"/>
            <a:ext cx="7772400" cy="566928"/>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Done when your team agrees on all ten and can say why decision 1 changed.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uild menu"/>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Build menu</a:t>
            </a:r>
          </a:p>
        </p:txBody>
      </p:sp>
      <p:sp>
        <p:nvSpPr>
          <p:cNvPr id="3" name="text:Pick one and make it your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Pick one and make it yours.</a:t>
            </a:r>
          </a:p>
        </p:txBody>
      </p:sp>
      <p:sp>
        <p:nvSpPr>
          <p:cNvPr id="4" name="text:3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33</a:t>
            </a:r>
          </a:p>
        </p:txBody>
      </p:sp>
      <p:sp>
        <p:nvSpPr>
          <p:cNvPr id="5" name="Rounded Rectangle 4"/>
          <p:cNvSpPr/>
          <p:nvPr/>
        </p:nvSpPr>
        <p:spPr>
          <a:xfrm>
            <a:off x="548640" y="1463040"/>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91056"/>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609344"/>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Label your own strategy's past decis"/>
          <p:cNvSpPr txBox="1"/>
          <p:nvPr/>
        </p:nvSpPr>
        <p:spPr>
          <a:xfrm>
            <a:off x="1874519" y="1463040"/>
            <a:ext cx="6675120" cy="502920"/>
          </a:xfrm>
          <a:prstGeom prst="rect">
            <a:avLst/>
          </a:prstGeom>
          <a:noFill/>
        </p:spPr>
        <p:txBody>
          <a:bodyPr wrap="square" lIns="9144" rIns="9144" tIns="0" bIns="0" anchor="ctr">
            <a:spAutoFit/>
          </a:bodyPr>
          <a:lstStyle/>
          <a:p>
            <a:pPr>
              <a:lnSpc>
                <a:spcPct val="106000"/>
              </a:lnSpc>
              <a:spcAft>
                <a:spcPts val="400"/>
              </a:spcAft>
              <a:defRPr sz="1350" b="0">
                <a:solidFill>
                  <a:srgbClr val="F2F5F8"/>
                </a:solidFill>
                <a:latin typeface="Helvetica Neue"/>
              </a:defRPr>
            </a:pPr>
            <a:r>
              <a:t>Label your own strategy's past decisions</a:t>
            </a:r>
          </a:p>
        </p:txBody>
      </p:sp>
      <p:sp>
        <p:nvSpPr>
          <p:cNvPr id="9" name="Rounded Rectangle 8"/>
          <p:cNvSpPr/>
          <p:nvPr/>
        </p:nvSpPr>
        <p:spPr>
          <a:xfrm>
            <a:off x="548640" y="2066544"/>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194560"/>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EGINNER"/>
          <p:cNvSpPr txBox="1"/>
          <p:nvPr/>
        </p:nvSpPr>
        <p:spPr>
          <a:xfrm>
            <a:off x="731520" y="2212848"/>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12" name="text:Build volatility-scaled barriers for"/>
          <p:cNvSpPr txBox="1"/>
          <p:nvPr/>
        </p:nvSpPr>
        <p:spPr>
          <a:xfrm>
            <a:off x="1874519" y="2066544"/>
            <a:ext cx="6675120" cy="502920"/>
          </a:xfrm>
          <a:prstGeom prst="rect">
            <a:avLst/>
          </a:prstGeom>
          <a:noFill/>
        </p:spPr>
        <p:txBody>
          <a:bodyPr wrap="square" lIns="9144" rIns="9144" tIns="0" bIns="0" anchor="ctr">
            <a:spAutoFit/>
          </a:bodyPr>
          <a:lstStyle/>
          <a:p>
            <a:pPr>
              <a:lnSpc>
                <a:spcPct val="106000"/>
              </a:lnSpc>
              <a:spcAft>
                <a:spcPts val="400"/>
              </a:spcAft>
              <a:defRPr sz="1350" b="0">
                <a:solidFill>
                  <a:srgbClr val="F2F5F8"/>
                </a:solidFill>
                <a:latin typeface="Helvetica Neue"/>
              </a:defRPr>
            </a:pPr>
            <a:r>
              <a:t>Build volatility-scaled barriers for another token</a:t>
            </a:r>
          </a:p>
        </p:txBody>
      </p:sp>
      <p:sp>
        <p:nvSpPr>
          <p:cNvPr id="13" name="Rounded Rectangle 12"/>
          <p:cNvSpPr/>
          <p:nvPr/>
        </p:nvSpPr>
        <p:spPr>
          <a:xfrm>
            <a:off x="548640" y="2670048"/>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798064"/>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NDARD"/>
          <p:cNvSpPr txBox="1"/>
          <p:nvPr/>
        </p:nvSpPr>
        <p:spPr>
          <a:xfrm>
            <a:off x="731520" y="2816352"/>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6" name="text:Build the gate with your own feature"/>
          <p:cNvSpPr txBox="1"/>
          <p:nvPr/>
        </p:nvSpPr>
        <p:spPr>
          <a:xfrm>
            <a:off x="1874519" y="2670048"/>
            <a:ext cx="6675120" cy="502920"/>
          </a:xfrm>
          <a:prstGeom prst="rect">
            <a:avLst/>
          </a:prstGeom>
          <a:noFill/>
        </p:spPr>
        <p:txBody>
          <a:bodyPr wrap="square" lIns="9144" rIns="9144" tIns="0" bIns="0" anchor="ctr">
            <a:spAutoFit/>
          </a:bodyPr>
          <a:lstStyle/>
          <a:p>
            <a:pPr>
              <a:lnSpc>
                <a:spcPct val="106000"/>
              </a:lnSpc>
              <a:spcAft>
                <a:spcPts val="400"/>
              </a:spcAft>
              <a:defRPr sz="1350" b="0">
                <a:solidFill>
                  <a:srgbClr val="F2F5F8"/>
                </a:solidFill>
                <a:latin typeface="Helvetica Neue"/>
              </a:defRPr>
            </a:pPr>
            <a:r>
              <a:t>Build the gate with your own features</a:t>
            </a:r>
          </a:p>
        </p:txBody>
      </p:sp>
      <p:sp>
        <p:nvSpPr>
          <p:cNvPr id="17" name="Rounded Rectangle 16"/>
          <p:cNvSpPr/>
          <p:nvPr/>
        </p:nvSpPr>
        <p:spPr>
          <a:xfrm>
            <a:off x="548640" y="3273552"/>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015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STANDARD"/>
          <p:cNvSpPr txBox="1"/>
          <p:nvPr/>
        </p:nvSpPr>
        <p:spPr>
          <a:xfrm>
            <a:off x="731520" y="34198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20" name="text:Build an explanation checker that fl"/>
          <p:cNvSpPr txBox="1"/>
          <p:nvPr/>
        </p:nvSpPr>
        <p:spPr>
          <a:xfrm>
            <a:off x="1874519" y="3273552"/>
            <a:ext cx="6675120" cy="502920"/>
          </a:xfrm>
          <a:prstGeom prst="rect">
            <a:avLst/>
          </a:prstGeom>
          <a:noFill/>
        </p:spPr>
        <p:txBody>
          <a:bodyPr wrap="square" lIns="9144" rIns="9144" tIns="0" bIns="0" anchor="ctr">
            <a:spAutoFit/>
          </a:bodyPr>
          <a:lstStyle/>
          <a:p>
            <a:pPr>
              <a:lnSpc>
                <a:spcPct val="106000"/>
              </a:lnSpc>
              <a:spcAft>
                <a:spcPts val="400"/>
              </a:spcAft>
              <a:defRPr sz="1350" b="0">
                <a:solidFill>
                  <a:srgbClr val="F2F5F8"/>
                </a:solidFill>
                <a:latin typeface="Helvetica Neue"/>
              </a:defRPr>
            </a:pPr>
            <a:r>
              <a:t>Build an explanation checker that flags reasons contradicting the data</a:t>
            </a:r>
          </a:p>
        </p:txBody>
      </p:sp>
      <p:sp>
        <p:nvSpPr>
          <p:cNvPr id="21" name="Rounded Rectangle 20"/>
          <p:cNvSpPr/>
          <p:nvPr/>
        </p:nvSpPr>
        <p:spPr>
          <a:xfrm>
            <a:off x="548640" y="3877056"/>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005072"/>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ADVANCED"/>
          <p:cNvSpPr txBox="1"/>
          <p:nvPr/>
        </p:nvSpPr>
        <p:spPr>
          <a:xfrm>
            <a:off x="731520" y="4023359"/>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4" name="text:Label your Session 0 strategy and lo"/>
          <p:cNvSpPr txBox="1"/>
          <p:nvPr/>
        </p:nvSpPr>
        <p:spPr>
          <a:xfrm>
            <a:off x="1874519" y="3877056"/>
            <a:ext cx="6675120" cy="502920"/>
          </a:xfrm>
          <a:prstGeom prst="rect">
            <a:avLst/>
          </a:prstGeom>
          <a:noFill/>
        </p:spPr>
        <p:txBody>
          <a:bodyPr wrap="square" lIns="9144" rIns="9144" tIns="0" bIns="0" anchor="ctr">
            <a:spAutoFit/>
          </a:bodyPr>
          <a:lstStyle/>
          <a:p>
            <a:pPr>
              <a:lnSpc>
                <a:spcPct val="106000"/>
              </a:lnSpc>
              <a:spcAft>
                <a:spcPts val="400"/>
              </a:spcAft>
              <a:defRPr sz="1350" b="0">
                <a:solidFill>
                  <a:srgbClr val="F2F5F8"/>
                </a:solidFill>
                <a:latin typeface="Helvetica Neue"/>
              </a:defRPr>
            </a:pPr>
            <a:r>
              <a:t>Label your Session 0 strategy and log it to devnet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things to keep"/>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things to keep</a:t>
            </a:r>
          </a:p>
        </p:txBody>
      </p:sp>
      <p:sp>
        <p:nvSpPr>
          <p:cNvPr id="3" name="text:3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34</a:t>
            </a:r>
          </a:p>
        </p:txBody>
      </p:sp>
      <p:sp>
        <p:nvSpPr>
          <p:cNvPr id="4" name="Rounded Rectangle 3"/>
          <p:cNvSpPr/>
          <p:nvPr/>
        </p:nvSpPr>
        <p:spPr>
          <a:xfrm>
            <a:off x="548640" y="1417320"/>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1"/>
          <p:cNvSpPr txBox="1"/>
          <p:nvPr/>
        </p:nvSpPr>
        <p:spPr>
          <a:xfrm>
            <a:off x="777240" y="1417320"/>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1</a:t>
            </a:r>
          </a:p>
        </p:txBody>
      </p:sp>
      <p:sp>
        <p:nvSpPr>
          <p:cNvPr id="6" name="text:A label turns a decision into a chec"/>
          <p:cNvSpPr txBox="1"/>
          <p:nvPr/>
        </p:nvSpPr>
        <p:spPr>
          <a:xfrm>
            <a:off x="1371600" y="1417320"/>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A label turns a decision into a checkable outcome.</a:t>
            </a:r>
          </a:p>
        </p:txBody>
      </p:sp>
      <p:sp>
        <p:nvSpPr>
          <p:cNvPr id="7" name="Rounded Rectangle 6"/>
          <p:cNvSpPr/>
          <p:nvPr/>
        </p:nvSpPr>
        <p:spPr>
          <a:xfrm>
            <a:off x="548640" y="2441448"/>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2"/>
          <p:cNvSpPr txBox="1"/>
          <p:nvPr/>
        </p:nvSpPr>
        <p:spPr>
          <a:xfrm>
            <a:off x="777240" y="2441448"/>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2</a:t>
            </a:r>
          </a:p>
        </p:txBody>
      </p:sp>
      <p:sp>
        <p:nvSpPr>
          <p:cNvPr id="9" name="text:Overlapping labels leak: purge befor"/>
          <p:cNvSpPr txBox="1"/>
          <p:nvPr/>
        </p:nvSpPr>
        <p:spPr>
          <a:xfrm>
            <a:off x="1371600" y="2441448"/>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Overlapping labels leak: purge before you test.</a:t>
            </a:r>
          </a:p>
        </p:txBody>
      </p:sp>
      <p:sp>
        <p:nvSpPr>
          <p:cNvPr id="10" name="Rounded Rectangle 9"/>
          <p:cNvSpPr/>
          <p:nvPr/>
        </p:nvSpPr>
        <p:spPr>
          <a:xfrm>
            <a:off x="548640" y="3465576"/>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3"/>
          <p:cNvSpPr txBox="1"/>
          <p:nvPr/>
        </p:nvSpPr>
        <p:spPr>
          <a:xfrm>
            <a:off x="777240" y="3465576"/>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3</a:t>
            </a:r>
          </a:p>
        </p:txBody>
      </p:sp>
      <p:sp>
        <p:nvSpPr>
          <p:cNvPr id="12" name="text:Your team brief is the first thing y"/>
          <p:cNvSpPr txBox="1"/>
          <p:nvPr/>
        </p:nvSpPr>
        <p:spPr>
          <a:xfrm>
            <a:off x="1371600" y="3465576"/>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Your team brief is the first thing you build.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Take it further after tonigh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Take it further after tonight.</a:t>
            </a:r>
          </a:p>
        </p:txBody>
      </p:sp>
      <p:sp>
        <p:nvSpPr>
          <p:cNvPr id="4" name="text:3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35</a:t>
            </a:r>
          </a:p>
        </p:txBody>
      </p:sp>
      <p:sp>
        <p:nvSpPr>
          <p:cNvPr id="5" name="Rounded Rectangle 4"/>
          <p:cNvSpPr/>
          <p:nvPr/>
        </p:nvSpPr>
        <p:spPr>
          <a:xfrm>
            <a:off x="548640" y="1600200"/>
            <a:ext cx="2560320" cy="2377440"/>
          </a:xfrm>
          <a:prstGeom prst="roundRect">
            <a:avLst>
              <a:gd name="adj" fmla="val 538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Change the width, the time limit and"/>
          <p:cNvSpPr txBox="1"/>
          <p:nvPr/>
        </p:nvSpPr>
        <p:spPr>
          <a:xfrm>
            <a:off x="749808" y="2286000"/>
            <a:ext cx="2194560" cy="1600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Change the width, the time limit and the floor. Write down what moves.</a:t>
            </a:r>
          </a:p>
        </p:txBody>
      </p:sp>
      <p:sp>
        <p:nvSpPr>
          <p:cNvPr id="9" name="Rounded Rectangle 8"/>
          <p:cNvSpPr/>
          <p:nvPr/>
        </p:nvSpPr>
        <p:spPr>
          <a:xfrm>
            <a:off x="3337560" y="1600200"/>
            <a:ext cx="2560320" cy="2377440"/>
          </a:xfrm>
          <a:prstGeom prst="roundRect">
            <a:avLst>
              <a:gd name="adj" fmla="val 538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Label your own decisions with labelA"/>
          <p:cNvSpPr txBox="1"/>
          <p:nvPr/>
        </p:nvSpPr>
        <p:spPr>
          <a:xfrm>
            <a:off x="3538728" y="2286000"/>
            <a:ext cx="2194560" cy="1600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Label your own decisions with labelAt, or add a feature to the gate and compare with the +/- range.</a:t>
            </a:r>
          </a:p>
        </p:txBody>
      </p:sp>
      <p:sp>
        <p:nvSpPr>
          <p:cNvPr id="13" name="Rounded Rectangle 12"/>
          <p:cNvSpPr/>
          <p:nvPr/>
        </p:nvSpPr>
        <p:spPr>
          <a:xfrm>
            <a:off x="6126479" y="1600200"/>
            <a:ext cx="2560320" cy="2377440"/>
          </a:xfrm>
          <a:prstGeom prst="roundRect">
            <a:avLst>
              <a:gd name="adj" fmla="val 538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Grade the reasons of your own LLM ag"/>
          <p:cNvSpPr txBox="1"/>
          <p:nvPr/>
        </p:nvSpPr>
        <p:spPr>
          <a:xfrm>
            <a:off x="6327647" y="2286000"/>
            <a:ext cx="2194560" cy="1600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Grade the reasons of your own LLM agent, write a purged k-fold split, or log labels to devnet.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Show the room, and the next room."/>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Show the room, and the next room.</a:t>
            </a:r>
          </a:p>
        </p:txBody>
      </p:sp>
      <p:sp>
        <p:nvSpPr>
          <p:cNvPr id="4" name="text:3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36</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Y FRI 6 NOV"/>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BY FRI 6 NOV</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Post your one-page brief in the grou"/>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Post your one-page brief in the group</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U 12 NOV"/>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12 NOV</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Bring your first task done to Build "/>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Bring your first task done to Build night 3</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HU 21 JAN"/>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21 JAN</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Teams checked again before Workshop "/>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Teams checked again before Workshop 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3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37</a:t>
            </a:r>
          </a:p>
        </p:txBody>
      </p:sp>
      <p:sp>
        <p:nvSpPr>
          <p:cNvPr id="4" name="Rounded Rectangle 3"/>
          <p:cNvSpPr/>
          <p:nvPr/>
        </p:nvSpPr>
        <p:spPr>
          <a:xfrm>
            <a:off x="548640" y="1371600"/>
            <a:ext cx="4846320" cy="1051560"/>
          </a:xfrm>
          <a:prstGeom prst="roundRect">
            <a:avLst>
              <a:gd name="adj" fmla="val 1217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73352"/>
            <a:ext cx="45262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4-labeling-trades-forming"/>
          <p:cNvSpPr txBox="1"/>
          <p:nvPr/>
        </p:nvSpPr>
        <p:spPr>
          <a:xfrm>
            <a:off x="731520" y="2011680"/>
            <a:ext cx="452628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0004-labeling-trades-forming-teams/demo</a:t>
            </a:r>
          </a:p>
        </p:txBody>
      </p:sp>
      <p:sp>
        <p:nvSpPr>
          <p:cNvPr id="8" name="Rounded Rectangle 7"/>
          <p:cNvSpPr/>
          <p:nvPr/>
        </p:nvSpPr>
        <p:spPr>
          <a:xfrm>
            <a:off x="548640" y="260604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60604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cd demo/code"/>
          <p:cNvSpPr txBox="1"/>
          <p:nvPr/>
        </p:nvSpPr>
        <p:spPr>
          <a:xfrm>
            <a:off x="1097280" y="260604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cd demo/code</a:t>
            </a:r>
          </a:p>
        </p:txBody>
      </p:sp>
      <p:sp>
        <p:nvSpPr>
          <p:cNvPr id="11" name="Rounded Rectangle 10"/>
          <p:cNvSpPr/>
          <p:nvPr/>
        </p:nvSpPr>
        <p:spPr>
          <a:xfrm>
            <a:off x="548640" y="3209544"/>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3209544"/>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install"/>
          <p:cNvSpPr txBox="1"/>
          <p:nvPr/>
        </p:nvSpPr>
        <p:spPr>
          <a:xfrm>
            <a:off x="1097280" y="3209544"/>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4" name="Rounded Rectangle 13"/>
          <p:cNvSpPr/>
          <p:nvPr/>
        </p:nvSpPr>
        <p:spPr>
          <a:xfrm>
            <a:off x="548640" y="3813048"/>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3"/>
          <p:cNvSpPr txBox="1"/>
          <p:nvPr/>
        </p:nvSpPr>
        <p:spPr>
          <a:xfrm>
            <a:off x="731520" y="3813048"/>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3</a:t>
            </a:r>
          </a:p>
        </p:txBody>
      </p:sp>
      <p:sp>
        <p:nvSpPr>
          <p:cNvPr id="16" name="text:$ npm run demo -- --recorded"/>
          <p:cNvSpPr txBox="1"/>
          <p:nvPr/>
        </p:nvSpPr>
        <p:spPr>
          <a:xfrm>
            <a:off x="1097280" y="3813048"/>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7" name="text:Reads use public mainnet data; every"/>
          <p:cNvSpPr txBox="1"/>
          <p:nvPr/>
        </p:nvSpPr>
        <p:spPr>
          <a:xfrm>
            <a:off x="548640" y="4434840"/>
            <a:ext cx="4846320" cy="2743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Reads use public mainnet data; every write is devnet only; no real funds.</a:t>
            </a:r>
          </a:p>
        </p:txBody>
      </p:sp>
      <p:sp>
        <p:nvSpPr>
          <p:cNvPr id="18" name="Rounded Rectangle 17"/>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qr-github-0004.png"/>
          <p:cNvPicPr>
            <a:picLocks noChangeAspect="1"/>
          </p:cNvPicPr>
          <p:nvPr/>
        </p:nvPicPr>
        <p:blipFill>
          <a:blip r:embed="rId3"/>
          <a:stretch>
            <a:fillRect/>
          </a:stretch>
        </p:blipFill>
        <p:spPr>
          <a:xfrm>
            <a:off x="5943600" y="1508760"/>
            <a:ext cx="2560320" cy="2560320"/>
          </a:xfrm>
          <a:prstGeom prst="rect">
            <a:avLst/>
          </a:prstGeom>
        </p:spPr>
      </p:pic>
      <p:sp>
        <p:nvSpPr>
          <p:cNvPr id="20" name="text:Scan for the repo folder"/>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the repo folder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3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38</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