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to the last build night. Next Thursday is Demo Day, so tonight is not about new features. It is about making what you already have easy to understand in three minutes, and honest about what it does not do. We run two timed rehearsals, with a fix block in between, and at the end you freeze your commit and send your demo pack to the leads. If you came to this one first, you have not missed anything you need: everything you need tonight is in the repo and the demos.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orientation. Workshop 4 last week was the scorecard and shipping, so your projects should be close to a working state. Tonight is rehearsal and freeze. Next Thursday, the eighteenth, is Demo Day. After tonight there are no speculative features: whatever works at the freeze is what you show. Readiness circle now, one line each: who is presenting, is your repo link ready, and what evidence is still missing. If you are missing a devnet link, say so now; that is the most common gap and we can fix it tonight.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The shape of the night. Fifteen minutes to get ready, twenty minutes of me talking about structure, then rehearsal one: three minutes each, then two minutes of questions from peers. After that thirty minutes to fix the weakest claim and rerun the core test. Rehearsal two, with different listeners, and test your recorded backup. Last five minutes: freeze the commit and send the pack. I will keep my part short. The time is yours.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[18:15] Three minutes is short. Here is the budget. Problem, thirty seconds. What it does, thirty-five. Live proof, seventy-five: this is the longest part on purpose, because it is the part nobody can argue with. Limit and next, forty seconds. Then two minutes of questions. The numbers on this slide are exactly what the timer in demo one uses. The rule: if any part runs more than ten seconds over, the check list fails. If a part is under half its budget, you are probably skipping something. You do not have to hit the budget to the second. You have to know where your time goes.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Parts one and two. Problem: who has it, in one sentence. Not a market, a person. My sample says: an agent that places orders will sooner or later send a bad one, too big, from a stale price, or in the wrong unit. What it does: the idea and the parts, no jargon. My sample says it reads recorded Orca swaps, cuts them into dollar bars, wakes on a change alert, proposes an order, and a risk hook says yes or no with the rule that decided. Read both aloud at normal speed and they take about fifty seconds, which fits. Your wording will differ. The shape should not: a person, a problem, the parts.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[18:24] Part three is where the pitch is won. Three things, in this order. One: a live fix, which means show one real decision end to end. In my sample the run has ten change alerts, nine orders accepted and one refused by the max-notional rule. Two: the failure test. I feed it four bad orders on purpose, a five thousand dollar order, an oracle that is three hundred seconds old, a price in cents, and a price a hundred basis points off. All four are refused, each with its own reason. Say the reasons out loud. Three: devnet evidence. Open a link, or say there is none and why. In my sample the devnet node verified my signed transaction, but the faucet was rate limited, so I have no funded transaction link. I say that plainly. That is better than a link I cannot open.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[18:28] Part four is where you earn trust. Say one limitation in your own words. Say what is untested. Say the next step in one sentence. In my sample: it is simulated on recorded data, about seventeen minutes of one afternoon; order sizes and the fee are assumptions; nothing was sent anywhere. On the right, three things not to say. No return or win rate as the headline. No capability the tests do not cover. No link you have not opened tonight. If someone asks a question you cannot answer, point to a test or admit the limit. Do not invent a capability.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[18:30] Here is how Demo Day is judged: three questions, four checks each. Utility: a named user and problem, runs from a clean checkout using only the README, one decision shown end to end, and what it does not do. Tests: npm test passes with the report attached, a test for the failure case, tests run offline on recorded data, and the report is from the frozen commit. Devnet evidence: an address or a stated reason, a transaction link that opens, a claim that matches the link, and reads labelled mainnet and writes labelled devnet. Twelve checks. Simulated returns are not on the list. If your pitch leads with a simulated profit, it scores nothing and takes time away from the part that scores.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[18:32] The single most useful rule for tonight: the same claim must be true in three places. In the pitch, in the repo, and in the running demo. Take one claim from my sample: nine of ten alerts were accepted and one was refused by max-notional. The pitch says it. The test and the out file in the repo contain it. The demo shows it, live or from the recorded copy. If any of those three disagree, a listener will find it in the questions. Tonight, for your weakest claim, find all three places and make them match.</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[18:34] A sample project for the walk-through, built only from pieces you already have. Recorded Orca swaps from build night two, cleaned and cut into dollar bars; a CUSUM change alert; one order per alert; the risk hook from build night one; accepted orders go into a ledger. On the slide: one thousand one hundred and fourteen real swaps inside the Pyth window, fifty-one dollar bars, ten alerts, nine accepted and one refused, nine ledger rows. The scorecard says plus three dollars net, simulated, on recorded data, not advice. It is there to show the idea of a ledger. It is not evidence of anything and judges do not score it. Reads are public mainnet data; every write is devnet only; no real funds.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[18:36] The core of the sample is these few lines. The alert proposes an order, with a side and a size from how far the bucket filled. The oracle gives the context: the Pyth price and how old it is. The risk hook checks the order against the context and says yes or no with the rule that decided. Notice what makes this demo-able: the input is recorded, the rule is plain code, the output is a decision with a reason. If your project has that shape, your live proof is easy. If it does not, ask what your input, your rule and your decision are.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[18:38] Live calls fail. Wi-Fi in the room is shared and public endpoints get rate limited. Plan for it. The rule, same as every demo you have used: a failed call is tried again; the third failure in a row switches to recorded data. Then you say one sentence, carry on from the same step, and do not restart. Aim to be back on track within thirty seconds of the first failure. If the whole screen fails, you narrate your backup recording. The recording is not a cheat, it is real output from your repo that you captured earlier. The drill in demo three practises exactly this.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Demo one, the rehearsal timer. Predict first: which part do you usually run over? Open it, press the space bar to start, and the space bar again to move to the next part. The bar shows budget against time used, and each part gets a status: on budget, a little over, or way over. When you finish, the check list gives a verdict: ready, not finished, or fix and rerun. Two of the nine checks come from the timer, seven from your listeners. There is a button that plays the sample script at ten times speed so you can see a passing run. Live mode adds a strip with the current Pyth price and slot, which is a number that changes while you talk. It is not part of the timer. Try it on your laptop.</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[18:43] Demo two, the judge view. Predict first: which two checks does the sample pack miss? Open it. The sample scores nine of twelve. It misses the test report from the frozen commit, because we have not frozen, and the two devnet checks that need a funded transaction. Click a check to see the score move. Press lead the pitch with a simulated number and watch: the score does not change, and the page tells you to cut it. The box on the right sends one order through the risk hook; drag the size past one thousand dollars and watch max-notional fire. Live mode uses the live Orca price and the live Pyth price in that box.</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[18:46] Demo three, the switch drill. Predict first: how many seconds from the first failed call to carrying on? In recorded mode you press make a call with the network set to broken; after three failures the source flips to recorded. The right side shows what to do and what to say at each step. The stopwatch starts at the first failure and stops when you press I said it and carried on. Budget is thirty seconds. In live mode the broken switch points your browser at a dead address, so the failures are real and the same rule fires. Practise saying the switch sentence out loud once. It is fine to read it.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[18:49] Demo four, the sample project walk-through, one decision at a time. Predict first: which alert will the risk hook refuse, and which rule fires? Step through the ten alerts with the arrows. Alert eight is the refusal: a sell of one thousand and sixty-four dollars against a one thousand dollar limit. Move the max order slider and watch the decisions change. Then press one of the four failure buttons: five thousand dollars, stale oracle, price in cents, a hundred basis points off. Each is refused with a reason. Live mode feeds live price ticks through the same change alert and the same risk hook against the live Pyth price.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[18:52] The four demos are online and in the repo. Scan the code, open them on your laptop, and use the timer for your own pitch in rehearsal one. No install is needed, they open from disk too. If the hosted copy is slow on the shared Wi-Fi, open them from the cloned repo, the lab folder. Everything defaults to recorded data so nothing breaks offline.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[18:35] This is the rehearsal block. Time: run your three minutes against the timer, with listeners. Listen: peers each note one unclear claim, only one, so the feedback is usable. Fix: take the weakest claim, find where it is true in the pitch, the repo and the demo, and fix the disagreement, then rerun the core test. Backup: play your recording with Wi-Fi off and check that you can narrate it in the time. Finish line for the block: one claim a listener can restate in a sentence. Rehearsal two, at 19:35, has different listeners.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[19:05] Between the rehearsals. Beginner: tighten the script to the budget. Cut a sentence, do not talk faster. Standard: add the missing evidence to the pack, or rehearse offline from the recording. Advanced: add a test for the failure you demo, so the refusal in your pitch is also a line in your test report. If you are not sure what to fix, open the judge view demo, fill your own checks honestly, and fix the first red one. No new features. After the freeze, nothing speculative.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Three things to take away. One: use the same evidence in the pitch, the repo and the running demo. Two: say what works, what failed and what is untested. Three: a good answer to a question points to a test or admits a limitation; it does not invent a capability. If you remember only one, make it the first: it is what makes a three-minute demo believable.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[19:56] After tonight, in your own time, before Demo Day. Beginner: time your pitch three times and trim the part that always runs long. Standard: fill your own demo pack in the rubric and fix the first missing check. Advanced: write one funded devnet transaction per decision and open the link in your pitch; use the faucet early in the week, because it rate limits. Remember the freeze: tonight's commit is what you show, so branch out on a branch, not on the frozen one.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Before you leave: freeze the commit and send the demo pack to the leads. The pack is the repo and frozen commit, your three-minute script, the recorded backup, the test report, deployment addresses, transaction links and stated limitations. Next Thursday is Demo Day: same evidence, same script. Any time: send your repo link to the leads, and tell us what is blocking you early rather than on the day.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The code for tonight is in the shared repo, folder zero zero zero nine demo rehearsal, under demo. Scan the code or use the address. npm install, then npm run demo with recorded. Node 24. No keys, no AI credits, the recorded data is bundled. The folder holds the timer and check list logic, the rubric, the drill, and the sample project, plus the four demos. The sample project is a pattern to copy: input, rule, decision with a reason.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[19:59] If you want to talk about your project, your pitch or what to build next, find me on LinkedIn or Telegram. The codes are on the slide. Thank you for working hard tonight. See you at Demo Day on the eighteenth.</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Thank you. Photos, last check-in scan, and pack up. Leads: confirm every team has sent its demo pack before they leave.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6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70.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74.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Build night 5"/>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Build night 5</a:t>
            </a:r>
          </a:p>
        </p:txBody>
      </p:sp>
      <p:sp>
        <p:nvSpPr>
          <p:cNvPr id="4" name="text:Demo Rehearsal"/>
          <p:cNvSpPr txBox="1"/>
          <p:nvPr/>
        </p:nvSpPr>
        <p:spPr>
          <a:xfrm>
            <a:off x="5257800" y="1417320"/>
            <a:ext cx="3566160" cy="10972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Demo</a:t>
            </a:r>
          </a:p>
          <a:p>
            <a:pPr>
              <a:lnSpc>
                <a:spcPct val="106000"/>
              </a:lnSpc>
              <a:spcAft>
                <a:spcPts val="400"/>
              </a:spcAft>
              <a:defRPr sz="2200" b="0">
                <a:solidFill>
                  <a:srgbClr val="F2F5F8"/>
                </a:solidFill>
                <a:latin typeface="Helvetica Neue"/>
              </a:defRPr>
            </a:pPr>
            <a:r>
              <a:t>Rehearsal</a:t>
            </a:r>
          </a:p>
        </p:txBody>
      </p:sp>
      <p:sp>
        <p:nvSpPr>
          <p:cNvPr id="5" name="text:Three minutes, four parts, a plan fo"/>
          <p:cNvSpPr txBox="1"/>
          <p:nvPr/>
        </p:nvSpPr>
        <p:spPr>
          <a:xfrm>
            <a:off x="5257800" y="2514600"/>
            <a:ext cx="3383280" cy="82296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Three minutes, four parts, a plan for when the live call fails, and the evidence a judge opens.</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11 Feb 2027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11 Feb 2027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Where we are</a:t>
            </a:r>
          </a:p>
        </p:txBody>
      </p:sp>
      <p:sp>
        <p:nvSpPr>
          <p:cNvPr id="3" name="text:One week to Demo Day. Tonight we mak"/>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week to Demo Day. Tonight we make the pitch reviewable.</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83080"/>
            <a:ext cx="2560320" cy="2331720"/>
          </a:xfrm>
          <a:prstGeom prst="roundRect">
            <a:avLst>
              <a:gd name="adj" fmla="val 54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Workshop 4"/>
          <p:cNvSpPr txBox="1"/>
          <p:nvPr/>
        </p:nvSpPr>
        <p:spPr>
          <a:xfrm>
            <a:off x="74980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4</a:t>
            </a:r>
          </a:p>
        </p:txBody>
      </p:sp>
      <p:sp>
        <p:nvSpPr>
          <p:cNvPr id="9" name="text:Thu 4 Feb"/>
          <p:cNvSpPr txBox="1"/>
          <p:nvPr/>
        </p:nvSpPr>
        <p:spPr>
          <a:xfrm>
            <a:off x="74980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Thu 4 Feb</a:t>
            </a:r>
          </a:p>
        </p:txBody>
      </p:sp>
      <p:sp>
        <p:nvSpPr>
          <p:cNvPr id="10" name="text:Performance scorecard and shipping"/>
          <p:cNvSpPr txBox="1"/>
          <p:nvPr/>
        </p:nvSpPr>
        <p:spPr>
          <a:xfrm>
            <a:off x="74980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Performance scorecard and shipping</a:t>
            </a:r>
          </a:p>
        </p:txBody>
      </p:sp>
      <p:cxnSp>
        <p:nvCxnSpPr>
          <p:cNvPr id="11" name="Connector 10"/>
          <p:cNvCxnSpPr/>
          <p:nvPr/>
        </p:nvCxnSpPr>
        <p:spPr>
          <a:xfrm>
            <a:off x="313639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60320" cy="2331720"/>
          </a:xfrm>
          <a:prstGeom prst="roundRect">
            <a:avLst>
              <a:gd name="adj" fmla="val 549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92807"/>
            <a:ext cx="879195"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NIGHT"/>
          <p:cNvSpPr txBox="1"/>
          <p:nvPr/>
        </p:nvSpPr>
        <p:spPr>
          <a:xfrm>
            <a:off x="3538728" y="1911095"/>
            <a:ext cx="879195"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TONIGHT</a:t>
            </a:r>
          </a:p>
        </p:txBody>
      </p:sp>
      <p:sp>
        <p:nvSpPr>
          <p:cNvPr id="15" name="text:Build night 5"/>
          <p:cNvSpPr txBox="1"/>
          <p:nvPr/>
        </p:nvSpPr>
        <p:spPr>
          <a:xfrm>
            <a:off x="353872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5</a:t>
            </a:r>
          </a:p>
        </p:txBody>
      </p:sp>
      <p:sp>
        <p:nvSpPr>
          <p:cNvPr id="16" name="text:Thu 11 Feb"/>
          <p:cNvSpPr txBox="1"/>
          <p:nvPr/>
        </p:nvSpPr>
        <p:spPr>
          <a:xfrm>
            <a:off x="353872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11 Feb</a:t>
            </a:r>
          </a:p>
        </p:txBody>
      </p:sp>
      <p:sp>
        <p:nvSpPr>
          <p:cNvPr id="17" name="text:Demo rehearsal and freeze"/>
          <p:cNvSpPr txBox="1"/>
          <p:nvPr/>
        </p:nvSpPr>
        <p:spPr>
          <a:xfrm>
            <a:off x="353872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Demo rehearsal and freeze</a:t>
            </a:r>
          </a:p>
        </p:txBody>
      </p:sp>
      <p:cxnSp>
        <p:nvCxnSpPr>
          <p:cNvPr id="18" name="Connector 17"/>
          <p:cNvCxnSpPr/>
          <p:nvPr/>
        </p:nvCxnSpPr>
        <p:spPr>
          <a:xfrm>
            <a:off x="592531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83080"/>
            <a:ext cx="2560320" cy="2331720"/>
          </a:xfrm>
          <a:prstGeom prst="roundRect">
            <a:avLst>
              <a:gd name="adj" fmla="val 549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92807"/>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Demo Day"/>
          <p:cNvSpPr txBox="1"/>
          <p:nvPr/>
        </p:nvSpPr>
        <p:spPr>
          <a:xfrm>
            <a:off x="632764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Demo Day</a:t>
            </a:r>
          </a:p>
        </p:txBody>
      </p:sp>
      <p:sp>
        <p:nvSpPr>
          <p:cNvPr id="23" name="text:Thu 18 Feb"/>
          <p:cNvSpPr txBox="1"/>
          <p:nvPr/>
        </p:nvSpPr>
        <p:spPr>
          <a:xfrm>
            <a:off x="632764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18 Feb</a:t>
            </a:r>
          </a:p>
        </p:txBody>
      </p:sp>
      <p:sp>
        <p:nvSpPr>
          <p:cNvPr id="24" name="text:Working projects, agent, exchange or"/>
          <p:cNvSpPr txBox="1"/>
          <p:nvPr/>
        </p:nvSpPr>
        <p:spPr>
          <a:xfrm>
            <a:off x="632764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Working projects, agent, exchange or tooling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Two timed runs, one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Two timed runs, one fix block, one freeze.</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18:00</a:t>
            </a:r>
          </a:p>
        </p:txBody>
      </p:sp>
      <p:sp>
        <p:nvSpPr>
          <p:cNvPr id="7" name="text:15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15 min</a:t>
            </a:r>
          </a:p>
        </p:txBody>
      </p:sp>
      <p:sp>
        <p:nvSpPr>
          <p:cNvPr id="8" name="text:Readiness circle"/>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Readiness circle</a:t>
            </a:r>
          </a:p>
        </p:txBody>
      </p:sp>
      <p:sp>
        <p:nvSpPr>
          <p:cNvPr id="9" name="text:presenters, links, missing evidence"/>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presenters, links, missing evidence</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5"/>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18:15</a:t>
            </a:r>
          </a:p>
        </p:txBody>
      </p:sp>
      <p:sp>
        <p:nvSpPr>
          <p:cNvPr id="12" name="text:2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13" name="text:Demo structure"/>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Demo structure</a:t>
            </a:r>
          </a:p>
        </p:txBody>
      </p:sp>
      <p:sp>
        <p:nvSpPr>
          <p:cNvPr id="14" name="text:four parts and the failure plan"/>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four parts and the failure plan</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35"/>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18:35</a:t>
            </a:r>
          </a:p>
        </p:txBody>
      </p:sp>
      <p:sp>
        <p:nvSpPr>
          <p:cNvPr id="17" name="text:30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30 min</a:t>
            </a:r>
          </a:p>
        </p:txBody>
      </p:sp>
      <p:sp>
        <p:nvSpPr>
          <p:cNvPr id="18" name="text:Rehearsal 1"/>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Rehearsal 1</a:t>
            </a:r>
          </a:p>
        </p:txBody>
      </p:sp>
      <p:sp>
        <p:nvSpPr>
          <p:cNvPr id="19" name="text:3 minutes plus 2 of questions each"/>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3 minutes plus 2 of questions each</a:t>
            </a:r>
          </a:p>
        </p:txBody>
      </p:sp>
      <p:sp>
        <p:nvSpPr>
          <p:cNvPr id="20" name="Rounded Rectangle 19"/>
          <p:cNvSpPr/>
          <p:nvPr/>
        </p:nvSpPr>
        <p:spPr>
          <a:xfrm>
            <a:off x="54864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9:05"/>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19:05</a:t>
            </a:r>
          </a:p>
        </p:txBody>
      </p:sp>
      <p:sp>
        <p:nvSpPr>
          <p:cNvPr id="22" name="text:30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30 min</a:t>
            </a:r>
          </a:p>
        </p:txBody>
      </p:sp>
      <p:sp>
        <p:nvSpPr>
          <p:cNvPr id="23" name="text:Fix the weakest claim"/>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Fix the weakest claim</a:t>
            </a:r>
          </a:p>
        </p:txBody>
      </p:sp>
      <p:sp>
        <p:nvSpPr>
          <p:cNvPr id="24" name="text:rerun the core test"/>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rerun the core test</a:t>
            </a:r>
          </a:p>
        </p:txBody>
      </p:sp>
      <p:sp>
        <p:nvSpPr>
          <p:cNvPr id="25" name="Rounded Rectangle 24"/>
          <p:cNvSpPr/>
          <p:nvPr/>
        </p:nvSpPr>
        <p:spPr>
          <a:xfrm>
            <a:off x="333756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35"/>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19:35</a:t>
            </a:r>
          </a:p>
        </p:txBody>
      </p:sp>
      <p:sp>
        <p:nvSpPr>
          <p:cNvPr id="27" name="text:20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28" name="text:Rehearsal 2"/>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Rehearsal 2</a:t>
            </a:r>
          </a:p>
        </p:txBody>
      </p:sp>
      <p:sp>
        <p:nvSpPr>
          <p:cNvPr id="29" name="text:new listeners, recorded backup"/>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new listeners, recorded backup</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5"/>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19:55</a:t>
            </a:r>
          </a:p>
        </p:txBody>
      </p:sp>
      <p:sp>
        <p:nvSpPr>
          <p:cNvPr id="32" name="text:5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 min</a:t>
            </a:r>
          </a:p>
        </p:txBody>
      </p:sp>
      <p:sp>
        <p:nvSpPr>
          <p:cNvPr id="33" name="text:Freeze and send"/>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Freeze and send</a:t>
            </a:r>
          </a:p>
        </p:txBody>
      </p:sp>
      <p:sp>
        <p:nvSpPr>
          <p:cNvPr id="34" name="text:commit, demo pack to the leads"/>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commit, demo pack to the leads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minutes, four part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minutes, four parts</a:t>
            </a:r>
          </a:p>
        </p:txBody>
      </p:sp>
      <p:sp>
        <p:nvSpPr>
          <p:cNvPr id="3" name="text:A budget for each part, then two mi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budget for each part, then two minutes of questions.</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554480"/>
            <a:ext cx="1063751" cy="1965960"/>
          </a:xfrm>
          <a:prstGeom prst="roundRect">
            <a:avLst>
              <a:gd name="adj" fmla="val 1203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oblem"/>
          <p:cNvSpPr txBox="1"/>
          <p:nvPr/>
        </p:nvSpPr>
        <p:spPr>
          <a:xfrm>
            <a:off x="676656" y="1691640"/>
            <a:ext cx="880871" cy="27432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Problem</a:t>
            </a:r>
          </a:p>
        </p:txBody>
      </p:sp>
      <p:sp>
        <p:nvSpPr>
          <p:cNvPr id="7" name="text:0:30"/>
          <p:cNvSpPr txBox="1"/>
          <p:nvPr/>
        </p:nvSpPr>
        <p:spPr>
          <a:xfrm>
            <a:off x="676656" y="2057400"/>
            <a:ext cx="880871" cy="50292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0:30</a:t>
            </a:r>
          </a:p>
        </p:txBody>
      </p:sp>
      <p:sp>
        <p:nvSpPr>
          <p:cNvPr id="8" name="text:Who has the problem, in one sentence"/>
          <p:cNvSpPr txBox="1"/>
          <p:nvPr/>
        </p:nvSpPr>
        <p:spPr>
          <a:xfrm>
            <a:off x="676656" y="2743200"/>
            <a:ext cx="826007" cy="73152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Who has the problem, in one sentence</a:t>
            </a:r>
          </a:p>
        </p:txBody>
      </p:sp>
      <p:cxnSp>
        <p:nvCxnSpPr>
          <p:cNvPr id="9" name="Connector 8"/>
          <p:cNvCxnSpPr/>
          <p:nvPr/>
        </p:nvCxnSpPr>
        <p:spPr>
          <a:xfrm>
            <a:off x="548640" y="3611880"/>
            <a:ext cx="0" cy="137159"/>
          </a:xfrm>
          <a:prstGeom prst="line">
            <a:avLst/>
          </a:prstGeom>
          <a:ln w="10160">
            <a:solidFill>
              <a:srgbClr val="3DDC97"/>
            </a:solidFill>
          </a:ln>
        </p:spPr>
        <p:style>
          <a:lnRef idx="2">
            <a:schemeClr val="accent1"/>
          </a:lnRef>
          <a:fillRef idx="0">
            <a:schemeClr val="accent1"/>
          </a:fillRef>
          <a:effectRef idx="1">
            <a:schemeClr val="accent1"/>
          </a:effectRef>
          <a:fontRef idx="minor">
            <a:schemeClr val="tx1"/>
          </a:fontRef>
        </p:style>
      </p:cxnSp>
      <p:sp>
        <p:nvSpPr>
          <p:cNvPr id="10" name="text:0:00"/>
          <p:cNvSpPr txBox="1"/>
          <p:nvPr/>
        </p:nvSpPr>
        <p:spPr>
          <a:xfrm>
            <a:off x="365759" y="3767328"/>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0:00</a:t>
            </a:r>
          </a:p>
        </p:txBody>
      </p:sp>
      <p:sp>
        <p:nvSpPr>
          <p:cNvPr id="11" name="Rounded Rectangle 10"/>
          <p:cNvSpPr/>
          <p:nvPr/>
        </p:nvSpPr>
        <p:spPr>
          <a:xfrm>
            <a:off x="1685544" y="1554480"/>
            <a:ext cx="1241044" cy="1965960"/>
          </a:xfrm>
          <a:prstGeom prst="roundRect">
            <a:avLst>
              <a:gd name="adj" fmla="val 10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What it does"/>
          <p:cNvSpPr txBox="1"/>
          <p:nvPr/>
        </p:nvSpPr>
        <p:spPr>
          <a:xfrm>
            <a:off x="1813560" y="1691640"/>
            <a:ext cx="1058164" cy="27432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What it does</a:t>
            </a:r>
          </a:p>
        </p:txBody>
      </p:sp>
      <p:sp>
        <p:nvSpPr>
          <p:cNvPr id="13" name="text:0:35"/>
          <p:cNvSpPr txBox="1"/>
          <p:nvPr/>
        </p:nvSpPr>
        <p:spPr>
          <a:xfrm>
            <a:off x="1813560" y="2057400"/>
            <a:ext cx="1058164" cy="50292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0:35</a:t>
            </a:r>
          </a:p>
        </p:txBody>
      </p:sp>
      <p:sp>
        <p:nvSpPr>
          <p:cNvPr id="14" name="text:The idea and the parts, no jargon"/>
          <p:cNvSpPr txBox="1"/>
          <p:nvPr/>
        </p:nvSpPr>
        <p:spPr>
          <a:xfrm>
            <a:off x="1813560" y="2743200"/>
            <a:ext cx="1003299" cy="73152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The idea and the parts, no jargon</a:t>
            </a:r>
          </a:p>
        </p:txBody>
      </p:sp>
      <p:cxnSp>
        <p:nvCxnSpPr>
          <p:cNvPr id="15" name="Connector 14"/>
          <p:cNvCxnSpPr/>
          <p:nvPr/>
        </p:nvCxnSpPr>
        <p:spPr>
          <a:xfrm>
            <a:off x="1685544" y="3611880"/>
            <a:ext cx="0" cy="137159"/>
          </a:xfrm>
          <a:prstGeom prst="line">
            <a:avLst/>
          </a:prstGeom>
          <a:ln w="10160">
            <a:solidFill>
              <a:srgbClr val="3DDC97"/>
            </a:solidFill>
          </a:ln>
        </p:spPr>
        <p:style>
          <a:lnRef idx="2">
            <a:schemeClr val="accent1"/>
          </a:lnRef>
          <a:fillRef idx="0">
            <a:schemeClr val="accent1"/>
          </a:fillRef>
          <a:effectRef idx="1">
            <a:schemeClr val="accent1"/>
          </a:effectRef>
          <a:fontRef idx="minor">
            <a:schemeClr val="tx1"/>
          </a:fontRef>
        </p:style>
      </p:cxnSp>
      <p:sp>
        <p:nvSpPr>
          <p:cNvPr id="16" name="text:0:30"/>
          <p:cNvSpPr txBox="1"/>
          <p:nvPr/>
        </p:nvSpPr>
        <p:spPr>
          <a:xfrm>
            <a:off x="1502664" y="3767328"/>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0:30</a:t>
            </a:r>
          </a:p>
        </p:txBody>
      </p:sp>
      <p:sp>
        <p:nvSpPr>
          <p:cNvPr id="17" name="Rounded Rectangle 16"/>
          <p:cNvSpPr/>
          <p:nvPr/>
        </p:nvSpPr>
        <p:spPr>
          <a:xfrm>
            <a:off x="2999740" y="1554480"/>
            <a:ext cx="2659379" cy="1965960"/>
          </a:xfrm>
          <a:prstGeom prst="roundRect">
            <a:avLst>
              <a:gd name="adj" fmla="val 6511"/>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Live proof"/>
          <p:cNvSpPr txBox="1"/>
          <p:nvPr/>
        </p:nvSpPr>
        <p:spPr>
          <a:xfrm>
            <a:off x="3127756" y="1691640"/>
            <a:ext cx="2476499" cy="27432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Live proof</a:t>
            </a:r>
          </a:p>
        </p:txBody>
      </p:sp>
      <p:sp>
        <p:nvSpPr>
          <p:cNvPr id="19" name="text:1:15"/>
          <p:cNvSpPr txBox="1"/>
          <p:nvPr/>
        </p:nvSpPr>
        <p:spPr>
          <a:xfrm>
            <a:off x="3127756" y="2057400"/>
            <a:ext cx="2476499" cy="50292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1:15</a:t>
            </a:r>
          </a:p>
        </p:txBody>
      </p:sp>
      <p:sp>
        <p:nvSpPr>
          <p:cNvPr id="20" name="text:Live fix, failure test, devnet evide"/>
          <p:cNvSpPr txBox="1"/>
          <p:nvPr/>
        </p:nvSpPr>
        <p:spPr>
          <a:xfrm>
            <a:off x="3127756" y="2743200"/>
            <a:ext cx="2421635" cy="73152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Live fix, failure test, devnet evidence</a:t>
            </a:r>
          </a:p>
        </p:txBody>
      </p:sp>
      <p:cxnSp>
        <p:nvCxnSpPr>
          <p:cNvPr id="21" name="Connector 20"/>
          <p:cNvCxnSpPr/>
          <p:nvPr/>
        </p:nvCxnSpPr>
        <p:spPr>
          <a:xfrm>
            <a:off x="2999740" y="3611880"/>
            <a:ext cx="0" cy="137159"/>
          </a:xfrm>
          <a:prstGeom prst="line">
            <a:avLst/>
          </a:prstGeom>
          <a:ln w="10160">
            <a:solidFill>
              <a:srgbClr val="3DDC97"/>
            </a:solidFill>
          </a:ln>
        </p:spPr>
        <p:style>
          <a:lnRef idx="2">
            <a:schemeClr val="accent1"/>
          </a:lnRef>
          <a:fillRef idx="0">
            <a:schemeClr val="accent1"/>
          </a:fillRef>
          <a:effectRef idx="1">
            <a:schemeClr val="accent1"/>
          </a:effectRef>
          <a:fontRef idx="minor">
            <a:schemeClr val="tx1"/>
          </a:fontRef>
        </p:style>
      </p:cxnSp>
      <p:sp>
        <p:nvSpPr>
          <p:cNvPr id="22" name="text:1:05"/>
          <p:cNvSpPr txBox="1"/>
          <p:nvPr/>
        </p:nvSpPr>
        <p:spPr>
          <a:xfrm>
            <a:off x="2816859" y="3767328"/>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1:05</a:t>
            </a:r>
          </a:p>
        </p:txBody>
      </p:sp>
      <p:sp>
        <p:nvSpPr>
          <p:cNvPr id="23" name="Rounded Rectangle 22"/>
          <p:cNvSpPr/>
          <p:nvPr/>
        </p:nvSpPr>
        <p:spPr>
          <a:xfrm>
            <a:off x="5732271" y="1554480"/>
            <a:ext cx="1418335" cy="1965960"/>
          </a:xfrm>
          <a:prstGeom prst="roundRect">
            <a:avLst>
              <a:gd name="adj" fmla="val 90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Limit and next"/>
          <p:cNvSpPr txBox="1"/>
          <p:nvPr/>
        </p:nvSpPr>
        <p:spPr>
          <a:xfrm>
            <a:off x="5860287" y="1691640"/>
            <a:ext cx="1235455" cy="27432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Limit and next</a:t>
            </a:r>
          </a:p>
        </p:txBody>
      </p:sp>
      <p:sp>
        <p:nvSpPr>
          <p:cNvPr id="25" name="text:0:40"/>
          <p:cNvSpPr txBox="1"/>
          <p:nvPr/>
        </p:nvSpPr>
        <p:spPr>
          <a:xfrm>
            <a:off x="5860287" y="2057400"/>
            <a:ext cx="1235455" cy="50292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0:40</a:t>
            </a:r>
          </a:p>
        </p:txBody>
      </p:sp>
      <p:sp>
        <p:nvSpPr>
          <p:cNvPr id="26" name="text:One limitation, what is untested, wh"/>
          <p:cNvSpPr txBox="1"/>
          <p:nvPr/>
        </p:nvSpPr>
        <p:spPr>
          <a:xfrm>
            <a:off x="5860287" y="2743200"/>
            <a:ext cx="1180591" cy="73152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One limitation, what is untested, what comes next</a:t>
            </a:r>
          </a:p>
        </p:txBody>
      </p:sp>
      <p:cxnSp>
        <p:nvCxnSpPr>
          <p:cNvPr id="27" name="Connector 26"/>
          <p:cNvCxnSpPr/>
          <p:nvPr/>
        </p:nvCxnSpPr>
        <p:spPr>
          <a:xfrm>
            <a:off x="5732271" y="3611880"/>
            <a:ext cx="0" cy="137159"/>
          </a:xfrm>
          <a:prstGeom prst="line">
            <a:avLst/>
          </a:prstGeom>
          <a:ln w="10160">
            <a:solidFill>
              <a:srgbClr val="3DDC97"/>
            </a:solidFill>
          </a:ln>
        </p:spPr>
        <p:style>
          <a:lnRef idx="2">
            <a:schemeClr val="accent1"/>
          </a:lnRef>
          <a:fillRef idx="0">
            <a:schemeClr val="accent1"/>
          </a:fillRef>
          <a:effectRef idx="1">
            <a:schemeClr val="accent1"/>
          </a:effectRef>
          <a:fontRef idx="minor">
            <a:schemeClr val="tx1"/>
          </a:fontRef>
        </p:style>
      </p:cxnSp>
      <p:sp>
        <p:nvSpPr>
          <p:cNvPr id="28" name="text:2:20"/>
          <p:cNvSpPr txBox="1"/>
          <p:nvPr/>
        </p:nvSpPr>
        <p:spPr>
          <a:xfrm>
            <a:off x="5549391" y="3767328"/>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2:20</a:t>
            </a:r>
          </a:p>
        </p:txBody>
      </p:sp>
      <p:cxnSp>
        <p:nvCxnSpPr>
          <p:cNvPr id="29" name="Connector 28"/>
          <p:cNvCxnSpPr/>
          <p:nvPr/>
        </p:nvCxnSpPr>
        <p:spPr>
          <a:xfrm>
            <a:off x="7150607" y="3611880"/>
            <a:ext cx="0" cy="137159"/>
          </a:xfrm>
          <a:prstGeom prst="line">
            <a:avLst/>
          </a:prstGeom>
          <a:ln w="10160">
            <a:solidFill>
              <a:srgbClr val="3DDC97"/>
            </a:solidFill>
          </a:ln>
        </p:spPr>
        <p:style>
          <a:lnRef idx="2">
            <a:schemeClr val="accent1"/>
          </a:lnRef>
          <a:fillRef idx="0">
            <a:schemeClr val="accent1"/>
          </a:fillRef>
          <a:effectRef idx="1">
            <a:schemeClr val="accent1"/>
          </a:effectRef>
          <a:fontRef idx="minor">
            <a:schemeClr val="tx1"/>
          </a:fontRef>
        </p:style>
      </p:cxnSp>
      <p:sp>
        <p:nvSpPr>
          <p:cNvPr id="30" name="text:3:00"/>
          <p:cNvSpPr txBox="1"/>
          <p:nvPr/>
        </p:nvSpPr>
        <p:spPr>
          <a:xfrm>
            <a:off x="6967727" y="3767328"/>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3:00</a:t>
            </a:r>
          </a:p>
        </p:txBody>
      </p:sp>
      <p:cxnSp>
        <p:nvCxnSpPr>
          <p:cNvPr id="31" name="Connector 30"/>
          <p:cNvCxnSpPr/>
          <p:nvPr/>
        </p:nvCxnSpPr>
        <p:spPr>
          <a:xfrm>
            <a:off x="548640" y="3675887"/>
            <a:ext cx="6601967"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23759" y="1554480"/>
            <a:ext cx="1417320" cy="1965960"/>
          </a:xfrm>
          <a:prstGeom prst="roundRect">
            <a:avLst>
              <a:gd name="adj" fmla="val 9032"/>
            </a:avLst>
          </a:prstGeom>
          <a:noFill/>
          <a:ln w="10160">
            <a:solidFill>
              <a:srgbClr val="3DDC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THEN"/>
          <p:cNvSpPr txBox="1"/>
          <p:nvPr/>
        </p:nvSpPr>
        <p:spPr>
          <a:xfrm>
            <a:off x="7351775" y="1691640"/>
            <a:ext cx="1188720" cy="274320"/>
          </a:xfrm>
          <a:prstGeom prst="rect">
            <a:avLst/>
          </a:prstGeom>
          <a:noFill/>
        </p:spPr>
        <p:txBody>
          <a:bodyPr wrap="square" lIns="9144" rIns="9144" tIns="0" bIns="0">
            <a:spAutoFit/>
          </a:bodyPr>
          <a:lstStyle/>
          <a:p>
            <a:pPr>
              <a:lnSpc>
                <a:spcPct val="106000"/>
              </a:lnSpc>
              <a:spcAft>
                <a:spcPts val="400"/>
              </a:spcAft>
              <a:defRPr sz="1150" b="0">
                <a:solidFill>
                  <a:srgbClr val="3DDC97"/>
                </a:solidFill>
                <a:latin typeface="Helvetica Neue"/>
              </a:defRPr>
            </a:pPr>
            <a:r>
              <a:t>THEN</a:t>
            </a:r>
          </a:p>
        </p:txBody>
      </p:sp>
      <p:sp>
        <p:nvSpPr>
          <p:cNvPr id="34" name="text:2:00"/>
          <p:cNvSpPr txBox="1"/>
          <p:nvPr/>
        </p:nvSpPr>
        <p:spPr>
          <a:xfrm>
            <a:off x="7351775" y="2057400"/>
            <a:ext cx="1188720" cy="50292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2:00</a:t>
            </a:r>
          </a:p>
        </p:txBody>
      </p:sp>
      <p:sp>
        <p:nvSpPr>
          <p:cNvPr id="35" name="text:Peer questions. A good answer points"/>
          <p:cNvSpPr txBox="1"/>
          <p:nvPr/>
        </p:nvSpPr>
        <p:spPr>
          <a:xfrm>
            <a:off x="7351775" y="2743200"/>
            <a:ext cx="1188720" cy="73152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Peer questions. A good answer points to a test or admits a limit.</a:t>
            </a:r>
          </a:p>
        </p:txBody>
      </p:sp>
      <p:sp>
        <p:nvSpPr>
          <p:cNvPr id="36" name="text:Run over by more than 10 seconds in "/>
          <p:cNvSpPr txBox="1"/>
          <p:nvPr/>
        </p:nvSpPr>
        <p:spPr>
          <a:xfrm>
            <a:off x="548640" y="4114800"/>
            <a:ext cx="8092440" cy="45720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Run over by more than 10 seconds in any part and the check list fails. Rushed under half and you are skipping something.</a:t>
            </a:r>
          </a:p>
        </p:txBody>
      </p:sp>
      <p:sp>
        <p:nvSpPr>
          <p:cNvPr id="37" name="text:Source: demo-repo/code/out/pitch.js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demo-repo/code/out/pitch.json (budgets from code/src/timer.ts).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art 1 and 2: problem, then what it "/>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Part 1 and 2: problem, then what it does</a:t>
            </a:r>
          </a:p>
        </p:txBody>
      </p:sp>
      <p:sp>
        <p:nvSpPr>
          <p:cNvPr id="3" name="text:About a minute together. No jargo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About a minute together. No jargon, one sentence each.</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1463040"/>
            <a:ext cx="3977639" cy="2514600"/>
          </a:xfrm>
          <a:prstGeom prst="roundRect">
            <a:avLst>
              <a:gd name="adj" fmla="val 509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ART 1: PROBLEM"/>
          <p:cNvSpPr txBox="1"/>
          <p:nvPr/>
        </p:nvSpPr>
        <p:spPr>
          <a:xfrm>
            <a:off x="731520" y="1600200"/>
            <a:ext cx="3566160" cy="201168"/>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PART 1: PROBLEM</a:t>
            </a:r>
          </a:p>
        </p:txBody>
      </p:sp>
      <p:sp>
        <p:nvSpPr>
          <p:cNvPr id="7" name="text:“An agent that can place orders will"/>
          <p:cNvSpPr txBox="1"/>
          <p:nvPr/>
        </p:nvSpPr>
        <p:spPr>
          <a:xfrm>
            <a:off x="731520" y="1874519"/>
            <a:ext cx="3611880" cy="169164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“An agent that can place orders will sooner or later send a bad one: too big, based on a stale price, or in the wrong unit. Anyone building an agent on Solana needs a plain check between the idea and the action. Without it, one wrong number moves real money.”</a:t>
            </a:r>
          </a:p>
        </p:txBody>
      </p:sp>
      <p:sp>
        <p:nvSpPr>
          <p:cNvPr id="8" name="Rounded Rectangle 7"/>
          <p:cNvSpPr/>
          <p:nvPr/>
        </p:nvSpPr>
        <p:spPr>
          <a:xfrm>
            <a:off x="731520" y="3611880"/>
            <a:ext cx="2377440" cy="237744"/>
          </a:xfrm>
          <a:prstGeom prst="roundRect">
            <a:avLst>
              <a:gd name="adj" fmla="val 4615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50 words, about 23 s of 30 s"/>
          <p:cNvSpPr txBox="1"/>
          <p:nvPr/>
        </p:nvSpPr>
        <p:spPr>
          <a:xfrm>
            <a:off x="731520" y="3630168"/>
            <a:ext cx="2377440" cy="219456"/>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50 words, about 23 s of 30 s</a:t>
            </a:r>
          </a:p>
        </p:txBody>
      </p:sp>
      <p:sp>
        <p:nvSpPr>
          <p:cNvPr id="10" name="Rounded Rectangle 9"/>
          <p:cNvSpPr/>
          <p:nvPr/>
        </p:nvSpPr>
        <p:spPr>
          <a:xfrm>
            <a:off x="4663440" y="1463040"/>
            <a:ext cx="3977639" cy="2514600"/>
          </a:xfrm>
          <a:prstGeom prst="roundRect">
            <a:avLst>
              <a:gd name="adj" fmla="val 50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PART 2: WHAT IT DOES"/>
          <p:cNvSpPr txBox="1"/>
          <p:nvPr/>
        </p:nvSpPr>
        <p:spPr>
          <a:xfrm>
            <a:off x="4846320" y="1600200"/>
            <a:ext cx="3566160" cy="201168"/>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PART 2: WHAT IT DOES</a:t>
            </a:r>
          </a:p>
        </p:txBody>
      </p:sp>
      <p:sp>
        <p:nvSpPr>
          <p:cNvPr id="12" name="text:“This is a small agent. It reads rec"/>
          <p:cNvSpPr txBox="1"/>
          <p:nvPr/>
        </p:nvSpPr>
        <p:spPr>
          <a:xfrm>
            <a:off x="4846320" y="1874519"/>
            <a:ext cx="3611880" cy="169164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“This is a small agent. It reads recorded Orca SOL/USDC swaps, cuts them into 20,000 dollar bars, wakes on an 8 basis point change alert and proposes one order per alert. A risk hook checks each order against the Pyth oracle and answers yes or no, with the rule that decided. Accepted orders go into a ledger.”</a:t>
            </a:r>
          </a:p>
        </p:txBody>
      </p:sp>
      <p:sp>
        <p:nvSpPr>
          <p:cNvPr id="13" name="Rounded Rectangle 12"/>
          <p:cNvSpPr/>
          <p:nvPr/>
        </p:nvSpPr>
        <p:spPr>
          <a:xfrm>
            <a:off x="4846320" y="3611880"/>
            <a:ext cx="2377440" cy="237744"/>
          </a:xfrm>
          <a:prstGeom prst="roundRect">
            <a:avLst>
              <a:gd name="adj" fmla="val 4615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57 words, about 26 s of 35 s"/>
          <p:cNvSpPr txBox="1"/>
          <p:nvPr/>
        </p:nvSpPr>
        <p:spPr>
          <a:xfrm>
            <a:off x="4846320" y="3630168"/>
            <a:ext cx="2377440" cy="219456"/>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57 words, about 26 s of 35 s</a:t>
            </a:r>
          </a:p>
        </p:txBody>
      </p:sp>
      <p:sp>
        <p:nvSpPr>
          <p:cNvPr id="15" name="text:Read from the sample script for the "/>
          <p:cNvSpPr txBox="1"/>
          <p:nvPr/>
        </p:nvSpPr>
        <p:spPr>
          <a:xfrm>
            <a:off x="548640" y="4114800"/>
            <a:ext cx="8092440" cy="41148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Read from the sample script for the risk-hooked agent. Yours will differ; the shape should not.</a:t>
            </a:r>
          </a:p>
        </p:txBody>
      </p:sp>
      <p:sp>
        <p:nvSpPr>
          <p:cNvPr id="16" name="text:Source: demo-repo/code/out/pitch.js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demo-repo/code/out/pitch.json (sample script, written from out/walkthrough.json).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art 3: live proo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Part 3: live proof</a:t>
            </a:r>
          </a:p>
        </p:txBody>
      </p:sp>
      <p:sp>
        <p:nvSpPr>
          <p:cNvPr id="3" name="text:Seventy-five seconds. Show it worki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Seventy-five seconds. Show it working, show it refused, show where it lives.</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48640" y="1463040"/>
            <a:ext cx="2606040" cy="2743200"/>
          </a:xfrm>
          <a:prstGeom prst="roundRect">
            <a:avLst>
              <a:gd name="adj" fmla="val 4912"/>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LIVE FIX"/>
          <p:cNvSpPr txBox="1"/>
          <p:nvPr/>
        </p:nvSpPr>
        <p:spPr>
          <a:xfrm>
            <a:off x="731520" y="1600200"/>
            <a:ext cx="2286000" cy="182880"/>
          </a:xfrm>
          <a:prstGeom prst="rect">
            <a:avLst/>
          </a:prstGeom>
          <a:noFill/>
        </p:spPr>
        <p:txBody>
          <a:bodyPr wrap="square" lIns="9144" rIns="9144" tIns="0" bIns="0">
            <a:spAutoFit/>
          </a:bodyPr>
          <a:lstStyle/>
          <a:p>
            <a:pPr>
              <a:lnSpc>
                <a:spcPct val="106000"/>
              </a:lnSpc>
              <a:spcAft>
                <a:spcPts val="400"/>
              </a:spcAft>
              <a:defRPr sz="950" b="0">
                <a:solidFill>
                  <a:srgbClr val="B3A5FF"/>
                </a:solidFill>
                <a:latin typeface="Helvetica Neue"/>
              </a:defRPr>
            </a:pPr>
            <a:r>
              <a:t>LIVE FIX</a:t>
            </a:r>
          </a:p>
        </p:txBody>
      </p:sp>
      <p:sp>
        <p:nvSpPr>
          <p:cNvPr id="7" name="text:One real decision"/>
          <p:cNvSpPr txBox="1"/>
          <p:nvPr/>
        </p:nvSpPr>
        <p:spPr>
          <a:xfrm>
            <a:off x="731520" y="1828800"/>
            <a:ext cx="22860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One real decision</a:t>
            </a:r>
          </a:p>
        </p:txBody>
      </p:sp>
      <p:sp>
        <p:nvSpPr>
          <p:cNvPr id="8" name="Rounded Rectangle 7"/>
          <p:cNvSpPr/>
          <p:nvPr/>
        </p:nvSpPr>
        <p:spPr>
          <a:xfrm>
            <a:off x="3291840" y="1463040"/>
            <a:ext cx="2606040" cy="2743200"/>
          </a:xfrm>
          <a:prstGeom prst="roundRect">
            <a:avLst>
              <a:gd name="adj" fmla="val 4912"/>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FAILURE TEST"/>
          <p:cNvSpPr txBox="1"/>
          <p:nvPr/>
        </p:nvSpPr>
        <p:spPr>
          <a:xfrm>
            <a:off x="3474720" y="1600200"/>
            <a:ext cx="228600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FAILURE TEST</a:t>
            </a:r>
          </a:p>
        </p:txBody>
      </p:sp>
      <p:sp>
        <p:nvSpPr>
          <p:cNvPr id="10" name="text:Bad orders, refused"/>
          <p:cNvSpPr txBox="1"/>
          <p:nvPr/>
        </p:nvSpPr>
        <p:spPr>
          <a:xfrm>
            <a:off x="3474720" y="1828800"/>
            <a:ext cx="22860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Bad orders, refused</a:t>
            </a:r>
          </a:p>
        </p:txBody>
      </p:sp>
      <p:sp>
        <p:nvSpPr>
          <p:cNvPr id="11" name="Rounded Rectangle 10"/>
          <p:cNvSpPr/>
          <p:nvPr/>
        </p:nvSpPr>
        <p:spPr>
          <a:xfrm>
            <a:off x="6035040" y="1463040"/>
            <a:ext cx="2606040" cy="2743200"/>
          </a:xfrm>
          <a:prstGeom prst="roundRect">
            <a:avLst>
              <a:gd name="adj" fmla="val 4912"/>
            </a:avLst>
          </a:prstGeom>
          <a:noFill/>
          <a:ln w="1270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DEVNET EVIDENCE"/>
          <p:cNvSpPr txBox="1"/>
          <p:nvPr/>
        </p:nvSpPr>
        <p:spPr>
          <a:xfrm>
            <a:off x="6217920" y="1600200"/>
            <a:ext cx="2286000" cy="18288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Helvetica Neue"/>
              </a:defRPr>
            </a:pPr>
            <a:r>
              <a:t>DEVNET EVIDENCE</a:t>
            </a:r>
          </a:p>
        </p:txBody>
      </p:sp>
      <p:sp>
        <p:nvSpPr>
          <p:cNvPr id="13" name="text:A link, or why none"/>
          <p:cNvSpPr txBox="1"/>
          <p:nvPr/>
        </p:nvSpPr>
        <p:spPr>
          <a:xfrm>
            <a:off x="6217920" y="1828800"/>
            <a:ext cx="22860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link, or why none</a:t>
            </a:r>
          </a:p>
        </p:txBody>
      </p:sp>
      <p:sp>
        <p:nvSpPr>
          <p:cNvPr id="14" name="text:9 / 1"/>
          <p:cNvSpPr txBox="1"/>
          <p:nvPr/>
        </p:nvSpPr>
        <p:spPr>
          <a:xfrm>
            <a:off x="731520" y="2240280"/>
            <a:ext cx="2194560" cy="548640"/>
          </a:xfrm>
          <a:prstGeom prst="rect">
            <a:avLst/>
          </a:prstGeom>
          <a:noFill/>
        </p:spPr>
        <p:txBody>
          <a:bodyPr wrap="square" lIns="9144" rIns="9144" tIns="0" bIns="0">
            <a:spAutoFit/>
          </a:bodyPr>
          <a:lstStyle/>
          <a:p>
            <a:pPr>
              <a:lnSpc>
                <a:spcPct val="106000"/>
              </a:lnSpc>
              <a:spcAft>
                <a:spcPts val="400"/>
              </a:spcAft>
              <a:defRPr sz="3000" b="0">
                <a:solidFill>
                  <a:srgbClr val="3DDC97"/>
                </a:solidFill>
                <a:latin typeface="Helvetica Neue"/>
              </a:defRPr>
            </a:pPr>
            <a:r>
              <a:t>9 / 1</a:t>
            </a:r>
          </a:p>
        </p:txBody>
      </p:sp>
      <p:sp>
        <p:nvSpPr>
          <p:cNvPr id="15" name="text:accepted / refused of 10 change aler"/>
          <p:cNvSpPr txBox="1"/>
          <p:nvPr/>
        </p:nvSpPr>
        <p:spPr>
          <a:xfrm>
            <a:off x="731520" y="2834640"/>
            <a:ext cx="228600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accepted / refused of 10 change alerts (1 max-notional)</a:t>
            </a:r>
          </a:p>
        </p:txBody>
      </p:sp>
      <p:sp>
        <p:nvSpPr>
          <p:cNvPr id="16" name="text:Alert 8: sell 1,064 USD"/>
          <p:cNvSpPr txBox="1"/>
          <p:nvPr/>
        </p:nvSpPr>
        <p:spPr>
          <a:xfrm>
            <a:off x="731520" y="3429000"/>
            <a:ext cx="2286000" cy="201168"/>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Alert 8: sell 1,064 USD</a:t>
            </a:r>
          </a:p>
        </p:txBody>
      </p:sp>
      <p:sp>
        <p:nvSpPr>
          <p:cNvPr id="17" name="text:[max-notional] limit 1,000 USD"/>
          <p:cNvSpPr txBox="1"/>
          <p:nvPr/>
        </p:nvSpPr>
        <p:spPr>
          <a:xfrm>
            <a:off x="731520" y="3657600"/>
            <a:ext cx="2286000" cy="201168"/>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Menlo"/>
              </a:defRPr>
            </a:pPr>
            <a:r>
              <a:t>[max-notional] limit 1,000 USD</a:t>
            </a:r>
          </a:p>
        </p:txBody>
      </p:sp>
      <p:sp>
        <p:nvSpPr>
          <p:cNvPr id="18" name="Oval 17"/>
          <p:cNvSpPr/>
          <p:nvPr/>
        </p:nvSpPr>
        <p:spPr>
          <a:xfrm>
            <a:off x="3474720" y="2322576"/>
            <a:ext cx="91440" cy="91440"/>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5,000 USD order"/>
          <p:cNvSpPr txBox="1"/>
          <p:nvPr/>
        </p:nvSpPr>
        <p:spPr>
          <a:xfrm>
            <a:off x="3675888" y="2267712"/>
            <a:ext cx="21031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5,000 USD order</a:t>
            </a:r>
          </a:p>
        </p:txBody>
      </p:sp>
      <p:sp>
        <p:nvSpPr>
          <p:cNvPr id="20" name="text:REJECT max-notional"/>
          <p:cNvSpPr txBox="1"/>
          <p:nvPr/>
        </p:nvSpPr>
        <p:spPr>
          <a:xfrm>
            <a:off x="3675888" y="2468880"/>
            <a:ext cx="210312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Menlo"/>
              </a:defRPr>
            </a:pPr>
            <a:r>
              <a:t>REJECT max-notional</a:t>
            </a:r>
          </a:p>
        </p:txBody>
      </p:sp>
      <p:sp>
        <p:nvSpPr>
          <p:cNvPr id="21" name="Oval 20"/>
          <p:cNvSpPr/>
          <p:nvPr/>
        </p:nvSpPr>
        <p:spPr>
          <a:xfrm>
            <a:off x="3474720" y="2779776"/>
            <a:ext cx="91440" cy="91440"/>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oracle 300 s old"/>
          <p:cNvSpPr txBox="1"/>
          <p:nvPr/>
        </p:nvSpPr>
        <p:spPr>
          <a:xfrm>
            <a:off x="3675888" y="2724912"/>
            <a:ext cx="21031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oracle 300 s old</a:t>
            </a:r>
          </a:p>
        </p:txBody>
      </p:sp>
      <p:sp>
        <p:nvSpPr>
          <p:cNvPr id="23" name="text:REJECT max-oracle-age"/>
          <p:cNvSpPr txBox="1"/>
          <p:nvPr/>
        </p:nvSpPr>
        <p:spPr>
          <a:xfrm>
            <a:off x="3675888" y="2926080"/>
            <a:ext cx="210312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Menlo"/>
              </a:defRPr>
            </a:pPr>
            <a:r>
              <a:t>REJECT max-oracle-age</a:t>
            </a:r>
          </a:p>
        </p:txBody>
      </p:sp>
      <p:sp>
        <p:nvSpPr>
          <p:cNvPr id="24" name="Oval 23"/>
          <p:cNvSpPr/>
          <p:nvPr/>
        </p:nvSpPr>
        <p:spPr>
          <a:xfrm>
            <a:off x="3474720" y="3236976"/>
            <a:ext cx="91440" cy="91440"/>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price in cents"/>
          <p:cNvSpPr txBox="1"/>
          <p:nvPr/>
        </p:nvSpPr>
        <p:spPr>
          <a:xfrm>
            <a:off x="3675888" y="3182112"/>
            <a:ext cx="21031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price in cents</a:t>
            </a:r>
          </a:p>
        </p:txBody>
      </p:sp>
      <p:sp>
        <p:nvSpPr>
          <p:cNvPr id="26" name="text:REJECT unit-sanity"/>
          <p:cNvSpPr txBox="1"/>
          <p:nvPr/>
        </p:nvSpPr>
        <p:spPr>
          <a:xfrm>
            <a:off x="3675888" y="3383280"/>
            <a:ext cx="210312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Menlo"/>
              </a:defRPr>
            </a:pPr>
            <a:r>
              <a:t>REJECT unit-sanity</a:t>
            </a:r>
          </a:p>
        </p:txBody>
      </p:sp>
      <p:sp>
        <p:nvSpPr>
          <p:cNvPr id="27" name="Oval 26"/>
          <p:cNvSpPr/>
          <p:nvPr/>
        </p:nvSpPr>
        <p:spPr>
          <a:xfrm>
            <a:off x="3474720" y="3694176"/>
            <a:ext cx="91440" cy="91440"/>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100 bps off the oracle"/>
          <p:cNvSpPr txBox="1"/>
          <p:nvPr/>
        </p:nvSpPr>
        <p:spPr>
          <a:xfrm>
            <a:off x="3675888" y="3639312"/>
            <a:ext cx="21031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100 bps off the oracle</a:t>
            </a:r>
          </a:p>
        </p:txBody>
      </p:sp>
      <p:sp>
        <p:nvSpPr>
          <p:cNvPr id="29" name="text:REJECT max-oracle-gap"/>
          <p:cNvSpPr txBox="1"/>
          <p:nvPr/>
        </p:nvSpPr>
        <p:spPr>
          <a:xfrm>
            <a:off x="3675888" y="3840480"/>
            <a:ext cx="210312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Menlo"/>
              </a:defRPr>
            </a:pPr>
            <a:r>
              <a:t>REJECT max-oracle-gap</a:t>
            </a:r>
          </a:p>
        </p:txBody>
      </p:sp>
      <p:sp>
        <p:nvSpPr>
          <p:cNvPr id="30" name="text:Injected on purpose; all four refuse"/>
          <p:cNvSpPr txBox="1"/>
          <p:nvPr/>
        </p:nvSpPr>
        <p:spPr>
          <a:xfrm>
            <a:off x="3474720" y="3977639"/>
            <a:ext cx="22860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Injected on purpose; all four refused.</a:t>
            </a:r>
          </a:p>
        </p:txBody>
      </p:sp>
      <p:sp>
        <p:nvSpPr>
          <p:cNvPr id="31" name="text:Signed memo tx"/>
          <p:cNvSpPr txBox="1"/>
          <p:nvPr/>
        </p:nvSpPr>
        <p:spPr>
          <a:xfrm>
            <a:off x="6217920" y="2194560"/>
            <a:ext cx="228600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Signed memo tx</a:t>
            </a:r>
          </a:p>
        </p:txBody>
      </p:sp>
      <p:sp>
        <p:nvSpPr>
          <p:cNvPr id="32" name="text:devnet node: AccountNotFound (no SOL"/>
          <p:cNvSpPr txBox="1"/>
          <p:nvPr/>
        </p:nvSpPr>
        <p:spPr>
          <a:xfrm>
            <a:off x="6217920" y="2414015"/>
            <a:ext cx="2286000" cy="36576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devnet node: AccountNotFound (no SOL), signature accepted</a:t>
            </a:r>
          </a:p>
        </p:txBody>
      </p:sp>
      <p:sp>
        <p:nvSpPr>
          <p:cNvPr id="33" name="text:Flipped one bit"/>
          <p:cNvSpPr txBox="1"/>
          <p:nvPr/>
        </p:nvSpPr>
        <p:spPr>
          <a:xfrm>
            <a:off x="6217920" y="2761488"/>
            <a:ext cx="228600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Flipped one bit</a:t>
            </a:r>
          </a:p>
        </p:txBody>
      </p:sp>
      <p:sp>
        <p:nvSpPr>
          <p:cNvPr id="34" name="text:devnet node: SignatureFailure"/>
          <p:cNvSpPr txBox="1"/>
          <p:nvPr/>
        </p:nvSpPr>
        <p:spPr>
          <a:xfrm>
            <a:off x="6217920" y="2980944"/>
            <a:ext cx="2286000" cy="36576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devnet node: SignatureFailure</a:t>
            </a:r>
          </a:p>
        </p:txBody>
      </p:sp>
      <p:sp>
        <p:nvSpPr>
          <p:cNvPr id="35" name="text:Funded tx link"/>
          <p:cNvSpPr txBox="1"/>
          <p:nvPr/>
        </p:nvSpPr>
        <p:spPr>
          <a:xfrm>
            <a:off x="6217920" y="3328415"/>
            <a:ext cx="228600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Funded tx link</a:t>
            </a:r>
          </a:p>
        </p:txBody>
      </p:sp>
      <p:sp>
        <p:nvSpPr>
          <p:cNvPr id="36" name="text:none: faucet answered HTTP 429"/>
          <p:cNvSpPr txBox="1"/>
          <p:nvPr/>
        </p:nvSpPr>
        <p:spPr>
          <a:xfrm>
            <a:off x="6217920" y="3547872"/>
            <a:ext cx="2286000" cy="36576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none: faucet answered HTTP 429</a:t>
            </a:r>
          </a:p>
        </p:txBody>
      </p:sp>
      <p:sp>
        <p:nvSpPr>
          <p:cNvPr id="37" name="text:Devnet slot 513,629,831, read 2026-1"/>
          <p:cNvSpPr txBox="1"/>
          <p:nvPr/>
        </p:nvSpPr>
        <p:spPr>
          <a:xfrm>
            <a:off x="6217920" y="3913632"/>
            <a:ext cx="2286000" cy="27432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Devnet slot 513,629,831, read 2026-10-21. Say so; do not hide it.</a:t>
            </a:r>
          </a:p>
        </p:txBody>
      </p:sp>
      <p:sp>
        <p:nvSpPr>
          <p:cNvPr id="38" name="text:Source: demo-repo/code/out/walkthrou"/>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demo-repo/code/out/walkthrough.json and recorded/devnet-reads.json.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art 4: limit and nex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Part 4: limit and next</a:t>
            </a:r>
          </a:p>
        </p:txBody>
      </p:sp>
      <p:sp>
        <p:nvSpPr>
          <p:cNvPr id="3" name="text:Forty seconds. Say what you have no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Forty seconds. Say what you have not proved.</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1463040"/>
            <a:ext cx="3977639" cy="2103120"/>
          </a:xfrm>
          <a:prstGeom prst="roundRect">
            <a:avLst>
              <a:gd name="adj" fmla="val 6086"/>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AY OUT LOUD"/>
          <p:cNvSpPr txBox="1"/>
          <p:nvPr/>
        </p:nvSpPr>
        <p:spPr>
          <a:xfrm>
            <a:off x="749808" y="1600200"/>
            <a:ext cx="347472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SAY OUT LOUD</a:t>
            </a:r>
          </a:p>
        </p:txBody>
      </p:sp>
      <p:sp>
        <p:nvSpPr>
          <p:cNvPr id="7" name="Oval 6"/>
          <p:cNvSpPr/>
          <p:nvPr/>
        </p:nvSpPr>
        <p:spPr>
          <a:xfrm>
            <a:off x="768096" y="2029967"/>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One limitation, in your own words."/>
          <p:cNvSpPr txBox="1"/>
          <p:nvPr/>
        </p:nvSpPr>
        <p:spPr>
          <a:xfrm>
            <a:off x="1005840" y="1965960"/>
            <a:ext cx="338328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One limitation, in your own words.</a:t>
            </a:r>
          </a:p>
        </p:txBody>
      </p:sp>
      <p:sp>
        <p:nvSpPr>
          <p:cNvPr id="9" name="Oval 8"/>
          <p:cNvSpPr/>
          <p:nvPr/>
        </p:nvSpPr>
        <p:spPr>
          <a:xfrm>
            <a:off x="768096" y="2532888"/>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What is untested."/>
          <p:cNvSpPr txBox="1"/>
          <p:nvPr/>
        </p:nvSpPr>
        <p:spPr>
          <a:xfrm>
            <a:off x="1005840" y="2468880"/>
            <a:ext cx="338328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What is untested.</a:t>
            </a:r>
          </a:p>
        </p:txBody>
      </p:sp>
      <p:sp>
        <p:nvSpPr>
          <p:cNvPr id="11" name="Oval 10"/>
          <p:cNvSpPr/>
          <p:nvPr/>
        </p:nvSpPr>
        <p:spPr>
          <a:xfrm>
            <a:off x="768096" y="3035808"/>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The next step, one sentence."/>
          <p:cNvSpPr txBox="1"/>
          <p:nvPr/>
        </p:nvSpPr>
        <p:spPr>
          <a:xfrm>
            <a:off x="1005840" y="2971800"/>
            <a:ext cx="338328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The next step, one sentence.</a:t>
            </a:r>
          </a:p>
        </p:txBody>
      </p:sp>
      <p:sp>
        <p:nvSpPr>
          <p:cNvPr id="13" name="Rounded Rectangle 12"/>
          <p:cNvSpPr/>
          <p:nvPr/>
        </p:nvSpPr>
        <p:spPr>
          <a:xfrm>
            <a:off x="4663440" y="1463040"/>
            <a:ext cx="3977639" cy="2103120"/>
          </a:xfrm>
          <a:prstGeom prst="roundRect">
            <a:avLst>
              <a:gd name="adj" fmla="val 6086"/>
            </a:avLst>
          </a:prstGeom>
          <a:noFill/>
          <a:ln w="1270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DO NOT SAY"/>
          <p:cNvSpPr txBox="1"/>
          <p:nvPr/>
        </p:nvSpPr>
        <p:spPr>
          <a:xfrm>
            <a:off x="4864607" y="1600200"/>
            <a:ext cx="347472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DO NOT SAY</a:t>
            </a:r>
          </a:p>
        </p:txBody>
      </p:sp>
      <p:sp>
        <p:nvSpPr>
          <p:cNvPr id="15" name="Oval 14"/>
          <p:cNvSpPr/>
          <p:nvPr/>
        </p:nvSpPr>
        <p:spPr>
          <a:xfrm>
            <a:off x="4882896" y="2029967"/>
            <a:ext cx="109728" cy="109728"/>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A return, a profit or a win rate as "/>
          <p:cNvSpPr txBox="1"/>
          <p:nvPr/>
        </p:nvSpPr>
        <p:spPr>
          <a:xfrm>
            <a:off x="5120640" y="1965960"/>
            <a:ext cx="338328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A return, a profit or a win rate as the headline.</a:t>
            </a:r>
          </a:p>
        </p:txBody>
      </p:sp>
      <p:sp>
        <p:nvSpPr>
          <p:cNvPr id="17" name="Oval 16"/>
          <p:cNvSpPr/>
          <p:nvPr/>
        </p:nvSpPr>
        <p:spPr>
          <a:xfrm>
            <a:off x="4882896" y="2532888"/>
            <a:ext cx="109728" cy="109728"/>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A capability the tests do not cover."/>
          <p:cNvSpPr txBox="1"/>
          <p:nvPr/>
        </p:nvSpPr>
        <p:spPr>
          <a:xfrm>
            <a:off x="5120640" y="2468880"/>
            <a:ext cx="338328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A capability the tests do not cover.</a:t>
            </a:r>
          </a:p>
        </p:txBody>
      </p:sp>
      <p:sp>
        <p:nvSpPr>
          <p:cNvPr id="19" name="Oval 18"/>
          <p:cNvSpPr/>
          <p:nvPr/>
        </p:nvSpPr>
        <p:spPr>
          <a:xfrm>
            <a:off x="4882896" y="3035808"/>
            <a:ext cx="109728" cy="109728"/>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A transaction link you have not open"/>
          <p:cNvSpPr txBox="1"/>
          <p:nvPr/>
        </p:nvSpPr>
        <p:spPr>
          <a:xfrm>
            <a:off x="5120640" y="2971800"/>
            <a:ext cx="338328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A transaction link you have not opened tonight.</a:t>
            </a:r>
          </a:p>
        </p:txBody>
      </p:sp>
      <p:sp>
        <p:nvSpPr>
          <p:cNvPr id="21" name="Rounded Rectangle 20"/>
          <p:cNvSpPr/>
          <p:nvPr/>
        </p:nvSpPr>
        <p:spPr>
          <a:xfrm>
            <a:off x="548640" y="3703320"/>
            <a:ext cx="8092440" cy="868680"/>
          </a:xfrm>
          <a:prstGeom prst="roundRect">
            <a:avLst>
              <a:gd name="adj" fmla="val 14736"/>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SAMPLE, PART 4"/>
          <p:cNvSpPr txBox="1"/>
          <p:nvPr/>
        </p:nvSpPr>
        <p:spPr>
          <a:xfrm>
            <a:off x="731520" y="3767328"/>
            <a:ext cx="2743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SAMPLE, PART 4</a:t>
            </a:r>
          </a:p>
        </p:txBody>
      </p:sp>
      <p:sp>
        <p:nvSpPr>
          <p:cNvPr id="23" name="text:“Limits: this is simulated on record"/>
          <p:cNvSpPr txBox="1"/>
          <p:nvPr/>
        </p:nvSpPr>
        <p:spPr>
          <a:xfrm>
            <a:off x="731520" y="3968496"/>
            <a:ext cx="7772400" cy="566928"/>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“Limits: this is simulated on recorded data, about seventeen minutes of one afternoon. The order sizes and the fee are assumptions, and no order was sent anywhere. The ledger is not evidence of returns. Next: write one funded devnet memo for every accepted order, and run the same hook on the live feed.”</a:t>
            </a:r>
          </a:p>
        </p:txBody>
      </p:sp>
      <p:sp>
        <p:nvSpPr>
          <p:cNvPr id="24" name="text:Judges score utility, tests and dev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Judges score utility, tests and devnet evidence, never simulated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the judge se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the judge sees</a:t>
            </a:r>
          </a:p>
        </p:txBody>
      </p:sp>
      <p:sp>
        <p:nvSpPr>
          <p:cNvPr id="3" name="text:Three questions, four checks each. 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Three questions, four checks each. Twelve in all.</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48640" y="1417320"/>
            <a:ext cx="2606040" cy="2880360"/>
          </a:xfrm>
          <a:prstGeom prst="roundRect">
            <a:avLst>
              <a:gd name="adj" fmla="val 49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UTILITY"/>
          <p:cNvSpPr txBox="1"/>
          <p:nvPr/>
        </p:nvSpPr>
        <p:spPr>
          <a:xfrm>
            <a:off x="731520" y="1536192"/>
            <a:ext cx="164592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UTILITY</a:t>
            </a:r>
          </a:p>
        </p:txBody>
      </p:sp>
      <p:sp>
        <p:nvSpPr>
          <p:cNvPr id="7" name="text:4 / 4"/>
          <p:cNvSpPr txBox="1"/>
          <p:nvPr/>
        </p:nvSpPr>
        <p:spPr>
          <a:xfrm>
            <a:off x="2286000" y="1499616"/>
            <a:ext cx="685800" cy="228600"/>
          </a:xfrm>
          <a:prstGeom prst="rect">
            <a:avLst/>
          </a:prstGeom>
          <a:noFill/>
        </p:spPr>
        <p:txBody>
          <a:bodyPr wrap="square" lIns="9144" rIns="9144" tIns="0" bIns="0">
            <a:spAutoFit/>
          </a:bodyPr>
          <a:lstStyle/>
          <a:p>
            <a:pPr algn="r">
              <a:lnSpc>
                <a:spcPct val="106000"/>
              </a:lnSpc>
              <a:spcAft>
                <a:spcPts val="400"/>
              </a:spcAft>
              <a:defRPr sz="1300" b="0">
                <a:solidFill>
                  <a:srgbClr val="F2F5F8"/>
                </a:solidFill>
                <a:latin typeface="Helvetica Neue"/>
              </a:defRPr>
            </a:pPr>
            <a:r>
              <a:t>4 / 4</a:t>
            </a:r>
          </a:p>
        </p:txBody>
      </p:sp>
      <p:sp>
        <p:nvSpPr>
          <p:cNvPr id="8" name="Oval 7"/>
          <p:cNvSpPr/>
          <p:nvPr/>
        </p:nvSpPr>
        <p:spPr>
          <a:xfrm>
            <a:off x="731520" y="1929384"/>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Names a user and a problem in one se"/>
          <p:cNvSpPr txBox="1"/>
          <p:nvPr/>
        </p:nvSpPr>
        <p:spPr>
          <a:xfrm>
            <a:off x="960120" y="1874519"/>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Names a user and a problem in one sentence</a:t>
            </a:r>
          </a:p>
        </p:txBody>
      </p:sp>
      <p:sp>
        <p:nvSpPr>
          <p:cNvPr id="10" name="Oval 9"/>
          <p:cNvSpPr/>
          <p:nvPr/>
        </p:nvSpPr>
        <p:spPr>
          <a:xfrm>
            <a:off x="731520" y="2514600"/>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Runs from a clean checkout using onl"/>
          <p:cNvSpPr txBox="1"/>
          <p:nvPr/>
        </p:nvSpPr>
        <p:spPr>
          <a:xfrm>
            <a:off x="960120" y="2459736"/>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Runs from a clean checkout using only the README</a:t>
            </a:r>
          </a:p>
        </p:txBody>
      </p:sp>
      <p:sp>
        <p:nvSpPr>
          <p:cNvPr id="12" name="Oval 11"/>
          <p:cNvSpPr/>
          <p:nvPr/>
        </p:nvSpPr>
        <p:spPr>
          <a:xfrm>
            <a:off x="731520" y="3099816"/>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Shows one decision end to end: input"/>
          <p:cNvSpPr txBox="1"/>
          <p:nvPr/>
        </p:nvSpPr>
        <p:spPr>
          <a:xfrm>
            <a:off x="960120" y="3044952"/>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Shows one decision end to end: input, rule, result</a:t>
            </a:r>
          </a:p>
        </p:txBody>
      </p:sp>
      <p:sp>
        <p:nvSpPr>
          <p:cNvPr id="14" name="Oval 13"/>
          <p:cNvSpPr/>
          <p:nvPr/>
        </p:nvSpPr>
        <p:spPr>
          <a:xfrm>
            <a:off x="731520" y="3685031"/>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tes what it does not do"/>
          <p:cNvSpPr txBox="1"/>
          <p:nvPr/>
        </p:nvSpPr>
        <p:spPr>
          <a:xfrm>
            <a:off x="960120" y="3630168"/>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States what it does not do</a:t>
            </a:r>
          </a:p>
        </p:txBody>
      </p:sp>
      <p:sp>
        <p:nvSpPr>
          <p:cNvPr id="16" name="Rounded Rectangle 15"/>
          <p:cNvSpPr/>
          <p:nvPr/>
        </p:nvSpPr>
        <p:spPr>
          <a:xfrm>
            <a:off x="3291840" y="1417320"/>
            <a:ext cx="2606040" cy="2880360"/>
          </a:xfrm>
          <a:prstGeom prst="roundRect">
            <a:avLst>
              <a:gd name="adj" fmla="val 49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TESTS"/>
          <p:cNvSpPr txBox="1"/>
          <p:nvPr/>
        </p:nvSpPr>
        <p:spPr>
          <a:xfrm>
            <a:off x="3474720" y="1536192"/>
            <a:ext cx="164592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TESTS</a:t>
            </a:r>
          </a:p>
        </p:txBody>
      </p:sp>
      <p:sp>
        <p:nvSpPr>
          <p:cNvPr id="18" name="text:3 / 4"/>
          <p:cNvSpPr txBox="1"/>
          <p:nvPr/>
        </p:nvSpPr>
        <p:spPr>
          <a:xfrm>
            <a:off x="5029200" y="1499616"/>
            <a:ext cx="685800" cy="228600"/>
          </a:xfrm>
          <a:prstGeom prst="rect">
            <a:avLst/>
          </a:prstGeom>
          <a:noFill/>
        </p:spPr>
        <p:txBody>
          <a:bodyPr wrap="square" lIns="9144" rIns="9144" tIns="0" bIns="0">
            <a:spAutoFit/>
          </a:bodyPr>
          <a:lstStyle/>
          <a:p>
            <a:pPr algn="r">
              <a:lnSpc>
                <a:spcPct val="106000"/>
              </a:lnSpc>
              <a:spcAft>
                <a:spcPts val="400"/>
              </a:spcAft>
              <a:defRPr sz="1300" b="0">
                <a:solidFill>
                  <a:srgbClr val="F2F5F8"/>
                </a:solidFill>
                <a:latin typeface="Helvetica Neue"/>
              </a:defRPr>
            </a:pPr>
            <a:r>
              <a:t>3 / 4</a:t>
            </a:r>
          </a:p>
        </p:txBody>
      </p:sp>
      <p:sp>
        <p:nvSpPr>
          <p:cNvPr id="19" name="Oval 18"/>
          <p:cNvSpPr/>
          <p:nvPr/>
        </p:nvSpPr>
        <p:spPr>
          <a:xfrm>
            <a:off x="3474720" y="1929384"/>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npm test passes and the report is at"/>
          <p:cNvSpPr txBox="1"/>
          <p:nvPr/>
        </p:nvSpPr>
        <p:spPr>
          <a:xfrm>
            <a:off x="3703320" y="1874519"/>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npm test passes and the report is attached</a:t>
            </a:r>
          </a:p>
        </p:txBody>
      </p:sp>
      <p:sp>
        <p:nvSpPr>
          <p:cNvPr id="21" name="Oval 20"/>
          <p:cNvSpPr/>
          <p:nvPr/>
        </p:nvSpPr>
        <p:spPr>
          <a:xfrm>
            <a:off x="3474720" y="2514600"/>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A test covers the failure case (a ba"/>
          <p:cNvSpPr txBox="1"/>
          <p:nvPr/>
        </p:nvSpPr>
        <p:spPr>
          <a:xfrm>
            <a:off x="3703320" y="2459736"/>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A test covers the failure case (a bad input is refused)</a:t>
            </a:r>
          </a:p>
        </p:txBody>
      </p:sp>
      <p:sp>
        <p:nvSpPr>
          <p:cNvPr id="23" name="Oval 22"/>
          <p:cNvSpPr/>
          <p:nvPr/>
        </p:nvSpPr>
        <p:spPr>
          <a:xfrm>
            <a:off x="3474720" y="3099816"/>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Tests run offline on recorded data"/>
          <p:cNvSpPr txBox="1"/>
          <p:nvPr/>
        </p:nvSpPr>
        <p:spPr>
          <a:xfrm>
            <a:off x="3703320" y="3044952"/>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Tests run offline on recorded data</a:t>
            </a:r>
          </a:p>
        </p:txBody>
      </p:sp>
      <p:sp>
        <p:nvSpPr>
          <p:cNvPr id="25" name="Oval 24"/>
          <p:cNvSpPr/>
          <p:nvPr/>
        </p:nvSpPr>
        <p:spPr>
          <a:xfrm>
            <a:off x="3474720" y="3685031"/>
            <a:ext cx="109728" cy="109728"/>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The test report is from the frozen c"/>
          <p:cNvSpPr txBox="1"/>
          <p:nvPr/>
        </p:nvSpPr>
        <p:spPr>
          <a:xfrm>
            <a:off x="3703320" y="3630168"/>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The test report is from the frozen commit</a:t>
            </a:r>
          </a:p>
        </p:txBody>
      </p:sp>
      <p:sp>
        <p:nvSpPr>
          <p:cNvPr id="27" name="Rounded Rectangle 26"/>
          <p:cNvSpPr/>
          <p:nvPr/>
        </p:nvSpPr>
        <p:spPr>
          <a:xfrm>
            <a:off x="6035040" y="1417320"/>
            <a:ext cx="2606040" cy="2880360"/>
          </a:xfrm>
          <a:prstGeom prst="roundRect">
            <a:avLst>
              <a:gd name="adj" fmla="val 49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DEVNET EVIDENCE"/>
          <p:cNvSpPr txBox="1"/>
          <p:nvPr/>
        </p:nvSpPr>
        <p:spPr>
          <a:xfrm>
            <a:off x="6217920" y="1536192"/>
            <a:ext cx="164592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DEVNET EVIDENCE</a:t>
            </a:r>
          </a:p>
        </p:txBody>
      </p:sp>
      <p:sp>
        <p:nvSpPr>
          <p:cNvPr id="29" name="text:2 / 4"/>
          <p:cNvSpPr txBox="1"/>
          <p:nvPr/>
        </p:nvSpPr>
        <p:spPr>
          <a:xfrm>
            <a:off x="7772400" y="1499616"/>
            <a:ext cx="685800" cy="228600"/>
          </a:xfrm>
          <a:prstGeom prst="rect">
            <a:avLst/>
          </a:prstGeom>
          <a:noFill/>
        </p:spPr>
        <p:txBody>
          <a:bodyPr wrap="square" lIns="9144" rIns="9144" tIns="0" bIns="0">
            <a:spAutoFit/>
          </a:bodyPr>
          <a:lstStyle/>
          <a:p>
            <a:pPr algn="r">
              <a:lnSpc>
                <a:spcPct val="106000"/>
              </a:lnSpc>
              <a:spcAft>
                <a:spcPts val="400"/>
              </a:spcAft>
              <a:defRPr sz="1300" b="0">
                <a:solidFill>
                  <a:srgbClr val="F2F5F8"/>
                </a:solidFill>
                <a:latin typeface="Helvetica Neue"/>
              </a:defRPr>
            </a:pPr>
            <a:r>
              <a:t>2 / 4</a:t>
            </a:r>
          </a:p>
        </p:txBody>
      </p:sp>
      <p:sp>
        <p:nvSpPr>
          <p:cNvPr id="30" name="Oval 29"/>
          <p:cNvSpPr/>
          <p:nvPr/>
        </p:nvSpPr>
        <p:spPr>
          <a:xfrm>
            <a:off x="6217920" y="1929384"/>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Shows a devnet address, or says ther"/>
          <p:cNvSpPr txBox="1"/>
          <p:nvPr/>
        </p:nvSpPr>
        <p:spPr>
          <a:xfrm>
            <a:off x="6446520" y="1874519"/>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Shows a devnet address, or says there is none and why</a:t>
            </a:r>
          </a:p>
        </p:txBody>
      </p:sp>
      <p:sp>
        <p:nvSpPr>
          <p:cNvPr id="32" name="Oval 31"/>
          <p:cNvSpPr/>
          <p:nvPr/>
        </p:nvSpPr>
        <p:spPr>
          <a:xfrm>
            <a:off x="6217920" y="2514600"/>
            <a:ext cx="109728" cy="109728"/>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At least one devnet transaction link"/>
          <p:cNvSpPr txBox="1"/>
          <p:nvPr/>
        </p:nvSpPr>
        <p:spPr>
          <a:xfrm>
            <a:off x="6446520" y="2459736"/>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At least one devnet transaction link opens</a:t>
            </a:r>
          </a:p>
        </p:txBody>
      </p:sp>
      <p:sp>
        <p:nvSpPr>
          <p:cNvPr id="34" name="Oval 33"/>
          <p:cNvSpPr/>
          <p:nvPr/>
        </p:nvSpPr>
        <p:spPr>
          <a:xfrm>
            <a:off x="6217920" y="3099816"/>
            <a:ext cx="109728" cy="109728"/>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What the slide claims matches what t"/>
          <p:cNvSpPr txBox="1"/>
          <p:nvPr/>
        </p:nvSpPr>
        <p:spPr>
          <a:xfrm>
            <a:off x="6446520" y="3044952"/>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What the slide claims matches what the link shows</a:t>
            </a:r>
          </a:p>
        </p:txBody>
      </p:sp>
      <p:sp>
        <p:nvSpPr>
          <p:cNvPr id="36" name="Oval 35"/>
          <p:cNvSpPr/>
          <p:nvPr/>
        </p:nvSpPr>
        <p:spPr>
          <a:xfrm>
            <a:off x="6217920" y="3685031"/>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Reads labelled public mainnet; write"/>
          <p:cNvSpPr txBox="1"/>
          <p:nvPr/>
        </p:nvSpPr>
        <p:spPr>
          <a:xfrm>
            <a:off x="6446520" y="3630168"/>
            <a:ext cx="2103120" cy="54864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Reads labelled public mainnet; writes labelled devnet only</a:t>
            </a:r>
          </a:p>
        </p:txBody>
      </p:sp>
      <p:sp>
        <p:nvSpPr>
          <p:cNvPr id="38" name="Rounded Rectangle 37"/>
          <p:cNvSpPr/>
          <p:nvPr/>
        </p:nvSpPr>
        <p:spPr>
          <a:xfrm>
            <a:off x="548640" y="4370832"/>
            <a:ext cx="8092440" cy="329184"/>
          </a:xfrm>
          <a:prstGeom prst="roundRect">
            <a:avLst>
              <a:gd name="adj" fmla="val 38888"/>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Not scored: any simulated return. Th"/>
          <p:cNvSpPr txBox="1"/>
          <p:nvPr/>
        </p:nvSpPr>
        <p:spPr>
          <a:xfrm>
            <a:off x="731520" y="4370832"/>
            <a:ext cx="7772400" cy="329184"/>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Not scored: any simulated return. The score is the evidence.</a:t>
            </a:r>
          </a:p>
        </p:txBody>
      </p:sp>
      <p:sp>
        <p:nvSpPr>
          <p:cNvPr id="40" name="text:Filled mint dot: the sample pack pas"/>
          <p:cNvSpPr txBox="1"/>
          <p:nvPr/>
        </p:nvSpPr>
        <p:spPr>
          <a:xfrm>
            <a:off x="4754880" y="4727448"/>
            <a:ext cx="3840480" cy="182880"/>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Filled mint dot: the sample pack passes the check. Sample pack: 9 of 12.</a:t>
            </a:r>
          </a:p>
        </p:txBody>
      </p:sp>
      <p:sp>
        <p:nvSpPr>
          <p:cNvPr id="41" name="text:Source: demo-repo/code/src/rubric.t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demo-repo/code/src/rubric.ts; sample pack scored in out/rubric.json.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ne set of evidenc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One set of evidence</a:t>
            </a:r>
          </a:p>
        </p:txBody>
      </p:sp>
      <p:sp>
        <p:nvSpPr>
          <p:cNvPr id="3" name="text:The same claim must be true in the p"/>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same claim must be true in the pitch, the repo and the running demo.</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417320"/>
            <a:ext cx="8092440" cy="566928"/>
          </a:xfrm>
          <a:prstGeom prst="roundRect">
            <a:avLst>
              <a:gd name="adj" fmla="val 2258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ONE CLAIM, THREE PLACES"/>
          <p:cNvSpPr txBox="1"/>
          <p:nvPr/>
        </p:nvSpPr>
        <p:spPr>
          <a:xfrm>
            <a:off x="731520" y="1463040"/>
            <a:ext cx="274320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ONE CLAIM, THREE PLACES</a:t>
            </a:r>
          </a:p>
        </p:txBody>
      </p:sp>
      <p:sp>
        <p:nvSpPr>
          <p:cNvPr id="7" name="text:10 change alerts: 9 accepted, 1 refu"/>
          <p:cNvSpPr txBox="1"/>
          <p:nvPr/>
        </p:nvSpPr>
        <p:spPr>
          <a:xfrm>
            <a:off x="731520" y="1645920"/>
            <a:ext cx="768096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10 change alerts: 9 accepted, 1 refused (max-notional)</a:t>
            </a:r>
          </a:p>
        </p:txBody>
      </p:sp>
      <p:sp>
        <p:nvSpPr>
          <p:cNvPr id="8" name="Rounded Rectangle 7"/>
          <p:cNvSpPr/>
          <p:nvPr/>
        </p:nvSpPr>
        <p:spPr>
          <a:xfrm>
            <a:off x="548640" y="2194560"/>
            <a:ext cx="2606040" cy="2148840"/>
          </a:xfrm>
          <a:prstGeom prst="roundRect">
            <a:avLst>
              <a:gd name="adj" fmla="val 5957"/>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PITCH"/>
          <p:cNvSpPr txBox="1"/>
          <p:nvPr/>
        </p:nvSpPr>
        <p:spPr>
          <a:xfrm>
            <a:off x="731520" y="2331720"/>
            <a:ext cx="219456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PITCH</a:t>
            </a:r>
          </a:p>
        </p:txBody>
      </p:sp>
      <p:sp>
        <p:nvSpPr>
          <p:cNvPr id="10" name="text:Says what works, what failed, what i"/>
          <p:cNvSpPr txBox="1"/>
          <p:nvPr/>
        </p:nvSpPr>
        <p:spPr>
          <a:xfrm>
            <a:off x="731520" y="2651760"/>
            <a:ext cx="2286000" cy="82296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Says what works, what failed, what is untested.</a:t>
            </a:r>
          </a:p>
        </p:txBody>
      </p:sp>
      <p:cxnSp>
        <p:nvCxnSpPr>
          <p:cNvPr id="11" name="Connector 10"/>
          <p:cNvCxnSpPr/>
          <p:nvPr/>
        </p:nvCxnSpPr>
        <p:spPr>
          <a:xfrm>
            <a:off x="731520" y="3520440"/>
            <a:ext cx="224028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sp>
        <p:nvSpPr>
          <p:cNvPr id="12" name="text:WHERE THIS CLAIM LIVES"/>
          <p:cNvSpPr txBox="1"/>
          <p:nvPr/>
        </p:nvSpPr>
        <p:spPr>
          <a:xfrm>
            <a:off x="731520" y="3593592"/>
            <a:ext cx="2286000" cy="164592"/>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WHERE THIS CLAIM LIVES</a:t>
            </a:r>
          </a:p>
        </p:txBody>
      </p:sp>
      <p:sp>
        <p:nvSpPr>
          <p:cNvPr id="13" name="text:Part 3 says: 9 accepted, 1 refused."/>
          <p:cNvSpPr txBox="1"/>
          <p:nvPr/>
        </p:nvSpPr>
        <p:spPr>
          <a:xfrm>
            <a:off x="731520" y="3794760"/>
            <a:ext cx="2286000" cy="50292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Part 3 says: 9 accepted, 1 refused.</a:t>
            </a:r>
          </a:p>
        </p:txBody>
      </p:sp>
      <p:sp>
        <p:nvSpPr>
          <p:cNvPr id="14" name="Rounded Rectangle 13"/>
          <p:cNvSpPr/>
          <p:nvPr/>
        </p:nvSpPr>
        <p:spPr>
          <a:xfrm>
            <a:off x="3291840" y="2194560"/>
            <a:ext cx="2606040" cy="2148840"/>
          </a:xfrm>
          <a:prstGeom prst="roundRect">
            <a:avLst>
              <a:gd name="adj" fmla="val 595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REPO"/>
          <p:cNvSpPr txBox="1"/>
          <p:nvPr/>
        </p:nvSpPr>
        <p:spPr>
          <a:xfrm>
            <a:off x="3474720" y="2331720"/>
            <a:ext cx="219456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REPO</a:t>
            </a:r>
          </a:p>
        </p:txBody>
      </p:sp>
      <p:sp>
        <p:nvSpPr>
          <p:cNvPr id="16" name="text:A frozen commit, a README that runs,"/>
          <p:cNvSpPr txBox="1"/>
          <p:nvPr/>
        </p:nvSpPr>
        <p:spPr>
          <a:xfrm>
            <a:off x="3474720" y="2651760"/>
            <a:ext cx="2286000" cy="82296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A frozen commit, a README that runs, a test report.</a:t>
            </a:r>
          </a:p>
        </p:txBody>
      </p:sp>
      <p:cxnSp>
        <p:nvCxnSpPr>
          <p:cNvPr id="17" name="Connector 16"/>
          <p:cNvCxnSpPr/>
          <p:nvPr/>
        </p:nvCxnSpPr>
        <p:spPr>
          <a:xfrm>
            <a:off x="3474720" y="3520440"/>
            <a:ext cx="224028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sp>
        <p:nvSpPr>
          <p:cNvPr id="18" name="text:WHERE THIS CLAIM LIVES"/>
          <p:cNvSpPr txBox="1"/>
          <p:nvPr/>
        </p:nvSpPr>
        <p:spPr>
          <a:xfrm>
            <a:off x="3474720" y="3593592"/>
            <a:ext cx="2286000" cy="164592"/>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WHERE THIS CLAIM LIVES</a:t>
            </a:r>
          </a:p>
        </p:txBody>
      </p:sp>
      <p:sp>
        <p:nvSpPr>
          <p:cNvPr id="19" name="text:out/walkthrough.json: rejectedByRule"/>
          <p:cNvSpPr txBox="1"/>
          <p:nvPr/>
        </p:nvSpPr>
        <p:spPr>
          <a:xfrm>
            <a:off x="3474720" y="3794760"/>
            <a:ext cx="2286000" cy="50292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out/walkthrough.json: rejectedByRule max-notional: 1. A test checks it.</a:t>
            </a:r>
          </a:p>
        </p:txBody>
      </p:sp>
      <p:sp>
        <p:nvSpPr>
          <p:cNvPr id="20" name="Rounded Rectangle 19"/>
          <p:cNvSpPr/>
          <p:nvPr/>
        </p:nvSpPr>
        <p:spPr>
          <a:xfrm>
            <a:off x="6035040" y="2194560"/>
            <a:ext cx="2606040" cy="2148840"/>
          </a:xfrm>
          <a:prstGeom prst="roundRect">
            <a:avLst>
              <a:gd name="adj" fmla="val 5957"/>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RUNNING DEMO"/>
          <p:cNvSpPr txBox="1"/>
          <p:nvPr/>
        </p:nvSpPr>
        <p:spPr>
          <a:xfrm>
            <a:off x="6217920" y="2331720"/>
            <a:ext cx="219456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RUNNING DEMO</a:t>
            </a:r>
          </a:p>
        </p:txBody>
      </p:sp>
      <p:sp>
        <p:nvSpPr>
          <p:cNvPr id="22" name="text:Live, or the recorded copy of the sa"/>
          <p:cNvSpPr txBox="1"/>
          <p:nvPr/>
        </p:nvSpPr>
        <p:spPr>
          <a:xfrm>
            <a:off x="6217920" y="2651760"/>
            <a:ext cx="2286000" cy="82296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Live, or the recorded copy of the same output.</a:t>
            </a:r>
          </a:p>
        </p:txBody>
      </p:sp>
      <p:cxnSp>
        <p:nvCxnSpPr>
          <p:cNvPr id="23" name="Connector 22"/>
          <p:cNvCxnSpPr/>
          <p:nvPr/>
        </p:nvCxnSpPr>
        <p:spPr>
          <a:xfrm>
            <a:off x="6217920" y="3520440"/>
            <a:ext cx="224028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sp>
        <p:nvSpPr>
          <p:cNvPr id="24" name="text:WHERE THIS CLAIM LIVES"/>
          <p:cNvSpPr txBox="1"/>
          <p:nvPr/>
        </p:nvSpPr>
        <p:spPr>
          <a:xfrm>
            <a:off x="6217920" y="3593592"/>
            <a:ext cx="2286000" cy="164592"/>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WHERE THIS CLAIM LIVES</a:t>
            </a:r>
          </a:p>
        </p:txBody>
      </p:sp>
      <p:sp>
        <p:nvSpPr>
          <p:cNvPr id="25" name="text:Demo 4, alert 8: REJECT [max-notiona"/>
          <p:cNvSpPr txBox="1"/>
          <p:nvPr/>
        </p:nvSpPr>
        <p:spPr>
          <a:xfrm>
            <a:off x="6217920" y="3794760"/>
            <a:ext cx="2286000" cy="50292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Demo 4, alert 8: REJECT [max-notional].</a:t>
            </a:r>
          </a:p>
        </p:txBody>
      </p:sp>
      <p:sp>
        <p:nvSpPr>
          <p:cNvPr id="26" name="text:Source: demo-repo/code/out/walkthrou"/>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demo-repo/code/out/walkthrough.json.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sample proj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sample project</a:t>
            </a:r>
          </a:p>
        </p:txBody>
      </p:sp>
      <p:sp>
        <p:nvSpPr>
          <p:cNvPr id="3" name="text:Built from earlier sessions, run o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Built from earlier sessions, run on recorded data. Rehearse on it before your own.</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463040"/>
            <a:ext cx="1481328"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REAL SWAPS"/>
          <p:cNvSpPr txBox="1"/>
          <p:nvPr/>
        </p:nvSpPr>
        <p:spPr>
          <a:xfrm>
            <a:off x="685800" y="15727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REAL SWAPS</a:t>
            </a:r>
          </a:p>
        </p:txBody>
      </p:sp>
      <p:sp>
        <p:nvSpPr>
          <p:cNvPr id="7" name="text:1,114"/>
          <p:cNvSpPr txBox="1"/>
          <p:nvPr/>
        </p:nvSpPr>
        <p:spPr>
          <a:xfrm>
            <a:off x="685800" y="1828800"/>
            <a:ext cx="1280160" cy="45720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1,114</a:t>
            </a:r>
          </a:p>
        </p:txBody>
      </p:sp>
      <p:sp>
        <p:nvSpPr>
          <p:cNvPr id="8" name="text:Orca SOL/USDC, recorded"/>
          <p:cNvSpPr txBox="1"/>
          <p:nvPr/>
        </p:nvSpPr>
        <p:spPr>
          <a:xfrm>
            <a:off x="685800" y="2377440"/>
            <a:ext cx="1280160" cy="45720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Orca SOL/USDC, recorded</a:t>
            </a:r>
          </a:p>
        </p:txBody>
      </p:sp>
      <p:cxnSp>
        <p:nvCxnSpPr>
          <p:cNvPr id="9" name="Connector 8"/>
          <p:cNvCxnSpPr/>
          <p:nvPr/>
        </p:nvCxnSpPr>
        <p:spPr>
          <a:xfrm>
            <a:off x="2048255" y="2194560"/>
            <a:ext cx="128017"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94560" y="1463040"/>
            <a:ext cx="1481328"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DOLLAR BARS"/>
          <p:cNvSpPr txBox="1"/>
          <p:nvPr/>
        </p:nvSpPr>
        <p:spPr>
          <a:xfrm>
            <a:off x="2331720" y="15727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DOLLAR BARS</a:t>
            </a:r>
          </a:p>
        </p:txBody>
      </p:sp>
      <p:sp>
        <p:nvSpPr>
          <p:cNvPr id="12" name="text:51"/>
          <p:cNvSpPr txBox="1"/>
          <p:nvPr/>
        </p:nvSpPr>
        <p:spPr>
          <a:xfrm>
            <a:off x="2331720" y="1828800"/>
            <a:ext cx="1280160" cy="45720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51</a:t>
            </a:r>
          </a:p>
        </p:txBody>
      </p:sp>
      <p:sp>
        <p:nvSpPr>
          <p:cNvPr id="13" name="text:$20,000 each"/>
          <p:cNvSpPr txBox="1"/>
          <p:nvPr/>
        </p:nvSpPr>
        <p:spPr>
          <a:xfrm>
            <a:off x="2331720" y="2377440"/>
            <a:ext cx="1280160" cy="45720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$20,000 each</a:t>
            </a:r>
          </a:p>
        </p:txBody>
      </p:sp>
      <p:cxnSp>
        <p:nvCxnSpPr>
          <p:cNvPr id="14" name="Connector 13"/>
          <p:cNvCxnSpPr/>
          <p:nvPr/>
        </p:nvCxnSpPr>
        <p:spPr>
          <a:xfrm>
            <a:off x="3694176" y="2194560"/>
            <a:ext cx="128015"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40480" y="1463040"/>
            <a:ext cx="1481328"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CHANGE ALERTS"/>
          <p:cNvSpPr txBox="1"/>
          <p:nvPr/>
        </p:nvSpPr>
        <p:spPr>
          <a:xfrm>
            <a:off x="3977640" y="15727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CHANGE ALERTS</a:t>
            </a:r>
          </a:p>
        </p:txBody>
      </p:sp>
      <p:sp>
        <p:nvSpPr>
          <p:cNvPr id="17" name="text:10"/>
          <p:cNvSpPr txBox="1"/>
          <p:nvPr/>
        </p:nvSpPr>
        <p:spPr>
          <a:xfrm>
            <a:off x="3977640" y="1828800"/>
            <a:ext cx="1280160" cy="45720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10</a:t>
            </a:r>
          </a:p>
        </p:txBody>
      </p:sp>
      <p:sp>
        <p:nvSpPr>
          <p:cNvPr id="18" name="text:8 bps threshold"/>
          <p:cNvSpPr txBox="1"/>
          <p:nvPr/>
        </p:nvSpPr>
        <p:spPr>
          <a:xfrm>
            <a:off x="3977640" y="2377440"/>
            <a:ext cx="1280160" cy="45720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8 bps threshold</a:t>
            </a:r>
          </a:p>
        </p:txBody>
      </p:sp>
      <p:cxnSp>
        <p:nvCxnSpPr>
          <p:cNvPr id="19" name="Connector 18"/>
          <p:cNvCxnSpPr/>
          <p:nvPr/>
        </p:nvCxnSpPr>
        <p:spPr>
          <a:xfrm>
            <a:off x="5340096" y="2194560"/>
            <a:ext cx="12801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0" y="1463040"/>
            <a:ext cx="1481328"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ORDERS"/>
          <p:cNvSpPr txBox="1"/>
          <p:nvPr/>
        </p:nvSpPr>
        <p:spPr>
          <a:xfrm>
            <a:off x="5623560" y="15727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ORDERS</a:t>
            </a:r>
          </a:p>
        </p:txBody>
      </p:sp>
      <p:sp>
        <p:nvSpPr>
          <p:cNvPr id="22" name="text:9 / 1"/>
          <p:cNvSpPr txBox="1"/>
          <p:nvPr/>
        </p:nvSpPr>
        <p:spPr>
          <a:xfrm>
            <a:off x="5623560" y="1828800"/>
            <a:ext cx="1280160" cy="45720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9 / 1</a:t>
            </a:r>
          </a:p>
        </p:txBody>
      </p:sp>
      <p:sp>
        <p:nvSpPr>
          <p:cNvPr id="23" name="text:accepted / refused by the risk hook"/>
          <p:cNvSpPr txBox="1"/>
          <p:nvPr/>
        </p:nvSpPr>
        <p:spPr>
          <a:xfrm>
            <a:off x="5623560" y="2377440"/>
            <a:ext cx="1280160" cy="45720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accepted / refused by the risk hook</a:t>
            </a:r>
          </a:p>
        </p:txBody>
      </p:sp>
      <p:cxnSp>
        <p:nvCxnSpPr>
          <p:cNvPr id="24" name="Connector 23"/>
          <p:cNvCxnSpPr/>
          <p:nvPr/>
        </p:nvCxnSpPr>
        <p:spPr>
          <a:xfrm>
            <a:off x="6986016" y="2194560"/>
            <a:ext cx="12801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32320" y="1463040"/>
            <a:ext cx="1481328"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LEDGER"/>
          <p:cNvSpPr txBox="1"/>
          <p:nvPr/>
        </p:nvSpPr>
        <p:spPr>
          <a:xfrm>
            <a:off x="7269480" y="15727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LEDGER</a:t>
            </a:r>
          </a:p>
        </p:txBody>
      </p:sp>
      <p:sp>
        <p:nvSpPr>
          <p:cNvPr id="27" name="text:9"/>
          <p:cNvSpPr txBox="1"/>
          <p:nvPr/>
        </p:nvSpPr>
        <p:spPr>
          <a:xfrm>
            <a:off x="7269480" y="1828800"/>
            <a:ext cx="1280160" cy="45720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9</a:t>
            </a:r>
          </a:p>
        </p:txBody>
      </p:sp>
      <p:sp>
        <p:nvSpPr>
          <p:cNvPr id="28" name="text:fills, next swap price"/>
          <p:cNvSpPr txBox="1"/>
          <p:nvPr/>
        </p:nvSpPr>
        <p:spPr>
          <a:xfrm>
            <a:off x="7269480" y="2377440"/>
            <a:ext cx="1280160" cy="45720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fills, next swap price</a:t>
            </a:r>
          </a:p>
        </p:txBody>
      </p:sp>
      <p:sp>
        <p:nvSpPr>
          <p:cNvPr id="29" name="Rounded Rectangle 28"/>
          <p:cNvSpPr/>
          <p:nvPr/>
        </p:nvSpPr>
        <p:spPr>
          <a:xfrm>
            <a:off x="548640" y="3063240"/>
            <a:ext cx="3931920" cy="1005840"/>
          </a:xfrm>
          <a:prstGeom prst="roundRect">
            <a:avLst>
              <a:gd name="adj" fmla="val 1272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WINDOW"/>
          <p:cNvSpPr txBox="1"/>
          <p:nvPr/>
        </p:nvSpPr>
        <p:spPr>
          <a:xfrm>
            <a:off x="731520" y="3136392"/>
            <a:ext cx="18288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WINDOW</a:t>
            </a:r>
          </a:p>
        </p:txBody>
      </p:sp>
      <p:sp>
        <p:nvSpPr>
          <p:cNvPr id="31" name="text:18:13:46 to 18:30:20 UTC, 21 Oct 202"/>
          <p:cNvSpPr txBox="1"/>
          <p:nvPr/>
        </p:nvSpPr>
        <p:spPr>
          <a:xfrm>
            <a:off x="731520" y="3337560"/>
            <a:ext cx="3657600" cy="256032"/>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18:13:46 to 18:30:20 UTC, 21 Oct 2026</a:t>
            </a:r>
          </a:p>
        </p:txBody>
      </p:sp>
      <p:sp>
        <p:nvSpPr>
          <p:cNvPr id="32" name="text:2,900 swaps recorded; 1,114 used aft"/>
          <p:cNvSpPr txBox="1"/>
          <p:nvPr/>
        </p:nvSpPr>
        <p:spPr>
          <a:xfrm>
            <a:off x="731520" y="3657600"/>
            <a:ext cx="3657600" cy="3657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2,900 swaps recorded; 1,114 used after cleaning and the Pyth window</a:t>
            </a:r>
          </a:p>
        </p:txBody>
      </p:sp>
      <p:sp>
        <p:nvSpPr>
          <p:cNvPr id="33" name="Rounded Rectangle 32"/>
          <p:cNvSpPr/>
          <p:nvPr/>
        </p:nvSpPr>
        <p:spPr>
          <a:xfrm>
            <a:off x="4663440" y="3063240"/>
            <a:ext cx="3977639" cy="1005840"/>
          </a:xfrm>
          <a:prstGeom prst="roundRect">
            <a:avLst>
              <a:gd name="adj" fmla="val 12727"/>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SCORECARD (NOT SCORED BY JUDGES)"/>
          <p:cNvSpPr txBox="1"/>
          <p:nvPr/>
        </p:nvSpPr>
        <p:spPr>
          <a:xfrm>
            <a:off x="4846320" y="3136392"/>
            <a:ext cx="3657600" cy="164592"/>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SCORECARD (NOT SCORED BY JUDGES)</a:t>
            </a:r>
          </a:p>
        </p:txBody>
      </p:sp>
      <p:sp>
        <p:nvSpPr>
          <p:cNvPr id="35" name="text:+3.00 USD net, hit rate 67%, drawdow"/>
          <p:cNvSpPr txBox="1"/>
          <p:nvPr/>
        </p:nvSpPr>
        <p:spPr>
          <a:xfrm>
            <a:off x="4846320" y="3337560"/>
            <a:ext cx="3657600" cy="256032"/>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+3.00 USD net, hit rate 67%, drawdown 8.03 USD</a:t>
            </a:r>
          </a:p>
        </p:txBody>
      </p:sp>
      <p:sp>
        <p:nvSpPr>
          <p:cNvPr id="36" name="text:Simulated, on recorded data; not adv"/>
          <p:cNvSpPr txBox="1"/>
          <p:nvPr/>
        </p:nvSpPr>
        <p:spPr>
          <a:xfrm>
            <a:off x="4846320" y="3657600"/>
            <a:ext cx="3657600" cy="3657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Simulated, on recorded data; not advice. Tests: 51 passing, 0 failing.</a:t>
            </a:r>
          </a:p>
        </p:txBody>
      </p:sp>
      <p:sp>
        <p:nvSpPr>
          <p:cNvPr id="37" name="Rounded Rectangle 36"/>
          <p:cNvSpPr/>
          <p:nvPr/>
        </p:nvSpPr>
        <p:spPr>
          <a:xfrm>
            <a:off x="548640" y="4206240"/>
            <a:ext cx="809244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Reads use public mainnet data; every"/>
          <p:cNvSpPr txBox="1"/>
          <p:nvPr/>
        </p:nvSpPr>
        <p:spPr>
          <a:xfrm>
            <a:off x="713232" y="4206240"/>
            <a:ext cx="7818120"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Reads use public mainnet data; every write is devnet only; no real funds.</a:t>
            </a:r>
          </a:p>
        </p:txBody>
      </p:sp>
      <p:sp>
        <p:nvSpPr>
          <p:cNvPr id="39" name="text:Source: demo-repo/code/out/walkthrou"/>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demo-repo/code/out/walkthrough.json; recorded data from recorded/SOURCES.md. Simulated; not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decision in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decision in code</a:t>
            </a:r>
          </a:p>
        </p:txBody>
      </p:sp>
      <p:sp>
        <p:nvSpPr>
          <p:cNvPr id="3"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4" name="Rounded Rectangle 3"/>
          <p:cNvSpPr/>
          <p:nvPr/>
        </p:nvSpPr>
        <p:spPr>
          <a:xfrm>
            <a:off x="548640" y="1280160"/>
            <a:ext cx="5257800" cy="3108960"/>
          </a:xfrm>
          <a:prstGeom prst="roundRect">
            <a:avLst>
              <a:gd name="adj" fmla="val 4117"/>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demo-repo/code/src/agent.ts"/>
          <p:cNvSpPr txBox="1"/>
          <p:nvPr/>
        </p:nvSpPr>
        <p:spPr>
          <a:xfrm>
            <a:off x="731520" y="1389888"/>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demo-repo/code/src/agent.ts</a:t>
            </a:r>
          </a:p>
        </p:txBody>
      </p:sp>
      <p:sp>
        <p:nvSpPr>
          <p:cNvPr id="6" name="text:const side: Side = ev.direction === "/>
          <p:cNvSpPr txBox="1"/>
          <p:nvPr/>
        </p:nvSpPr>
        <p:spPr>
          <a:xfrm>
            <a:off x="731520" y="1737360"/>
            <a:ext cx="4983480" cy="2560320"/>
          </a:xfrm>
          <a:prstGeom prst="rect">
            <a:avLst/>
          </a:prstGeom>
          <a:noFill/>
        </p:spPr>
        <p:txBody>
          <a:bodyPr wrap="square" lIns="9144" rIns="9144" tIns="0" bIns="0">
            <a:spAutoFit/>
          </a:bodyPr>
          <a:lstStyle/>
          <a:p>
            <a:pPr>
              <a:lnSpc>
                <a:spcPct val="125000"/>
              </a:lnSpc>
              <a:spcAft>
                <a:spcPts val="400"/>
              </a:spcAft>
              <a:defRPr sz="900" b="0">
                <a:solidFill>
                  <a:srgbClr val="F2F5F8"/>
                </a:solidFill>
                <a:latin typeface="Menlo"/>
              </a:defRPr>
            </a:pPr>
            <a:r>
              <a:t>const side: Side = ev.direction === "up" ? "buy" : "sell";</a:t>
            </a:r>
          </a:p>
          <a:p>
            <a:pPr>
              <a:lnSpc>
                <a:spcPct val="125000"/>
              </a:lnSpc>
              <a:spcAft>
                <a:spcPts val="400"/>
              </a:spcAft>
              <a:defRPr sz="900" b="0">
                <a:solidFill>
                  <a:srgbClr val="F2F5F8"/>
                </a:solidFill>
                <a:latin typeface="Menlo"/>
              </a:defRPr>
            </a:pPr>
            <a:r>
              <a:t>const sizeUsd = Math.round(bucketBps * params.usdPerBps);</a:t>
            </a:r>
          </a:p>
          <a:p>
            <a:pPr>
              <a:lnSpc>
                <a:spcPct val="125000"/>
              </a:lnSpc>
              <a:spcAft>
                <a:spcPts val="400"/>
              </a:spcAft>
              <a:defRPr sz="900" b="0">
                <a:solidFill>
                  <a:srgbClr val="F2F5F8"/>
                </a:solidFill>
                <a:latin typeface="Menlo"/>
              </a:defRPr>
            </a:pPr>
            <a:r>
              <a:t>const order: Order = { side, sizeUsd, price: ev.price };</a:t>
            </a:r>
          </a:p>
          <a:p>
            <a:pPr>
              <a:lnSpc>
                <a:spcPct val="125000"/>
              </a:lnSpc>
              <a:spcAft>
                <a:spcPts val="400"/>
              </a:spcAft>
              <a:defRPr sz="900" b="0">
                <a:solidFill>
                  <a:srgbClr val="F2F5F8"/>
                </a:solidFill>
                <a:latin typeface="Menlo"/>
              </a:defRPr>
            </a:pPr>
            <a:r>
              <a:t>const oracleAgeSec = Math.max(0, ev.t - read.publishTime);</a:t>
            </a:r>
          </a:p>
          <a:p>
            <a:pPr>
              <a:lnSpc>
                <a:spcPct val="125000"/>
              </a:lnSpc>
              <a:spcAft>
                <a:spcPts val="400"/>
              </a:spcAft>
              <a:defRPr sz="900" b="0">
                <a:solidFill>
                  <a:srgbClr val="F2F5F8"/>
                </a:solidFill>
                <a:latin typeface="Menlo"/>
              </a:defRPr>
            </a:pPr>
            <a:r>
              <a:t>const context: RiskContext = { oraclePrice: read.price, oracleAgeSec };</a:t>
            </a:r>
          </a:p>
          <a:p>
            <a:pPr>
              <a:lnSpc>
                <a:spcPct val="125000"/>
              </a:lnSpc>
              <a:spcAft>
                <a:spcPts val="400"/>
              </a:spcAft>
              <a:defRPr sz="900" b="0">
                <a:solidFill>
                  <a:srgbClr val="F2F5F8"/>
                </a:solidFill>
                <a:latin typeface="Menlo"/>
              </a:defRPr>
            </a:pPr>
            <a:r>
              <a:t>const decision = checkOrder(order, context, params.limits);</a:t>
            </a:r>
          </a:p>
          <a:p>
            <a:pPr>
              <a:lnSpc>
                <a:spcPct val="125000"/>
              </a:lnSpc>
              <a:spcAft>
                <a:spcPts val="400"/>
              </a:spcAft>
              <a:defRPr sz="900" b="0">
                <a:solidFill>
                  <a:srgbClr val="F2F5F8"/>
                </a:solidFill>
                <a:latin typeface="Menlo"/>
              </a:defRPr>
            </a:pPr>
            <a:r>
              <a:t>if (!decision.ok) return;</a:t>
            </a:r>
          </a:p>
        </p:txBody>
      </p:sp>
      <p:sp>
        <p:nvSpPr>
          <p:cNvPr id="7" name="Rounded Rectangle 6"/>
          <p:cNvSpPr/>
          <p:nvPr/>
        </p:nvSpPr>
        <p:spPr>
          <a:xfrm>
            <a:off x="6035040" y="1280160"/>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6199632" y="137160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9" name="text:The alert proposes an order."/>
          <p:cNvSpPr txBox="1"/>
          <p:nvPr/>
        </p:nvSpPr>
        <p:spPr>
          <a:xfrm>
            <a:off x="6537960" y="1417319"/>
            <a:ext cx="2011680" cy="6858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The alert proposes an order.</a:t>
            </a:r>
          </a:p>
        </p:txBody>
      </p:sp>
      <p:sp>
        <p:nvSpPr>
          <p:cNvPr id="10" name="Rounded Rectangle 9"/>
          <p:cNvSpPr/>
          <p:nvPr/>
        </p:nvSpPr>
        <p:spPr>
          <a:xfrm>
            <a:off x="6035040" y="2331720"/>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6199632" y="242316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2" name="text:The oracle gives the context."/>
          <p:cNvSpPr txBox="1"/>
          <p:nvPr/>
        </p:nvSpPr>
        <p:spPr>
          <a:xfrm>
            <a:off x="6537960" y="2468879"/>
            <a:ext cx="2011680" cy="6858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The oracle gives the context.</a:t>
            </a:r>
          </a:p>
        </p:txBody>
      </p:sp>
      <p:sp>
        <p:nvSpPr>
          <p:cNvPr id="13" name="Rounded Rectangle 12"/>
          <p:cNvSpPr/>
          <p:nvPr/>
        </p:nvSpPr>
        <p:spPr>
          <a:xfrm>
            <a:off x="6035040" y="3383279"/>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199632" y="347472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5" name="text:The risk hook says yes or no, with t"/>
          <p:cNvSpPr txBox="1"/>
          <p:nvPr/>
        </p:nvSpPr>
        <p:spPr>
          <a:xfrm>
            <a:off x="6537960" y="3520439"/>
            <a:ext cx="2011680" cy="6858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The risk hook says yes or no, with the rule.</a:t>
            </a:r>
          </a:p>
        </p:txBody>
      </p:sp>
      <p:sp>
        <p:nvSpPr>
          <p:cNvPr id="16" name="text:Source: demo-repo/code/src/agent.ts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demo-repo/code/src/agent.ts (excerpt: comments, blank lines and two bookkeeping lines removed)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n a live call fail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When a live call fails</a:t>
            </a:r>
          </a:p>
        </p:txBody>
      </p:sp>
      <p:sp>
        <p:nvSpPr>
          <p:cNvPr id="3" name="text:One retry, then recorded data, the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retry, then recorded data, then the recording.</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463040"/>
            <a:ext cx="1481328" cy="868680"/>
          </a:xfrm>
          <a:prstGeom prst="roundRect">
            <a:avLst>
              <a:gd name="adj" fmla="val 14736"/>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LIVE CALL"/>
          <p:cNvSpPr txBox="1"/>
          <p:nvPr/>
        </p:nvSpPr>
        <p:spPr>
          <a:xfrm>
            <a:off x="667512" y="1554480"/>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LIVE CALL</a:t>
            </a:r>
          </a:p>
        </p:txBody>
      </p:sp>
      <p:sp>
        <p:nvSpPr>
          <p:cNvPr id="7" name="text:fails once"/>
          <p:cNvSpPr txBox="1"/>
          <p:nvPr/>
        </p:nvSpPr>
        <p:spPr>
          <a:xfrm>
            <a:off x="667512" y="1810512"/>
            <a:ext cx="1280160" cy="4572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fails once</a:t>
            </a:r>
          </a:p>
        </p:txBody>
      </p:sp>
      <p:cxnSp>
        <p:nvCxnSpPr>
          <p:cNvPr id="8" name="Connector 7"/>
          <p:cNvCxnSpPr/>
          <p:nvPr/>
        </p:nvCxnSpPr>
        <p:spPr>
          <a:xfrm>
            <a:off x="2048255" y="1892807"/>
            <a:ext cx="128017"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194560" y="1463040"/>
            <a:ext cx="1481328" cy="868680"/>
          </a:xfrm>
          <a:prstGeom prst="roundRect">
            <a:avLst>
              <a:gd name="adj" fmla="val 14736"/>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RETRY"/>
          <p:cNvSpPr txBox="1"/>
          <p:nvPr/>
        </p:nvSpPr>
        <p:spPr>
          <a:xfrm>
            <a:off x="2313432" y="1554480"/>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RETRY</a:t>
            </a:r>
          </a:p>
        </p:txBody>
      </p:sp>
      <p:sp>
        <p:nvSpPr>
          <p:cNvPr id="11" name="text:once more"/>
          <p:cNvSpPr txBox="1"/>
          <p:nvPr/>
        </p:nvSpPr>
        <p:spPr>
          <a:xfrm>
            <a:off x="2313432" y="1810512"/>
            <a:ext cx="1280160" cy="4572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once more</a:t>
            </a:r>
          </a:p>
        </p:txBody>
      </p:sp>
      <p:cxnSp>
        <p:nvCxnSpPr>
          <p:cNvPr id="12" name="Connector 11"/>
          <p:cNvCxnSpPr/>
          <p:nvPr/>
        </p:nvCxnSpPr>
        <p:spPr>
          <a:xfrm>
            <a:off x="3694176" y="1892807"/>
            <a:ext cx="128015"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0480" y="1463040"/>
            <a:ext cx="1481328" cy="868680"/>
          </a:xfrm>
          <a:prstGeom prst="roundRect">
            <a:avLst>
              <a:gd name="adj" fmla="val 14736"/>
            </a:avLst>
          </a:prstGeom>
          <a:noFill/>
          <a:ln w="1270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HIRD FAILURE"/>
          <p:cNvSpPr txBox="1"/>
          <p:nvPr/>
        </p:nvSpPr>
        <p:spPr>
          <a:xfrm>
            <a:off x="3959352" y="1554480"/>
            <a:ext cx="1280160" cy="182880"/>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THIRD FAILURE</a:t>
            </a:r>
          </a:p>
        </p:txBody>
      </p:sp>
      <p:sp>
        <p:nvSpPr>
          <p:cNvPr id="15" name="text:in a row"/>
          <p:cNvSpPr txBox="1"/>
          <p:nvPr/>
        </p:nvSpPr>
        <p:spPr>
          <a:xfrm>
            <a:off x="3959352" y="1810512"/>
            <a:ext cx="1280160" cy="4572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in a row</a:t>
            </a:r>
          </a:p>
        </p:txBody>
      </p:sp>
      <p:cxnSp>
        <p:nvCxnSpPr>
          <p:cNvPr id="16" name="Connector 15"/>
          <p:cNvCxnSpPr/>
          <p:nvPr/>
        </p:nvCxnSpPr>
        <p:spPr>
          <a:xfrm>
            <a:off x="5340096" y="1892807"/>
            <a:ext cx="12801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0" y="1463040"/>
            <a:ext cx="1481328" cy="868680"/>
          </a:xfrm>
          <a:prstGeom prst="roundRect">
            <a:avLst>
              <a:gd name="adj" fmla="val 14736"/>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RECORDED DATA"/>
          <p:cNvSpPr txBox="1"/>
          <p:nvPr/>
        </p:nvSpPr>
        <p:spPr>
          <a:xfrm>
            <a:off x="5605272" y="1554480"/>
            <a:ext cx="1280160" cy="182880"/>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RECORDED DATA</a:t>
            </a:r>
          </a:p>
        </p:txBody>
      </p:sp>
      <p:sp>
        <p:nvSpPr>
          <p:cNvPr id="19" name="text:same code, same screen"/>
          <p:cNvSpPr txBox="1"/>
          <p:nvPr/>
        </p:nvSpPr>
        <p:spPr>
          <a:xfrm>
            <a:off x="5605272" y="1810512"/>
            <a:ext cx="1280160" cy="4572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same code, same screen</a:t>
            </a:r>
          </a:p>
        </p:txBody>
      </p:sp>
      <p:cxnSp>
        <p:nvCxnSpPr>
          <p:cNvPr id="20" name="Connector 19"/>
          <p:cNvCxnSpPr/>
          <p:nvPr/>
        </p:nvCxnSpPr>
        <p:spPr>
          <a:xfrm>
            <a:off x="6986016" y="1892807"/>
            <a:ext cx="12801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32320" y="1463040"/>
            <a:ext cx="1481328" cy="868680"/>
          </a:xfrm>
          <a:prstGeom prst="roundRect">
            <a:avLst>
              <a:gd name="adj" fmla="val 14736"/>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ACKUP RECORDING"/>
          <p:cNvSpPr txBox="1"/>
          <p:nvPr/>
        </p:nvSpPr>
        <p:spPr>
          <a:xfrm>
            <a:off x="7251192" y="1554480"/>
            <a:ext cx="1280160" cy="182880"/>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BACKUP RECORDING</a:t>
            </a:r>
          </a:p>
        </p:txBody>
      </p:sp>
      <p:sp>
        <p:nvSpPr>
          <p:cNvPr id="23" name="text:if the screen fails"/>
          <p:cNvSpPr txBox="1"/>
          <p:nvPr/>
        </p:nvSpPr>
        <p:spPr>
          <a:xfrm>
            <a:off x="7251192" y="1810512"/>
            <a:ext cx="1280160" cy="4572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if the screen fails</a:t>
            </a:r>
          </a:p>
        </p:txBody>
      </p:sp>
      <p:sp>
        <p:nvSpPr>
          <p:cNvPr id="24" name="Rounded Rectangle 23"/>
          <p:cNvSpPr/>
          <p:nvPr/>
        </p:nvSpPr>
        <p:spPr>
          <a:xfrm>
            <a:off x="548640" y="2560320"/>
            <a:ext cx="3931920" cy="2011680"/>
          </a:xfrm>
          <a:prstGeom prst="roundRect">
            <a:avLst>
              <a:gd name="adj" fmla="val 636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THE RULE"/>
          <p:cNvSpPr txBox="1"/>
          <p:nvPr/>
        </p:nvSpPr>
        <p:spPr>
          <a:xfrm>
            <a:off x="731520" y="2670048"/>
            <a:ext cx="3200400" cy="182880"/>
          </a:xfrm>
          <a:prstGeom prst="rect">
            <a:avLst/>
          </a:prstGeom>
          <a:noFill/>
        </p:spPr>
        <p:txBody>
          <a:bodyPr wrap="square" lIns="9144" rIns="9144" tIns="0" bIns="0">
            <a:spAutoFit/>
          </a:bodyPr>
          <a:lstStyle/>
          <a:p>
            <a:pPr>
              <a:lnSpc>
                <a:spcPct val="106000"/>
              </a:lnSpc>
              <a:spcAft>
                <a:spcPts val="400"/>
              </a:spcAft>
              <a:defRPr sz="950" b="0">
                <a:solidFill>
                  <a:srgbClr val="B3A5FF"/>
                </a:solidFill>
                <a:latin typeface="Helvetica Neue"/>
              </a:defRPr>
            </a:pPr>
            <a:r>
              <a:t>THE RULE</a:t>
            </a:r>
          </a:p>
        </p:txBody>
      </p:sp>
      <p:sp>
        <p:nvSpPr>
          <p:cNvPr id="26" name="text:A failed call is tried again. The th"/>
          <p:cNvSpPr txBox="1"/>
          <p:nvPr/>
        </p:nvSpPr>
        <p:spPr>
          <a:xfrm>
            <a:off x="731520" y="2926080"/>
            <a:ext cx="35661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 failed call is tried again. The third failure in a row switches to recorded data.</a:t>
            </a:r>
          </a:p>
        </p:txBody>
      </p:sp>
      <p:sp>
        <p:nvSpPr>
          <p:cNvPr id="27" name="Oval 26"/>
          <p:cNvSpPr/>
          <p:nvPr/>
        </p:nvSpPr>
        <p:spPr>
          <a:xfrm>
            <a:off x="777240" y="3886200"/>
            <a:ext cx="237744" cy="237744"/>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24712" y="3886200"/>
            <a:ext cx="237744" cy="237744"/>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472184" y="3886200"/>
            <a:ext cx="237744" cy="237744"/>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ack on track within 30 seconds."/>
          <p:cNvSpPr txBox="1"/>
          <p:nvPr/>
        </p:nvSpPr>
        <p:spPr>
          <a:xfrm>
            <a:off x="1920240" y="3886200"/>
            <a:ext cx="2468880" cy="274320"/>
          </a:xfrm>
          <a:prstGeom prst="rect">
            <a:avLst/>
          </a:prstGeom>
          <a:noFill/>
        </p:spPr>
        <p:txBody>
          <a:bodyPr wrap="square" lIns="9144" rIns="9144" tIns="0" bIns="0" anchor="ctr">
            <a:spAutoFit/>
          </a:bodyPr>
          <a:lstStyle/>
          <a:p>
            <a:pPr>
              <a:lnSpc>
                <a:spcPct val="106000"/>
              </a:lnSpc>
              <a:spcAft>
                <a:spcPts val="400"/>
              </a:spcAft>
              <a:defRPr sz="1200" b="0">
                <a:solidFill>
                  <a:srgbClr val="3DDC97"/>
                </a:solidFill>
                <a:latin typeface="Helvetica Neue"/>
              </a:defRPr>
            </a:pPr>
            <a:r>
              <a:t>Back on track within 30 seconds.</a:t>
            </a:r>
          </a:p>
        </p:txBody>
      </p:sp>
      <p:sp>
        <p:nvSpPr>
          <p:cNvPr id="31" name="Rounded Rectangle 30"/>
          <p:cNvSpPr/>
          <p:nvPr/>
        </p:nvSpPr>
        <p:spPr>
          <a:xfrm>
            <a:off x="4663440" y="2560320"/>
            <a:ext cx="3977639" cy="2011680"/>
          </a:xfrm>
          <a:prstGeom prst="roundRect">
            <a:avLst>
              <a:gd name="adj" fmla="val 6363"/>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WHAT YOU SAY, THEN CARRY ON"/>
          <p:cNvSpPr txBox="1"/>
          <p:nvPr/>
        </p:nvSpPr>
        <p:spPr>
          <a:xfrm>
            <a:off x="4846320" y="2670048"/>
            <a:ext cx="35661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WHAT YOU SAY, THEN CARRY ON</a:t>
            </a:r>
          </a:p>
        </p:txBody>
      </p:sp>
      <p:sp>
        <p:nvSpPr>
          <p:cNvPr id="33" name="text:“The live call is not answering, so "/>
          <p:cNvSpPr txBox="1"/>
          <p:nvPr/>
        </p:nvSpPr>
        <p:spPr>
          <a:xfrm>
            <a:off x="4846320" y="2944368"/>
            <a:ext cx="3611880" cy="9144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“The live call is not answering, so I am switching to recorded data from 2026-10-21. It is the same logic on data I captured earlier.”</a:t>
            </a:r>
          </a:p>
        </p:txBody>
      </p:sp>
      <p:sp>
        <p:nvSpPr>
          <p:cNvPr id="34" name="text:“Same input shape, same rule, same r"/>
          <p:cNvSpPr txBox="1"/>
          <p:nvPr/>
        </p:nvSpPr>
        <p:spPr>
          <a:xfrm>
            <a:off x="4846320" y="3931920"/>
            <a:ext cx="3611880" cy="5029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“Same input shape, same rule, same refusal. Here is the decision.”</a:t>
            </a:r>
          </a:p>
        </p:txBody>
      </p:sp>
      <p:sp>
        <p:nvSpPr>
          <p:cNvPr id="35" name="text:Source: demo-repo/code/src/drill.ts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demo-repo/code/src/drill.ts and out/drill.json.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rehearsal tim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rehearsal timer</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ith the budgets on the slide, which"/>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With the budgets on the slide, which part do you usually run over?</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four parts with a budget and a statu"/>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four parts with a budget and a status each</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 verdict from the nine-item check l"/>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verdict from the nine-item check list</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The timer needs no network"/>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The timer needs no network. Use the space bar.</a:t>
            </a:r>
          </a:p>
        </p:txBody>
      </p:sp>
      <p:pic>
        <p:nvPicPr>
          <p:cNvPr id="18" name="Picture 17" descr="01-rehearsal-time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ab demo, runs from disk, recorded d"/>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https://nus-solana-demos.vercel.app/0009/01-rehearsal-timer.html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what the judge se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what the judge sees</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two checks does the sample pac"/>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two checks does the sample pack miss, and why?</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report &amp;&amp; npm run demo -- "/>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report &amp;&amp;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12 checks, a score and a fix list"/>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12 checks, a score and a fix list</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 simulated return that never change"/>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simulated return that never changes the score</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ata is the defa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data is the default. The rubric needs no network.</a:t>
            </a:r>
          </a:p>
        </p:txBody>
      </p:sp>
      <p:pic>
        <p:nvPicPr>
          <p:cNvPr id="18" name="Picture 17" descr="02-judge-view.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ab demo, runs from disk, recorded d"/>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https://nus-solana-demos.vercel.app/0009/02-judge-view.html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Demo: live to recorded switch"/>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live to recorded switch</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How many seconds from the first fail"/>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How many seconds from the first failed call to carrying on?</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three failed calls in a row, then th"/>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three failed calls in a row, then the switch</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 stopwatch against the 30 second bu"/>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stopwatch against the 30 second budget</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mode simulates th"/>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mode simulates the failures. Nothing is sent.</a:t>
            </a:r>
          </a:p>
        </p:txBody>
      </p:sp>
      <p:pic>
        <p:nvPicPr>
          <p:cNvPr id="18" name="Picture 17" descr="03-switch-drill.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ab demo, runs from disk, recorded d"/>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https://nus-solana-demos.vercel.app/0009/03-switch-drill.html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4"/>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4</a:t>
            </a:r>
          </a:p>
        </p:txBody>
      </p:sp>
      <p:sp>
        <p:nvSpPr>
          <p:cNvPr id="3" name="text:Demo: sample project walk-through"/>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sample project walk-through</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alert will the risk hook refus"/>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alert will the risk hook refuse, and which rule fires?</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max-n"/>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--max-notional 800</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one decision at a time: order, oracl"/>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one decision at a time: order, oracle, rule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failure test refusing four bad o"/>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failure test refusing four bad orders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de"/>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decisions are the same every run.</a:t>
            </a:r>
          </a:p>
        </p:txBody>
      </p:sp>
      <p:pic>
        <p:nvPicPr>
          <p:cNvPr id="18" name="Picture 17" descr="04-sample-walkthrough.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ab demo, runs from disk, recorded d"/>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https://nus-solana-demos.vercel.app/0009/04-sample-walkthrough.html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09.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09/"/>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nus-solana-demos.vercel.app/0009/</a:t>
            </a:r>
          </a:p>
        </p:txBody>
      </p:sp>
      <p:sp>
        <p:nvSpPr>
          <p:cNvPr id="10" name="text:Open on your laptop. Run your own pi"/>
          <p:cNvSpPr txBox="1"/>
          <p:nvPr/>
        </p:nvSpPr>
        <p:spPr>
          <a:xfrm>
            <a:off x="548640" y="2651760"/>
            <a:ext cx="4480560" cy="91440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Open on your laptop. Run your own pitch against the timer.</a:t>
            </a:r>
          </a:p>
        </p:txBody>
      </p:sp>
      <p:sp>
        <p:nvSpPr>
          <p:cNvPr id="11" name="text:No install. The same files are in th"/>
          <p:cNvSpPr txBox="1"/>
          <p:nvPr/>
        </p:nvSpPr>
        <p:spPr>
          <a:xfrm>
            <a:off x="548640" y="3749039"/>
            <a:ext cx="448056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a:t>
            </a:r>
          </a:p>
        </p:txBody>
      </p:sp>
      <p:sp>
        <p:nvSpPr>
          <p:cNvPr id="12" name="text:Source: demo-repo/lab (the four lab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four lab demos, deployed as static pages, recorded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Your miss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Your mission</a:t>
            </a:r>
          </a:p>
        </p:txBody>
      </p:sp>
      <p:sp>
        <p:nvSpPr>
          <p:cNvPr id="3" name="text:Rehearsal 1 and the fix block, 18:35"/>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Rehearsal 1 and the fix block, 18:35 to 19:35.</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Time"/>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Time</a:t>
            </a:r>
          </a:p>
        </p:txBody>
      </p:sp>
      <p:sp>
        <p:nvSpPr>
          <p:cNvPr id="8" name="text:Run your 3 minutes on the timer"/>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your 3 minutes on the timer</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Listen"/>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Listen</a:t>
            </a:r>
          </a:p>
        </p:txBody>
      </p:sp>
      <p:sp>
        <p:nvSpPr>
          <p:cNvPr id="13" name="text:Peers note one unclear claim"/>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Peers note one unclear claim</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Fix"/>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Fix</a:t>
            </a:r>
          </a:p>
        </p:txBody>
      </p:sp>
      <p:sp>
        <p:nvSpPr>
          <p:cNvPr id="18" name="text:The weakest claim, then rerun the co"/>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weakest claim, then rerun the core test</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Backup"/>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Backup</a:t>
            </a:r>
          </a:p>
        </p:txBody>
      </p:sp>
      <p:sp>
        <p:nvSpPr>
          <p:cNvPr id="23" name="text:Play your recording with Wi-Fi off"/>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Play your recording with Wi-Fi off</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ish line: one claim that a listen"/>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line: one claim that a listener can restate.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Between rehearsals. Pick one, or fix"/>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Between rehearsals. Pick one, or fix your own weakest claim.</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554480"/>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82495"/>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70078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Tighten the script to the budget"/>
          <p:cNvSpPr txBox="1"/>
          <p:nvPr/>
        </p:nvSpPr>
        <p:spPr>
          <a:xfrm>
            <a:off x="1874519" y="1554480"/>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Tighten the script to the budget</a:t>
            </a:r>
          </a:p>
        </p:txBody>
      </p:sp>
      <p:sp>
        <p:nvSpPr>
          <p:cNvPr id="9" name="Rounded Rectangle 8"/>
          <p:cNvSpPr/>
          <p:nvPr/>
        </p:nvSpPr>
        <p:spPr>
          <a:xfrm>
            <a:off x="548640" y="2157984"/>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286000"/>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731520" y="230428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Add the missing evidence to the pack"/>
          <p:cNvSpPr txBox="1"/>
          <p:nvPr/>
        </p:nvSpPr>
        <p:spPr>
          <a:xfrm>
            <a:off x="1874519" y="2157984"/>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Add the missing evidence to the pack</a:t>
            </a:r>
          </a:p>
        </p:txBody>
      </p:sp>
      <p:sp>
        <p:nvSpPr>
          <p:cNvPr id="13" name="Rounded Rectangle 12"/>
          <p:cNvSpPr/>
          <p:nvPr/>
        </p:nvSpPr>
        <p:spPr>
          <a:xfrm>
            <a:off x="548640" y="2761488"/>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88950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90779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Rehearse offline from the recording"/>
          <p:cNvSpPr txBox="1"/>
          <p:nvPr/>
        </p:nvSpPr>
        <p:spPr>
          <a:xfrm>
            <a:off x="1874519" y="2761488"/>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Rehearse offline from the recording</a:t>
            </a:r>
          </a:p>
        </p:txBody>
      </p:sp>
      <p:sp>
        <p:nvSpPr>
          <p:cNvPr id="17" name="Rounded Rectangle 16"/>
          <p:cNvSpPr/>
          <p:nvPr/>
        </p:nvSpPr>
        <p:spPr>
          <a:xfrm>
            <a:off x="548640" y="3364991"/>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9300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DVANCED"/>
          <p:cNvSpPr txBox="1"/>
          <p:nvPr/>
        </p:nvSpPr>
        <p:spPr>
          <a:xfrm>
            <a:off x="731520" y="35112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0" name="text:Add a test for the failure you demo"/>
          <p:cNvSpPr txBox="1"/>
          <p:nvPr/>
        </p:nvSpPr>
        <p:spPr>
          <a:xfrm>
            <a:off x="1874519" y="3364991"/>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Add a test for the failure you demo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akea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takeaways</a:t>
            </a:r>
          </a:p>
        </p:txBody>
      </p:sp>
      <p:sp>
        <p:nvSpPr>
          <p:cNvPr id="3"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1"/>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1</a:t>
            </a:r>
          </a:p>
        </p:txBody>
      </p:sp>
      <p:sp>
        <p:nvSpPr>
          <p:cNvPr id="6" name="text:Use the same evidence in the pitch, "/>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Use the same evidence in the pitch, the repo and the running demo.</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2"/>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2</a:t>
            </a:r>
          </a:p>
        </p:txBody>
      </p:sp>
      <p:sp>
        <p:nvSpPr>
          <p:cNvPr id="9" name="text:Say what works, what failed and what"/>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Say what works, what failed and what is untested.</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3"/>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3</a:t>
            </a:r>
          </a:p>
        </p:txBody>
      </p:sp>
      <p:sp>
        <p:nvSpPr>
          <p:cNvPr id="12" name="text:A good answer points to a test or ad"/>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A good answer points to a test or admits a limitation.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Before Demo Day,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Demo Day, in your own time.</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600200"/>
            <a:ext cx="2560320" cy="2377440"/>
          </a:xfrm>
          <a:prstGeom prst="roundRect">
            <a:avLst>
              <a:gd name="adj" fmla="val 538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Time your pitch three times and trim"/>
          <p:cNvSpPr txBox="1"/>
          <p:nvPr/>
        </p:nvSpPr>
        <p:spPr>
          <a:xfrm>
            <a:off x="74980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Time your pitch three times and trim the part that always runs long.</a:t>
            </a:r>
          </a:p>
        </p:txBody>
      </p:sp>
      <p:sp>
        <p:nvSpPr>
          <p:cNvPr id="9" name="Rounded Rectangle 8"/>
          <p:cNvSpPr/>
          <p:nvPr/>
        </p:nvSpPr>
        <p:spPr>
          <a:xfrm>
            <a:off x="3337560" y="1600200"/>
            <a:ext cx="2560320" cy="2377440"/>
          </a:xfrm>
          <a:prstGeom prst="roundRect">
            <a:avLst>
              <a:gd name="adj" fmla="val 538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Fill your own demo pack in the rubri"/>
          <p:cNvSpPr txBox="1"/>
          <p:nvPr/>
        </p:nvSpPr>
        <p:spPr>
          <a:xfrm>
            <a:off x="353872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Fill your own demo pack in the rubric and fix the first missing check.</a:t>
            </a:r>
          </a:p>
        </p:txBody>
      </p:sp>
      <p:sp>
        <p:nvSpPr>
          <p:cNvPr id="13" name="Rounded Rectangle 12"/>
          <p:cNvSpPr/>
          <p:nvPr/>
        </p:nvSpPr>
        <p:spPr>
          <a:xfrm>
            <a:off x="6126479" y="1600200"/>
            <a:ext cx="2560320" cy="2377440"/>
          </a:xfrm>
          <a:prstGeom prst="roundRect">
            <a:avLst>
              <a:gd name="adj" fmla="val 53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Write one funded devnet transaction "/>
          <p:cNvSpPr txBox="1"/>
          <p:nvPr/>
        </p:nvSpPr>
        <p:spPr>
          <a:xfrm>
            <a:off x="6327647"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Write one funded devnet transaction per decision and open the link in your pitch.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by Demo Da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by Demo Day.</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Freeze the commit and send the demo "/>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Freeze the commit and send the demo pack.</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18 FEB"/>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18 FEB</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Present at Demo Day, same evidence, "/>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Present at Demo Day, same evidence, same script.</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Send your repo link to the leads."/>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Send your repo link to the leads.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9-demo-rehearsal/demo"/>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0009-demo-rehearsal/demo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931920"/>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09.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his session's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this session's code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