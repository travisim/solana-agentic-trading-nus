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back, thanks for coming. I'm Travis. Tonight is build night 4, and the topic is not fooling yourself. The plan is the usual one: a short talk, three demos where you guess first, a guided mission, and then most of the night is you building. Tonight we try to break our own backtest, and then we break our own agent on purpose. If something we break tonight is something you have already shipped in your project, good. That is the point.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[18:02] Quick progress circle. Workshop 3 was on the twenty-first of January, deploying a venue component on devnet. Tonight is build night 4. Next Thursday the fourth of February is Workshop 4, performance scorecard and shipping, so what you validate tonight is what you will put a number on next week. Go round the room, one line each: what was your last result, and what do you suspect about it? Then the question for tonight: how do you break your own backtest before the market does? Keep a guess in your head.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Shape of the night. Ten minutes of talk, twenty of demos, twenty of guided mission where we all hunt the same planted bug, then fifty minutes of free build on your own project. Last ten: show and tell and push. In the demos I will ask you to predict before I run anything. Be wrong out loud. If you did not set up yet, do it during the mission, I will help.</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[18:11] Three traps, one card each. One, leakage: when test and training data sit next to each other, the model has already seen the answer. In our demo the same memoriser scores 60.4 percent balanced accuracy with shuffled folds and 53.9 percent when we cut by time and purge; a coin flip is 50. Two, best of many tries: try 50 random strategies and the best one looks brilliant, 1.00 in-sample here, and 0.17 on data it never saw. Three, a broken feed: an oracle that freezes still shows a normal looking number, but our alarm caught the simulated freeze 95 seconds after it started. Everything tonight is simulated on recorded data, not advice. For you only: leakage is inspired by chapter 7 of the book, tries by chapters 11 and 12, the alarm by chapter 17.</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[18:12] A label is what we are trying to predict, for example: does the price go up over the next h samples? So the label of moment i covers moments i to i plus h. The bracket under each moment shows that. Now look at the test block in lavender. The training moment just before it, the one with the red bracket, has a label that reaches into the test block. So the model trains on a piece of the test answer. Neighbours share futures. If you shuffle your folds, almost every test moment has such a neighbour. That is the leak. Illustrative picture, h of 6.</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[18:13] Same picture, two fixes. Purge: drop every training moment whose label overlaps a test label. Those are the red ones, crossed out. Embargo: drop a few more moments right after the test block, in yellow, because markets stay correlated for a while after the test window. The price is fewer training moments: on the real data with h of 24 and an embargo of 12, about 48 of roughly 346 training moments go in each fold. The reward is a score you can believe. Note shuffled folds cannot be purged at all: every training moment sits next to a test moment, nothing is left. So: cut folds by time first.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[18:14] A second kind of leak is in the strategy itself. Look at the red line: shift equals one if leak. The windows end one step too late, so the decision at moment i quietly uses the price at i plus one. It looks harmless, and on the data the leaky version makes 18.84 dollars before costs against minus 1.76 for the fixed one, same 61 trades. A time split would not catch this because the future is peeked everywhere. The causality test does: cut the series off at i, recompute the signal, compare. 37 of 440 moments change for the leaky version, 0 of 440 for the fixed one. That is tonight's mission: find it, fix it. Simulated, on recorded data, not advice.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[18:15] Now the second trap. We drew 50 random strategies: moving-average trends, mean reversion, oracle basis from build night 1 with random settings, plus a coin flip that has no skill by construction. Each dot is one strategy. Across is the score in-sample, up is the score on data it never saw. The winner in-sample is the highlighted dot, a coin flip called 704396, with a score of 1.00. On fresh data it scores 0.17. We picked the best, so of course it looked good. The score is mean over standard deviation of per-trade profit, before costs, with at least four trades. Illustrative of how selection works, from the recorded data.</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How good should the best of N look by pure luck? There is a formula for the expected best of N zero-skill tries; it is the idea behind the deflated Sharpe ratio. The lavender line is that luck benchmark, it climbs as the number of tries grows. The mint line is the best score so far. Once the mint line is not clearly above the lavender one, you cannot tell your strategy from luck. At 50 tries the benchmark is 0.76 and the winner is 1.00. Over 20 draws the best in-sample averaged 0.51 and the same strategies averaged 0.12 on fresh data, and the best beat its benchmark in only 4 of 20 draws. With costs of 5 plus 2 bps per leg nothing wins at all in this calm window. Keep a count of your own tries.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[18:17] Where the numbers come from. 481 samples, one every 5 seconds, 40 minutes of real Jupiter, Pyth and Orca prices recorded on the 21st of October, from earlier build nights. The leak table uses balanced accuracy, the average of the hit rate on rising and on falling moments, so always guessing one side scores 50. With h of 24: shuffled folds 60.4 percent, contiguous with purge and embargo 53.9; at h of 48, 56.8 versus 35.3. We use balanced accuracy because this window drifted up: plain accuracy for guessing up every time would be 63.5 percent at h of 24. Values under 50, like 35.3, are noise and regime change, not a trading signal. The lesson is the gap between fold schemes. With 433 test moments, one standard error is about 2.4 points. Reads use public mainnet data; every write is devnet only; no real funds.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[18:18] Third trap. Take the gap between the venue price and the oracle price in basis points. When the feed is healthy it wobbles around 2 bps, standard deviation about 2.7. If the oracle freezes, the gap drifts away as the market moves. A CUSUM adds up the standardised gap minus a small slack and rings when the total passes a level. On the healthy 40 minutes: no alarm. On the simulated freeze: alarm 95 seconds after it started. Same idea as the CUSUM change filter from build night 2, pointed at feed health. The freeze is simulated, the prices are real. Try it yourself on the link, drag the alarm level. Book note: inspired by CUSUM structural break tests, chapter 17.</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Our failure injector. Five faults, all simulated on top of real prices, nothing live is attacked. Stale oracle: the oracle stops updating and the market moves 80 bps. RPC outage: HTTP 429 for five minutes, the agent keeps its last prices; with a one second retry that is 300 calls, with back-off 14. Slippage shock: every fill 40 bps worse. Fee change: from 5 to 30 bps per leg. Duplicate submission: a timeout makes the agent send each order twice. A paper agent sends one 250 dollar order every 30 seconds through the build night 1 risk hook. Before the next slide, predict: which does the hook stop?</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The hook is unchanged from build night 1. Stale oracle: it rejects 8 of 10 orders by oracle age and lets 2 through in the first minute, so the loss is 2.02 dollars instead of 10.04. RPC outage: same, 8 rejected, 2.05 instead of 10.17. Then the three it cannot see: slippage shock, all 10 accepted, 10 dollars lost; fee change, all accepted, 6.25 dollars of extra fees; duplicates, 20 accepted, 5000 dollars of exposure. Two tiny guards fix some of this: an idempotency key leaves 10 orders, a circuit breaker stops after 3 bad fills and the loss falls to 3 dollars. The lesson: every failure you can name should become a test. Simulated, on recorded data, not advice.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Demo 1. Predict first: does the memoriser score higher with shuffled folds or with a purge, and by how many points? Run it, or open the demo: pick shuffled folds, then contiguous, switch purge on and drag the embargo slider. Watch the purged cells turn red, the training count drop, and the balanced accuracy fall (50 percent is a coin flip). Fallback: recorded data is default, no network. Live mode is a strip that shows the live Pyth age and pool price; it is not part of the simulation. If someone asks why accuracy goes below 50 percent: small sample, regime changes, a few points of noise.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[18:27] Demo 2. Predict: how much of the winner's score survives on data it never saw? Slide the number of tries from 1 up to 50 and watch the best dot move up while the luck benchmark rises with it. Change the draw: another seed gives another 50 strategies and a different winner. Then raise the cost slider to a few bps and see the cloud sink below zero. Honest caveat: in draw 1 the winner is a coin flip that still clears its benchmark by 0.25, which tells you the benchmark itself is a rough guide with only about 48 noisy scores behind it.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[18:34] Demo 3. Predict: which of the five faults does the risk hook stop? Pick a fault, set its length and size, then watch each order on the timeline: accepted, rejected with the rule, or bad fill. Tighten the max oracle age slider from 60 to 20 seconds and watch the first-minute leak shrink. Toggle the extra guards and see duplicates and slippage get handled. In live mode a real Pyth read goes through the same hook every five seconds and the fault buttons simulate staleness on top. Everything injected is simulated.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All four demos are static pages, no install, they work on your phone or laptop. Scan the code or type the address. The same files are in the repo and open from disk, so if the campus Wi-Fi misbehaves you still have them. Recorded is the default; Live is opt-in and falls back to recorded by itself if an endpoint is rate limited. Take two minutes now, then we move to the mission.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[18:42] Twenty minutes, all of us on the same small thing. Step one, run the sample leaky strategy and note its profit. Step two, find the planted leak: run the causality test and see which moments change when the future is cut off. Step three, fix it, change the shift to zero, and score with a purged split instead of a plain one. Step four, chart before and after. Finish line: one chart with a before and an after. If you finish early, run the causality test on a signal from your own project.</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Fifty minutes of free build. Pick one. Beginner: audit your own project for a leak, look for any place that uses a future value, a full-sample mean, or shuffled folds. Standard: put a purged split on your strategy. Or a feed-health alert that rings when your oracle gap drifts. Advanced: write a regression test for a failure you injected, one that fails first and then passes after your fix. Or bring your own project and tell me what you want to break. I will walk around.</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[19:50] Three things. One: neighbouring moments leak, so cut folds by time, then purge and embargo. Two: the best of many tries is mostly luck, so deflate it against a luck benchmark and test on fresh data. Three: inject failures; our hook stopped stale data but not slippage, fees or duplicates, and every failure you name should become a test. Ask the room: which assumption failed in your project tonight? Could a user tell something went wrong? What test stops it coming back?</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[19:53] After tonight, in your own time. Beginner: run the causality test on a signal from your own project. Standard: raise the number of tries from 10 to 100 and chart the best score against the luck benchmark. Advanced: add a guard for a fault the hook missed, with a regression test that fails first. Everything is in the repo, and you need no AI credits and no keys for any of it: you can hand-edit one parameter and rerun.</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Before you leave, push your branch to your own repo. By Thursday the fourth of February, bring one honest number to Workshop 4, with its limitations next to it. And any time, send your repo link to the leads. Show and tell now: one line each, what did you break, and what did you fix?</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[19:57] Everything from tonight is in the shared repo, in the folder for session 0007. Scan the code. From the demo code folder run npm install, then npm run demo with the recorded flag. Node 24. No keys, no AI credits, recorded data is bundled. Reads use public mainnet data and every write is devnet only, no real funds.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If you want to keep going, find me on LinkedIn or Telegram. Send me what you broke and what you fixed, I like reading those. Thank you, see you next Thursday for Workshop 4.</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End of the session. Leave this slide up while people pack up and take photos. Remind everyone the 48-hour report is the leads' job, but the feedback form after every workshop is theirs.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6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70.png"/><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74.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Build night 4"/>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Build night 4</a:t>
            </a:r>
          </a:p>
        </p:txBody>
      </p:sp>
      <p:sp>
        <p:nvSpPr>
          <p:cNvPr id="4" name="text:Backtest Validation and Failure Test"/>
          <p:cNvSpPr txBox="1"/>
          <p:nvPr/>
        </p:nvSpPr>
        <p:spPr>
          <a:xfrm>
            <a:off x="5257800" y="1325880"/>
            <a:ext cx="3566160" cy="109728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Backtest Validation</a:t>
            </a:r>
          </a:p>
          <a:p>
            <a:pPr>
              <a:lnSpc>
                <a:spcPct val="106000"/>
              </a:lnSpc>
              <a:spcAft>
                <a:spcPts val="400"/>
              </a:spcAft>
              <a:defRPr sz="2000" b="0">
                <a:solidFill>
                  <a:srgbClr val="F2F5F8"/>
                </a:solidFill>
                <a:latin typeface="Helvetica Neue"/>
              </a:defRPr>
            </a:pPr>
            <a:r>
              <a:t>and Failure Testing</a:t>
            </a:r>
          </a:p>
        </p:txBody>
      </p:sp>
      <p:sp>
        <p:nvSpPr>
          <p:cNvPr id="5" name="text:Try to break your own backtest befor"/>
          <p:cNvSpPr txBox="1"/>
          <p:nvPr/>
        </p:nvSpPr>
        <p:spPr>
          <a:xfrm>
            <a:off x="5257800" y="2514600"/>
            <a:ext cx="3383280" cy="82296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Try to break your own backtest before the market does.</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28 Jan 2027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28 Jan 2027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re we ar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Where we are</a:t>
            </a:r>
          </a:p>
        </p:txBody>
      </p:sp>
      <p:sp>
        <p:nvSpPr>
          <p:cNvPr id="3" name="text:Tonight we try to break our own back"/>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Tonight we try to break our own backtest, then break our own agent.</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783080"/>
            <a:ext cx="2560320" cy="2331720"/>
          </a:xfrm>
          <a:prstGeom prst="roundRect">
            <a:avLst>
              <a:gd name="adj" fmla="val 549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92807"/>
            <a:ext cx="619963" cy="219456"/>
          </a:xfrm>
          <a:prstGeom prst="roundRect">
            <a:avLst>
              <a:gd name="adj" fmla="val 5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DONE"/>
          <p:cNvSpPr txBox="1"/>
          <p:nvPr/>
        </p:nvSpPr>
        <p:spPr>
          <a:xfrm>
            <a:off x="74980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DONE</a:t>
            </a:r>
          </a:p>
        </p:txBody>
      </p:sp>
      <p:sp>
        <p:nvSpPr>
          <p:cNvPr id="8" name="text:Workshop 3"/>
          <p:cNvSpPr txBox="1"/>
          <p:nvPr/>
        </p:nvSpPr>
        <p:spPr>
          <a:xfrm>
            <a:off x="74980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3</a:t>
            </a:r>
          </a:p>
        </p:txBody>
      </p:sp>
      <p:sp>
        <p:nvSpPr>
          <p:cNvPr id="9" name="text:Thu 21 Jan"/>
          <p:cNvSpPr txBox="1"/>
          <p:nvPr/>
        </p:nvSpPr>
        <p:spPr>
          <a:xfrm>
            <a:off x="74980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Thu 21 Jan</a:t>
            </a:r>
          </a:p>
        </p:txBody>
      </p:sp>
      <p:sp>
        <p:nvSpPr>
          <p:cNvPr id="10" name="text:Deploy a venue component on devnet"/>
          <p:cNvSpPr txBox="1"/>
          <p:nvPr/>
        </p:nvSpPr>
        <p:spPr>
          <a:xfrm>
            <a:off x="74980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Deploy a venue component on devnet</a:t>
            </a:r>
          </a:p>
        </p:txBody>
      </p:sp>
      <p:cxnSp>
        <p:nvCxnSpPr>
          <p:cNvPr id="11" name="Connector 10"/>
          <p:cNvCxnSpPr/>
          <p:nvPr/>
        </p:nvCxnSpPr>
        <p:spPr>
          <a:xfrm>
            <a:off x="313639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83080"/>
            <a:ext cx="2560320" cy="2331720"/>
          </a:xfrm>
          <a:prstGeom prst="roundRect">
            <a:avLst>
              <a:gd name="adj" fmla="val 549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38728" y="1892807"/>
            <a:ext cx="879195" cy="219456"/>
          </a:xfrm>
          <a:prstGeom prst="roundRect">
            <a:avLst>
              <a:gd name="adj" fmla="val 50000"/>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ONIGHT"/>
          <p:cNvSpPr txBox="1"/>
          <p:nvPr/>
        </p:nvSpPr>
        <p:spPr>
          <a:xfrm>
            <a:off x="3538728" y="1911095"/>
            <a:ext cx="879195"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TONIGHT</a:t>
            </a:r>
          </a:p>
        </p:txBody>
      </p:sp>
      <p:sp>
        <p:nvSpPr>
          <p:cNvPr id="15" name="text:Build night 4"/>
          <p:cNvSpPr txBox="1"/>
          <p:nvPr/>
        </p:nvSpPr>
        <p:spPr>
          <a:xfrm>
            <a:off x="353872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4</a:t>
            </a:r>
          </a:p>
        </p:txBody>
      </p:sp>
      <p:sp>
        <p:nvSpPr>
          <p:cNvPr id="16" name="text:Thu 28 Jan"/>
          <p:cNvSpPr txBox="1"/>
          <p:nvPr/>
        </p:nvSpPr>
        <p:spPr>
          <a:xfrm>
            <a:off x="353872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Thu 28 Jan</a:t>
            </a:r>
          </a:p>
        </p:txBody>
      </p:sp>
      <p:sp>
        <p:nvSpPr>
          <p:cNvPr id="17" name="text:Backtest validation and failure test"/>
          <p:cNvSpPr txBox="1"/>
          <p:nvPr/>
        </p:nvSpPr>
        <p:spPr>
          <a:xfrm>
            <a:off x="353872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Backtest validation and failure testing</a:t>
            </a:r>
          </a:p>
        </p:txBody>
      </p:sp>
      <p:cxnSp>
        <p:nvCxnSpPr>
          <p:cNvPr id="18" name="Connector 17"/>
          <p:cNvCxnSpPr/>
          <p:nvPr/>
        </p:nvCxnSpPr>
        <p:spPr>
          <a:xfrm>
            <a:off x="592531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783080"/>
            <a:ext cx="2560320" cy="2331720"/>
          </a:xfrm>
          <a:prstGeom prst="roundRect">
            <a:avLst>
              <a:gd name="adj" fmla="val 549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27648" y="1892807"/>
            <a:ext cx="619963" cy="219456"/>
          </a:xfrm>
          <a:prstGeom prst="roundRect">
            <a:avLst>
              <a:gd name="adj" fmla="val 50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NEXT"/>
          <p:cNvSpPr txBox="1"/>
          <p:nvPr/>
        </p:nvSpPr>
        <p:spPr>
          <a:xfrm>
            <a:off x="632764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NEXT</a:t>
            </a:r>
          </a:p>
        </p:txBody>
      </p:sp>
      <p:sp>
        <p:nvSpPr>
          <p:cNvPr id="22" name="text:Workshop 4"/>
          <p:cNvSpPr txBox="1"/>
          <p:nvPr/>
        </p:nvSpPr>
        <p:spPr>
          <a:xfrm>
            <a:off x="632764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4</a:t>
            </a:r>
          </a:p>
        </p:txBody>
      </p:sp>
      <p:sp>
        <p:nvSpPr>
          <p:cNvPr id="23" name="text:Thu 4 Feb"/>
          <p:cNvSpPr txBox="1"/>
          <p:nvPr/>
        </p:nvSpPr>
        <p:spPr>
          <a:xfrm>
            <a:off x="632764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Thu 4 Feb</a:t>
            </a:r>
          </a:p>
        </p:txBody>
      </p:sp>
      <p:sp>
        <p:nvSpPr>
          <p:cNvPr id="24" name="text:Performance scorecard and shipping"/>
          <p:cNvSpPr txBox="1"/>
          <p:nvPr/>
        </p:nvSpPr>
        <p:spPr>
          <a:xfrm>
            <a:off x="632764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Performance scorecard and shipping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Tonight</a:t>
            </a:r>
          </a:p>
        </p:txBody>
      </p:sp>
      <p:sp>
        <p:nvSpPr>
          <p:cNvPr id="3" name="text:18:00 to 20:00, mostly hands o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mostly hands on.</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00"/>
          <p:cNvSpPr txBox="1"/>
          <p:nvPr/>
        </p:nvSpPr>
        <p:spPr>
          <a:xfrm>
            <a:off x="73152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18:00</a:t>
            </a:r>
          </a:p>
        </p:txBody>
      </p:sp>
      <p:sp>
        <p:nvSpPr>
          <p:cNvPr id="7" name="text:10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8" name="text:Progress circle"/>
          <p:cNvSpPr txBox="1"/>
          <p:nvPr/>
        </p:nvSpPr>
        <p:spPr>
          <a:xfrm>
            <a:off x="73152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Progress circle</a:t>
            </a:r>
          </a:p>
        </p:txBody>
      </p:sp>
      <p:sp>
        <p:nvSpPr>
          <p:cNvPr id="9" name="text:last result and tonight's question"/>
          <p:cNvSpPr txBox="1"/>
          <p:nvPr/>
        </p:nvSpPr>
        <p:spPr>
          <a:xfrm>
            <a:off x="73152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last result and tonight's question</a:t>
            </a:r>
          </a:p>
        </p:txBody>
      </p:sp>
      <p:sp>
        <p:nvSpPr>
          <p:cNvPr id="10" name="Rounded Rectangle 9"/>
          <p:cNvSpPr/>
          <p:nvPr/>
        </p:nvSpPr>
        <p:spPr>
          <a:xfrm>
            <a:off x="333756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10"/>
          <p:cNvSpPr txBox="1"/>
          <p:nvPr/>
        </p:nvSpPr>
        <p:spPr>
          <a:xfrm>
            <a:off x="352044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18:10</a:t>
            </a:r>
          </a:p>
        </p:txBody>
      </p:sp>
      <p:sp>
        <p:nvSpPr>
          <p:cNvPr id="12" name="text:10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13" name="text:Mini-talk"/>
          <p:cNvSpPr txBox="1"/>
          <p:nvPr/>
        </p:nvSpPr>
        <p:spPr>
          <a:xfrm>
            <a:off x="352044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Mini-talk</a:t>
            </a:r>
          </a:p>
        </p:txBody>
      </p:sp>
      <p:sp>
        <p:nvSpPr>
          <p:cNvPr id="14" name="text:leakage and the best-of-many-tries t"/>
          <p:cNvSpPr txBox="1"/>
          <p:nvPr/>
        </p:nvSpPr>
        <p:spPr>
          <a:xfrm>
            <a:off x="352044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leakage and the best-of-many-tries trap</a:t>
            </a:r>
          </a:p>
        </p:txBody>
      </p:sp>
      <p:sp>
        <p:nvSpPr>
          <p:cNvPr id="15" name="Rounded Rectangle 14"/>
          <p:cNvSpPr/>
          <p:nvPr/>
        </p:nvSpPr>
        <p:spPr>
          <a:xfrm>
            <a:off x="6126479"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8:20"/>
          <p:cNvSpPr txBox="1"/>
          <p:nvPr/>
        </p:nvSpPr>
        <p:spPr>
          <a:xfrm>
            <a:off x="6309359"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18:20</a:t>
            </a:r>
          </a:p>
        </p:txBody>
      </p:sp>
      <p:sp>
        <p:nvSpPr>
          <p:cNvPr id="17" name="text:20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18" name="text:Demo tour"/>
          <p:cNvSpPr txBox="1"/>
          <p:nvPr/>
        </p:nvSpPr>
        <p:spPr>
          <a:xfrm>
            <a:off x="6309359"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Demo tour</a:t>
            </a:r>
          </a:p>
        </p:txBody>
      </p:sp>
      <p:sp>
        <p:nvSpPr>
          <p:cNvPr id="19" name="text:you predict, then we run it"/>
          <p:cNvSpPr txBox="1"/>
          <p:nvPr/>
        </p:nvSpPr>
        <p:spPr>
          <a:xfrm>
            <a:off x="6309359"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 predict, then we run it</a:t>
            </a:r>
          </a:p>
        </p:txBody>
      </p:sp>
      <p:sp>
        <p:nvSpPr>
          <p:cNvPr id="20" name="Rounded Rectangle 19"/>
          <p:cNvSpPr/>
          <p:nvPr/>
        </p:nvSpPr>
        <p:spPr>
          <a:xfrm>
            <a:off x="54864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8:40"/>
          <p:cNvSpPr txBox="1"/>
          <p:nvPr/>
        </p:nvSpPr>
        <p:spPr>
          <a:xfrm>
            <a:off x="73152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18:40</a:t>
            </a:r>
          </a:p>
        </p:txBody>
      </p:sp>
      <p:sp>
        <p:nvSpPr>
          <p:cNvPr id="22" name="text:20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23" name="text:Guided mission"/>
          <p:cNvSpPr txBox="1"/>
          <p:nvPr/>
        </p:nvSpPr>
        <p:spPr>
          <a:xfrm>
            <a:off x="73152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Guided mission</a:t>
            </a:r>
          </a:p>
        </p:txBody>
      </p:sp>
      <p:sp>
        <p:nvSpPr>
          <p:cNvPr id="24" name="text:find the planted leak, fix it"/>
          <p:cNvSpPr txBox="1"/>
          <p:nvPr/>
        </p:nvSpPr>
        <p:spPr>
          <a:xfrm>
            <a:off x="73152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find the planted leak, fix it</a:t>
            </a:r>
          </a:p>
        </p:txBody>
      </p:sp>
      <p:sp>
        <p:nvSpPr>
          <p:cNvPr id="25" name="Rounded Rectangle 24"/>
          <p:cNvSpPr/>
          <p:nvPr/>
        </p:nvSpPr>
        <p:spPr>
          <a:xfrm>
            <a:off x="3337560" y="315468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00"/>
          <p:cNvSpPr txBox="1"/>
          <p:nvPr/>
        </p:nvSpPr>
        <p:spPr>
          <a:xfrm>
            <a:off x="352044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19:00</a:t>
            </a:r>
          </a:p>
        </p:txBody>
      </p:sp>
      <p:sp>
        <p:nvSpPr>
          <p:cNvPr id="27" name="text:50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50 min</a:t>
            </a:r>
          </a:p>
        </p:txBody>
      </p:sp>
      <p:sp>
        <p:nvSpPr>
          <p:cNvPr id="28" name="text:Free build"/>
          <p:cNvSpPr txBox="1"/>
          <p:nvPr/>
        </p:nvSpPr>
        <p:spPr>
          <a:xfrm>
            <a:off x="352044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Free build</a:t>
            </a:r>
          </a:p>
        </p:txBody>
      </p:sp>
      <p:sp>
        <p:nvSpPr>
          <p:cNvPr id="29" name="text:your own project"/>
          <p:cNvSpPr txBox="1"/>
          <p:nvPr/>
        </p:nvSpPr>
        <p:spPr>
          <a:xfrm>
            <a:off x="352044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your own project</a:t>
            </a:r>
          </a:p>
        </p:txBody>
      </p:sp>
      <p:sp>
        <p:nvSpPr>
          <p:cNvPr id="30" name="Rounded Rectangle 29"/>
          <p:cNvSpPr/>
          <p:nvPr/>
        </p:nvSpPr>
        <p:spPr>
          <a:xfrm>
            <a:off x="6126479"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50"/>
          <p:cNvSpPr txBox="1"/>
          <p:nvPr/>
        </p:nvSpPr>
        <p:spPr>
          <a:xfrm>
            <a:off x="6309359"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19:50</a:t>
            </a:r>
          </a:p>
        </p:txBody>
      </p:sp>
      <p:sp>
        <p:nvSpPr>
          <p:cNvPr id="32" name="text:10 min"/>
          <p:cNvSpPr txBox="1"/>
          <p:nvPr/>
        </p:nvSpPr>
        <p:spPr>
          <a:xfrm>
            <a:off x="7589519"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33" name="text:Show and tell"/>
          <p:cNvSpPr txBox="1"/>
          <p:nvPr/>
        </p:nvSpPr>
        <p:spPr>
          <a:xfrm>
            <a:off x="6309359"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Show and tell</a:t>
            </a:r>
          </a:p>
        </p:txBody>
      </p:sp>
      <p:sp>
        <p:nvSpPr>
          <p:cNvPr id="34" name="text:push, one line on next step"/>
          <p:cNvSpPr txBox="1"/>
          <p:nvPr/>
        </p:nvSpPr>
        <p:spPr>
          <a:xfrm>
            <a:off x="6309359"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push, one line on next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ways to fool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ways to fool yourself</a:t>
            </a:r>
          </a:p>
        </p:txBody>
      </p:sp>
      <p:sp>
        <p:nvSpPr>
          <p:cNvPr id="3" name="text:A backtest can look great and mean 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backtest can look great and mean nothing.</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508760"/>
            <a:ext cx="2560320" cy="2971800"/>
          </a:xfrm>
          <a:prstGeom prst="roundRect">
            <a:avLst>
              <a:gd name="adj" fmla="val 500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LEAKAGE"/>
          <p:cNvSpPr txBox="1"/>
          <p:nvPr/>
        </p:nvSpPr>
        <p:spPr>
          <a:xfrm>
            <a:off x="749808" y="1691640"/>
            <a:ext cx="2194560" cy="201168"/>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1  LEAKAGE</a:t>
            </a:r>
          </a:p>
        </p:txBody>
      </p:sp>
      <p:sp>
        <p:nvSpPr>
          <p:cNvPr id="7" name="text:60.4% to 53.9%"/>
          <p:cNvSpPr txBox="1"/>
          <p:nvPr/>
        </p:nvSpPr>
        <p:spPr>
          <a:xfrm>
            <a:off x="749808" y="2148840"/>
            <a:ext cx="2286000" cy="45720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60.4% to 53.9%</a:t>
            </a:r>
          </a:p>
        </p:txBody>
      </p:sp>
      <p:sp>
        <p:nvSpPr>
          <p:cNvPr id="8" name="text:Balanced accuracy of the same memori"/>
          <p:cNvSpPr txBox="1"/>
          <p:nvPr/>
        </p:nvSpPr>
        <p:spPr>
          <a:xfrm>
            <a:off x="749808" y="2926080"/>
            <a:ext cx="2194560" cy="146304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Balanced accuracy of the same memoriser: shuffled folds, then time folds plus purge and embargo (label horizon 24). A coin flip is 50%.</a:t>
            </a:r>
          </a:p>
        </p:txBody>
      </p:sp>
      <p:sp>
        <p:nvSpPr>
          <p:cNvPr id="9" name="Rounded Rectangle 8"/>
          <p:cNvSpPr/>
          <p:nvPr/>
        </p:nvSpPr>
        <p:spPr>
          <a:xfrm>
            <a:off x="3337560" y="1508760"/>
            <a:ext cx="2560320" cy="2971800"/>
          </a:xfrm>
          <a:prstGeom prst="roundRect">
            <a:avLst>
              <a:gd name="adj" fmla="val 500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BEST OF MANY TRIES"/>
          <p:cNvSpPr txBox="1"/>
          <p:nvPr/>
        </p:nvSpPr>
        <p:spPr>
          <a:xfrm>
            <a:off x="3538728" y="1691640"/>
            <a:ext cx="2194560" cy="201168"/>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2  BEST OF MANY TRIES</a:t>
            </a:r>
          </a:p>
        </p:txBody>
      </p:sp>
      <p:sp>
        <p:nvSpPr>
          <p:cNvPr id="11" name="text:1.00 to 0.17"/>
          <p:cNvSpPr txBox="1"/>
          <p:nvPr/>
        </p:nvSpPr>
        <p:spPr>
          <a:xfrm>
            <a:off x="3538728" y="2148840"/>
            <a:ext cx="2286000" cy="45720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1.00 to 0.17</a:t>
            </a:r>
          </a:p>
        </p:txBody>
      </p:sp>
      <p:sp>
        <p:nvSpPr>
          <p:cNvPr id="12" name="text:Score of the best of 50 random strat"/>
          <p:cNvSpPr txBox="1"/>
          <p:nvPr/>
        </p:nvSpPr>
        <p:spPr>
          <a:xfrm>
            <a:off x="3538728" y="2926080"/>
            <a:ext cx="2194560" cy="146304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Score of the best of 50 random strategies: on the data it was picked on, then on data it never saw.</a:t>
            </a:r>
          </a:p>
        </p:txBody>
      </p:sp>
      <p:sp>
        <p:nvSpPr>
          <p:cNvPr id="13" name="Rounded Rectangle 12"/>
          <p:cNvSpPr/>
          <p:nvPr/>
        </p:nvSpPr>
        <p:spPr>
          <a:xfrm>
            <a:off x="6126479" y="1508760"/>
            <a:ext cx="2560320" cy="2971800"/>
          </a:xfrm>
          <a:prstGeom prst="roundRect">
            <a:avLst>
              <a:gd name="adj" fmla="val 5000"/>
            </a:avLst>
          </a:prstGeom>
          <a:noFill/>
          <a:ln w="1524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A BROKEN FEED"/>
          <p:cNvSpPr txBox="1"/>
          <p:nvPr/>
        </p:nvSpPr>
        <p:spPr>
          <a:xfrm>
            <a:off x="6327647" y="1691640"/>
            <a:ext cx="2194560" cy="201168"/>
          </a:xfrm>
          <a:prstGeom prst="rect">
            <a:avLst/>
          </a:prstGeom>
          <a:noFill/>
        </p:spPr>
        <p:txBody>
          <a:bodyPr wrap="square" lIns="9144" rIns="9144" tIns="0" bIns="0">
            <a:spAutoFit/>
          </a:bodyPr>
          <a:lstStyle/>
          <a:p>
            <a:pPr>
              <a:lnSpc>
                <a:spcPct val="106000"/>
              </a:lnSpc>
              <a:spcAft>
                <a:spcPts val="400"/>
              </a:spcAft>
              <a:defRPr sz="1000" b="0">
                <a:solidFill>
                  <a:srgbClr val="FFC15A"/>
                </a:solidFill>
                <a:latin typeface="Helvetica Neue"/>
              </a:defRPr>
            </a:pPr>
            <a:r>
              <a:t>3  A BROKEN FEED</a:t>
            </a:r>
          </a:p>
        </p:txBody>
      </p:sp>
      <p:sp>
        <p:nvSpPr>
          <p:cNvPr id="15" name="text:95 s"/>
          <p:cNvSpPr txBox="1"/>
          <p:nvPr/>
        </p:nvSpPr>
        <p:spPr>
          <a:xfrm>
            <a:off x="6327647" y="2148840"/>
            <a:ext cx="2286000" cy="45720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95 s</a:t>
            </a:r>
          </a:p>
        </p:txBody>
      </p:sp>
      <p:sp>
        <p:nvSpPr>
          <p:cNvPr id="16" name="text:Time for the alarm to catch a simula"/>
          <p:cNvSpPr txBox="1"/>
          <p:nvPr/>
        </p:nvSpPr>
        <p:spPr>
          <a:xfrm>
            <a:off x="6327647" y="2926080"/>
            <a:ext cx="2194560" cy="146304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Time for the alarm to catch a simulated oracle freeze. No false alarm on the healthy 40 minutes.</a:t>
            </a:r>
          </a:p>
        </p:txBody>
      </p:sp>
      <p:sp>
        <p:nvSpPr>
          <p:cNvPr id="17" name="text:Numbers from demo-repo/code/out (spl"/>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Numbers from demo-repo/code/out (splits.json, overfit.json, breaks.json). Simulated, on recorded data; not advice.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verlapping labels lea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Overlapping labels leak</a:t>
            </a:r>
          </a:p>
        </p:txBody>
      </p:sp>
      <p:sp>
        <p:nvSpPr>
          <p:cNvPr id="3" name="text:A label looks ahead, so neighbours 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label looks ahead, so neighbours share answers.</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text:Every moment is labelled by what hap"/>
          <p:cNvSpPr txBox="1"/>
          <p:nvPr/>
        </p:nvSpPr>
        <p:spPr>
          <a:xfrm>
            <a:off x="548640" y="1371600"/>
            <a:ext cx="8092440" cy="457200"/>
          </a:xfrm>
          <a:prstGeom prst="rect">
            <a:avLst/>
          </a:prstGeom>
          <a:noFill/>
        </p:spPr>
        <p:txBody>
          <a:bodyPr wrap="square" lIns="9144" rIns="9144" tIns="0" bIns="0">
            <a:spAutoFit/>
          </a:bodyPr>
          <a:lstStyle/>
          <a:p>
            <a:pPr>
              <a:lnSpc>
                <a:spcPct val="106000"/>
              </a:lnSpc>
              <a:spcAft>
                <a:spcPts val="400"/>
              </a:spcAft>
              <a:defRPr sz="1400" b="0">
                <a:solidFill>
                  <a:srgbClr val="B3A5FF"/>
                </a:solidFill>
                <a:latin typeface="Helvetica Neue"/>
              </a:defRPr>
            </a:pPr>
            <a:r>
              <a:t>Every moment is labelled by what happens in the next h samples. Two moments next to each other share most of that future.</a:t>
            </a:r>
          </a:p>
        </p:txBody>
      </p:sp>
      <p:sp>
        <p:nvSpPr>
          <p:cNvPr id="6" name="Rounded Rectangle 5"/>
          <p:cNvSpPr/>
          <p:nvPr/>
        </p:nvSpPr>
        <p:spPr>
          <a:xfrm>
            <a:off x="56235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714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1193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3672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46151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68630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1109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3588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36067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58546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1025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03504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5983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48462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70941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93420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15899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8378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60857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83336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5815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8294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50773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73252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5731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8210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0689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3168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85647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08126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30605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53084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75563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98042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0521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43000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MOMENTS, IN TIME ORDER"/>
          <p:cNvSpPr txBox="1"/>
          <p:nvPr/>
        </p:nvSpPr>
        <p:spPr>
          <a:xfrm>
            <a:off x="548640" y="1901952"/>
            <a:ext cx="27432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MOMENTS, IN TIME ORDER</a:t>
            </a:r>
          </a:p>
        </p:txBody>
      </p:sp>
      <p:sp>
        <p:nvSpPr>
          <p:cNvPr id="43" name="Rounded Rectangle 42"/>
          <p:cNvSpPr/>
          <p:nvPr/>
        </p:nvSpPr>
        <p:spPr>
          <a:xfrm>
            <a:off x="4572000" y="1874519"/>
            <a:ext cx="682371" cy="201168"/>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train"/>
          <p:cNvSpPr txBox="1"/>
          <p:nvPr/>
        </p:nvSpPr>
        <p:spPr>
          <a:xfrm>
            <a:off x="4572000" y="1892807"/>
            <a:ext cx="682371" cy="182880"/>
          </a:xfrm>
          <a:prstGeom prst="rect">
            <a:avLst/>
          </a:prstGeom>
          <a:noFill/>
        </p:spPr>
        <p:txBody>
          <a:bodyPr wrap="square" lIns="9144" rIns="9144" tIns="0" bIns="0" anchor="ctr">
            <a:spAutoFit/>
          </a:bodyPr>
          <a:lstStyle/>
          <a:p>
            <a:pPr algn="ctr">
              <a:lnSpc>
                <a:spcPct val="106000"/>
              </a:lnSpc>
              <a:spcAft>
                <a:spcPts val="400"/>
              </a:spcAft>
              <a:defRPr sz="850" b="0">
                <a:solidFill>
                  <a:srgbClr val="3DDC97"/>
                </a:solidFill>
                <a:latin typeface="Helvetica Neue"/>
              </a:defRPr>
            </a:pPr>
            <a:r>
              <a:t>train</a:t>
            </a:r>
          </a:p>
        </p:txBody>
      </p:sp>
      <p:sp>
        <p:nvSpPr>
          <p:cNvPr id="45" name="Rounded Rectangle 44"/>
          <p:cNvSpPr/>
          <p:nvPr/>
        </p:nvSpPr>
        <p:spPr>
          <a:xfrm>
            <a:off x="5364099" y="1874519"/>
            <a:ext cx="600760" cy="201168"/>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test"/>
          <p:cNvSpPr txBox="1"/>
          <p:nvPr/>
        </p:nvSpPr>
        <p:spPr>
          <a:xfrm>
            <a:off x="5364099" y="1892807"/>
            <a:ext cx="600760" cy="182880"/>
          </a:xfrm>
          <a:prstGeom prst="rect">
            <a:avLst/>
          </a:prstGeom>
          <a:noFill/>
        </p:spPr>
        <p:txBody>
          <a:bodyPr wrap="square" lIns="9144" rIns="9144" tIns="0" bIns="0" anchor="ctr">
            <a:spAutoFit/>
          </a:bodyPr>
          <a:lstStyle/>
          <a:p>
            <a:pPr algn="ctr">
              <a:lnSpc>
                <a:spcPct val="106000"/>
              </a:lnSpc>
              <a:spcAft>
                <a:spcPts val="400"/>
              </a:spcAft>
              <a:defRPr sz="850" b="0">
                <a:solidFill>
                  <a:srgbClr val="B3A5FF"/>
                </a:solidFill>
                <a:latin typeface="Helvetica Neue"/>
              </a:defRPr>
            </a:pPr>
            <a:r>
              <a:t>test</a:t>
            </a:r>
          </a:p>
        </p:txBody>
      </p:sp>
      <p:cxnSp>
        <p:nvCxnSpPr>
          <p:cNvPr id="47" name="Connector 46"/>
          <p:cNvCxnSpPr/>
          <p:nvPr/>
        </p:nvCxnSpPr>
        <p:spPr>
          <a:xfrm>
            <a:off x="2459355" y="2724912"/>
            <a:ext cx="0" cy="109728"/>
          </a:xfrm>
          <a:prstGeom prst="line">
            <a:avLst/>
          </a:prstGeom>
          <a:ln w="13970">
            <a:solidFill>
              <a:srgbClr val="9A9AA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459355" y="2834640"/>
            <a:ext cx="1348739" cy="0"/>
          </a:xfrm>
          <a:prstGeom prst="line">
            <a:avLst/>
          </a:prstGeom>
          <a:ln w="1651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label of moment 8 looks 6 ahead: no "/>
          <p:cNvSpPr txBox="1"/>
          <p:nvPr/>
        </p:nvSpPr>
        <p:spPr>
          <a:xfrm>
            <a:off x="2367915" y="2880360"/>
            <a:ext cx="29260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label of moment 8 looks 6 ahead: no overlap</a:t>
            </a:r>
          </a:p>
        </p:txBody>
      </p:sp>
      <p:cxnSp>
        <p:nvCxnSpPr>
          <p:cNvPr id="50" name="Connector 49"/>
          <p:cNvCxnSpPr/>
          <p:nvPr/>
        </p:nvCxnSpPr>
        <p:spPr>
          <a:xfrm>
            <a:off x="3808094" y="3136391"/>
            <a:ext cx="0" cy="10972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808094" y="3246120"/>
            <a:ext cx="1348740" cy="0"/>
          </a:xfrm>
          <a:prstGeom prst="line">
            <a:avLst/>
          </a:prstGeom>
          <a:ln w="16510">
            <a:solidFill>
              <a:srgbClr val="FF7A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label of moment 14 reaches into the "/>
          <p:cNvSpPr txBox="1"/>
          <p:nvPr/>
        </p:nvSpPr>
        <p:spPr>
          <a:xfrm>
            <a:off x="3716655" y="3291839"/>
            <a:ext cx="2926080" cy="182880"/>
          </a:xfrm>
          <a:prstGeom prst="rect">
            <a:avLst/>
          </a:prstGeom>
          <a:noFill/>
        </p:spPr>
        <p:txBody>
          <a:bodyPr wrap="square" lIns="9144" rIns="9144" tIns="0" bIns="0">
            <a:spAutoFit/>
          </a:bodyPr>
          <a:lstStyle/>
          <a:p>
            <a:pPr>
              <a:lnSpc>
                <a:spcPct val="106000"/>
              </a:lnSpc>
              <a:spcAft>
                <a:spcPts val="400"/>
              </a:spcAft>
              <a:defRPr sz="900" b="0">
                <a:solidFill>
                  <a:srgbClr val="FF7A85"/>
                </a:solidFill>
                <a:latin typeface="Helvetica Neue"/>
              </a:defRPr>
            </a:pPr>
            <a:r>
              <a:t>label of moment 14 reaches into the test block</a:t>
            </a:r>
          </a:p>
        </p:txBody>
      </p:sp>
      <p:sp>
        <p:nvSpPr>
          <p:cNvPr id="53" name="Rounded Rectangle 52"/>
          <p:cNvSpPr/>
          <p:nvPr/>
        </p:nvSpPr>
        <p:spPr>
          <a:xfrm>
            <a:off x="4594859" y="3154680"/>
            <a:ext cx="786764" cy="73152"/>
          </a:xfrm>
          <a:prstGeom prst="roundRect">
            <a:avLst>
              <a:gd name="adj" fmla="val 25000"/>
            </a:avLst>
          </a:prstGeom>
          <a:solidFill>
            <a:srgbClr val="FF7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A training moment right before the t"/>
          <p:cNvSpPr txBox="1"/>
          <p:nvPr/>
        </p:nvSpPr>
        <p:spPr>
          <a:xfrm>
            <a:off x="548640" y="4160520"/>
            <a:ext cx="809244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A training moment right before the test block already knows part of the test answer.</a:t>
            </a:r>
          </a:p>
        </p:txBody>
      </p:sp>
      <p:sp>
        <p:nvSpPr>
          <p:cNvPr id="55" name="text:Illustrative; h = 6 here. The real 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h = 6 here. The real data uses h from 6 to 48 samples of 5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Purge and embargo"/>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Purge and embargo</a:t>
            </a:r>
          </a:p>
        </p:txBody>
      </p:sp>
      <p:sp>
        <p:nvSpPr>
          <p:cNvPr id="3" name="text:Remove the neighbours that know too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Remove the neighbours that know too much.</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text:Purge: drop training moments whose l"/>
          <p:cNvSpPr txBox="1"/>
          <p:nvPr/>
        </p:nvSpPr>
        <p:spPr>
          <a:xfrm>
            <a:off x="548640" y="1371600"/>
            <a:ext cx="8092440" cy="457200"/>
          </a:xfrm>
          <a:prstGeom prst="rect">
            <a:avLst/>
          </a:prstGeom>
          <a:noFill/>
        </p:spPr>
        <p:txBody>
          <a:bodyPr wrap="square" lIns="9144" rIns="9144" tIns="0" bIns="0">
            <a:spAutoFit/>
          </a:bodyPr>
          <a:lstStyle/>
          <a:p>
            <a:pPr>
              <a:lnSpc>
                <a:spcPct val="106000"/>
              </a:lnSpc>
              <a:spcAft>
                <a:spcPts val="400"/>
              </a:spcAft>
              <a:defRPr sz="1400" b="0">
                <a:solidFill>
                  <a:srgbClr val="B3A5FF"/>
                </a:solidFill>
                <a:latin typeface="Helvetica Neue"/>
              </a:defRPr>
            </a:pPr>
            <a:r>
              <a:t>Purge: drop training moments whose label overlaps a test label. Embargo: drop a few more after the test block.</a:t>
            </a:r>
          </a:p>
        </p:txBody>
      </p:sp>
      <p:sp>
        <p:nvSpPr>
          <p:cNvPr id="6" name="Rounded Rectangle 5"/>
          <p:cNvSpPr/>
          <p:nvPr/>
        </p:nvSpPr>
        <p:spPr>
          <a:xfrm>
            <a:off x="56235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8714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1193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3672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46151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68630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91109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13588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36067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58546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1025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03504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59836"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484626"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70941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93420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15899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8378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60857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83336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05815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28294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50773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732525" y="2148840"/>
            <a:ext cx="197358" cy="384048"/>
          </a:xfrm>
          <a:prstGeom prst="roundRect">
            <a:avLst>
              <a:gd name="adj" fmla="val 18532"/>
            </a:avLst>
          </a:prstGeom>
          <a:solidFill>
            <a:srgbClr val="1C1640"/>
          </a:solid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95731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18210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40689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3168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85647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081265" y="2148840"/>
            <a:ext cx="197358" cy="384048"/>
          </a:xfrm>
          <a:prstGeom prst="roundRect">
            <a:avLst>
              <a:gd name="adj" fmla="val 18532"/>
            </a:avLst>
          </a:prstGeom>
          <a:solidFill>
            <a:srgbClr val="2A0D12"/>
          </a:solidFill>
          <a:ln w="1143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306055" y="2148840"/>
            <a:ext cx="197358" cy="384048"/>
          </a:xfrm>
          <a:prstGeom prst="roundRect">
            <a:avLst>
              <a:gd name="adj" fmla="val 18532"/>
            </a:avLst>
          </a:prstGeom>
          <a:solidFill>
            <a:srgbClr val="2A2008"/>
          </a:solidFill>
          <a:ln w="1143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530846" y="2148840"/>
            <a:ext cx="197358" cy="384048"/>
          </a:xfrm>
          <a:prstGeom prst="roundRect">
            <a:avLst>
              <a:gd name="adj" fmla="val 18532"/>
            </a:avLst>
          </a:prstGeom>
          <a:solidFill>
            <a:srgbClr val="2A2008"/>
          </a:solidFill>
          <a:ln w="1143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755636" y="2148840"/>
            <a:ext cx="197358" cy="384048"/>
          </a:xfrm>
          <a:prstGeom prst="roundRect">
            <a:avLst>
              <a:gd name="adj" fmla="val 18532"/>
            </a:avLst>
          </a:prstGeom>
          <a:solidFill>
            <a:srgbClr val="2A2008"/>
          </a:solidFill>
          <a:ln w="1143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98042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05215"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430006" y="2148840"/>
            <a:ext cx="197358" cy="384048"/>
          </a:xfrm>
          <a:prstGeom prst="roundRect">
            <a:avLst>
              <a:gd name="adj" fmla="val 18532"/>
            </a:avLst>
          </a:prstGeom>
          <a:noFill/>
          <a:ln w="1143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MOMENTS, IN TIME ORDER"/>
          <p:cNvSpPr txBox="1"/>
          <p:nvPr/>
        </p:nvSpPr>
        <p:spPr>
          <a:xfrm>
            <a:off x="548640" y="1901952"/>
            <a:ext cx="27432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MOMENTS, IN TIME ORDER</a:t>
            </a:r>
          </a:p>
        </p:txBody>
      </p:sp>
      <p:sp>
        <p:nvSpPr>
          <p:cNvPr id="43" name="Rounded Rectangle 42"/>
          <p:cNvSpPr/>
          <p:nvPr/>
        </p:nvSpPr>
        <p:spPr>
          <a:xfrm>
            <a:off x="4572000" y="1874519"/>
            <a:ext cx="682371" cy="201168"/>
          </a:xfrm>
          <a:prstGeom prst="roundRect">
            <a:avLst>
              <a:gd name="adj" fmla="val 50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train"/>
          <p:cNvSpPr txBox="1"/>
          <p:nvPr/>
        </p:nvSpPr>
        <p:spPr>
          <a:xfrm>
            <a:off x="4572000" y="1892807"/>
            <a:ext cx="682371" cy="182880"/>
          </a:xfrm>
          <a:prstGeom prst="rect">
            <a:avLst/>
          </a:prstGeom>
          <a:noFill/>
        </p:spPr>
        <p:txBody>
          <a:bodyPr wrap="square" lIns="9144" rIns="9144" tIns="0" bIns="0" anchor="ctr">
            <a:spAutoFit/>
          </a:bodyPr>
          <a:lstStyle/>
          <a:p>
            <a:pPr algn="ctr">
              <a:lnSpc>
                <a:spcPct val="106000"/>
              </a:lnSpc>
              <a:spcAft>
                <a:spcPts val="400"/>
              </a:spcAft>
              <a:defRPr sz="850" b="0">
                <a:solidFill>
                  <a:srgbClr val="3DDC97"/>
                </a:solidFill>
                <a:latin typeface="Helvetica Neue"/>
              </a:defRPr>
            </a:pPr>
            <a:r>
              <a:t>train</a:t>
            </a:r>
          </a:p>
        </p:txBody>
      </p:sp>
      <p:sp>
        <p:nvSpPr>
          <p:cNvPr id="45" name="Rounded Rectangle 44"/>
          <p:cNvSpPr/>
          <p:nvPr/>
        </p:nvSpPr>
        <p:spPr>
          <a:xfrm>
            <a:off x="5364099" y="1874519"/>
            <a:ext cx="600760" cy="201168"/>
          </a:xfrm>
          <a:prstGeom prst="roundRect">
            <a:avLst>
              <a:gd name="adj" fmla="val 50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test"/>
          <p:cNvSpPr txBox="1"/>
          <p:nvPr/>
        </p:nvSpPr>
        <p:spPr>
          <a:xfrm>
            <a:off x="5364099" y="1892807"/>
            <a:ext cx="600760" cy="182880"/>
          </a:xfrm>
          <a:prstGeom prst="rect">
            <a:avLst/>
          </a:prstGeom>
          <a:noFill/>
        </p:spPr>
        <p:txBody>
          <a:bodyPr wrap="square" lIns="9144" rIns="9144" tIns="0" bIns="0" anchor="ctr">
            <a:spAutoFit/>
          </a:bodyPr>
          <a:lstStyle/>
          <a:p>
            <a:pPr algn="ctr">
              <a:lnSpc>
                <a:spcPct val="106000"/>
              </a:lnSpc>
              <a:spcAft>
                <a:spcPts val="400"/>
              </a:spcAft>
              <a:defRPr sz="850" b="0">
                <a:solidFill>
                  <a:srgbClr val="B3A5FF"/>
                </a:solidFill>
                <a:latin typeface="Helvetica Neue"/>
              </a:defRPr>
            </a:pPr>
            <a:r>
              <a:t>test</a:t>
            </a:r>
          </a:p>
        </p:txBody>
      </p:sp>
      <p:sp>
        <p:nvSpPr>
          <p:cNvPr id="47" name="Rounded Rectangle 46"/>
          <p:cNvSpPr/>
          <p:nvPr/>
        </p:nvSpPr>
        <p:spPr>
          <a:xfrm>
            <a:off x="6074587" y="1874519"/>
            <a:ext cx="763981" cy="201168"/>
          </a:xfrm>
          <a:prstGeom prst="roundRect">
            <a:avLst>
              <a:gd name="adj" fmla="val 50000"/>
            </a:avLst>
          </a:prstGeom>
          <a:noFill/>
          <a:ln w="1016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purged"/>
          <p:cNvSpPr txBox="1"/>
          <p:nvPr/>
        </p:nvSpPr>
        <p:spPr>
          <a:xfrm>
            <a:off x="6074587" y="1892807"/>
            <a:ext cx="763981" cy="182880"/>
          </a:xfrm>
          <a:prstGeom prst="rect">
            <a:avLst/>
          </a:prstGeom>
          <a:noFill/>
        </p:spPr>
        <p:txBody>
          <a:bodyPr wrap="square" lIns="9144" rIns="9144" tIns="0" bIns="0" anchor="ctr">
            <a:spAutoFit/>
          </a:bodyPr>
          <a:lstStyle/>
          <a:p>
            <a:pPr algn="ctr">
              <a:lnSpc>
                <a:spcPct val="106000"/>
              </a:lnSpc>
              <a:spcAft>
                <a:spcPts val="400"/>
              </a:spcAft>
              <a:defRPr sz="850" b="0">
                <a:solidFill>
                  <a:srgbClr val="FF7A85"/>
                </a:solidFill>
                <a:latin typeface="Helvetica Neue"/>
              </a:defRPr>
            </a:pPr>
            <a:r>
              <a:t>purged</a:t>
            </a:r>
          </a:p>
        </p:txBody>
      </p:sp>
      <p:sp>
        <p:nvSpPr>
          <p:cNvPr id="49" name="Rounded Rectangle 48"/>
          <p:cNvSpPr/>
          <p:nvPr/>
        </p:nvSpPr>
        <p:spPr>
          <a:xfrm>
            <a:off x="6948297" y="1874519"/>
            <a:ext cx="845591" cy="201168"/>
          </a:xfrm>
          <a:prstGeom prst="roundRect">
            <a:avLst>
              <a:gd name="adj" fmla="val 50000"/>
            </a:avLst>
          </a:prstGeom>
          <a:noFill/>
          <a:ln w="10160">
            <a:solidFill>
              <a:srgbClr val="FFC1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embargo"/>
          <p:cNvSpPr txBox="1"/>
          <p:nvPr/>
        </p:nvSpPr>
        <p:spPr>
          <a:xfrm>
            <a:off x="6948297" y="1892807"/>
            <a:ext cx="845591" cy="182880"/>
          </a:xfrm>
          <a:prstGeom prst="rect">
            <a:avLst/>
          </a:prstGeom>
          <a:noFill/>
        </p:spPr>
        <p:txBody>
          <a:bodyPr wrap="square" lIns="9144" rIns="9144" tIns="0" bIns="0" anchor="ctr">
            <a:spAutoFit/>
          </a:bodyPr>
          <a:lstStyle/>
          <a:p>
            <a:pPr algn="ctr">
              <a:lnSpc>
                <a:spcPct val="106000"/>
              </a:lnSpc>
              <a:spcAft>
                <a:spcPts val="400"/>
              </a:spcAft>
              <a:defRPr sz="850" b="0">
                <a:solidFill>
                  <a:srgbClr val="FFC15A"/>
                </a:solidFill>
                <a:latin typeface="Helvetica Neue"/>
              </a:defRPr>
            </a:pPr>
            <a:r>
              <a:t>embargo</a:t>
            </a:r>
          </a:p>
        </p:txBody>
      </p:sp>
      <p:cxnSp>
        <p:nvCxnSpPr>
          <p:cNvPr id="51" name="Connector 50"/>
          <p:cNvCxnSpPr/>
          <p:nvPr/>
        </p:nvCxnSpPr>
        <p:spPr>
          <a:xfrm>
            <a:off x="2459355" y="2724912"/>
            <a:ext cx="0" cy="109728"/>
          </a:xfrm>
          <a:prstGeom prst="line">
            <a:avLst/>
          </a:prstGeom>
          <a:ln w="13970">
            <a:solidFill>
              <a:srgbClr val="9A9AA2"/>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459355" y="2834640"/>
            <a:ext cx="1348739" cy="0"/>
          </a:xfrm>
          <a:prstGeom prst="line">
            <a:avLst/>
          </a:prstGeom>
          <a:ln w="1651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label of moment 8 looks 6 ahead: no "/>
          <p:cNvSpPr txBox="1"/>
          <p:nvPr/>
        </p:nvSpPr>
        <p:spPr>
          <a:xfrm>
            <a:off x="2367915" y="2880360"/>
            <a:ext cx="292608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label of moment 8 looks 6 ahead: no overlap</a:t>
            </a:r>
          </a:p>
        </p:txBody>
      </p:sp>
      <p:cxnSp>
        <p:nvCxnSpPr>
          <p:cNvPr id="54" name="Connector 53"/>
          <p:cNvCxnSpPr/>
          <p:nvPr/>
        </p:nvCxnSpPr>
        <p:spPr>
          <a:xfrm>
            <a:off x="3808094" y="3136391"/>
            <a:ext cx="0" cy="10972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808094" y="3246120"/>
            <a:ext cx="1348740" cy="0"/>
          </a:xfrm>
          <a:prstGeom prst="line">
            <a:avLst/>
          </a:prstGeom>
          <a:ln w="16510">
            <a:solidFill>
              <a:srgbClr val="FF7A85"/>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label of moment 14 reaches into the "/>
          <p:cNvSpPr txBox="1"/>
          <p:nvPr/>
        </p:nvSpPr>
        <p:spPr>
          <a:xfrm>
            <a:off x="3716655" y="3291839"/>
            <a:ext cx="2926080" cy="182880"/>
          </a:xfrm>
          <a:prstGeom prst="rect">
            <a:avLst/>
          </a:prstGeom>
          <a:noFill/>
        </p:spPr>
        <p:txBody>
          <a:bodyPr wrap="square" lIns="9144" rIns="9144" tIns="0" bIns="0">
            <a:spAutoFit/>
          </a:bodyPr>
          <a:lstStyle/>
          <a:p>
            <a:pPr>
              <a:lnSpc>
                <a:spcPct val="106000"/>
              </a:lnSpc>
              <a:spcAft>
                <a:spcPts val="400"/>
              </a:spcAft>
              <a:defRPr sz="900" b="0">
                <a:solidFill>
                  <a:srgbClr val="FF7A85"/>
                </a:solidFill>
                <a:latin typeface="Helvetica Neue"/>
              </a:defRPr>
            </a:pPr>
            <a:r>
              <a:t>label of moment 14 reaches into the test block</a:t>
            </a:r>
          </a:p>
        </p:txBody>
      </p:sp>
      <p:sp>
        <p:nvSpPr>
          <p:cNvPr id="57" name="Rounded Rectangle 56"/>
          <p:cNvSpPr/>
          <p:nvPr/>
        </p:nvSpPr>
        <p:spPr>
          <a:xfrm>
            <a:off x="4594859" y="3154680"/>
            <a:ext cx="786764" cy="73152"/>
          </a:xfrm>
          <a:prstGeom prst="roundRect">
            <a:avLst>
              <a:gd name="adj" fmla="val 25000"/>
            </a:avLst>
          </a:prstGeom>
          <a:solidFill>
            <a:srgbClr val="FF7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Fewer training moments, an honest sc"/>
          <p:cNvSpPr txBox="1"/>
          <p:nvPr/>
        </p:nvSpPr>
        <p:spPr>
          <a:xfrm>
            <a:off x="548640" y="4160520"/>
            <a:ext cx="809244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Fewer training moments, an honest score.</a:t>
            </a:r>
          </a:p>
        </p:txBody>
      </p:sp>
      <p:sp>
        <p:nvSpPr>
          <p:cNvPr id="59" name="text:Illustrative; h = 6, embargo = 3 he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h = 6, embargo = 3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planted lea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planted leak</a:t>
            </a:r>
          </a:p>
        </p:txBody>
      </p:sp>
      <p:sp>
        <p:nvSpPr>
          <p:cNvPr id="3" name="text:One off-by-one, and today's decisio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One off-by-one, and today's decision sees tomorrow's price.</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48640" y="1463040"/>
            <a:ext cx="5394960" cy="3063240"/>
          </a:xfrm>
          <a:prstGeom prst="roundRect">
            <a:avLst>
              <a:gd name="adj" fmla="val 4179"/>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rc/leaky.ts"/>
          <p:cNvSpPr txBox="1"/>
          <p:nvPr/>
        </p:nvSpPr>
        <p:spPr>
          <a:xfrm>
            <a:off x="731520" y="1536192"/>
            <a:ext cx="45720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src/leaky.ts</a:t>
            </a:r>
          </a:p>
        </p:txBody>
      </p:sp>
      <p:sp>
        <p:nvSpPr>
          <p:cNvPr id="7" name="text:export function trendSignal(px: numb"/>
          <p:cNvSpPr txBox="1"/>
          <p:nvPr/>
        </p:nvSpPr>
        <p:spPr>
          <a:xfrm>
            <a:off x="731520" y="1783080"/>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export function trendSignal(px: number[], i: number, o: TrendOpts = {}): 1 | -1 | 0 {</a:t>
            </a:r>
          </a:p>
        </p:txBody>
      </p:sp>
      <p:sp>
        <p:nvSpPr>
          <p:cNvPr id="8" name="text:  const fast = o.fast ?? 2, slow = o"/>
          <p:cNvSpPr txBox="1"/>
          <p:nvPr/>
        </p:nvSpPr>
        <p:spPr>
          <a:xfrm>
            <a:off x="731520" y="1952243"/>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  const fast = o.fast ?? 2, slow = o.slow ?? 10;</a:t>
            </a:r>
          </a:p>
        </p:txBody>
      </p:sp>
      <p:sp>
        <p:nvSpPr>
          <p:cNvPr id="9" name="text:  const shift = o.leak ? 1 : 0;"/>
          <p:cNvSpPr txBox="1"/>
          <p:nvPr/>
        </p:nvSpPr>
        <p:spPr>
          <a:xfrm>
            <a:off x="731520" y="2121408"/>
            <a:ext cx="5029200" cy="155448"/>
          </a:xfrm>
          <a:prstGeom prst="rect">
            <a:avLst/>
          </a:prstGeom>
          <a:noFill/>
        </p:spPr>
        <p:txBody>
          <a:bodyPr wrap="square" lIns="9144" rIns="9144" tIns="0" bIns="0">
            <a:spAutoFit/>
          </a:bodyPr>
          <a:lstStyle/>
          <a:p>
            <a:pPr>
              <a:lnSpc>
                <a:spcPct val="100000"/>
              </a:lnSpc>
              <a:spcAft>
                <a:spcPts val="400"/>
              </a:spcAft>
              <a:defRPr sz="750" b="0">
                <a:solidFill>
                  <a:srgbClr val="FF7A85"/>
                </a:solidFill>
                <a:latin typeface="Menlo"/>
              </a:defRPr>
            </a:pPr>
            <a:r>
              <a:t>  const shift = o.leak ? 1 : 0;</a:t>
            </a:r>
          </a:p>
        </p:txBody>
      </p:sp>
      <p:sp>
        <p:nvSpPr>
          <p:cNvPr id="10" name="text:&lt;- the planted bug"/>
          <p:cNvSpPr txBox="1"/>
          <p:nvPr/>
        </p:nvSpPr>
        <p:spPr>
          <a:xfrm>
            <a:off x="4434840" y="2121408"/>
            <a:ext cx="1463040" cy="155448"/>
          </a:xfrm>
          <a:prstGeom prst="rect">
            <a:avLst/>
          </a:prstGeom>
          <a:noFill/>
        </p:spPr>
        <p:txBody>
          <a:bodyPr wrap="square" lIns="9144" rIns="9144" tIns="0" bIns="0">
            <a:spAutoFit/>
          </a:bodyPr>
          <a:lstStyle/>
          <a:p>
            <a:pPr>
              <a:lnSpc>
                <a:spcPct val="100000"/>
              </a:lnSpc>
              <a:spcAft>
                <a:spcPts val="400"/>
              </a:spcAft>
              <a:defRPr sz="750" b="0">
                <a:solidFill>
                  <a:srgbClr val="FF7A85"/>
                </a:solidFill>
                <a:latin typeface="Menlo"/>
              </a:defRPr>
            </a:pPr>
            <a:r>
              <a:t>&lt;- the planted bug</a:t>
            </a:r>
          </a:p>
        </p:txBody>
      </p:sp>
      <p:sp>
        <p:nvSpPr>
          <p:cNvPr id="11" name="text:  if (i - slow + 1 &lt; 0) return 0;"/>
          <p:cNvSpPr txBox="1"/>
          <p:nvPr/>
        </p:nvSpPr>
        <p:spPr>
          <a:xfrm>
            <a:off x="731520" y="2290572"/>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  if (i - slow + 1 &lt; 0) return 0;</a:t>
            </a:r>
          </a:p>
        </p:txBody>
      </p:sp>
      <p:sp>
        <p:nvSpPr>
          <p:cNvPr id="12" name="text:  const end = i + 1 + shift; // slic"/>
          <p:cNvSpPr txBox="1"/>
          <p:nvPr/>
        </p:nvSpPr>
        <p:spPr>
          <a:xfrm>
            <a:off x="731520" y="2459736"/>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  const end = i + 1 + shift; // slice end is exclusive</a:t>
            </a:r>
          </a:p>
        </p:txBody>
      </p:sp>
      <p:sp>
        <p:nvSpPr>
          <p:cNvPr id="13" name="text:  const f = mean(px.slice(end - fast"/>
          <p:cNvSpPr txBox="1"/>
          <p:nvPr/>
        </p:nvSpPr>
        <p:spPr>
          <a:xfrm>
            <a:off x="731520" y="2628900"/>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  const f = mean(px.slice(end - fast, end));</a:t>
            </a:r>
          </a:p>
        </p:txBody>
      </p:sp>
      <p:sp>
        <p:nvSpPr>
          <p:cNvPr id="14" name="text:  const s = mean(px.slice(end - slow"/>
          <p:cNvSpPr txBox="1"/>
          <p:nvPr/>
        </p:nvSpPr>
        <p:spPr>
          <a:xfrm>
            <a:off x="731520" y="2798064"/>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  const s = mean(px.slice(end - slow, end));</a:t>
            </a:r>
          </a:p>
        </p:txBody>
      </p:sp>
      <p:sp>
        <p:nvSpPr>
          <p:cNvPr id="15" name="text:  return f &gt; s ? 1 : -1;"/>
          <p:cNvSpPr txBox="1"/>
          <p:nvPr/>
        </p:nvSpPr>
        <p:spPr>
          <a:xfrm>
            <a:off x="731520" y="2967228"/>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  return f &gt; s ? 1 : -1;</a:t>
            </a:r>
          </a:p>
        </p:txBody>
      </p:sp>
      <p:sp>
        <p:nvSpPr>
          <p:cNvPr id="16" name="text:}"/>
          <p:cNvSpPr txBox="1"/>
          <p:nvPr/>
        </p:nvSpPr>
        <p:spPr>
          <a:xfrm>
            <a:off x="731520" y="3136392"/>
            <a:ext cx="5029200" cy="155448"/>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a:t>
            </a:r>
          </a:p>
        </p:txBody>
      </p:sp>
      <p:cxnSp>
        <p:nvCxnSpPr>
          <p:cNvPr id="17" name="Connector 16"/>
          <p:cNvCxnSpPr/>
          <p:nvPr/>
        </p:nvCxnSpPr>
        <p:spPr>
          <a:xfrm>
            <a:off x="731520" y="3396996"/>
            <a:ext cx="5029200" cy="0"/>
          </a:xfrm>
          <a:prstGeom prst="line">
            <a:avLst/>
          </a:prstGeom>
          <a:ln w="10160">
            <a:solidFill>
              <a:srgbClr val="2A2A30"/>
            </a:solidFill>
          </a:ln>
        </p:spPr>
        <p:style>
          <a:lnRef idx="2">
            <a:schemeClr val="accent1"/>
          </a:lnRef>
          <a:fillRef idx="0">
            <a:schemeClr val="accent1"/>
          </a:fillRef>
          <a:effectRef idx="1">
            <a:schemeClr val="accent1"/>
          </a:effectRef>
          <a:fontRef idx="minor">
            <a:schemeClr val="tx1"/>
          </a:fontRef>
        </p:style>
      </p:cxnSp>
      <p:sp>
        <p:nvSpPr>
          <p:cNvPr id="18" name="text:THE CAUSALITY TEST"/>
          <p:cNvSpPr txBox="1"/>
          <p:nvPr/>
        </p:nvSpPr>
        <p:spPr>
          <a:xfrm>
            <a:off x="731520" y="3470148"/>
            <a:ext cx="2743200" cy="164592"/>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THE CAUSALITY TEST</a:t>
            </a:r>
          </a:p>
        </p:txBody>
      </p:sp>
      <p:sp>
        <p:nvSpPr>
          <p:cNvPr id="19" name="text:if (signal(px, i) !== signal(px.slic"/>
          <p:cNvSpPr txBox="1"/>
          <p:nvPr/>
        </p:nvSpPr>
        <p:spPr>
          <a:xfrm>
            <a:off x="731520" y="3671316"/>
            <a:ext cx="5029200" cy="164592"/>
          </a:xfrm>
          <a:prstGeom prst="rect">
            <a:avLst/>
          </a:prstGeom>
          <a:noFill/>
        </p:spPr>
        <p:txBody>
          <a:bodyPr wrap="square" lIns="9144" rIns="9144" tIns="0" bIns="0">
            <a:spAutoFit/>
          </a:bodyPr>
          <a:lstStyle/>
          <a:p>
            <a:pPr>
              <a:lnSpc>
                <a:spcPct val="100000"/>
              </a:lnSpc>
              <a:spcAft>
                <a:spcPts val="400"/>
              </a:spcAft>
              <a:defRPr sz="750" b="0">
                <a:solidFill>
                  <a:srgbClr val="F2F5F8"/>
                </a:solidFill>
                <a:latin typeface="Menlo"/>
              </a:defRPr>
            </a:pPr>
            <a:r>
              <a:t>if (signal(px, i) !== signal(px.slice(0, i + 1), i)) { leaking++; flagged.push(i); if (first === null) first = i; }</a:t>
            </a:r>
          </a:p>
        </p:txBody>
      </p:sp>
      <p:sp>
        <p:nvSpPr>
          <p:cNvPr id="20" name="Rounded Rectangle 19"/>
          <p:cNvSpPr/>
          <p:nvPr/>
        </p:nvSpPr>
        <p:spPr>
          <a:xfrm>
            <a:off x="6126480" y="1463040"/>
            <a:ext cx="2514600" cy="1444752"/>
          </a:xfrm>
          <a:prstGeom prst="roundRect">
            <a:avLst>
              <a:gd name="adj" fmla="val 8860"/>
            </a:avLst>
          </a:prstGeom>
          <a:noFill/>
          <a:ln w="1016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PROFIT, BEFORE COSTS"/>
          <p:cNvSpPr txBox="1"/>
          <p:nvPr/>
        </p:nvSpPr>
        <p:spPr>
          <a:xfrm>
            <a:off x="6291072" y="1572768"/>
            <a:ext cx="2240280" cy="32004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PROFIT, BEFORE COSTS</a:t>
            </a:r>
          </a:p>
        </p:txBody>
      </p:sp>
      <p:sp>
        <p:nvSpPr>
          <p:cNvPr id="22" name="text:+18.84 USD"/>
          <p:cNvSpPr txBox="1"/>
          <p:nvPr/>
        </p:nvSpPr>
        <p:spPr>
          <a:xfrm>
            <a:off x="6291072" y="1920240"/>
            <a:ext cx="1097280" cy="365760"/>
          </a:xfrm>
          <a:prstGeom prst="rect">
            <a:avLst/>
          </a:prstGeom>
          <a:noFill/>
        </p:spPr>
        <p:txBody>
          <a:bodyPr wrap="square" lIns="9144" rIns="9144" tIns="0" bIns="0">
            <a:spAutoFit/>
          </a:bodyPr>
          <a:lstStyle/>
          <a:p>
            <a:pPr>
              <a:lnSpc>
                <a:spcPct val="106000"/>
              </a:lnSpc>
              <a:spcAft>
                <a:spcPts val="400"/>
              </a:spcAft>
              <a:defRPr sz="1400" b="0">
                <a:solidFill>
                  <a:srgbClr val="FF7A85"/>
                </a:solidFill>
                <a:latin typeface="Helvetica Neue"/>
              </a:defRPr>
            </a:pPr>
            <a:r>
              <a:t>+18.84 USD</a:t>
            </a:r>
          </a:p>
        </p:txBody>
      </p:sp>
      <p:sp>
        <p:nvSpPr>
          <p:cNvPr id="23" name="text:leaky"/>
          <p:cNvSpPr txBox="1"/>
          <p:nvPr/>
        </p:nvSpPr>
        <p:spPr>
          <a:xfrm>
            <a:off x="6291072" y="2304288"/>
            <a:ext cx="1097280" cy="164592"/>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leaky</a:t>
            </a:r>
          </a:p>
        </p:txBody>
      </p:sp>
      <p:sp>
        <p:nvSpPr>
          <p:cNvPr id="24" name="text:-1.76 USD"/>
          <p:cNvSpPr txBox="1"/>
          <p:nvPr/>
        </p:nvSpPr>
        <p:spPr>
          <a:xfrm>
            <a:off x="7388352" y="1920240"/>
            <a:ext cx="1097280" cy="36576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-1.76 USD</a:t>
            </a:r>
          </a:p>
        </p:txBody>
      </p:sp>
      <p:sp>
        <p:nvSpPr>
          <p:cNvPr id="25" name="text:fixed"/>
          <p:cNvSpPr txBox="1"/>
          <p:nvPr/>
        </p:nvSpPr>
        <p:spPr>
          <a:xfrm>
            <a:off x="7388352" y="2304288"/>
            <a:ext cx="1097280" cy="164592"/>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fixed</a:t>
            </a:r>
          </a:p>
        </p:txBody>
      </p:sp>
      <p:sp>
        <p:nvSpPr>
          <p:cNvPr id="26" name="Rounded Rectangle 25"/>
          <p:cNvSpPr/>
          <p:nvPr/>
        </p:nvSpPr>
        <p:spPr>
          <a:xfrm>
            <a:off x="6126480" y="3035808"/>
            <a:ext cx="2514600" cy="1444752"/>
          </a:xfrm>
          <a:prstGeom prst="roundRect">
            <a:avLst>
              <a:gd name="adj" fmla="val 886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CAUSALITY TEST: MOMENTS THAT CHANGE"/>
          <p:cNvSpPr txBox="1"/>
          <p:nvPr/>
        </p:nvSpPr>
        <p:spPr>
          <a:xfrm>
            <a:off x="6291072" y="3145536"/>
            <a:ext cx="2240280" cy="32004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CAUSALITY TEST: MOMENTS THAT CHANGE</a:t>
            </a:r>
          </a:p>
        </p:txBody>
      </p:sp>
      <p:sp>
        <p:nvSpPr>
          <p:cNvPr id="28" name="text:37 of 440"/>
          <p:cNvSpPr txBox="1"/>
          <p:nvPr/>
        </p:nvSpPr>
        <p:spPr>
          <a:xfrm>
            <a:off x="6291072" y="3493008"/>
            <a:ext cx="1097280" cy="3657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37 of 440</a:t>
            </a:r>
          </a:p>
        </p:txBody>
      </p:sp>
      <p:sp>
        <p:nvSpPr>
          <p:cNvPr id="29" name="text:leaky"/>
          <p:cNvSpPr txBox="1"/>
          <p:nvPr/>
        </p:nvSpPr>
        <p:spPr>
          <a:xfrm>
            <a:off x="6291072" y="3877056"/>
            <a:ext cx="1097280" cy="164592"/>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leaky</a:t>
            </a:r>
          </a:p>
        </p:txBody>
      </p:sp>
      <p:sp>
        <p:nvSpPr>
          <p:cNvPr id="30" name="text:0 of 440"/>
          <p:cNvSpPr txBox="1"/>
          <p:nvPr/>
        </p:nvSpPr>
        <p:spPr>
          <a:xfrm>
            <a:off x="7388352" y="3493008"/>
            <a:ext cx="1097280" cy="36576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0 of 440</a:t>
            </a:r>
          </a:p>
        </p:txBody>
      </p:sp>
      <p:sp>
        <p:nvSpPr>
          <p:cNvPr id="31" name="text:fixed"/>
          <p:cNvSpPr txBox="1"/>
          <p:nvPr/>
        </p:nvSpPr>
        <p:spPr>
          <a:xfrm>
            <a:off x="7388352" y="3877056"/>
            <a:ext cx="1097280" cy="164592"/>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fixed</a:t>
            </a:r>
          </a:p>
        </p:txBody>
      </p:sp>
      <p:sp>
        <p:nvSpPr>
          <p:cNvPr id="32" name="text:61 trades each. Simulated, on record"/>
          <p:cNvSpPr txBox="1"/>
          <p:nvPr/>
        </p:nvSpPr>
        <p:spPr>
          <a:xfrm>
            <a:off x="6126480" y="4599432"/>
            <a:ext cx="2514600" cy="137160"/>
          </a:xfrm>
          <a:prstGeom prst="rect">
            <a:avLst/>
          </a:prstGeom>
          <a:noFill/>
        </p:spPr>
        <p:txBody>
          <a:bodyPr wrap="square" lIns="9144" rIns="9144" tIns="0" bIns="0">
            <a:spAutoFit/>
          </a:bodyPr>
          <a:lstStyle/>
          <a:p>
            <a:pPr>
              <a:lnSpc>
                <a:spcPct val="106000"/>
              </a:lnSpc>
              <a:spcAft>
                <a:spcPts val="400"/>
              </a:spcAft>
              <a:defRPr sz="750" b="0">
                <a:solidFill>
                  <a:srgbClr val="9A9AA2"/>
                </a:solidFill>
                <a:latin typeface="Helvetica Neue"/>
              </a:defRPr>
            </a:pPr>
            <a:r>
              <a:t>61 trades each. Simulated, on recorded data; not advice.</a:t>
            </a:r>
          </a:p>
        </p:txBody>
      </p:sp>
      <p:sp>
        <p:nvSpPr>
          <p:cNvPr id="33" name="text:Source: demo-repo/code/src/leaky.ts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demo-repo/code/src/leaky.ts (excerpt: comments and blank lines removed). Simulated, on recorded data; not advice.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est of many tri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Best of many tries</a:t>
            </a:r>
          </a:p>
        </p:txBody>
      </p:sp>
      <p:sp>
        <p:nvSpPr>
          <p:cNvPr id="3" name="text:50 random strategies, one winner i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50 random strategies, one winner in-sample.</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48640" y="1371600"/>
            <a:ext cx="5120640" cy="3154680"/>
          </a:xfrm>
          <a:prstGeom prst="roundRect">
            <a:avLst>
              <a:gd name="adj" fmla="val 2318"/>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3154680" y="1737360"/>
            <a:ext cx="0" cy="219456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0120" y="2834639"/>
            <a:ext cx="4389120" cy="0"/>
          </a:xfrm>
          <a:prstGeom prst="line">
            <a:avLst/>
          </a:prstGeom>
          <a:ln w="10160">
            <a:solidFill>
              <a:srgbClr val="33333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60120" y="1737360"/>
            <a:ext cx="4389120" cy="2194560"/>
          </a:xfrm>
          <a:prstGeom prst="line">
            <a:avLst/>
          </a:prstGeom>
          <a:ln w="10160">
            <a:solidFill>
              <a:srgbClr val="333333"/>
            </a:solidFill>
            <a:prstDash val="dash"/>
          </a:ln>
        </p:spPr>
        <p:style>
          <a:lnRef idx="2">
            <a:schemeClr val="accent1"/>
          </a:lnRef>
          <a:fillRef idx="0">
            <a:schemeClr val="accent1"/>
          </a:fillRef>
          <a:effectRef idx="1">
            <a:schemeClr val="accent1"/>
          </a:effectRef>
          <a:fontRef idx="minor">
            <a:schemeClr val="tx1"/>
          </a:fontRef>
        </p:style>
      </p:cxnSp>
      <p:sp>
        <p:nvSpPr>
          <p:cNvPr id="9" name="text:-2"/>
          <p:cNvSpPr txBox="1"/>
          <p:nvPr/>
        </p:nvSpPr>
        <p:spPr>
          <a:xfrm>
            <a:off x="822960" y="3986783"/>
            <a:ext cx="27432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-2</a:t>
            </a:r>
          </a:p>
        </p:txBody>
      </p:sp>
      <p:sp>
        <p:nvSpPr>
          <p:cNvPr id="10" name="text:-2"/>
          <p:cNvSpPr txBox="1"/>
          <p:nvPr/>
        </p:nvSpPr>
        <p:spPr>
          <a:xfrm>
            <a:off x="685800" y="3858768"/>
            <a:ext cx="201168"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11" name="text:-1"/>
          <p:cNvSpPr txBox="1"/>
          <p:nvPr/>
        </p:nvSpPr>
        <p:spPr>
          <a:xfrm>
            <a:off x="1920240" y="3986783"/>
            <a:ext cx="27432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-1</a:t>
            </a:r>
          </a:p>
        </p:txBody>
      </p:sp>
      <p:sp>
        <p:nvSpPr>
          <p:cNvPr id="12" name="text:-1"/>
          <p:cNvSpPr txBox="1"/>
          <p:nvPr/>
        </p:nvSpPr>
        <p:spPr>
          <a:xfrm>
            <a:off x="685800" y="3310127"/>
            <a:ext cx="201168"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a:t>
            </a:r>
          </a:p>
        </p:txBody>
      </p:sp>
      <p:sp>
        <p:nvSpPr>
          <p:cNvPr id="13" name="text:0"/>
          <p:cNvSpPr txBox="1"/>
          <p:nvPr/>
        </p:nvSpPr>
        <p:spPr>
          <a:xfrm>
            <a:off x="3017520" y="3986783"/>
            <a:ext cx="27432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0</a:t>
            </a:r>
          </a:p>
        </p:txBody>
      </p:sp>
      <p:sp>
        <p:nvSpPr>
          <p:cNvPr id="14" name="text:0"/>
          <p:cNvSpPr txBox="1"/>
          <p:nvPr/>
        </p:nvSpPr>
        <p:spPr>
          <a:xfrm>
            <a:off x="685800" y="2761487"/>
            <a:ext cx="201168"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0</a:t>
            </a:r>
          </a:p>
        </p:txBody>
      </p:sp>
      <p:sp>
        <p:nvSpPr>
          <p:cNvPr id="15" name="text:1"/>
          <p:cNvSpPr txBox="1"/>
          <p:nvPr/>
        </p:nvSpPr>
        <p:spPr>
          <a:xfrm>
            <a:off x="4114799" y="3986783"/>
            <a:ext cx="27432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1</a:t>
            </a:r>
          </a:p>
        </p:txBody>
      </p:sp>
      <p:sp>
        <p:nvSpPr>
          <p:cNvPr id="16" name="text:1"/>
          <p:cNvSpPr txBox="1"/>
          <p:nvPr/>
        </p:nvSpPr>
        <p:spPr>
          <a:xfrm>
            <a:off x="685800" y="2212848"/>
            <a:ext cx="201168"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a:t>
            </a:r>
          </a:p>
        </p:txBody>
      </p:sp>
      <p:sp>
        <p:nvSpPr>
          <p:cNvPr id="17" name="text:2"/>
          <p:cNvSpPr txBox="1"/>
          <p:nvPr/>
        </p:nvSpPr>
        <p:spPr>
          <a:xfrm>
            <a:off x="5212079" y="3986783"/>
            <a:ext cx="27432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2</a:t>
            </a:r>
          </a:p>
        </p:txBody>
      </p:sp>
      <p:sp>
        <p:nvSpPr>
          <p:cNvPr id="18" name="text:2"/>
          <p:cNvSpPr txBox="1"/>
          <p:nvPr/>
        </p:nvSpPr>
        <p:spPr>
          <a:xfrm>
            <a:off x="685800" y="1664207"/>
            <a:ext cx="201168"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19" name="text:score in-sample (where we picked)"/>
          <p:cNvSpPr txBox="1"/>
          <p:nvPr/>
        </p:nvSpPr>
        <p:spPr>
          <a:xfrm>
            <a:off x="960120" y="4160520"/>
            <a:ext cx="3657600" cy="164592"/>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score in-sample (where we picked)</a:t>
            </a:r>
          </a:p>
        </p:txBody>
      </p:sp>
      <p:sp>
        <p:nvSpPr>
          <p:cNvPr id="20" name="text:score on fresh data"/>
          <p:cNvSpPr txBox="1"/>
          <p:nvPr/>
        </p:nvSpPr>
        <p:spPr>
          <a:xfrm>
            <a:off x="603504" y="1399032"/>
            <a:ext cx="2194560" cy="164592"/>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score on fresh data</a:t>
            </a:r>
          </a:p>
        </p:txBody>
      </p:sp>
      <p:sp>
        <p:nvSpPr>
          <p:cNvPr id="21" name="Oval 20"/>
          <p:cNvSpPr/>
          <p:nvPr/>
        </p:nvSpPr>
        <p:spPr>
          <a:xfrm>
            <a:off x="3361335" y="2530628"/>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89515" y="2803783"/>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722122" y="2011846"/>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976730" y="3164157"/>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746343" y="3154064"/>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999178" y="263521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828390" y="3277789"/>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078457" y="2598847"/>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004879" y="2701422"/>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133026" y="2522022"/>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772757" y="2676773"/>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24761" y="3464372"/>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223624" y="2565668"/>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689074" y="2259765"/>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761424" y="261444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133908" y="2738155"/>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437707" y="2896261"/>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357372" y="2954174"/>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248830" y="2729438"/>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62006" y="253094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01224" y="2323481"/>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735137" y="2632662"/>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985842" y="2593483"/>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738257" y="3034155"/>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520456" y="247007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182304" y="2434788"/>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882152" y="254625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926933" y="3281056"/>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2731371" y="2504057"/>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787647" y="2044253"/>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722779" y="2986512"/>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003641" y="2383603"/>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545564" y="189461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148262" y="249630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931487" y="3341791"/>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018518" y="2791034"/>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842830" y="3027096"/>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897777" y="349355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838500" y="246366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624074" y="2489748"/>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866699" y="2789044"/>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711852" y="2695113"/>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977315" y="2537858"/>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415440" y="2306051"/>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202983" y="2564372"/>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2706924" y="3309442"/>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148262" y="2496300"/>
            <a:ext cx="82296" cy="82296"/>
          </a:xfrm>
          <a:prstGeom prst="ellipse">
            <a:avLst/>
          </a:prstGeom>
          <a:noFill/>
          <a:ln w="1143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193067" y="2679660"/>
            <a:ext cx="128016" cy="128016"/>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flipV="1">
            <a:off x="4257075" y="2283442"/>
            <a:ext cx="0" cy="460226"/>
          </a:xfrm>
          <a:prstGeom prst="line">
            <a:avLst/>
          </a:prstGeom>
          <a:ln w="11430">
            <a:solidFill>
              <a:srgbClr val="3DDC97"/>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4193067" y="2219434"/>
            <a:ext cx="128016" cy="128016"/>
          </a:xfrm>
          <a:prstGeom prst="ellipse">
            <a:avLst/>
          </a:prstGeom>
          <a:noFill/>
          <a:ln w="10160">
            <a:solidFill>
              <a:srgbClr val="3DDC9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if the score held up"/>
          <p:cNvSpPr txBox="1"/>
          <p:nvPr/>
        </p:nvSpPr>
        <p:spPr>
          <a:xfrm>
            <a:off x="4348515" y="2201146"/>
            <a:ext cx="1371600" cy="146304"/>
          </a:xfrm>
          <a:prstGeom prst="rect">
            <a:avLst/>
          </a:prstGeom>
          <a:noFill/>
        </p:spPr>
        <p:txBody>
          <a:bodyPr wrap="square" lIns="9144" rIns="9144" tIns="0" bIns="0">
            <a:spAutoFit/>
          </a:bodyPr>
          <a:lstStyle/>
          <a:p>
            <a:pPr>
              <a:lnSpc>
                <a:spcPct val="106000"/>
              </a:lnSpc>
              <a:spcAft>
                <a:spcPts val="400"/>
              </a:spcAft>
              <a:defRPr sz="800" b="0">
                <a:solidFill>
                  <a:srgbClr val="3DDC97"/>
                </a:solidFill>
                <a:latin typeface="Helvetica Neue"/>
              </a:defRPr>
            </a:pPr>
            <a:r>
              <a:t>if the score held up</a:t>
            </a:r>
          </a:p>
        </p:txBody>
      </p:sp>
      <p:sp>
        <p:nvSpPr>
          <p:cNvPr id="72" name="text:what it scored on fresh data"/>
          <p:cNvSpPr txBox="1"/>
          <p:nvPr/>
        </p:nvSpPr>
        <p:spPr>
          <a:xfrm>
            <a:off x="4348515" y="2761956"/>
            <a:ext cx="1645920" cy="146304"/>
          </a:xfrm>
          <a:prstGeom prst="rect">
            <a:avLst/>
          </a:prstGeom>
          <a:noFill/>
        </p:spPr>
        <p:txBody>
          <a:bodyPr wrap="square" lIns="9144" rIns="9144" tIns="0" bIns="0">
            <a:spAutoFit/>
          </a:bodyPr>
          <a:lstStyle/>
          <a:p>
            <a:pPr>
              <a:lnSpc>
                <a:spcPct val="106000"/>
              </a:lnSpc>
              <a:spcAft>
                <a:spcPts val="400"/>
              </a:spcAft>
              <a:defRPr sz="800" b="0">
                <a:solidFill>
                  <a:srgbClr val="3DDC97"/>
                </a:solidFill>
                <a:latin typeface="Helvetica Neue"/>
              </a:defRPr>
            </a:pPr>
            <a:r>
              <a:t>what it scored on fresh data</a:t>
            </a:r>
          </a:p>
        </p:txBody>
      </p:sp>
      <p:sp>
        <p:nvSpPr>
          <p:cNvPr id="73" name="text:48 of 50 plotted; the rest had fewer"/>
          <p:cNvSpPr txBox="1"/>
          <p:nvPr/>
        </p:nvSpPr>
        <p:spPr>
          <a:xfrm>
            <a:off x="960120" y="4297680"/>
            <a:ext cx="4572000" cy="146304"/>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48 of 50 plotted; the rest had fewer than 4 trades on one side.</a:t>
            </a:r>
          </a:p>
        </p:txBody>
      </p:sp>
      <p:sp>
        <p:nvSpPr>
          <p:cNvPr id="74" name="Rounded Rectangle 73"/>
          <p:cNvSpPr/>
          <p:nvPr/>
        </p:nvSpPr>
        <p:spPr>
          <a:xfrm>
            <a:off x="5852160" y="1371600"/>
            <a:ext cx="2788920" cy="1234440"/>
          </a:xfrm>
          <a:prstGeom prst="roundRect">
            <a:avLst>
              <a:gd name="adj" fmla="val 1037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WINNER IN-SAMPLE"/>
          <p:cNvSpPr txBox="1"/>
          <p:nvPr/>
        </p:nvSpPr>
        <p:spPr>
          <a:xfrm>
            <a:off x="6035040" y="1490472"/>
            <a:ext cx="246888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WINNER IN-SAMPLE</a:t>
            </a:r>
          </a:p>
        </p:txBody>
      </p:sp>
      <p:sp>
        <p:nvSpPr>
          <p:cNvPr id="76" name="text:1.00"/>
          <p:cNvSpPr txBox="1"/>
          <p:nvPr/>
        </p:nvSpPr>
        <p:spPr>
          <a:xfrm>
            <a:off x="6035040" y="1719072"/>
            <a:ext cx="2377440" cy="50292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1.00</a:t>
            </a:r>
          </a:p>
        </p:txBody>
      </p:sp>
      <p:sp>
        <p:nvSpPr>
          <p:cNvPr id="77" name="text:coin-flip #704396 hold18, 8 trades"/>
          <p:cNvSpPr txBox="1"/>
          <p:nvPr/>
        </p:nvSpPr>
        <p:spPr>
          <a:xfrm>
            <a:off x="6035040" y="2286000"/>
            <a:ext cx="246888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coin-flip #704396 hold18, 8 trades</a:t>
            </a:r>
          </a:p>
        </p:txBody>
      </p:sp>
      <p:sp>
        <p:nvSpPr>
          <p:cNvPr id="78" name="Rounded Rectangle 77"/>
          <p:cNvSpPr/>
          <p:nvPr/>
        </p:nvSpPr>
        <p:spPr>
          <a:xfrm>
            <a:off x="5852160" y="2743200"/>
            <a:ext cx="2788920" cy="1234440"/>
          </a:xfrm>
          <a:prstGeom prst="roundRect">
            <a:avLst>
              <a:gd name="adj" fmla="val 1037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SAME STRATEGY ON FRESH DATA"/>
          <p:cNvSpPr txBox="1"/>
          <p:nvPr/>
        </p:nvSpPr>
        <p:spPr>
          <a:xfrm>
            <a:off x="6035040" y="2862072"/>
            <a:ext cx="246888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SAME STRATEGY ON FRESH DATA</a:t>
            </a:r>
          </a:p>
        </p:txBody>
      </p:sp>
      <p:sp>
        <p:nvSpPr>
          <p:cNvPr id="80" name="text:0.17"/>
          <p:cNvSpPr txBox="1"/>
          <p:nvPr/>
        </p:nvSpPr>
        <p:spPr>
          <a:xfrm>
            <a:off x="6035040" y="3090672"/>
            <a:ext cx="2377440" cy="50292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0.17</a:t>
            </a:r>
          </a:p>
        </p:txBody>
      </p:sp>
      <p:sp>
        <p:nvSpPr>
          <p:cNvPr id="81" name="text:5 trades; rank 30 of 48"/>
          <p:cNvSpPr txBox="1"/>
          <p:nvPr/>
        </p:nvSpPr>
        <p:spPr>
          <a:xfrm>
            <a:off x="6035040" y="3657600"/>
            <a:ext cx="246888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5 trades; rank 30 of 48</a:t>
            </a:r>
          </a:p>
        </p:txBody>
      </p:sp>
      <p:sp>
        <p:nvSpPr>
          <p:cNvPr id="82" name="Rounded Rectangle 81"/>
          <p:cNvSpPr/>
          <p:nvPr/>
        </p:nvSpPr>
        <p:spPr>
          <a:xfrm>
            <a:off x="5852160" y="4114800"/>
            <a:ext cx="27889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The winner is picked on the left axi"/>
          <p:cNvSpPr txBox="1"/>
          <p:nvPr/>
        </p:nvSpPr>
        <p:spPr>
          <a:xfrm>
            <a:off x="5989320" y="4114800"/>
            <a:ext cx="2560320" cy="50292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The winner is picked on the left axis. The fresh data is the bottom axis.</a:t>
            </a:r>
          </a:p>
        </p:txBody>
      </p:sp>
      <p:sp>
        <p:nvSpPr>
          <p:cNvPr id="84" name="text:Source: code/out/overfit.json, draw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code/out/overfit.json, draw 1, before costs. Simulated, on recorded data; not advice.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luck benchmar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luck benchmark</a:t>
            </a:r>
          </a:p>
        </p:txBody>
      </p:sp>
      <p:sp>
        <p:nvSpPr>
          <p:cNvPr id="3" name="text:The more you try, the better the b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more you try, the better the best looks, by luck alone.</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548640" y="1371600"/>
            <a:ext cx="4937760" cy="3063240"/>
          </a:xfrm>
          <a:prstGeom prst="roundRect">
            <a:avLst>
              <a:gd name="adj" fmla="val 2388"/>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960120" y="3840480"/>
            <a:ext cx="4297680" cy="0"/>
          </a:xfrm>
          <a:prstGeom prst="line">
            <a:avLst/>
          </a:prstGeom>
          <a:ln w="10160">
            <a:solidFill>
              <a:srgbClr val="262630"/>
            </a:solidFill>
          </a:ln>
        </p:spPr>
        <p:style>
          <a:lnRef idx="2">
            <a:schemeClr val="accent1"/>
          </a:lnRef>
          <a:fillRef idx="0">
            <a:schemeClr val="accent1"/>
          </a:fillRef>
          <a:effectRef idx="1">
            <a:schemeClr val="accent1"/>
          </a:effectRef>
          <a:fontRef idx="minor">
            <a:schemeClr val="tx1"/>
          </a:fontRef>
        </p:style>
      </p:cxnSp>
      <p:sp>
        <p:nvSpPr>
          <p:cNvPr id="7" name="text:0.0"/>
          <p:cNvSpPr txBox="1"/>
          <p:nvPr/>
        </p:nvSpPr>
        <p:spPr>
          <a:xfrm>
            <a:off x="576072" y="3767328"/>
            <a:ext cx="329184"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0.0</a:t>
            </a:r>
          </a:p>
        </p:txBody>
      </p:sp>
      <p:cxnSp>
        <p:nvCxnSpPr>
          <p:cNvPr id="8" name="Connector 7"/>
          <p:cNvCxnSpPr/>
          <p:nvPr/>
        </p:nvCxnSpPr>
        <p:spPr>
          <a:xfrm>
            <a:off x="960120" y="3093720"/>
            <a:ext cx="4297680" cy="0"/>
          </a:xfrm>
          <a:prstGeom prst="line">
            <a:avLst/>
          </a:prstGeom>
          <a:ln w="10160">
            <a:solidFill>
              <a:srgbClr val="262630"/>
            </a:solidFill>
          </a:ln>
        </p:spPr>
        <p:style>
          <a:lnRef idx="2">
            <a:schemeClr val="accent1"/>
          </a:lnRef>
          <a:fillRef idx="0">
            <a:schemeClr val="accent1"/>
          </a:fillRef>
          <a:effectRef idx="1">
            <a:schemeClr val="accent1"/>
          </a:effectRef>
          <a:fontRef idx="minor">
            <a:schemeClr val="tx1"/>
          </a:fontRef>
        </p:style>
      </p:cxnSp>
      <p:sp>
        <p:nvSpPr>
          <p:cNvPr id="9" name="text:0.5"/>
          <p:cNvSpPr txBox="1"/>
          <p:nvPr/>
        </p:nvSpPr>
        <p:spPr>
          <a:xfrm>
            <a:off x="576072" y="3020568"/>
            <a:ext cx="329184"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0.5</a:t>
            </a:r>
          </a:p>
        </p:txBody>
      </p:sp>
      <p:cxnSp>
        <p:nvCxnSpPr>
          <p:cNvPr id="10" name="Connector 9"/>
          <p:cNvCxnSpPr/>
          <p:nvPr/>
        </p:nvCxnSpPr>
        <p:spPr>
          <a:xfrm>
            <a:off x="960120" y="2346960"/>
            <a:ext cx="4297680" cy="0"/>
          </a:xfrm>
          <a:prstGeom prst="line">
            <a:avLst/>
          </a:prstGeom>
          <a:ln w="10160">
            <a:solidFill>
              <a:srgbClr val="262630"/>
            </a:solidFill>
          </a:ln>
        </p:spPr>
        <p:style>
          <a:lnRef idx="2">
            <a:schemeClr val="accent1"/>
          </a:lnRef>
          <a:fillRef idx="0">
            <a:schemeClr val="accent1"/>
          </a:fillRef>
          <a:effectRef idx="1">
            <a:schemeClr val="accent1"/>
          </a:effectRef>
          <a:fontRef idx="minor">
            <a:schemeClr val="tx1"/>
          </a:fontRef>
        </p:style>
      </p:cxnSp>
      <p:sp>
        <p:nvSpPr>
          <p:cNvPr id="11" name="text:1.0"/>
          <p:cNvSpPr txBox="1"/>
          <p:nvPr/>
        </p:nvSpPr>
        <p:spPr>
          <a:xfrm>
            <a:off x="576072" y="2273808"/>
            <a:ext cx="329184"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cxnSp>
        <p:nvCxnSpPr>
          <p:cNvPr id="12" name="Connector 11"/>
          <p:cNvCxnSpPr/>
          <p:nvPr/>
        </p:nvCxnSpPr>
        <p:spPr>
          <a:xfrm>
            <a:off x="960120" y="1600200"/>
            <a:ext cx="4297680" cy="0"/>
          </a:xfrm>
          <a:prstGeom prst="line">
            <a:avLst/>
          </a:prstGeom>
          <a:ln w="10160">
            <a:solidFill>
              <a:srgbClr val="262630"/>
            </a:solidFill>
          </a:ln>
        </p:spPr>
        <p:style>
          <a:lnRef idx="2">
            <a:schemeClr val="accent1"/>
          </a:lnRef>
          <a:fillRef idx="0">
            <a:schemeClr val="accent1"/>
          </a:fillRef>
          <a:effectRef idx="1">
            <a:schemeClr val="accent1"/>
          </a:effectRef>
          <a:fontRef idx="minor">
            <a:schemeClr val="tx1"/>
          </a:fontRef>
        </p:style>
      </p:cxnSp>
      <p:sp>
        <p:nvSpPr>
          <p:cNvPr id="13" name="text:1.5"/>
          <p:cNvSpPr txBox="1"/>
          <p:nvPr/>
        </p:nvSpPr>
        <p:spPr>
          <a:xfrm>
            <a:off x="576072" y="1527048"/>
            <a:ext cx="329184"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14" name="text:1"/>
          <p:cNvSpPr txBox="1"/>
          <p:nvPr/>
        </p:nvSpPr>
        <p:spPr>
          <a:xfrm>
            <a:off x="777240" y="38953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1</a:t>
            </a:r>
          </a:p>
        </p:txBody>
      </p:sp>
      <p:sp>
        <p:nvSpPr>
          <p:cNvPr id="15" name="text:10"/>
          <p:cNvSpPr txBox="1"/>
          <p:nvPr/>
        </p:nvSpPr>
        <p:spPr>
          <a:xfrm>
            <a:off x="1566609" y="38953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10</a:t>
            </a:r>
          </a:p>
        </p:txBody>
      </p:sp>
      <p:sp>
        <p:nvSpPr>
          <p:cNvPr id="16" name="text:20"/>
          <p:cNvSpPr txBox="1"/>
          <p:nvPr/>
        </p:nvSpPr>
        <p:spPr>
          <a:xfrm>
            <a:off x="2443687" y="38953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20</a:t>
            </a:r>
          </a:p>
        </p:txBody>
      </p:sp>
      <p:sp>
        <p:nvSpPr>
          <p:cNvPr id="17" name="text:30"/>
          <p:cNvSpPr txBox="1"/>
          <p:nvPr/>
        </p:nvSpPr>
        <p:spPr>
          <a:xfrm>
            <a:off x="3320764" y="38953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30</a:t>
            </a:r>
          </a:p>
        </p:txBody>
      </p:sp>
      <p:sp>
        <p:nvSpPr>
          <p:cNvPr id="18" name="text:40"/>
          <p:cNvSpPr txBox="1"/>
          <p:nvPr/>
        </p:nvSpPr>
        <p:spPr>
          <a:xfrm>
            <a:off x="4197842" y="38953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40</a:t>
            </a:r>
          </a:p>
        </p:txBody>
      </p:sp>
      <p:sp>
        <p:nvSpPr>
          <p:cNvPr id="19" name="text:50"/>
          <p:cNvSpPr txBox="1"/>
          <p:nvPr/>
        </p:nvSpPr>
        <p:spPr>
          <a:xfrm>
            <a:off x="5074920" y="3895344"/>
            <a:ext cx="365760" cy="146304"/>
          </a:xfrm>
          <a:prstGeom prst="rect">
            <a:avLst/>
          </a:prstGeom>
          <a:noFill/>
        </p:spPr>
        <p:txBody>
          <a:bodyPr wrap="square" lIns="9144" rIns="9144" tIns="0" bIns="0">
            <a:spAutoFit/>
          </a:bodyPr>
          <a:lstStyle/>
          <a:p>
            <a:pPr algn="ctr">
              <a:lnSpc>
                <a:spcPct val="106000"/>
              </a:lnSpc>
              <a:spcAft>
                <a:spcPts val="400"/>
              </a:spcAft>
              <a:defRPr sz="800" b="0">
                <a:solidFill>
                  <a:srgbClr val="9A9AA2"/>
                </a:solidFill>
                <a:latin typeface="Helvetica Neue"/>
              </a:defRPr>
            </a:pPr>
            <a:r>
              <a:t>50</a:t>
            </a:r>
          </a:p>
        </p:txBody>
      </p:sp>
      <p:sp>
        <p:nvSpPr>
          <p:cNvPr id="20" name="text:number of strategies tried"/>
          <p:cNvSpPr txBox="1"/>
          <p:nvPr/>
        </p:nvSpPr>
        <p:spPr>
          <a:xfrm>
            <a:off x="960120" y="4078224"/>
            <a:ext cx="2743200" cy="164592"/>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number of strategies tried</a:t>
            </a:r>
          </a:p>
        </p:txBody>
      </p:sp>
      <p:cxnSp>
        <p:nvCxnSpPr>
          <p:cNvPr id="21" name="Connector 20"/>
          <p:cNvCxnSpPr/>
          <p:nvPr/>
        </p:nvCxnSpPr>
        <p:spPr>
          <a:xfrm flipV="1">
            <a:off x="960120" y="3504438"/>
            <a:ext cx="87707" cy="336042"/>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60120" y="3503243"/>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47827" y="3400787"/>
            <a:ext cx="87708" cy="103651"/>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47827"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135535" y="3396008"/>
            <a:ext cx="87708" cy="4779"/>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35535"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223243" y="3382566"/>
            <a:ext cx="87708" cy="13442"/>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23243"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10951" y="3382566"/>
            <a:ext cx="87707" cy="5676"/>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10951" y="3503243"/>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398658" y="3388242"/>
            <a:ext cx="87708" cy="7467"/>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398658"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486366" y="3390183"/>
            <a:ext cx="87708" cy="5526"/>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86366"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574074" y="3068479"/>
            <a:ext cx="87708" cy="321704"/>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574074"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661782" y="3058024"/>
            <a:ext cx="87707" cy="10455"/>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661782" y="3503243"/>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749489" y="3058024"/>
            <a:ext cx="87708" cy="15832"/>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749489"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837197" y="3073856"/>
            <a:ext cx="87708" cy="14786"/>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837197"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924905" y="3066388"/>
            <a:ext cx="87708" cy="22254"/>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924905"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012613" y="3050407"/>
            <a:ext cx="87707" cy="15981"/>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012613" y="3503243"/>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100320" y="3050407"/>
            <a:ext cx="87708" cy="7020"/>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100320" y="3503243"/>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188028" y="2887464"/>
            <a:ext cx="87708" cy="169963"/>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188028" y="2958556"/>
            <a:ext cx="87708" cy="544687"/>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275736" y="2887464"/>
            <a:ext cx="87708" cy="9410"/>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75736" y="2958556"/>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2363444" y="2865211"/>
            <a:ext cx="87707" cy="31663"/>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63444" y="2958556"/>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451151" y="2622813"/>
            <a:ext cx="87708" cy="242398"/>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451151" y="2339940"/>
            <a:ext cx="87708" cy="618616"/>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538859" y="2622813"/>
            <a:ext cx="87708" cy="5227"/>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538859"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626567" y="2628040"/>
            <a:ext cx="87708" cy="13740"/>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626567"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714275" y="2641780"/>
            <a:ext cx="87707" cy="12546"/>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714275" y="2339940"/>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801982" y="2600559"/>
            <a:ext cx="87708" cy="53767"/>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801982"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2889690" y="2599962"/>
            <a:ext cx="87708" cy="597"/>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889690"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2977398" y="2599962"/>
            <a:ext cx="87708" cy="15234"/>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977398"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065106" y="2615196"/>
            <a:ext cx="87707" cy="746"/>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065106" y="2339940"/>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152813" y="2594734"/>
            <a:ext cx="87708" cy="21208"/>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3152813"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3240521" y="2594734"/>
            <a:ext cx="87708" cy="13143"/>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240521"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328229" y="2607877"/>
            <a:ext cx="87708" cy="10903"/>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3328229"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415937" y="2618780"/>
            <a:ext cx="87707" cy="12098"/>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415937" y="2339940"/>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503644" y="2630878"/>
            <a:ext cx="87708" cy="2240"/>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503644"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3591352" y="2633118"/>
            <a:ext cx="87708" cy="6123"/>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591352"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3679060" y="2639241"/>
            <a:ext cx="87708" cy="2390"/>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3679060"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3766768" y="2641631"/>
            <a:ext cx="87707" cy="12098"/>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3766768" y="2339940"/>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854475" y="2642079"/>
            <a:ext cx="87708" cy="11650"/>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3854475"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942183" y="2642079"/>
            <a:ext cx="87708" cy="9409"/>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942183"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029891" y="2651488"/>
            <a:ext cx="87708" cy="10455"/>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029891"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117599" y="2661943"/>
            <a:ext cx="87707" cy="10753"/>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117599" y="2339940"/>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4205306" y="2672696"/>
            <a:ext cx="87708" cy="7767"/>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205306"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4293014" y="2680463"/>
            <a:ext cx="87708" cy="8961"/>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4293014"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4380722" y="2689424"/>
            <a:ext cx="87708" cy="7318"/>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4380722"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4468430" y="2693008"/>
            <a:ext cx="87707" cy="3734"/>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468430" y="2339940"/>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4556137" y="2693008"/>
            <a:ext cx="87708" cy="7916"/>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4556137"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4643845" y="2700924"/>
            <a:ext cx="87708" cy="2091"/>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4643845"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4731553" y="2703015"/>
            <a:ext cx="87708" cy="8961"/>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731553"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819261" y="2703015"/>
            <a:ext cx="87707" cy="8961"/>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4819261" y="2339940"/>
            <a:ext cx="87707"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4906968" y="2703015"/>
            <a:ext cx="87708" cy="4182"/>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4906968"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4994676" y="2707197"/>
            <a:ext cx="87708" cy="1194"/>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4994676"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082384" y="2708391"/>
            <a:ext cx="87708" cy="5825"/>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5082384"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5170092" y="2710333"/>
            <a:ext cx="87708" cy="3883"/>
          </a:xfrm>
          <a:prstGeom prst="line">
            <a:avLst/>
          </a:prstGeom>
          <a:ln w="22860">
            <a:solidFill>
              <a:srgbClr val="B3A5FF"/>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170092" y="2339940"/>
            <a:ext cx="87708" cy="0"/>
          </a:xfrm>
          <a:prstGeom prst="line">
            <a:avLst/>
          </a:prstGeom>
          <a:ln w="22860">
            <a:solidFill>
              <a:srgbClr val="3DDC97"/>
            </a:solidFill>
          </a:ln>
        </p:spPr>
        <p:style>
          <a:lnRef idx="2">
            <a:schemeClr val="accent1"/>
          </a:lnRef>
          <a:fillRef idx="0">
            <a:schemeClr val="accent1"/>
          </a:fillRef>
          <a:effectRef idx="1">
            <a:schemeClr val="accent1"/>
          </a:effectRef>
          <a:fontRef idx="minor">
            <a:schemeClr val="tx1"/>
          </a:fontRef>
        </p:style>
      </p:cxnSp>
      <p:sp>
        <p:nvSpPr>
          <p:cNvPr id="119" name="text:best so far 1.00"/>
          <p:cNvSpPr txBox="1"/>
          <p:nvPr/>
        </p:nvSpPr>
        <p:spPr>
          <a:xfrm>
            <a:off x="4023360" y="2093052"/>
            <a:ext cx="1280160" cy="155448"/>
          </a:xfrm>
          <a:prstGeom prst="rect">
            <a:avLst/>
          </a:prstGeom>
          <a:noFill/>
        </p:spPr>
        <p:txBody>
          <a:bodyPr wrap="square" lIns="9144" rIns="9144" tIns="0" bIns="0">
            <a:spAutoFit/>
          </a:bodyPr>
          <a:lstStyle/>
          <a:p>
            <a:pPr algn="r">
              <a:lnSpc>
                <a:spcPct val="106000"/>
              </a:lnSpc>
              <a:spcAft>
                <a:spcPts val="400"/>
              </a:spcAft>
              <a:defRPr sz="900" b="0">
                <a:solidFill>
                  <a:srgbClr val="3DDC97"/>
                </a:solidFill>
                <a:latin typeface="Helvetica Neue"/>
              </a:defRPr>
            </a:pPr>
            <a:r>
              <a:t>best so far 1.00</a:t>
            </a:r>
          </a:p>
        </p:txBody>
      </p:sp>
      <p:sp>
        <p:nvSpPr>
          <p:cNvPr id="120" name="text:luck benchmark 0.76"/>
          <p:cNvSpPr txBox="1"/>
          <p:nvPr/>
        </p:nvSpPr>
        <p:spPr>
          <a:xfrm>
            <a:off x="3840480" y="2765197"/>
            <a:ext cx="1463040" cy="155448"/>
          </a:xfrm>
          <a:prstGeom prst="rect">
            <a:avLst/>
          </a:prstGeom>
          <a:noFill/>
        </p:spPr>
        <p:txBody>
          <a:bodyPr wrap="square" lIns="9144" rIns="9144" tIns="0" bIns="0">
            <a:spAutoFit/>
          </a:bodyPr>
          <a:lstStyle/>
          <a:p>
            <a:pPr algn="r">
              <a:lnSpc>
                <a:spcPct val="106000"/>
              </a:lnSpc>
              <a:spcAft>
                <a:spcPts val="400"/>
              </a:spcAft>
              <a:defRPr sz="900" b="0">
                <a:solidFill>
                  <a:srgbClr val="B3A5FF"/>
                </a:solidFill>
                <a:latin typeface="Helvetica Neue"/>
              </a:defRPr>
            </a:pPr>
            <a:r>
              <a:t>luck benchmark 0.76</a:t>
            </a:r>
          </a:p>
        </p:txBody>
      </p:sp>
      <p:sp>
        <p:nvSpPr>
          <p:cNvPr id="121" name="Oval 120"/>
          <p:cNvSpPr/>
          <p:nvPr/>
        </p:nvSpPr>
        <p:spPr>
          <a:xfrm>
            <a:off x="5202936" y="3537990"/>
            <a:ext cx="109728" cy="109728"/>
          </a:xfrm>
          <a:prstGeom prst="ellipse">
            <a:avLst/>
          </a:prstGeom>
          <a:noFill/>
          <a:ln w="10160">
            <a:solidFill>
              <a:srgbClr val="3DDC9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fresh data 0.17"/>
          <p:cNvSpPr txBox="1"/>
          <p:nvPr/>
        </p:nvSpPr>
        <p:spPr>
          <a:xfrm>
            <a:off x="4023360" y="3638574"/>
            <a:ext cx="1188720" cy="155448"/>
          </a:xfrm>
          <a:prstGeom prst="rect">
            <a:avLst/>
          </a:prstGeom>
          <a:noFill/>
        </p:spPr>
        <p:txBody>
          <a:bodyPr wrap="square" lIns="9144" rIns="9144" tIns="0" bIns="0">
            <a:spAutoFit/>
          </a:bodyPr>
          <a:lstStyle/>
          <a:p>
            <a:pPr algn="r">
              <a:lnSpc>
                <a:spcPct val="106000"/>
              </a:lnSpc>
              <a:spcAft>
                <a:spcPts val="400"/>
              </a:spcAft>
              <a:defRPr sz="900" b="0">
                <a:solidFill>
                  <a:srgbClr val="9A9AA2"/>
                </a:solidFill>
                <a:latin typeface="Helvetica Neue"/>
              </a:defRPr>
            </a:pPr>
            <a:r>
              <a:t>fresh data 0.17</a:t>
            </a:r>
          </a:p>
        </p:txBody>
      </p:sp>
      <p:sp>
        <p:nvSpPr>
          <p:cNvPr id="123" name="Rounded Rectangle 122"/>
          <p:cNvSpPr/>
          <p:nvPr/>
        </p:nvSpPr>
        <p:spPr>
          <a:xfrm>
            <a:off x="5669280" y="1371600"/>
            <a:ext cx="2971800" cy="987552"/>
          </a:xfrm>
          <a:prstGeom prst="roundRect">
            <a:avLst>
              <a:gd name="adj" fmla="val 1296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20 DRAWS OF 50, BEFORE COSTS"/>
          <p:cNvSpPr txBox="1"/>
          <p:nvPr/>
        </p:nvSpPr>
        <p:spPr>
          <a:xfrm>
            <a:off x="5833872" y="1463040"/>
            <a:ext cx="26974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20 DRAWS OF 50, BEFORE COSTS</a:t>
            </a:r>
          </a:p>
        </p:txBody>
      </p:sp>
      <p:sp>
        <p:nvSpPr>
          <p:cNvPr id="125" name="text:0.51 to 0.12"/>
          <p:cNvSpPr txBox="1"/>
          <p:nvPr/>
        </p:nvSpPr>
        <p:spPr>
          <a:xfrm>
            <a:off x="5833872" y="1655064"/>
            <a:ext cx="26517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0.51 to 0.12</a:t>
            </a:r>
          </a:p>
        </p:txBody>
      </p:sp>
      <p:sp>
        <p:nvSpPr>
          <p:cNvPr id="126" name="text:average best score in-sample, then t"/>
          <p:cNvSpPr txBox="1"/>
          <p:nvPr/>
        </p:nvSpPr>
        <p:spPr>
          <a:xfrm>
            <a:off x="5833872" y="2029967"/>
            <a:ext cx="2697480" cy="310896"/>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average best score in-sample, then the same strategies on fresh data</a:t>
            </a:r>
          </a:p>
        </p:txBody>
      </p:sp>
      <p:sp>
        <p:nvSpPr>
          <p:cNvPr id="127" name="Rounded Rectangle 126"/>
          <p:cNvSpPr/>
          <p:nvPr/>
        </p:nvSpPr>
        <p:spPr>
          <a:xfrm>
            <a:off x="5669280" y="2468880"/>
            <a:ext cx="2971800" cy="987552"/>
          </a:xfrm>
          <a:prstGeom prst="roundRect">
            <a:avLst>
              <a:gd name="adj" fmla="val 1296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WINNER BEATS ITS BENCHMARK"/>
          <p:cNvSpPr txBox="1"/>
          <p:nvPr/>
        </p:nvSpPr>
        <p:spPr>
          <a:xfrm>
            <a:off x="5833872" y="2560320"/>
            <a:ext cx="26974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WINNER BEATS ITS BENCHMARK</a:t>
            </a:r>
          </a:p>
        </p:txBody>
      </p:sp>
      <p:sp>
        <p:nvSpPr>
          <p:cNvPr id="129" name="text:4 of 20"/>
          <p:cNvSpPr txBox="1"/>
          <p:nvPr/>
        </p:nvSpPr>
        <p:spPr>
          <a:xfrm>
            <a:off x="5833872" y="2752344"/>
            <a:ext cx="26517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4 of 20</a:t>
            </a:r>
          </a:p>
        </p:txBody>
      </p:sp>
      <p:sp>
        <p:nvSpPr>
          <p:cNvPr id="130" name="text:draws; a score only counts if it cle"/>
          <p:cNvSpPr txBox="1"/>
          <p:nvPr/>
        </p:nvSpPr>
        <p:spPr>
          <a:xfrm>
            <a:off x="5833872" y="3127248"/>
            <a:ext cx="2697480" cy="310896"/>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draws; a score only counts if it clears the luck line</a:t>
            </a:r>
          </a:p>
        </p:txBody>
      </p:sp>
      <p:sp>
        <p:nvSpPr>
          <p:cNvPr id="131" name="Rounded Rectangle 130"/>
          <p:cNvSpPr/>
          <p:nvPr/>
        </p:nvSpPr>
        <p:spPr>
          <a:xfrm>
            <a:off x="5669280" y="3566160"/>
            <a:ext cx="2971800" cy="987552"/>
          </a:xfrm>
          <a:prstGeom prst="roundRect">
            <a:avLst>
              <a:gd name="adj" fmla="val 1296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WITH 5 + 2 BPS COSTS PER LEG"/>
          <p:cNvSpPr txBox="1"/>
          <p:nvPr/>
        </p:nvSpPr>
        <p:spPr>
          <a:xfrm>
            <a:off x="5833872" y="3657600"/>
            <a:ext cx="26974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WITH 5 + 2 BPS COSTS PER LEG</a:t>
            </a:r>
          </a:p>
        </p:txBody>
      </p:sp>
      <p:sp>
        <p:nvSpPr>
          <p:cNvPr id="133" name="text:-1.39"/>
          <p:cNvSpPr txBox="1"/>
          <p:nvPr/>
        </p:nvSpPr>
        <p:spPr>
          <a:xfrm>
            <a:off x="5833872" y="3849624"/>
            <a:ext cx="26517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-1.39</a:t>
            </a:r>
          </a:p>
        </p:txBody>
      </p:sp>
      <p:sp>
        <p:nvSpPr>
          <p:cNvPr id="134" name="text:average best score in-sample; positi"/>
          <p:cNvSpPr txBox="1"/>
          <p:nvPr/>
        </p:nvSpPr>
        <p:spPr>
          <a:xfrm>
            <a:off x="5833872" y="4224528"/>
            <a:ext cx="2697480" cy="310896"/>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average best score in-sample; positive on fresh data in 0 of 20</a:t>
            </a:r>
          </a:p>
        </p:txBody>
      </p:sp>
      <p:sp>
        <p:nvSpPr>
          <p:cNvPr id="135" name="text:Simulated, on recorded data; not adv"/>
          <p:cNvSpPr txBox="1"/>
          <p:nvPr/>
        </p:nvSpPr>
        <p:spPr>
          <a:xfrm>
            <a:off x="5669280" y="4572000"/>
            <a:ext cx="2926080" cy="137160"/>
          </a:xfrm>
          <a:prstGeom prst="rect">
            <a:avLst/>
          </a:prstGeom>
          <a:noFill/>
        </p:spPr>
        <p:txBody>
          <a:bodyPr wrap="square" lIns="9144" rIns="9144" tIns="0" bIns="0">
            <a:spAutoFit/>
          </a:bodyPr>
          <a:lstStyle/>
          <a:p>
            <a:pPr>
              <a:lnSpc>
                <a:spcPct val="106000"/>
              </a:lnSpc>
              <a:spcAft>
                <a:spcPts val="400"/>
              </a:spcAft>
              <a:defRPr sz="750" b="0">
                <a:solidFill>
                  <a:srgbClr val="9A9AA2"/>
                </a:solidFill>
                <a:latin typeface="Helvetica Neue"/>
              </a:defRPr>
            </a:pPr>
            <a:r>
              <a:t>Simulated, on recorded data; not advice.</a:t>
            </a:r>
          </a:p>
        </p:txBody>
      </p:sp>
      <p:sp>
        <p:nvSpPr>
          <p:cNvPr id="136" name="text:Source: code/out/overfit.json (curv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code/out/overfit.json (curveSeed1 and summary), before costs. Simulated, on recorded data; not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al numbe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Real numbers</a:t>
            </a:r>
          </a:p>
        </p:txBody>
      </p:sp>
      <p:sp>
        <p:nvSpPr>
          <p:cNvPr id="3" name="text:40 minutes of real SOL/USDC prices f"/>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40 minutes of real SOL/USDC prices from Jupiter, Pyth and Orca.</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417320"/>
            <a:ext cx="1828800" cy="1097280"/>
          </a:xfrm>
          <a:prstGeom prst="roundRect">
            <a:avLst>
              <a:gd name="adj" fmla="val 11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AMPLES"/>
          <p:cNvSpPr txBox="1"/>
          <p:nvPr/>
        </p:nvSpPr>
        <p:spPr>
          <a:xfrm>
            <a:off x="694944" y="1508760"/>
            <a:ext cx="15544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SAMPLES</a:t>
            </a:r>
          </a:p>
        </p:txBody>
      </p:sp>
      <p:sp>
        <p:nvSpPr>
          <p:cNvPr id="7" name="text:481"/>
          <p:cNvSpPr txBox="1"/>
          <p:nvPr/>
        </p:nvSpPr>
        <p:spPr>
          <a:xfrm>
            <a:off x="694944" y="1719072"/>
            <a:ext cx="160020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481</a:t>
            </a:r>
          </a:p>
        </p:txBody>
      </p:sp>
      <p:sp>
        <p:nvSpPr>
          <p:cNvPr id="8" name="text:one every 5 seconds"/>
          <p:cNvSpPr txBox="1"/>
          <p:nvPr/>
        </p:nvSpPr>
        <p:spPr>
          <a:xfrm>
            <a:off x="694944" y="2103120"/>
            <a:ext cx="1600200" cy="36576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one every 5 seconds</a:t>
            </a:r>
          </a:p>
        </p:txBody>
      </p:sp>
      <p:sp>
        <p:nvSpPr>
          <p:cNvPr id="9" name="Rounded Rectangle 8"/>
          <p:cNvSpPr/>
          <p:nvPr/>
        </p:nvSpPr>
        <p:spPr>
          <a:xfrm>
            <a:off x="2636215" y="1417320"/>
            <a:ext cx="1828800" cy="1097280"/>
          </a:xfrm>
          <a:prstGeom prst="roundRect">
            <a:avLst>
              <a:gd name="adj" fmla="val 11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WINDOW"/>
          <p:cNvSpPr txBox="1"/>
          <p:nvPr/>
        </p:nvSpPr>
        <p:spPr>
          <a:xfrm>
            <a:off x="2782519" y="1508760"/>
            <a:ext cx="15544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WINDOW</a:t>
            </a:r>
          </a:p>
        </p:txBody>
      </p:sp>
      <p:sp>
        <p:nvSpPr>
          <p:cNvPr id="11" name="text:40 min"/>
          <p:cNvSpPr txBox="1"/>
          <p:nvPr/>
        </p:nvSpPr>
        <p:spPr>
          <a:xfrm>
            <a:off x="2782519" y="1719072"/>
            <a:ext cx="160020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40 min</a:t>
            </a:r>
          </a:p>
        </p:txBody>
      </p:sp>
      <p:sp>
        <p:nvSpPr>
          <p:cNvPr id="12" name="text:01:13 to 01:53 Singapore time, 21 Oc"/>
          <p:cNvSpPr txBox="1"/>
          <p:nvPr/>
        </p:nvSpPr>
        <p:spPr>
          <a:xfrm>
            <a:off x="2782519" y="2103120"/>
            <a:ext cx="1600200" cy="36576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01:13 to 01:53 Singapore time, 21 Oct 2026 (UTC evening)</a:t>
            </a:r>
          </a:p>
        </p:txBody>
      </p:sp>
      <p:sp>
        <p:nvSpPr>
          <p:cNvPr id="13" name="Rounded Rectangle 12"/>
          <p:cNvSpPr/>
          <p:nvPr/>
        </p:nvSpPr>
        <p:spPr>
          <a:xfrm>
            <a:off x="4723790" y="1417320"/>
            <a:ext cx="1828800" cy="1097280"/>
          </a:xfrm>
          <a:prstGeom prst="roundRect">
            <a:avLst>
              <a:gd name="adj" fmla="val 11666"/>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EST MOMENTS"/>
          <p:cNvSpPr txBox="1"/>
          <p:nvPr/>
        </p:nvSpPr>
        <p:spPr>
          <a:xfrm>
            <a:off x="4870094" y="1508760"/>
            <a:ext cx="155448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TEST MOMENTS</a:t>
            </a:r>
          </a:p>
        </p:txBody>
      </p:sp>
      <p:sp>
        <p:nvSpPr>
          <p:cNvPr id="15" name="text:433"/>
          <p:cNvSpPr txBox="1"/>
          <p:nvPr/>
        </p:nvSpPr>
        <p:spPr>
          <a:xfrm>
            <a:off x="4870094" y="1719072"/>
            <a:ext cx="160020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433</a:t>
            </a:r>
          </a:p>
        </p:txBody>
      </p:sp>
      <p:sp>
        <p:nvSpPr>
          <p:cNvPr id="16" name="text:5 folds; one standard error is about"/>
          <p:cNvSpPr txBox="1"/>
          <p:nvPr/>
        </p:nvSpPr>
        <p:spPr>
          <a:xfrm>
            <a:off x="4870094" y="2103120"/>
            <a:ext cx="1600200" cy="36576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5 folds; one standard error is about 2.4 points</a:t>
            </a:r>
          </a:p>
        </p:txBody>
      </p:sp>
      <p:sp>
        <p:nvSpPr>
          <p:cNvPr id="17" name="Rounded Rectangle 16"/>
          <p:cNvSpPr/>
          <p:nvPr/>
        </p:nvSpPr>
        <p:spPr>
          <a:xfrm>
            <a:off x="6811365" y="1417320"/>
            <a:ext cx="1828800" cy="1097280"/>
          </a:xfrm>
          <a:prstGeom prst="roundRect">
            <a:avLst>
              <a:gd name="adj" fmla="val 1166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STRATEGIES"/>
          <p:cNvSpPr txBox="1"/>
          <p:nvPr/>
        </p:nvSpPr>
        <p:spPr>
          <a:xfrm>
            <a:off x="6957669" y="1508760"/>
            <a:ext cx="1554480" cy="164592"/>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STRATEGIES</a:t>
            </a:r>
          </a:p>
        </p:txBody>
      </p:sp>
      <p:sp>
        <p:nvSpPr>
          <p:cNvPr id="19" name="text:20 x 50"/>
          <p:cNvSpPr txBox="1"/>
          <p:nvPr/>
        </p:nvSpPr>
        <p:spPr>
          <a:xfrm>
            <a:off x="6957669" y="1719072"/>
            <a:ext cx="160020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20 x 50</a:t>
            </a:r>
          </a:p>
        </p:txBody>
      </p:sp>
      <p:sp>
        <p:nvSpPr>
          <p:cNvPr id="20" name="text:20 draws of 50 random strategies"/>
          <p:cNvSpPr txBox="1"/>
          <p:nvPr/>
        </p:nvSpPr>
        <p:spPr>
          <a:xfrm>
            <a:off x="6957669" y="2103120"/>
            <a:ext cx="1600200" cy="36576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20 draws of 50 random strategies</a:t>
            </a:r>
          </a:p>
        </p:txBody>
      </p:sp>
      <p:sp>
        <p:nvSpPr>
          <p:cNvPr id="21" name="Rounded Rectangle 20"/>
          <p:cNvSpPr/>
          <p:nvPr/>
        </p:nvSpPr>
        <p:spPr>
          <a:xfrm>
            <a:off x="548640" y="2651760"/>
            <a:ext cx="539496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MEMORISER BALANCED ACCURACY (coin fl"/>
          <p:cNvSpPr txBox="1"/>
          <p:nvPr/>
        </p:nvSpPr>
        <p:spPr>
          <a:xfrm>
            <a:off x="713232" y="2715768"/>
            <a:ext cx="365760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MEMORISER BALANCED ACCURACY (coin flip = 50%)</a:t>
            </a:r>
          </a:p>
        </p:txBody>
      </p:sp>
      <p:cxnSp>
        <p:nvCxnSpPr>
          <p:cNvPr id="23" name="Connector 22"/>
          <p:cNvCxnSpPr/>
          <p:nvPr/>
        </p:nvCxnSpPr>
        <p:spPr>
          <a:xfrm>
            <a:off x="713232" y="3383280"/>
            <a:ext cx="5093208" cy="0"/>
          </a:xfrm>
          <a:prstGeom prst="line">
            <a:avLst/>
          </a:prstGeom>
          <a:ln w="10160">
            <a:solidFill>
              <a:srgbClr val="9A9AA2"/>
            </a:solidFill>
            <a:prstDash val="dash"/>
          </a:ln>
        </p:spPr>
        <p:style>
          <a:lnRef idx="2">
            <a:schemeClr val="accent1"/>
          </a:lnRef>
          <a:fillRef idx="0">
            <a:schemeClr val="accent1"/>
          </a:fillRef>
          <a:effectRef idx="1">
            <a:schemeClr val="accent1"/>
          </a:effectRef>
          <a:fontRef idx="minor">
            <a:schemeClr val="tx1"/>
          </a:fontRef>
        </p:style>
      </p:cxnSp>
      <p:sp>
        <p:nvSpPr>
          <p:cNvPr id="24" name="text:50%"/>
          <p:cNvSpPr txBox="1"/>
          <p:nvPr/>
        </p:nvSpPr>
        <p:spPr>
          <a:xfrm>
            <a:off x="5486400" y="3227832"/>
            <a:ext cx="320040" cy="146304"/>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50%</a:t>
            </a:r>
          </a:p>
        </p:txBody>
      </p:sp>
      <p:sp>
        <p:nvSpPr>
          <p:cNvPr id="25" name="Rounded Rectangle 24"/>
          <p:cNvSpPr/>
          <p:nvPr/>
        </p:nvSpPr>
        <p:spPr>
          <a:xfrm>
            <a:off x="777240" y="3146221"/>
            <a:ext cx="182880" cy="694258"/>
          </a:xfrm>
          <a:prstGeom prst="roundRect">
            <a:avLst>
              <a:gd name="adj" fmla="val 15000"/>
            </a:avLst>
          </a:prstGeom>
          <a:noFill/>
          <a:ln w="1397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60.4"/>
          <p:cNvSpPr txBox="1"/>
          <p:nvPr/>
        </p:nvSpPr>
        <p:spPr>
          <a:xfrm>
            <a:off x="704088" y="2990773"/>
            <a:ext cx="329184" cy="146304"/>
          </a:xfrm>
          <a:prstGeom prst="rect">
            <a:avLst/>
          </a:prstGeom>
          <a:noFill/>
        </p:spPr>
        <p:txBody>
          <a:bodyPr wrap="square" lIns="9144" rIns="9144" tIns="0" bIns="0">
            <a:spAutoFit/>
          </a:bodyPr>
          <a:lstStyle/>
          <a:p>
            <a:pPr algn="ctr">
              <a:lnSpc>
                <a:spcPct val="106000"/>
              </a:lnSpc>
              <a:spcAft>
                <a:spcPts val="400"/>
              </a:spcAft>
              <a:defRPr sz="800" b="0">
                <a:solidFill>
                  <a:srgbClr val="F2F5F8"/>
                </a:solidFill>
                <a:latin typeface="Helvetica Neue"/>
              </a:defRPr>
            </a:pPr>
            <a:r>
              <a:t>60.4</a:t>
            </a:r>
          </a:p>
        </p:txBody>
      </p:sp>
      <p:sp>
        <p:nvSpPr>
          <p:cNvPr id="27" name="Rounded Rectangle 26"/>
          <p:cNvSpPr/>
          <p:nvPr/>
        </p:nvSpPr>
        <p:spPr>
          <a:xfrm>
            <a:off x="1024128" y="3288868"/>
            <a:ext cx="182880" cy="551611"/>
          </a:xfrm>
          <a:prstGeom prst="roundRect">
            <a:avLst>
              <a:gd name="adj" fmla="val 15000"/>
            </a:avLst>
          </a:prstGeom>
          <a:noFill/>
          <a:ln w="1397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54.1"/>
          <p:cNvSpPr txBox="1"/>
          <p:nvPr/>
        </p:nvSpPr>
        <p:spPr>
          <a:xfrm>
            <a:off x="950976" y="3133420"/>
            <a:ext cx="329184" cy="146304"/>
          </a:xfrm>
          <a:prstGeom prst="rect">
            <a:avLst/>
          </a:prstGeom>
          <a:noFill/>
        </p:spPr>
        <p:txBody>
          <a:bodyPr wrap="square" lIns="9144" rIns="9144" tIns="0" bIns="0">
            <a:spAutoFit/>
          </a:bodyPr>
          <a:lstStyle/>
          <a:p>
            <a:pPr algn="ctr">
              <a:lnSpc>
                <a:spcPct val="106000"/>
              </a:lnSpc>
              <a:spcAft>
                <a:spcPts val="400"/>
              </a:spcAft>
              <a:defRPr sz="800" b="0">
                <a:solidFill>
                  <a:srgbClr val="F2F5F8"/>
                </a:solidFill>
                <a:latin typeface="Helvetica Neue"/>
              </a:defRPr>
            </a:pPr>
            <a:r>
              <a:t>54.1</a:t>
            </a:r>
          </a:p>
        </p:txBody>
      </p:sp>
      <p:sp>
        <p:nvSpPr>
          <p:cNvPr id="29" name="Rounded Rectangle 28"/>
          <p:cNvSpPr/>
          <p:nvPr/>
        </p:nvSpPr>
        <p:spPr>
          <a:xfrm>
            <a:off x="1271016" y="3292983"/>
            <a:ext cx="182880" cy="547496"/>
          </a:xfrm>
          <a:prstGeom prst="roundRect">
            <a:avLst>
              <a:gd name="adj" fmla="val 15000"/>
            </a:avLst>
          </a:prstGeom>
          <a:noFill/>
          <a:ln w="1397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53.9"/>
          <p:cNvSpPr txBox="1"/>
          <p:nvPr/>
        </p:nvSpPr>
        <p:spPr>
          <a:xfrm>
            <a:off x="1197864" y="3137535"/>
            <a:ext cx="329184" cy="146304"/>
          </a:xfrm>
          <a:prstGeom prst="rect">
            <a:avLst/>
          </a:prstGeom>
          <a:noFill/>
        </p:spPr>
        <p:txBody>
          <a:bodyPr wrap="square" lIns="9144" rIns="9144" tIns="0" bIns="0">
            <a:spAutoFit/>
          </a:bodyPr>
          <a:lstStyle/>
          <a:p>
            <a:pPr algn="ctr">
              <a:lnSpc>
                <a:spcPct val="106000"/>
              </a:lnSpc>
              <a:spcAft>
                <a:spcPts val="400"/>
              </a:spcAft>
              <a:defRPr sz="800" b="0">
                <a:solidFill>
                  <a:srgbClr val="F2F5F8"/>
                </a:solidFill>
                <a:latin typeface="Helvetica Neue"/>
              </a:defRPr>
            </a:pPr>
            <a:r>
              <a:t>53.9</a:t>
            </a:r>
          </a:p>
        </p:txBody>
      </p:sp>
      <p:sp>
        <p:nvSpPr>
          <p:cNvPr id="31" name="text:h = 24"/>
          <p:cNvSpPr txBox="1"/>
          <p:nvPr/>
        </p:nvSpPr>
        <p:spPr>
          <a:xfrm>
            <a:off x="777240" y="3867912"/>
            <a:ext cx="914400" cy="146304"/>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h = 24</a:t>
            </a:r>
          </a:p>
        </p:txBody>
      </p:sp>
      <p:sp>
        <p:nvSpPr>
          <p:cNvPr id="32" name="Rounded Rectangle 31"/>
          <p:cNvSpPr/>
          <p:nvPr/>
        </p:nvSpPr>
        <p:spPr>
          <a:xfrm>
            <a:off x="1837944" y="3227146"/>
            <a:ext cx="182880" cy="613333"/>
          </a:xfrm>
          <a:prstGeom prst="roundRect">
            <a:avLst>
              <a:gd name="adj" fmla="val 15000"/>
            </a:avLst>
          </a:prstGeom>
          <a:noFill/>
          <a:ln w="1397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56.8"/>
          <p:cNvSpPr txBox="1"/>
          <p:nvPr/>
        </p:nvSpPr>
        <p:spPr>
          <a:xfrm>
            <a:off x="1764792" y="3071698"/>
            <a:ext cx="329184" cy="146304"/>
          </a:xfrm>
          <a:prstGeom prst="rect">
            <a:avLst/>
          </a:prstGeom>
          <a:noFill/>
        </p:spPr>
        <p:txBody>
          <a:bodyPr wrap="square" lIns="9144" rIns="9144" tIns="0" bIns="0">
            <a:spAutoFit/>
          </a:bodyPr>
          <a:lstStyle/>
          <a:p>
            <a:pPr algn="ctr">
              <a:lnSpc>
                <a:spcPct val="106000"/>
              </a:lnSpc>
              <a:spcAft>
                <a:spcPts val="400"/>
              </a:spcAft>
              <a:defRPr sz="800" b="0">
                <a:solidFill>
                  <a:srgbClr val="F2F5F8"/>
                </a:solidFill>
                <a:latin typeface="Helvetica Neue"/>
              </a:defRPr>
            </a:pPr>
            <a:r>
              <a:t>56.8</a:t>
            </a:r>
          </a:p>
        </p:txBody>
      </p:sp>
      <p:sp>
        <p:nvSpPr>
          <p:cNvPr id="34" name="Rounded Rectangle 33"/>
          <p:cNvSpPr/>
          <p:nvPr/>
        </p:nvSpPr>
        <p:spPr>
          <a:xfrm>
            <a:off x="2084832" y="3518382"/>
            <a:ext cx="182880" cy="322097"/>
          </a:xfrm>
          <a:prstGeom prst="roundRect">
            <a:avLst>
              <a:gd name="adj" fmla="val 15000"/>
            </a:avLst>
          </a:prstGeom>
          <a:noFill/>
          <a:ln w="1397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44.1"/>
          <p:cNvSpPr txBox="1"/>
          <p:nvPr/>
        </p:nvSpPr>
        <p:spPr>
          <a:xfrm>
            <a:off x="2011680" y="3362934"/>
            <a:ext cx="329184" cy="146304"/>
          </a:xfrm>
          <a:prstGeom prst="rect">
            <a:avLst/>
          </a:prstGeom>
          <a:noFill/>
        </p:spPr>
        <p:txBody>
          <a:bodyPr wrap="square" lIns="9144" rIns="9144" tIns="0" bIns="0">
            <a:spAutoFit/>
          </a:bodyPr>
          <a:lstStyle/>
          <a:p>
            <a:pPr algn="ctr">
              <a:lnSpc>
                <a:spcPct val="106000"/>
              </a:lnSpc>
              <a:spcAft>
                <a:spcPts val="400"/>
              </a:spcAft>
              <a:defRPr sz="800" b="0">
                <a:solidFill>
                  <a:srgbClr val="F2F5F8"/>
                </a:solidFill>
                <a:latin typeface="Helvetica Neue"/>
              </a:defRPr>
            </a:pPr>
            <a:r>
              <a:t>44.1</a:t>
            </a:r>
          </a:p>
        </p:txBody>
      </p:sp>
      <p:sp>
        <p:nvSpPr>
          <p:cNvPr id="36" name="Rounded Rectangle 35"/>
          <p:cNvSpPr/>
          <p:nvPr/>
        </p:nvSpPr>
        <p:spPr>
          <a:xfrm>
            <a:off x="2331720" y="3719779"/>
            <a:ext cx="182880" cy="120700"/>
          </a:xfrm>
          <a:prstGeom prst="roundRect">
            <a:avLst>
              <a:gd name="adj" fmla="val 22727"/>
            </a:avLst>
          </a:prstGeom>
          <a:noFill/>
          <a:ln w="1397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35.3"/>
          <p:cNvSpPr txBox="1"/>
          <p:nvPr/>
        </p:nvSpPr>
        <p:spPr>
          <a:xfrm>
            <a:off x="2258568" y="3564331"/>
            <a:ext cx="329184" cy="146304"/>
          </a:xfrm>
          <a:prstGeom prst="rect">
            <a:avLst/>
          </a:prstGeom>
          <a:noFill/>
        </p:spPr>
        <p:txBody>
          <a:bodyPr wrap="square" lIns="9144" rIns="9144" tIns="0" bIns="0">
            <a:spAutoFit/>
          </a:bodyPr>
          <a:lstStyle/>
          <a:p>
            <a:pPr algn="ctr">
              <a:lnSpc>
                <a:spcPct val="106000"/>
              </a:lnSpc>
              <a:spcAft>
                <a:spcPts val="400"/>
              </a:spcAft>
              <a:defRPr sz="800" b="0">
                <a:solidFill>
                  <a:srgbClr val="F2F5F8"/>
                </a:solidFill>
                <a:latin typeface="Helvetica Neue"/>
              </a:defRPr>
            </a:pPr>
            <a:r>
              <a:t>35.3</a:t>
            </a:r>
          </a:p>
        </p:txBody>
      </p:sp>
      <p:sp>
        <p:nvSpPr>
          <p:cNvPr id="38" name="text:h = 48"/>
          <p:cNvSpPr txBox="1"/>
          <p:nvPr/>
        </p:nvSpPr>
        <p:spPr>
          <a:xfrm>
            <a:off x="1837944" y="3867912"/>
            <a:ext cx="914400" cy="146304"/>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h = 48</a:t>
            </a:r>
          </a:p>
        </p:txBody>
      </p:sp>
      <p:sp>
        <p:nvSpPr>
          <p:cNvPr id="39" name="Oval 38"/>
          <p:cNvSpPr/>
          <p:nvPr/>
        </p:nvSpPr>
        <p:spPr>
          <a:xfrm>
            <a:off x="2377440" y="2926080"/>
            <a:ext cx="91440" cy="91440"/>
          </a:xfrm>
          <a:prstGeom prst="ellipse">
            <a:avLst/>
          </a:prstGeom>
          <a:noFill/>
          <a:ln w="1016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shuffled"/>
          <p:cNvSpPr txBox="1"/>
          <p:nvPr/>
        </p:nvSpPr>
        <p:spPr>
          <a:xfrm>
            <a:off x="2514600" y="2898648"/>
            <a:ext cx="1463040" cy="146304"/>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shuffled</a:t>
            </a:r>
          </a:p>
        </p:txBody>
      </p:sp>
      <p:sp>
        <p:nvSpPr>
          <p:cNvPr id="41" name="Oval 40"/>
          <p:cNvSpPr/>
          <p:nvPr/>
        </p:nvSpPr>
        <p:spPr>
          <a:xfrm>
            <a:off x="3163824" y="2926080"/>
            <a:ext cx="91440" cy="91440"/>
          </a:xfrm>
          <a:prstGeom prst="ellipse">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time folds"/>
          <p:cNvSpPr txBox="1"/>
          <p:nvPr/>
        </p:nvSpPr>
        <p:spPr>
          <a:xfrm>
            <a:off x="3300984" y="2898648"/>
            <a:ext cx="1463040" cy="146304"/>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time folds</a:t>
            </a:r>
          </a:p>
        </p:txBody>
      </p:sp>
      <p:sp>
        <p:nvSpPr>
          <p:cNvPr id="43" name="Oval 42"/>
          <p:cNvSpPr/>
          <p:nvPr/>
        </p:nvSpPr>
        <p:spPr>
          <a:xfrm>
            <a:off x="4032504" y="292608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time + purge + embargo 12"/>
          <p:cNvSpPr txBox="1"/>
          <p:nvPr/>
        </p:nvSpPr>
        <p:spPr>
          <a:xfrm>
            <a:off x="4169664" y="2898648"/>
            <a:ext cx="1463040" cy="146304"/>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time + purge + embargo 12</a:t>
            </a:r>
          </a:p>
        </p:txBody>
      </p:sp>
      <p:sp>
        <p:nvSpPr>
          <p:cNvPr id="45" name="Rounded Rectangle 44"/>
          <p:cNvSpPr/>
          <p:nvPr/>
        </p:nvSpPr>
        <p:spPr>
          <a:xfrm>
            <a:off x="6126480" y="2651760"/>
            <a:ext cx="251460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alanced accuracy: guessing one side"/>
          <p:cNvSpPr txBox="1"/>
          <p:nvPr/>
        </p:nvSpPr>
        <p:spPr>
          <a:xfrm>
            <a:off x="6291072" y="2651760"/>
            <a:ext cx="2194560" cy="1417320"/>
          </a:xfrm>
          <a:prstGeom prst="rect">
            <a:avLst/>
          </a:prstGeom>
          <a:noFill/>
        </p:spPr>
        <p:txBody>
          <a:bodyPr wrap="square" lIns="9144" rIns="9144" tIns="0" bIns="0" anchor="ctr">
            <a:spAutoFit/>
          </a:bodyPr>
          <a:lstStyle/>
          <a:p>
            <a:pPr>
              <a:lnSpc>
                <a:spcPct val="106000"/>
              </a:lnSpc>
              <a:spcAft>
                <a:spcPts val="400"/>
              </a:spcAft>
              <a:defRPr sz="950" b="0">
                <a:solidFill>
                  <a:srgbClr val="9A9AA2"/>
                </a:solidFill>
                <a:latin typeface="Helvetica Neue"/>
              </a:defRPr>
            </a:pPr>
            <a:r>
              <a:t>Balanced accuracy: guessing one side every time scores 50%. This window drifted up, so plain accuracy of always guessing up would be 63.5% at h = 24. Read the gap between fold schemes, not the level.</a:t>
            </a:r>
          </a:p>
        </p:txBody>
      </p:sp>
      <p:sp>
        <p:nvSpPr>
          <p:cNvPr id="47" name="Rounded Rectangle 46"/>
          <p:cNvSpPr/>
          <p:nvPr/>
        </p:nvSpPr>
        <p:spPr>
          <a:xfrm>
            <a:off x="548640" y="4160520"/>
            <a:ext cx="8092440" cy="457200"/>
          </a:xfrm>
          <a:prstGeom prst="roundRect">
            <a:avLst>
              <a:gd name="adj" fmla="val 28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Reads use public mainnet data; every"/>
          <p:cNvSpPr txBox="1"/>
          <p:nvPr/>
        </p:nvSpPr>
        <p:spPr>
          <a:xfrm>
            <a:off x="713232" y="4160520"/>
            <a:ext cx="7818120"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Reads use public mainnet data; every write is devnet only; no real funds.</a:t>
            </a:r>
          </a:p>
        </p:txBody>
      </p:sp>
      <p:sp>
        <p:nvSpPr>
          <p:cNvPr id="49" name="text:Source: code/out/splits.json, overfi"/>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code/out/splits.json, overfit.json and recorded/SOURCES.md; recorded data from earlier build nights, last sample 2026-10-21 17:53:59 UTC. Public mainnet reads. Simulated, on recorded data; not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broken feed raises an alarm"/>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broken feed raises an alarm</a:t>
            </a:r>
          </a:p>
        </p:txBody>
      </p:sp>
      <p:sp>
        <p:nvSpPr>
          <p:cNvPr id="3" name="text:Watch the gap between the venue pric"/>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Watch the gap between the venue price and the oracle.</a:t>
            </a:r>
          </a:p>
        </p:txBody>
      </p:sp>
      <p:sp>
        <p:nvSpPr>
          <p:cNvPr id="4"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5" name="Rounded Rectangle 4"/>
          <p:cNvSpPr/>
          <p:nvPr/>
        </p:nvSpPr>
        <p:spPr>
          <a:xfrm>
            <a:off x="548640" y="1371600"/>
            <a:ext cx="4480560" cy="1325880"/>
          </a:xfrm>
          <a:prstGeom prst="roundRect">
            <a:avLst>
              <a:gd name="adj" fmla="val 5517"/>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743200"/>
            <a:ext cx="4480560" cy="1097280"/>
          </a:xfrm>
          <a:prstGeom prst="roundRect">
            <a:avLst>
              <a:gd name="adj" fmla="val 6666"/>
            </a:avLst>
          </a:prstGeom>
          <a:noFill/>
          <a:ln w="10160">
            <a:solidFill>
              <a:srgbClr val="2A2A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GAP: VENUE MINUS ORACLE (bps)"/>
          <p:cNvSpPr txBox="1"/>
          <p:nvPr/>
        </p:nvSpPr>
        <p:spPr>
          <a:xfrm>
            <a:off x="658368" y="1408176"/>
            <a:ext cx="2743200" cy="146304"/>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GAP: VENUE MINUS ORACLE (bps)</a:t>
            </a:r>
          </a:p>
        </p:txBody>
      </p:sp>
      <p:sp>
        <p:nvSpPr>
          <p:cNvPr id="8" name="text:CUSUM SUM (alarm level 5)"/>
          <p:cNvSpPr txBox="1"/>
          <p:nvPr/>
        </p:nvSpPr>
        <p:spPr>
          <a:xfrm>
            <a:off x="658368" y="2779776"/>
            <a:ext cx="2743200" cy="146304"/>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CUSUM SUM (alarm level 5)</a:t>
            </a:r>
          </a:p>
        </p:txBody>
      </p:sp>
      <p:cxnSp>
        <p:nvCxnSpPr>
          <p:cNvPr id="9" name="Connector 8"/>
          <p:cNvCxnSpPr/>
          <p:nvPr/>
        </p:nvCxnSpPr>
        <p:spPr>
          <a:xfrm flipV="1">
            <a:off x="685800" y="1798084"/>
            <a:ext cx="8763" cy="11909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4563" y="1714289"/>
            <a:ext cx="8763" cy="8379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94563"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3326" y="1714289"/>
            <a:ext cx="8763" cy="20568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03326"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12089" y="1863982"/>
            <a:ext cx="8763" cy="5599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1208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20852" y="1863982"/>
            <a:ext cx="8763" cy="10383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2085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9615" y="1967814"/>
            <a:ext cx="8763" cy="4076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2961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38378" y="2008576"/>
            <a:ext cx="8763" cy="3076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3837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7141" y="1974196"/>
            <a:ext cx="8763" cy="6514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7141"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5904" y="1974196"/>
            <a:ext cx="8763" cy="638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5904"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64667" y="1980282"/>
            <a:ext cx="8763" cy="29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64667"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3430" y="1980282"/>
            <a:ext cx="8763" cy="7277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73430"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82193" y="2053056"/>
            <a:ext cx="8763" cy="9103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82193"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90956" y="2144090"/>
            <a:ext cx="8762" cy="6030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90956"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99718" y="1890335"/>
            <a:ext cx="8764" cy="31406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99718"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08482" y="1890335"/>
            <a:ext cx="8763" cy="5698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848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17245" y="1936065"/>
            <a:ext cx="8763" cy="1125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1724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26008" y="1936065"/>
            <a:ext cx="8762" cy="6856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26008"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834770" y="1881222"/>
            <a:ext cx="8764" cy="12340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4770"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43534" y="1867207"/>
            <a:ext cx="8763" cy="1401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43534"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52297" y="1867207"/>
            <a:ext cx="8763" cy="6461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52297"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61060" y="1785023"/>
            <a:ext cx="8762" cy="14679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1060"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69822" y="1785023"/>
            <a:ext cx="8764" cy="19710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69822"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78586" y="1966596"/>
            <a:ext cx="8763" cy="1552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78586"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87349" y="1928860"/>
            <a:ext cx="8763" cy="3773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8734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96112" y="1928860"/>
            <a:ext cx="8762" cy="5507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96112"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04874" y="1983934"/>
            <a:ext cx="8764" cy="2345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04874"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913638" y="1998871"/>
            <a:ext cx="8763" cy="852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1363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22401" y="1916062"/>
            <a:ext cx="8763" cy="8280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22401"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931164" y="1893855"/>
            <a:ext cx="8762" cy="2220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31164"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39926" y="1893855"/>
            <a:ext cx="8764" cy="5389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39926"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48690" y="1947745"/>
            <a:ext cx="8763" cy="88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48690"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57453" y="1948633"/>
            <a:ext cx="8763" cy="210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57453"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66216" y="1885597"/>
            <a:ext cx="8762" cy="6514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66216"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74978" y="1885597"/>
            <a:ext cx="8763" cy="16956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7497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83741" y="2055162"/>
            <a:ext cx="8764" cy="9952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83741"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992505" y="2015880"/>
            <a:ext cx="8763" cy="13880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9250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001268" y="2015880"/>
            <a:ext cx="8762" cy="6273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01268"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10030" y="1973242"/>
            <a:ext cx="8764" cy="10537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10030"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18794" y="1947646"/>
            <a:ext cx="8763" cy="2559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18794"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27557" y="1947646"/>
            <a:ext cx="8763" cy="5270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27557"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36320" y="1953765"/>
            <a:ext cx="8762" cy="4658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36320"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45082" y="1953765"/>
            <a:ext cx="8763" cy="5695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4508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53845" y="2010715"/>
            <a:ext cx="8764" cy="7033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3845"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062609" y="1917839"/>
            <a:ext cx="8763" cy="16321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6260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71372" y="1917839"/>
            <a:ext cx="8763" cy="1339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7137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080135" y="1890138"/>
            <a:ext cx="8763" cy="4109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8013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88898" y="1787195"/>
            <a:ext cx="8763" cy="10294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8889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97661" y="1787195"/>
            <a:ext cx="8763" cy="21226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097661"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106424" y="1999463"/>
            <a:ext cx="8763" cy="914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106424"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115187" y="1948600"/>
            <a:ext cx="8762" cy="6000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15187"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123949" y="1877669"/>
            <a:ext cx="8764" cy="7093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123949"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132713" y="1877669"/>
            <a:ext cx="8763" cy="16472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132713"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141476" y="2042397"/>
            <a:ext cx="8763" cy="10955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1141476"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1150239" y="1985448"/>
            <a:ext cx="8763" cy="16650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15023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159002" y="1985448"/>
            <a:ext cx="8762" cy="151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159002"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1167764" y="1969294"/>
            <a:ext cx="8764" cy="1766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167764"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1176528" y="1909022"/>
            <a:ext cx="8763" cy="6027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17652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185291" y="1909022"/>
            <a:ext cx="8762" cy="608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185291"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194053" y="1870694"/>
            <a:ext cx="8764" cy="4441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194053"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1202817" y="1870694"/>
            <a:ext cx="8763" cy="10534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1202817"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1211580" y="1972979"/>
            <a:ext cx="8763" cy="305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211580"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220343" y="1804697"/>
            <a:ext cx="8763" cy="16828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220343" y="3695426"/>
            <a:ext cx="8763" cy="8104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229106" y="1804697"/>
            <a:ext cx="8763" cy="2013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229106" y="3628957"/>
            <a:ext cx="8763" cy="6646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237869" y="1824832"/>
            <a:ext cx="8763" cy="14485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1237869" y="3628957"/>
            <a:ext cx="8763" cy="3840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246632" y="1969689"/>
            <a:ext cx="8763" cy="3892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1246632" y="3667359"/>
            <a:ext cx="8763" cy="6658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255395" y="2008609"/>
            <a:ext cx="8762" cy="5658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1255395" y="3731885"/>
            <a:ext cx="8762" cy="205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264157" y="2032626"/>
            <a:ext cx="8764" cy="3257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64157" y="3712688"/>
            <a:ext cx="8764" cy="1919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272921" y="1837926"/>
            <a:ext cx="8763" cy="19470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272921" y="3712688"/>
            <a:ext cx="8763" cy="679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281684" y="1772489"/>
            <a:ext cx="8763" cy="6543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1281684" y="3615118"/>
            <a:ext cx="8763" cy="10436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1290447" y="1752420"/>
            <a:ext cx="8763" cy="2006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1290447" y="3496225"/>
            <a:ext cx="8763" cy="11889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299210" y="1752420"/>
            <a:ext cx="8763" cy="22608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299210" y="3496225"/>
            <a:ext cx="8763" cy="4478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307973" y="1978506"/>
            <a:ext cx="8763" cy="154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307973" y="3541011"/>
            <a:ext cx="8763" cy="4590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316736" y="1980052"/>
            <a:ext cx="8763" cy="4833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316736" y="3586917"/>
            <a:ext cx="8763" cy="8089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325499" y="2028382"/>
            <a:ext cx="8762" cy="4652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325499" y="3667811"/>
            <a:ext cx="8762" cy="4273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1334261" y="2043910"/>
            <a:ext cx="8764" cy="3099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334261" y="3683177"/>
            <a:ext cx="8764" cy="2736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1343025" y="1968735"/>
            <a:ext cx="8763" cy="7517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343025" y="3683177"/>
            <a:ext cx="8763" cy="2705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1351788" y="1660531"/>
            <a:ext cx="8763" cy="30820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1351788" y="3591054"/>
            <a:ext cx="8763" cy="11918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1360551" y="1660531"/>
            <a:ext cx="8763" cy="36755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1360551" y="3591054"/>
            <a:ext cx="8763" cy="8068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1369314" y="2001338"/>
            <a:ext cx="8762" cy="2674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1369314" y="3671734"/>
            <a:ext cx="8762" cy="6131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378076" y="1966991"/>
            <a:ext cx="8764" cy="3434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378076" y="3733050"/>
            <a:ext cx="8764" cy="3645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1386840" y="1918662"/>
            <a:ext cx="8763" cy="4832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1386840" y="3769500"/>
            <a:ext cx="8763" cy="146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1395603" y="1918662"/>
            <a:ext cx="8762" cy="1825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1395603" y="3770960"/>
            <a:ext cx="8762" cy="551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1404365" y="1849112"/>
            <a:ext cx="8764" cy="8780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1404365" y="3727580"/>
            <a:ext cx="8764" cy="4889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1413129" y="1849112"/>
            <a:ext cx="8763" cy="2372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1413129" y="3695862"/>
            <a:ext cx="8763" cy="3171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1421892" y="1872832"/>
            <a:ext cx="8763" cy="154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1421892" y="3665263"/>
            <a:ext cx="8763" cy="3059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1430655" y="1874379"/>
            <a:ext cx="8763" cy="3918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430655" y="3663032"/>
            <a:ext cx="8763" cy="223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439418" y="1913562"/>
            <a:ext cx="8762" cy="9688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439418" y="3663032"/>
            <a:ext cx="8762" cy="6791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448180" y="1977980"/>
            <a:ext cx="8764" cy="3247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448180" y="3730946"/>
            <a:ext cx="8764" cy="4440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456944" y="1977980"/>
            <a:ext cx="8763" cy="2427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456944" y="3775350"/>
            <a:ext cx="8763" cy="112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1465707" y="1984658"/>
            <a:ext cx="8762" cy="1760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465707"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474469" y="1984658"/>
            <a:ext cx="8764" cy="11297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1474469" y="3710210"/>
            <a:ext cx="8764" cy="6626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1483233" y="2020782"/>
            <a:ext cx="8763" cy="7685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1483233" y="3699587"/>
            <a:ext cx="8763" cy="1062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1491996" y="1982191"/>
            <a:ext cx="8763" cy="3859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491996" y="3699587"/>
            <a:ext cx="8763" cy="1731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500759" y="1982191"/>
            <a:ext cx="8763" cy="1033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500759" y="3716904"/>
            <a:ext cx="8763" cy="983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1509522" y="1947251"/>
            <a:ext cx="8762" cy="4527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509522" y="3726741"/>
            <a:ext cx="8762" cy="4261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518284" y="1947251"/>
            <a:ext cx="8764" cy="3707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1518284" y="3769352"/>
            <a:ext cx="8764" cy="712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527048" y="1984329"/>
            <a:ext cx="8763" cy="11699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1527048" y="3707542"/>
            <a:ext cx="8763" cy="6893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1535811" y="2001930"/>
            <a:ext cx="8762" cy="9939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1535811" y="3707542"/>
            <a:ext cx="8762" cy="302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1544573" y="2001930"/>
            <a:ext cx="8764" cy="2553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1544573" y="3695110"/>
            <a:ext cx="8764" cy="1545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1553337" y="2027461"/>
            <a:ext cx="8763" cy="2980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1553337" y="3658073"/>
            <a:ext cx="8763" cy="3703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1562100" y="2028382"/>
            <a:ext cx="8762" cy="2888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1562100" y="3641949"/>
            <a:ext cx="8762" cy="1612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1570862" y="1951133"/>
            <a:ext cx="8764" cy="7724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1570862" y="3641949"/>
            <a:ext cx="8764" cy="3980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1579626" y="1951133"/>
            <a:ext cx="8762" cy="1460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1579626" y="3681749"/>
            <a:ext cx="8762" cy="2922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1588388" y="1924386"/>
            <a:ext cx="8764" cy="4135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1588388" y="3710975"/>
            <a:ext cx="8764" cy="5916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1597152" y="1894283"/>
            <a:ext cx="8762" cy="3010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1597152" y="3760283"/>
            <a:ext cx="8762" cy="985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1605914" y="1894283"/>
            <a:ext cx="8763" cy="4438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605914" y="3760283"/>
            <a:ext cx="8763" cy="1594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1614677" y="1748340"/>
            <a:ext cx="8764" cy="19032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1614677" y="3654378"/>
            <a:ext cx="8764" cy="12184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1623441" y="1748340"/>
            <a:ext cx="8763" cy="1822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1623441" y="3545727"/>
            <a:ext cx="8763" cy="10865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1632204" y="1766567"/>
            <a:ext cx="8762" cy="19831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1632204" y="3545727"/>
            <a:ext cx="8762" cy="3492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1640966" y="1964885"/>
            <a:ext cx="8763" cy="454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1640966" y="3580652"/>
            <a:ext cx="8763" cy="3821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1649729" y="1942382"/>
            <a:ext cx="8764" cy="2704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1649729" y="3618864"/>
            <a:ext cx="8764" cy="1863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1658493" y="1942382"/>
            <a:ext cx="8763" cy="184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1658493" y="3637498"/>
            <a:ext cx="8763" cy="1996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1667256" y="1944225"/>
            <a:ext cx="8762" cy="243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667256" y="3657465"/>
            <a:ext cx="8762" cy="2173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676018" y="1946659"/>
            <a:ext cx="8763" cy="2368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676018" y="3679195"/>
            <a:ext cx="8763" cy="3887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684781" y="1970347"/>
            <a:ext cx="8764" cy="9024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684781" y="3718074"/>
            <a:ext cx="8764" cy="1895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1693545" y="2020486"/>
            <a:ext cx="8763" cy="4010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1693545" y="3726621"/>
            <a:ext cx="8763" cy="1040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1702308" y="2020486"/>
            <a:ext cx="8762" cy="7626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1702308" y="3661002"/>
            <a:ext cx="8762" cy="6561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1711070" y="1969722"/>
            <a:ext cx="8763" cy="12702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1711070" y="3661002"/>
            <a:ext cx="8763" cy="2634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1719833" y="1948107"/>
            <a:ext cx="8764" cy="2161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1719833" y="3687346"/>
            <a:ext cx="8764" cy="4199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1728597" y="1948107"/>
            <a:ext cx="8763" cy="2250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1728597" y="3729338"/>
            <a:ext cx="8763" cy="2570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1737360" y="1936263"/>
            <a:ext cx="8762" cy="3434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a:off x="1737360" y="3755038"/>
            <a:ext cx="8762" cy="2143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1746122" y="1936263"/>
            <a:ext cx="8763" cy="6991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746122" y="3776424"/>
            <a:ext cx="8763" cy="4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754885" y="1935967"/>
            <a:ext cx="8763" cy="7020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1754885" y="3776424"/>
            <a:ext cx="8763" cy="4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763648" y="1884281"/>
            <a:ext cx="8764" cy="5168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763648" y="3753042"/>
            <a:ext cx="8764" cy="2343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1772412" y="1838979"/>
            <a:ext cx="8763" cy="4530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772412" y="3696815"/>
            <a:ext cx="8763" cy="5622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1781175" y="1838979"/>
            <a:ext cx="8763" cy="671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781175" y="3645446"/>
            <a:ext cx="8763" cy="5136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1789938" y="1845065"/>
            <a:ext cx="8763" cy="62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789938" y="3593626"/>
            <a:ext cx="8763" cy="5182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1798701" y="1845065"/>
            <a:ext cx="8763" cy="4013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798701" y="3570863"/>
            <a:ext cx="8763" cy="2276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807464" y="1806474"/>
            <a:ext cx="8762" cy="7872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807464" y="3491103"/>
            <a:ext cx="8762" cy="7976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1816226" y="1806474"/>
            <a:ext cx="8763" cy="16571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1816226" y="3491103"/>
            <a:ext cx="8763" cy="4021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1824989" y="1964885"/>
            <a:ext cx="8763" cy="730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1824989" y="3531316"/>
            <a:ext cx="8763" cy="3492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833752" y="1964885"/>
            <a:ext cx="8763" cy="608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833752" y="3566241"/>
            <a:ext cx="8763" cy="3933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842515" y="1970972"/>
            <a:ext cx="8763" cy="7349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842515" y="3605573"/>
            <a:ext cx="8763" cy="9254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1851278" y="2009859"/>
            <a:ext cx="8764" cy="3461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851278" y="3698115"/>
            <a:ext cx="8764" cy="4787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1860042" y="1890105"/>
            <a:ext cx="8763" cy="11975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860042" y="3745985"/>
            <a:ext cx="8763" cy="40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868805" y="1890105"/>
            <a:ext cx="8763" cy="16439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1868805" y="3741435"/>
            <a:ext cx="8763" cy="495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1877568" y="2054504"/>
            <a:ext cx="8762" cy="3191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1877568" y="3683296"/>
            <a:ext cx="8762" cy="5813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1886330" y="2086417"/>
            <a:ext cx="8763" cy="88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1886330" y="3624513"/>
            <a:ext cx="8763" cy="5878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1895093" y="2025947"/>
            <a:ext cx="8764" cy="6135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flipV="1">
            <a:off x="1895093" y="3610151"/>
            <a:ext cx="8764" cy="1436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flipV="1">
            <a:off x="1903857" y="1999529"/>
            <a:ext cx="8763" cy="2641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1903857" y="3610151"/>
            <a:ext cx="8763" cy="476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flipV="1">
            <a:off x="1912620" y="1923827"/>
            <a:ext cx="8762" cy="7570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1912620" y="3614915"/>
            <a:ext cx="8762" cy="5957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flipV="1">
            <a:off x="1921382" y="1908331"/>
            <a:ext cx="8764" cy="1549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1921382" y="3674485"/>
            <a:ext cx="8764" cy="7078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1930146" y="1908331"/>
            <a:ext cx="8762" cy="14163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flipV="1">
            <a:off x="1930146" y="3713524"/>
            <a:ext cx="8762" cy="3174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flipV="1">
            <a:off x="1938908" y="1966991"/>
            <a:ext cx="8764" cy="8297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1938908" y="3713524"/>
            <a:ext cx="8764" cy="2832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1947672" y="1966991"/>
            <a:ext cx="8763" cy="789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1947672" y="3741844"/>
            <a:ext cx="8763" cy="2260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1956435" y="1974887"/>
            <a:ext cx="8762" cy="9968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flipV="1">
            <a:off x="1956435" y="3714883"/>
            <a:ext cx="8762" cy="4956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1965197" y="2074573"/>
            <a:ext cx="8764" cy="9060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V="1">
            <a:off x="1965197" y="3599722"/>
            <a:ext cx="8764" cy="11516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V="1">
            <a:off x="1973961" y="1967879"/>
            <a:ext cx="8762" cy="19729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1973961" y="3599722"/>
            <a:ext cx="8762" cy="2767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V="1">
            <a:off x="1982723" y="1842269"/>
            <a:ext cx="8763" cy="12561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1982723" y="3627400"/>
            <a:ext cx="8763" cy="9522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1991486" y="1842269"/>
            <a:ext cx="8764" cy="3043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V="1">
            <a:off x="1991486" y="3690813"/>
            <a:ext cx="8764" cy="3181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2000250" y="1872701"/>
            <a:ext cx="8763" cy="4777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2000250" y="3690813"/>
            <a:ext cx="8763" cy="277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2009013" y="1920471"/>
            <a:ext cx="8763" cy="7356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2009013" y="3693583"/>
            <a:ext cx="8763" cy="5602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2017776" y="1979427"/>
            <a:ext cx="8762" cy="1460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2017776" y="3749611"/>
            <a:ext cx="8762" cy="2686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2026538" y="1974887"/>
            <a:ext cx="8763" cy="454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202653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2035301" y="1974887"/>
            <a:ext cx="8764" cy="424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2035301"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flipV="1">
            <a:off x="2044065" y="1896454"/>
            <a:ext cx="8763" cy="8267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flipV="1">
            <a:off x="2044065" y="3761855"/>
            <a:ext cx="8763" cy="1461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a:off x="2052828" y="1896454"/>
            <a:ext cx="8762" cy="9573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a:off x="2052828" y="3761855"/>
            <a:ext cx="8762" cy="1461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2061590" y="1942349"/>
            <a:ext cx="8763" cy="4984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2061590"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70353" y="1793676"/>
            <a:ext cx="8763" cy="14867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0353" y="3687447"/>
            <a:ext cx="8763" cy="8902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a:off x="2079116" y="1793676"/>
            <a:ext cx="8764" cy="18091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a:off x="2079116" y="3687447"/>
            <a:ext cx="8764" cy="4195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a:off x="2087880" y="1974591"/>
            <a:ext cx="8763" cy="9813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087880" y="3728240"/>
            <a:ext cx="8763" cy="115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096643" y="1971235"/>
            <a:ext cx="8763" cy="10149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2096643" y="3728240"/>
            <a:ext cx="8763" cy="2524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2105406" y="1971235"/>
            <a:ext cx="8763" cy="1306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2105406" y="3753488"/>
            <a:ext cx="8763" cy="1579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2114169" y="1984296"/>
            <a:ext cx="8762" cy="5106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114169" y="3748106"/>
            <a:ext cx="8762" cy="2117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2122931" y="2035356"/>
            <a:ext cx="8764" cy="1947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122931" y="3712832"/>
            <a:ext cx="8764" cy="3527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131695" y="1957549"/>
            <a:ext cx="8763" cy="9728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2131695" y="3712832"/>
            <a:ext cx="8763" cy="3515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140458" y="1918036"/>
            <a:ext cx="8762" cy="3951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2140458" y="3747988"/>
            <a:ext cx="8762" cy="2848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2149220" y="1918036"/>
            <a:ext cx="8764" cy="4497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2149220"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2157984" y="1815587"/>
            <a:ext cx="8763" cy="14742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2157984" y="3703310"/>
            <a:ext cx="8763" cy="7316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2166747" y="1815587"/>
            <a:ext cx="8763" cy="20246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2166747" y="3703310"/>
            <a:ext cx="8763" cy="6451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2175510" y="2000746"/>
            <a:ext cx="8763" cy="1730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2175510" y="3767826"/>
            <a:ext cx="8763" cy="388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2184273" y="1972452"/>
            <a:ext cx="8763" cy="2829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2184273" y="3771709"/>
            <a:ext cx="8763" cy="476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2193036" y="1945738"/>
            <a:ext cx="8763" cy="2671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a:off x="2193036"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2201799" y="1945738"/>
            <a:ext cx="8762" cy="1944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2201799"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flipV="1">
            <a:off x="2210561" y="1942382"/>
            <a:ext cx="8763" cy="2280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2210561"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2219324" y="1942382"/>
            <a:ext cx="8764" cy="6047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2219324"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flipV="1">
            <a:off x="2228088" y="1989790"/>
            <a:ext cx="8763" cy="1306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222808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flipV="1">
            <a:off x="2236851" y="1904383"/>
            <a:ext cx="8763" cy="8540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flipV="1">
            <a:off x="2236851" y="3767595"/>
            <a:ext cx="8763" cy="887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flipV="1">
            <a:off x="2245614" y="1884051"/>
            <a:ext cx="8763" cy="2033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flipV="1">
            <a:off x="2245614" y="3743999"/>
            <a:ext cx="8763" cy="2359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2254377" y="1884051"/>
            <a:ext cx="8762" cy="14798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2254377" y="3743999"/>
            <a:ext cx="8762" cy="1370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flipV="1">
            <a:off x="2263139" y="2028382"/>
            <a:ext cx="8764" cy="365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flipV="1">
            <a:off x="2263139" y="3741579"/>
            <a:ext cx="8764" cy="1612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flipV="1">
            <a:off x="2271903" y="1989494"/>
            <a:ext cx="8763" cy="3888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2271903" y="3741579"/>
            <a:ext cx="8763" cy="1202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V="1">
            <a:off x="2280666" y="1981302"/>
            <a:ext cx="8762" cy="819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2280666" y="3753608"/>
            <a:ext cx="8762" cy="1795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flipV="1">
            <a:off x="2289428" y="1946363"/>
            <a:ext cx="8764" cy="3493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2289428" y="3771567"/>
            <a:ext cx="8764" cy="490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2298192" y="1946363"/>
            <a:ext cx="8763" cy="332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229819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2306955" y="1949686"/>
            <a:ext cx="8763" cy="1825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230695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flipV="1">
            <a:off x="2315718" y="1929058"/>
            <a:ext cx="8763" cy="3888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231571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2324481" y="1929058"/>
            <a:ext cx="8763" cy="940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2324481"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2333244" y="1938467"/>
            <a:ext cx="8763" cy="1003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2333244"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flipV="1">
            <a:off x="2342007" y="1945179"/>
            <a:ext cx="8762" cy="332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2342007"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2350769" y="1945179"/>
            <a:ext cx="8763" cy="667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235076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2359532" y="1951857"/>
            <a:ext cx="8764" cy="1516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2359532"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2368296" y="1967024"/>
            <a:ext cx="8763" cy="243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2368296"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flipV="1">
            <a:off x="2377059" y="1944554"/>
            <a:ext cx="8763" cy="2490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237705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flipV="1">
            <a:off x="2385822" y="1893822"/>
            <a:ext cx="8763" cy="5073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flipV="1">
            <a:off x="2385822" y="3759949"/>
            <a:ext cx="8763" cy="1652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2394585" y="1893822"/>
            <a:ext cx="8762" cy="4316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2394585" y="3759949"/>
            <a:ext cx="8762" cy="1472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flipV="1">
            <a:off x="2403347" y="1885959"/>
            <a:ext cx="8764" cy="5102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flipV="1">
            <a:off x="2403347" y="3752462"/>
            <a:ext cx="8764" cy="2221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412111" y="1857731"/>
            <a:ext cx="8763" cy="2822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2412111" y="3709811"/>
            <a:ext cx="8763" cy="4265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a:off x="2420874" y="1857731"/>
            <a:ext cx="8763" cy="9415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a:off x="2420874" y="3709811"/>
            <a:ext cx="8763" cy="2551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a:off x="2429637" y="1951890"/>
            <a:ext cx="8763" cy="789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2429637" y="3735328"/>
            <a:ext cx="8763" cy="3123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2438400" y="1943994"/>
            <a:ext cx="8762" cy="1579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a:off x="2438400" y="3766561"/>
            <a:ext cx="8762" cy="991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447162" y="1943994"/>
            <a:ext cx="8763" cy="2033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44716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2455925" y="1863851"/>
            <a:ext cx="8764" cy="10047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flipV="1">
            <a:off x="2455925" y="3738251"/>
            <a:ext cx="8764" cy="3822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a:off x="2464689" y="1863851"/>
            <a:ext cx="8763" cy="18759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2464689" y="3738251"/>
            <a:ext cx="8763" cy="539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2473452" y="2051444"/>
            <a:ext cx="8763" cy="6251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2473452" y="3665575"/>
            <a:ext cx="8763" cy="7807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2482215" y="1878721"/>
            <a:ext cx="8762" cy="23523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2482215" y="3665575"/>
            <a:ext cx="8762" cy="8344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2490977" y="1851678"/>
            <a:ext cx="8763" cy="2704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2490977" y="3701983"/>
            <a:ext cx="8763" cy="4703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2499740" y="1851678"/>
            <a:ext cx="8764" cy="9629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2499740" y="3701983"/>
            <a:ext cx="8764" cy="2268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2508504" y="1947975"/>
            <a:ext cx="8763" cy="9192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2508504" y="3724666"/>
            <a:ext cx="8763" cy="2734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flipV="1">
            <a:off x="2517267" y="1964655"/>
            <a:ext cx="8762" cy="7524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2517267" y="3752011"/>
            <a:ext cx="8762" cy="2446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flipV="1">
            <a:off x="2526029" y="1894546"/>
            <a:ext cx="8764" cy="7010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flipV="1">
            <a:off x="2526029" y="3760473"/>
            <a:ext cx="8764" cy="1599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flipV="1">
            <a:off x="2534793" y="1877866"/>
            <a:ext cx="8762" cy="1668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flipV="1">
            <a:off x="2534793" y="3732399"/>
            <a:ext cx="8762" cy="2807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flipV="1">
            <a:off x="2543555" y="1847236"/>
            <a:ext cx="8764" cy="3063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flipV="1">
            <a:off x="2543555" y="3682150"/>
            <a:ext cx="8764" cy="5024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a:off x="2552319" y="1847236"/>
            <a:ext cx="8763" cy="16657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2552319" y="3682150"/>
            <a:ext cx="8763" cy="7034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flipV="1">
            <a:off x="2561082" y="1960444"/>
            <a:ext cx="8763" cy="5336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2561082" y="3752493"/>
            <a:ext cx="8763" cy="2397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2569845" y="1960444"/>
            <a:ext cx="8763" cy="3638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256984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578608" y="1967123"/>
            <a:ext cx="8763" cy="2970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a:off x="257860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a:off x="2587371" y="1967123"/>
            <a:ext cx="8762" cy="391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a:off x="2587371"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V="1">
            <a:off x="2596133" y="1943139"/>
            <a:ext cx="8764" cy="2789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a:off x="2596133"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a:off x="2604897" y="1943139"/>
            <a:ext cx="8762" cy="1789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a:off x="2604897"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a:off x="2613659" y="1961036"/>
            <a:ext cx="8764" cy="10011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V="1">
            <a:off x="2613659" y="3736624"/>
            <a:ext cx="8764" cy="3984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V="1">
            <a:off x="2622423" y="1982882"/>
            <a:ext cx="8763" cy="7826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a:off x="2622423" y="3736624"/>
            <a:ext cx="8763" cy="1681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2631186" y="1898823"/>
            <a:ext cx="8763" cy="8405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a:off x="2631186" y="3753440"/>
            <a:ext cx="8763" cy="1013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a:off x="2639949" y="1898823"/>
            <a:ext cx="8763" cy="14321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2639949" y="3750462"/>
            <a:ext cx="8763" cy="1310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2648712" y="2005615"/>
            <a:ext cx="8763" cy="3642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a:off x="2648712" y="3750462"/>
            <a:ext cx="8763" cy="35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2657475" y="1978012"/>
            <a:ext cx="8762" cy="2760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a:off x="2657475" y="3750820"/>
            <a:ext cx="8762" cy="2034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2666237" y="1978012"/>
            <a:ext cx="8764" cy="1000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2666237" y="3771162"/>
            <a:ext cx="8764" cy="531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675001" y="1871516"/>
            <a:ext cx="8762" cy="11649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75001" y="3743801"/>
            <a:ext cx="8762" cy="3267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2683763" y="1798677"/>
            <a:ext cx="8764" cy="7283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2683763" y="3658396"/>
            <a:ext cx="8764" cy="8540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2692527" y="1798677"/>
            <a:ext cx="8763" cy="19331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2692527" y="3658396"/>
            <a:ext cx="8763" cy="5455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flipV="1">
            <a:off x="2701290" y="1894941"/>
            <a:ext cx="8762" cy="9705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flipV="1">
            <a:off x="2701290" y="3697235"/>
            <a:ext cx="8762" cy="1571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2710052" y="1894941"/>
            <a:ext cx="8764" cy="4550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2710052" y="3697235"/>
            <a:ext cx="8764" cy="1722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2718816" y="1873425"/>
            <a:ext cx="8763" cy="6701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V="1">
            <a:off x="2718816" y="3683174"/>
            <a:ext cx="8763" cy="3128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2727579" y="1873425"/>
            <a:ext cx="8762" cy="2039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V="1">
            <a:off x="2727579" y="3666652"/>
            <a:ext cx="8762" cy="1652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2736341" y="1893822"/>
            <a:ext cx="8764" cy="8241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2736341" y="3666652"/>
            <a:ext cx="8764" cy="4314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2745105" y="1976236"/>
            <a:ext cx="8762" cy="1727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2745105" y="3709794"/>
            <a:ext cx="8762" cy="5564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V="1">
            <a:off x="2753867" y="1986830"/>
            <a:ext cx="8764" cy="667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a:off x="2753867" y="3765441"/>
            <a:ext cx="8764" cy="1103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V="1">
            <a:off x="2762631" y="1921030"/>
            <a:ext cx="8763" cy="6580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a:off x="2762631"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flipV="1">
            <a:off x="2771394" y="1901323"/>
            <a:ext cx="8762" cy="1970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V="1">
            <a:off x="2771394" y="3765380"/>
            <a:ext cx="8762" cy="1109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a:off x="2780156" y="1901323"/>
            <a:ext cx="8764" cy="7461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a:off x="2780156" y="3765380"/>
            <a:ext cx="8764" cy="1109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a:off x="2788920" y="1975940"/>
            <a:ext cx="8763" cy="8488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flipV="1">
            <a:off x="2788920" y="3736862"/>
            <a:ext cx="8763" cy="3961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a:off x="2797683" y="2060821"/>
            <a:ext cx="8762" cy="1549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flipV="1">
            <a:off x="2797683" y="3686035"/>
            <a:ext cx="8762" cy="5082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flipV="1">
            <a:off x="2806445" y="2060821"/>
            <a:ext cx="8764" cy="1549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V="1">
            <a:off x="2806445" y="3646425"/>
            <a:ext cx="8764" cy="3961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flipV="1">
            <a:off x="2815209" y="1975578"/>
            <a:ext cx="8762" cy="8524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a:off x="2815209" y="3646425"/>
            <a:ext cx="8762" cy="2210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flipV="1">
            <a:off x="2823971" y="1969524"/>
            <a:ext cx="8764" cy="605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2823971" y="3668529"/>
            <a:ext cx="8764" cy="2648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a:off x="2832735" y="1969524"/>
            <a:ext cx="8762" cy="3915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flipV="1">
            <a:off x="2832735" y="3693158"/>
            <a:ext cx="8762" cy="185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flipV="1">
            <a:off x="2841497" y="1844802"/>
            <a:ext cx="8763" cy="16387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a:off x="2841497" y="3693158"/>
            <a:ext cx="8763" cy="3130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flipV="1">
            <a:off x="2850260" y="1812330"/>
            <a:ext cx="8764" cy="3247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flipV="1">
            <a:off x="2850260" y="3648940"/>
            <a:ext cx="8764" cy="7552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a:off x="2859024" y="1812330"/>
            <a:ext cx="8763" cy="14567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a:off x="2859024" y="3648940"/>
            <a:ext cx="8763" cy="2994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flipV="1">
            <a:off x="2867787" y="1876451"/>
            <a:ext cx="8763" cy="8155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flipV="1">
            <a:off x="2867787" y="3649789"/>
            <a:ext cx="8763" cy="2909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flipV="1">
            <a:off x="2876550" y="1870398"/>
            <a:ext cx="8763" cy="605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flipV="1">
            <a:off x="2876550" y="3616308"/>
            <a:ext cx="8763" cy="3348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a:off x="2885313" y="1870398"/>
            <a:ext cx="8763" cy="13281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a:off x="2885313" y="3616308"/>
            <a:ext cx="8763" cy="6267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a:off x="2894076" y="2003214"/>
            <a:ext cx="8763" cy="213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a:off x="2894076" y="3678982"/>
            <a:ext cx="8763" cy="6422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flipV="1">
            <a:off x="2902839" y="1924386"/>
            <a:ext cx="8763" cy="8096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a:off x="2902839" y="3743203"/>
            <a:ext cx="8763" cy="560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V="1">
            <a:off x="2911602" y="1888920"/>
            <a:ext cx="8762" cy="3546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V="1">
            <a:off x="2911602" y="3728737"/>
            <a:ext cx="8762" cy="2007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a:off x="2920364" y="1888920"/>
            <a:ext cx="8764" cy="13613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a:off x="2920364" y="3728737"/>
            <a:ext cx="8764" cy="3401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V="1">
            <a:off x="2929128" y="1991403"/>
            <a:ext cx="8762" cy="3365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a:off x="2929128" y="3762753"/>
            <a:ext cx="8762" cy="1064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2937890" y="1974722"/>
            <a:ext cx="8763" cy="1668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2937890" y="3773400"/>
            <a:ext cx="8763" cy="307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2946653" y="1885597"/>
            <a:ext cx="8764" cy="8912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2946653" y="3753995"/>
            <a:ext cx="8764" cy="2247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a:off x="2955417" y="1885597"/>
            <a:ext cx="8762" cy="9702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a:off x="2955417" y="3753995"/>
            <a:ext cx="8762" cy="2247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a:off x="2964179" y="1982618"/>
            <a:ext cx="8764" cy="1668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a:off x="2964179"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flipV="1">
            <a:off x="2972943" y="1982026"/>
            <a:ext cx="8762" cy="1727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a:off x="2972943"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V="1">
            <a:off x="2981705" y="1927479"/>
            <a:ext cx="8764" cy="54547"/>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a:off x="2981705"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2990469" y="1927479"/>
            <a:ext cx="8763" cy="664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299046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2999232" y="1934124"/>
            <a:ext cx="8763" cy="457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a:off x="299923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3007995" y="1938697"/>
            <a:ext cx="8763" cy="2694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300799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3016758" y="1942316"/>
            <a:ext cx="8763" cy="2332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301675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a:off x="3025521" y="1942316"/>
            <a:ext cx="8763" cy="14028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flipV="1">
            <a:off x="3025521" y="3721095"/>
            <a:ext cx="8763" cy="5537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a:off x="3034284" y="2082600"/>
            <a:ext cx="8763" cy="6484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flipV="1">
            <a:off x="3034284" y="3618772"/>
            <a:ext cx="8763" cy="10232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flipV="1">
            <a:off x="3043047" y="1776469"/>
            <a:ext cx="8763" cy="370976"/>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a:off x="3043047" y="3618772"/>
            <a:ext cx="8763" cy="5621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a:off x="3051810" y="1776469"/>
            <a:ext cx="8762" cy="2181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V="1">
            <a:off x="3051810" y="3589299"/>
            <a:ext cx="8762" cy="8569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a:off x="3060572" y="1798282"/>
            <a:ext cx="8764" cy="16828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a:off x="3060572" y="3589299"/>
            <a:ext cx="8764" cy="3614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a:off x="3069336" y="1966563"/>
            <a:ext cx="8762" cy="5454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a:off x="3069336" y="3625439"/>
            <a:ext cx="8762" cy="7563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flipV="1">
            <a:off x="3078098" y="1959293"/>
            <a:ext cx="8763" cy="6181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a:off x="3078098" y="3701070"/>
            <a:ext cx="8763" cy="3087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flipV="1">
            <a:off x="3086861" y="1900205"/>
            <a:ext cx="8763" cy="5908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V="1">
            <a:off x="3086861" y="3720044"/>
            <a:ext cx="8763" cy="1190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a:off x="3095624" y="1900205"/>
            <a:ext cx="8763" cy="5395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a:off x="3095624" y="3720044"/>
            <a:ext cx="8763" cy="2716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flipV="1">
            <a:off x="3104387" y="1906291"/>
            <a:ext cx="8763" cy="47869"/>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flipV="1">
            <a:off x="3104387" y="3739710"/>
            <a:ext cx="8763" cy="749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a:off x="3113150" y="1906291"/>
            <a:ext cx="8764" cy="7817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a:off x="3113150" y="3739710"/>
            <a:ext cx="8764" cy="3676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flipV="1">
            <a:off x="3121914" y="1949028"/>
            <a:ext cx="8763" cy="3543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a:off x="3121914"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a:off x="3130677" y="1949028"/>
            <a:ext cx="8763" cy="63595"/>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flipV="1">
            <a:off x="3130677" y="3771756"/>
            <a:ext cx="8763" cy="471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flipV="1">
            <a:off x="3139440" y="1973242"/>
            <a:ext cx="8763" cy="39381"/>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a:off x="3139440" y="3771756"/>
            <a:ext cx="8763" cy="471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flipV="1">
            <a:off x="3148203" y="1943270"/>
            <a:ext cx="8762" cy="29972"/>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a:off x="3148203"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a:off x="3156965" y="1943270"/>
            <a:ext cx="8764" cy="2602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a:off x="3156965" y="377647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flipV="1">
            <a:off x="3165729" y="1949324"/>
            <a:ext cx="8763" cy="1997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a:off x="316572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flipV="1">
            <a:off x="3174492" y="1940540"/>
            <a:ext cx="8762" cy="8784"/>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a:off x="3174492" y="377647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a:off x="3183254" y="1940540"/>
            <a:ext cx="8764" cy="79650"/>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flipV="1">
            <a:off x="3183254" y="3766278"/>
            <a:ext cx="8764" cy="1019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flipV="1">
            <a:off x="3192018" y="1993837"/>
            <a:ext cx="8762" cy="26353"/>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a:off x="3192018" y="3766278"/>
            <a:ext cx="8762" cy="888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flipV="1">
            <a:off x="3200780" y="1963569"/>
            <a:ext cx="8764" cy="30268"/>
          </a:xfrm>
          <a:prstGeom prst="line">
            <a:avLst/>
          </a:prstGeom>
          <a:ln w="13970">
            <a:solidFill>
              <a:srgbClr val="F2F5F8"/>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a:off x="3200780" y="3775163"/>
            <a:ext cx="8764" cy="130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flipV="1">
            <a:off x="3209544" y="1912970"/>
            <a:ext cx="8762" cy="5059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flipV="1">
            <a:off x="3209544" y="3773812"/>
            <a:ext cx="8762" cy="266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a:off x="3218306" y="1912970"/>
            <a:ext cx="8763" cy="878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a:off x="3218306" y="3773812"/>
            <a:ext cx="8763" cy="266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a:off x="3227069" y="1921754"/>
            <a:ext cx="8763" cy="667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a:off x="3227069"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a:off x="3235832" y="1928433"/>
            <a:ext cx="8763" cy="210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a:off x="3235832"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flipV="1">
            <a:off x="3244595" y="1911456"/>
            <a:ext cx="8764" cy="1908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flipV="1">
            <a:off x="3244595" y="3772716"/>
            <a:ext cx="8764" cy="375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a:off x="3253359" y="1911456"/>
            <a:ext cx="8763" cy="12024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flipV="1">
            <a:off x="3253359" y="3757941"/>
            <a:ext cx="8763" cy="1477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flipV="1">
            <a:off x="3262122" y="1954785"/>
            <a:ext cx="8763" cy="7692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3262122" y="3757941"/>
            <a:ext cx="8763" cy="1853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flipV="1">
            <a:off x="3270885" y="1927512"/>
            <a:ext cx="8763" cy="2727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3270885"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flipV="1">
            <a:off x="3279648" y="1917214"/>
            <a:ext cx="8763" cy="1029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a:off x="3279648" y="377647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flipV="1">
            <a:off x="3288411" y="1806967"/>
            <a:ext cx="8762" cy="11024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flipV="1">
            <a:off x="3288411" y="3697069"/>
            <a:ext cx="8762" cy="7940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a:off x="3297173" y="1806967"/>
            <a:ext cx="8764" cy="1967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flipV="1">
            <a:off x="3297173" y="3631910"/>
            <a:ext cx="8764" cy="6515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a:off x="3305937" y="1826641"/>
            <a:ext cx="8763" cy="848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flipV="1">
            <a:off x="3305937" y="3572896"/>
            <a:ext cx="8763" cy="5901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a:off x="3314700" y="1835129"/>
            <a:ext cx="8762" cy="5178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flipV="1">
            <a:off x="3314700" y="3551372"/>
            <a:ext cx="8762" cy="2152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a:off x="3323462" y="1886913"/>
            <a:ext cx="8764" cy="213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flipV="1">
            <a:off x="3323462" y="3531396"/>
            <a:ext cx="8764" cy="1997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a:off x="3332226" y="1889052"/>
            <a:ext cx="8762" cy="12630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a:off x="3332226" y="3531396"/>
            <a:ext cx="8762" cy="7146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a:off x="3340988" y="2015353"/>
            <a:ext cx="8764" cy="6362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a:off x="3340988" y="3602859"/>
            <a:ext cx="8764" cy="11416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a:off x="3349752" y="2078981"/>
            <a:ext cx="8762" cy="5543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flipV="1">
            <a:off x="3349752" y="3624132"/>
            <a:ext cx="8762" cy="9289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flipV="1">
            <a:off x="3358514" y="2128331"/>
            <a:ext cx="8763" cy="608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flipV="1">
            <a:off x="3358514" y="3535647"/>
            <a:ext cx="8763" cy="8848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a:off x="3367277" y="2128331"/>
            <a:ext cx="8763" cy="243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flipV="1">
            <a:off x="3367277" y="3445400"/>
            <a:ext cx="8763" cy="9024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flipV="1">
            <a:off x="3376040" y="2108953"/>
            <a:ext cx="8764" cy="2181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flipV="1">
            <a:off x="3376040" y="3370945"/>
            <a:ext cx="8764" cy="7445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flipV="1">
            <a:off x="3384804" y="2042331"/>
            <a:ext cx="8763" cy="6662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flipV="1">
            <a:off x="3384804" y="3344722"/>
            <a:ext cx="8763" cy="2622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a:off x="3393567" y="2042331"/>
            <a:ext cx="8763" cy="2997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flipV="1">
            <a:off x="3393567" y="3296800"/>
            <a:ext cx="8763" cy="4792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flipV="1">
            <a:off x="3402330" y="2060492"/>
            <a:ext cx="8763" cy="1181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flipV="1">
            <a:off x="3402330" y="3257429"/>
            <a:ext cx="8763" cy="3937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flipV="1">
            <a:off x="3411093" y="2040193"/>
            <a:ext cx="8763" cy="2029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flipV="1">
            <a:off x="3411093" y="3232754"/>
            <a:ext cx="8763" cy="2467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flipV="1">
            <a:off x="3419856" y="2034139"/>
            <a:ext cx="8763" cy="605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flipV="1">
            <a:off x="3419856" y="3212461"/>
            <a:ext cx="8763" cy="2029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flipV="1">
            <a:off x="3428619" y="2012919"/>
            <a:ext cx="8762" cy="2122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flipV="1">
            <a:off x="3428619" y="3207531"/>
            <a:ext cx="8762" cy="493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flipV="1">
            <a:off x="3437381" y="1918431"/>
            <a:ext cx="8764" cy="9448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38" name="Connector 637"/>
          <p:cNvCxnSpPr/>
          <p:nvPr/>
        </p:nvCxnSpPr>
        <p:spPr>
          <a:xfrm>
            <a:off x="3437381" y="3207531"/>
            <a:ext cx="8764" cy="6347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39" name="Connector 638"/>
          <p:cNvCxnSpPr/>
          <p:nvPr/>
        </p:nvCxnSpPr>
        <p:spPr>
          <a:xfrm flipV="1">
            <a:off x="3446145" y="1918135"/>
            <a:ext cx="8762" cy="29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40" name="Connector 639"/>
          <p:cNvCxnSpPr/>
          <p:nvPr/>
        </p:nvCxnSpPr>
        <p:spPr>
          <a:xfrm>
            <a:off x="3446145" y="3271007"/>
            <a:ext cx="8762" cy="6369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41" name="Connector 640"/>
          <p:cNvCxnSpPr/>
          <p:nvPr/>
        </p:nvCxnSpPr>
        <p:spPr>
          <a:xfrm>
            <a:off x="3454907" y="1918135"/>
            <a:ext cx="8763" cy="815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42" name="Connector 641"/>
          <p:cNvCxnSpPr/>
          <p:nvPr/>
        </p:nvCxnSpPr>
        <p:spPr>
          <a:xfrm>
            <a:off x="3454907" y="3334698"/>
            <a:ext cx="8763" cy="5778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43" name="Connector 642"/>
          <p:cNvCxnSpPr/>
          <p:nvPr/>
        </p:nvCxnSpPr>
        <p:spPr>
          <a:xfrm flipV="1">
            <a:off x="3463670" y="1861482"/>
            <a:ext cx="8764" cy="6481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44" name="Connector 643"/>
          <p:cNvCxnSpPr/>
          <p:nvPr/>
        </p:nvCxnSpPr>
        <p:spPr>
          <a:xfrm>
            <a:off x="3463670" y="3392481"/>
            <a:ext cx="8764" cy="10470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45" name="Connector 644"/>
          <p:cNvCxnSpPr/>
          <p:nvPr/>
        </p:nvCxnSpPr>
        <p:spPr>
          <a:xfrm flipV="1">
            <a:off x="3472434" y="1838452"/>
            <a:ext cx="8762" cy="2303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46" name="Connector 645"/>
          <p:cNvCxnSpPr/>
          <p:nvPr/>
        </p:nvCxnSpPr>
        <p:spPr>
          <a:xfrm>
            <a:off x="3472434" y="3497187"/>
            <a:ext cx="8762" cy="12137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47" name="Connector 646"/>
          <p:cNvCxnSpPr/>
          <p:nvPr/>
        </p:nvCxnSpPr>
        <p:spPr>
          <a:xfrm flipV="1">
            <a:off x="3481196" y="1804829"/>
            <a:ext cx="8764" cy="3362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48" name="Connector 647"/>
          <p:cNvCxnSpPr/>
          <p:nvPr/>
        </p:nvCxnSpPr>
        <p:spPr>
          <a:xfrm flipV="1">
            <a:off x="3481196" y="3598977"/>
            <a:ext cx="8764" cy="19588"/>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49" name="Connector 648"/>
          <p:cNvCxnSpPr/>
          <p:nvPr/>
        </p:nvCxnSpPr>
        <p:spPr>
          <a:xfrm>
            <a:off x="3489960" y="1804829"/>
            <a:ext cx="8762" cy="1697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50" name="Connector 649"/>
          <p:cNvCxnSpPr/>
          <p:nvPr/>
        </p:nvCxnSpPr>
        <p:spPr>
          <a:xfrm flipV="1">
            <a:off x="3489960" y="3530317"/>
            <a:ext cx="8762" cy="6866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1" name="Connector 650"/>
          <p:cNvCxnSpPr/>
          <p:nvPr/>
        </p:nvCxnSpPr>
        <p:spPr>
          <a:xfrm>
            <a:off x="3498722" y="1821805"/>
            <a:ext cx="8763" cy="2513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52" name="Connector 651"/>
          <p:cNvCxnSpPr/>
          <p:nvPr/>
        </p:nvCxnSpPr>
        <p:spPr>
          <a:xfrm flipV="1">
            <a:off x="3498722" y="3479854"/>
            <a:ext cx="8763" cy="5046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3" name="Connector 652"/>
          <p:cNvCxnSpPr/>
          <p:nvPr/>
        </p:nvCxnSpPr>
        <p:spPr>
          <a:xfrm>
            <a:off x="3507485" y="1846940"/>
            <a:ext cx="8764" cy="3030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54" name="Connector 653"/>
          <p:cNvCxnSpPr/>
          <p:nvPr/>
        </p:nvCxnSpPr>
        <p:spPr>
          <a:xfrm flipV="1">
            <a:off x="3507485" y="3451327"/>
            <a:ext cx="8764" cy="2852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5" name="Connector 654"/>
          <p:cNvCxnSpPr/>
          <p:nvPr/>
        </p:nvCxnSpPr>
        <p:spPr>
          <a:xfrm flipV="1">
            <a:off x="3516249" y="1850559"/>
            <a:ext cx="8763" cy="2668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56" name="Connector 655"/>
          <p:cNvCxnSpPr/>
          <p:nvPr/>
        </p:nvCxnSpPr>
        <p:spPr>
          <a:xfrm flipV="1">
            <a:off x="3516249" y="3403484"/>
            <a:ext cx="8763" cy="4784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7" name="Connector 656"/>
          <p:cNvCxnSpPr/>
          <p:nvPr/>
        </p:nvCxnSpPr>
        <p:spPr>
          <a:xfrm flipV="1">
            <a:off x="3525012" y="1835722"/>
            <a:ext cx="8763" cy="1483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58" name="Connector 657"/>
          <p:cNvCxnSpPr/>
          <p:nvPr/>
        </p:nvCxnSpPr>
        <p:spPr>
          <a:xfrm flipV="1">
            <a:off x="3525012" y="3344899"/>
            <a:ext cx="8763" cy="5858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59" name="Connector 658"/>
          <p:cNvCxnSpPr/>
          <p:nvPr/>
        </p:nvCxnSpPr>
        <p:spPr>
          <a:xfrm>
            <a:off x="3533775" y="1835722"/>
            <a:ext cx="8763" cy="3089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60" name="Connector 659"/>
          <p:cNvCxnSpPr/>
          <p:nvPr/>
        </p:nvCxnSpPr>
        <p:spPr>
          <a:xfrm flipV="1">
            <a:off x="3533775" y="3308679"/>
            <a:ext cx="8763" cy="3622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61" name="Connector 660"/>
          <p:cNvCxnSpPr/>
          <p:nvPr/>
        </p:nvCxnSpPr>
        <p:spPr>
          <a:xfrm>
            <a:off x="3542538" y="1866614"/>
            <a:ext cx="8763" cy="18417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62" name="Connector 661"/>
          <p:cNvCxnSpPr/>
          <p:nvPr/>
        </p:nvCxnSpPr>
        <p:spPr>
          <a:xfrm>
            <a:off x="3542538" y="3308679"/>
            <a:ext cx="8763" cy="9711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63" name="Connector 662"/>
          <p:cNvCxnSpPr/>
          <p:nvPr/>
        </p:nvCxnSpPr>
        <p:spPr>
          <a:xfrm>
            <a:off x="3551301" y="2050786"/>
            <a:ext cx="8763" cy="911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64" name="Connector 663"/>
          <p:cNvCxnSpPr/>
          <p:nvPr/>
        </p:nvCxnSpPr>
        <p:spPr>
          <a:xfrm>
            <a:off x="3551301" y="3405793"/>
            <a:ext cx="8763" cy="10371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65" name="Connector 664"/>
          <p:cNvCxnSpPr/>
          <p:nvPr/>
        </p:nvCxnSpPr>
        <p:spPr>
          <a:xfrm>
            <a:off x="3560064" y="2059900"/>
            <a:ext cx="8763" cy="3602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66" name="Connector 665"/>
          <p:cNvCxnSpPr/>
          <p:nvPr/>
        </p:nvCxnSpPr>
        <p:spPr>
          <a:xfrm>
            <a:off x="3560064" y="3509506"/>
            <a:ext cx="8763" cy="12979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67" name="Connector 666"/>
          <p:cNvCxnSpPr/>
          <p:nvPr/>
        </p:nvCxnSpPr>
        <p:spPr>
          <a:xfrm>
            <a:off x="3568827" y="2095925"/>
            <a:ext cx="8762" cy="332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68" name="Connector 667"/>
          <p:cNvCxnSpPr/>
          <p:nvPr/>
        </p:nvCxnSpPr>
        <p:spPr>
          <a:xfrm flipV="1">
            <a:off x="3568827" y="3572732"/>
            <a:ext cx="8762" cy="6656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69" name="Connector 668"/>
          <p:cNvCxnSpPr/>
          <p:nvPr/>
        </p:nvCxnSpPr>
        <p:spPr>
          <a:xfrm>
            <a:off x="3577589" y="2099248"/>
            <a:ext cx="8764" cy="1092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70" name="Connector 669"/>
          <p:cNvCxnSpPr/>
          <p:nvPr/>
        </p:nvCxnSpPr>
        <p:spPr>
          <a:xfrm flipV="1">
            <a:off x="3577589" y="3497396"/>
            <a:ext cx="8764" cy="7533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1" name="Connector 670"/>
          <p:cNvCxnSpPr/>
          <p:nvPr/>
        </p:nvCxnSpPr>
        <p:spPr>
          <a:xfrm flipV="1">
            <a:off x="3586353" y="1754854"/>
            <a:ext cx="8762" cy="35531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72" name="Connector 671"/>
          <p:cNvCxnSpPr/>
          <p:nvPr/>
        </p:nvCxnSpPr>
        <p:spPr>
          <a:xfrm>
            <a:off x="3586353" y="3497396"/>
            <a:ext cx="8762" cy="16194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3" name="Connector 672"/>
          <p:cNvCxnSpPr/>
          <p:nvPr/>
        </p:nvCxnSpPr>
        <p:spPr>
          <a:xfrm flipV="1">
            <a:off x="3595115" y="1751202"/>
            <a:ext cx="8763" cy="365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74" name="Connector 673"/>
          <p:cNvCxnSpPr/>
          <p:nvPr/>
        </p:nvCxnSpPr>
        <p:spPr>
          <a:xfrm flipV="1">
            <a:off x="3595115" y="3539567"/>
            <a:ext cx="8763" cy="11977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5" name="Connector 674"/>
          <p:cNvCxnSpPr/>
          <p:nvPr/>
        </p:nvCxnSpPr>
        <p:spPr>
          <a:xfrm flipV="1">
            <a:off x="3603878" y="1703366"/>
            <a:ext cx="8763" cy="4783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76" name="Connector 675"/>
          <p:cNvCxnSpPr/>
          <p:nvPr/>
        </p:nvCxnSpPr>
        <p:spPr>
          <a:xfrm flipV="1">
            <a:off x="3603878" y="3385161"/>
            <a:ext cx="8763" cy="154406"/>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7" name="Connector 676"/>
          <p:cNvCxnSpPr/>
          <p:nvPr/>
        </p:nvCxnSpPr>
        <p:spPr>
          <a:xfrm>
            <a:off x="3612641" y="1703366"/>
            <a:ext cx="8763" cy="1845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78" name="Connector 677"/>
          <p:cNvCxnSpPr/>
          <p:nvPr/>
        </p:nvCxnSpPr>
        <p:spPr>
          <a:xfrm flipV="1">
            <a:off x="3612641" y="3244117"/>
            <a:ext cx="8763" cy="141044"/>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79" name="Connector 678"/>
          <p:cNvCxnSpPr/>
          <p:nvPr/>
        </p:nvCxnSpPr>
        <p:spPr>
          <a:xfrm>
            <a:off x="3621404" y="1721823"/>
            <a:ext cx="8764" cy="2908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80" name="Connector 679"/>
          <p:cNvCxnSpPr/>
          <p:nvPr/>
        </p:nvCxnSpPr>
        <p:spPr>
          <a:xfrm flipV="1">
            <a:off x="3621404" y="3124128"/>
            <a:ext cx="8764" cy="119989"/>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81" name="Connector 680"/>
          <p:cNvCxnSpPr/>
          <p:nvPr/>
        </p:nvCxnSpPr>
        <p:spPr>
          <a:xfrm>
            <a:off x="3630168" y="1750906"/>
            <a:ext cx="8762" cy="10725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82" name="Connector 681"/>
          <p:cNvCxnSpPr/>
          <p:nvPr/>
        </p:nvCxnSpPr>
        <p:spPr>
          <a:xfrm flipV="1">
            <a:off x="3630168" y="3081787"/>
            <a:ext cx="8762" cy="42341"/>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83" name="Connector 682"/>
          <p:cNvCxnSpPr/>
          <p:nvPr/>
        </p:nvCxnSpPr>
        <p:spPr>
          <a:xfrm flipV="1">
            <a:off x="3638930" y="1817561"/>
            <a:ext cx="8764" cy="4059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84" name="Connector 683"/>
          <p:cNvCxnSpPr/>
          <p:nvPr/>
        </p:nvCxnSpPr>
        <p:spPr>
          <a:xfrm flipV="1">
            <a:off x="3638930" y="3010054"/>
            <a:ext cx="8764" cy="7173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85" name="Connector 684"/>
          <p:cNvCxnSpPr/>
          <p:nvPr/>
        </p:nvCxnSpPr>
        <p:spPr>
          <a:xfrm>
            <a:off x="3647694" y="1817561"/>
            <a:ext cx="8763" cy="1786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86" name="Connector 685"/>
          <p:cNvCxnSpPr/>
          <p:nvPr/>
        </p:nvCxnSpPr>
        <p:spPr>
          <a:xfrm flipV="1">
            <a:off x="3647694" y="2999232"/>
            <a:ext cx="8763" cy="10822"/>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87" name="Connector 686"/>
          <p:cNvCxnSpPr/>
          <p:nvPr/>
        </p:nvCxnSpPr>
        <p:spPr>
          <a:xfrm>
            <a:off x="3656457" y="1835425"/>
            <a:ext cx="8762" cy="4148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88" name="Connector 687"/>
          <p:cNvCxnSpPr/>
          <p:nvPr/>
        </p:nvCxnSpPr>
        <p:spPr>
          <a:xfrm>
            <a:off x="3656457"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89" name="Connector 688"/>
          <p:cNvCxnSpPr/>
          <p:nvPr/>
        </p:nvCxnSpPr>
        <p:spPr>
          <a:xfrm>
            <a:off x="3665219" y="1876912"/>
            <a:ext cx="8763" cy="213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90" name="Connector 689"/>
          <p:cNvCxnSpPr/>
          <p:nvPr/>
        </p:nvCxnSpPr>
        <p:spPr>
          <a:xfrm>
            <a:off x="366521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1" name="Connector 690"/>
          <p:cNvCxnSpPr/>
          <p:nvPr/>
        </p:nvCxnSpPr>
        <p:spPr>
          <a:xfrm>
            <a:off x="3673982" y="1879050"/>
            <a:ext cx="8764" cy="8540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92" name="Connector 691"/>
          <p:cNvCxnSpPr/>
          <p:nvPr/>
        </p:nvCxnSpPr>
        <p:spPr>
          <a:xfrm>
            <a:off x="3673982"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3" name="Connector 692"/>
          <p:cNvCxnSpPr/>
          <p:nvPr/>
        </p:nvCxnSpPr>
        <p:spPr>
          <a:xfrm>
            <a:off x="3682746" y="1964458"/>
            <a:ext cx="8763" cy="4181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94" name="Connector 693"/>
          <p:cNvCxnSpPr/>
          <p:nvPr/>
        </p:nvCxnSpPr>
        <p:spPr>
          <a:xfrm>
            <a:off x="3682746"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5" name="Connector 694"/>
          <p:cNvCxnSpPr/>
          <p:nvPr/>
        </p:nvCxnSpPr>
        <p:spPr>
          <a:xfrm>
            <a:off x="3691509" y="2006273"/>
            <a:ext cx="8763" cy="3059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96" name="Connector 695"/>
          <p:cNvCxnSpPr/>
          <p:nvPr/>
        </p:nvCxnSpPr>
        <p:spPr>
          <a:xfrm>
            <a:off x="3691509" y="2999232"/>
            <a:ext cx="8763" cy="8258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7" name="Connector 696"/>
          <p:cNvCxnSpPr/>
          <p:nvPr/>
        </p:nvCxnSpPr>
        <p:spPr>
          <a:xfrm>
            <a:off x="3700272" y="2036870"/>
            <a:ext cx="8763" cy="7389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698" name="Connector 697"/>
          <p:cNvCxnSpPr/>
          <p:nvPr/>
        </p:nvCxnSpPr>
        <p:spPr>
          <a:xfrm>
            <a:off x="3700272" y="3081817"/>
            <a:ext cx="8763" cy="14053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699" name="Connector 698"/>
          <p:cNvCxnSpPr/>
          <p:nvPr/>
        </p:nvCxnSpPr>
        <p:spPr>
          <a:xfrm>
            <a:off x="3709035" y="2110762"/>
            <a:ext cx="8762" cy="335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00" name="Connector 699"/>
          <p:cNvCxnSpPr/>
          <p:nvPr/>
        </p:nvCxnSpPr>
        <p:spPr>
          <a:xfrm>
            <a:off x="3709035" y="3222352"/>
            <a:ext cx="8762" cy="14296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01" name="Connector 700"/>
          <p:cNvCxnSpPr/>
          <p:nvPr/>
        </p:nvCxnSpPr>
        <p:spPr>
          <a:xfrm>
            <a:off x="3717797" y="2114118"/>
            <a:ext cx="8764" cy="361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02" name="Connector 701"/>
          <p:cNvCxnSpPr/>
          <p:nvPr/>
        </p:nvCxnSpPr>
        <p:spPr>
          <a:xfrm>
            <a:off x="3717797" y="3365317"/>
            <a:ext cx="8764" cy="14558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03" name="Connector 702"/>
          <p:cNvCxnSpPr/>
          <p:nvPr/>
        </p:nvCxnSpPr>
        <p:spPr>
          <a:xfrm>
            <a:off x="3726561" y="2117737"/>
            <a:ext cx="8762" cy="29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04" name="Connector 703"/>
          <p:cNvCxnSpPr/>
          <p:nvPr/>
        </p:nvCxnSpPr>
        <p:spPr>
          <a:xfrm flipV="1">
            <a:off x="3726561" y="3438279"/>
            <a:ext cx="8762" cy="72623"/>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05" name="Connector 704"/>
          <p:cNvCxnSpPr/>
          <p:nvPr/>
        </p:nvCxnSpPr>
        <p:spPr>
          <a:xfrm>
            <a:off x="3735323" y="2118033"/>
            <a:ext cx="8763" cy="3240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06" name="Connector 705"/>
          <p:cNvCxnSpPr/>
          <p:nvPr/>
        </p:nvCxnSpPr>
        <p:spPr>
          <a:xfrm flipV="1">
            <a:off x="3735323" y="3333789"/>
            <a:ext cx="8763" cy="10449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07" name="Connector 706"/>
          <p:cNvCxnSpPr/>
          <p:nvPr/>
        </p:nvCxnSpPr>
        <p:spPr>
          <a:xfrm>
            <a:off x="3744086" y="2150439"/>
            <a:ext cx="8763" cy="9544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08" name="Connector 707"/>
          <p:cNvCxnSpPr/>
          <p:nvPr/>
        </p:nvCxnSpPr>
        <p:spPr>
          <a:xfrm flipV="1">
            <a:off x="3744086" y="3160202"/>
            <a:ext cx="8763" cy="173587"/>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09" name="Connector 708"/>
          <p:cNvCxnSpPr/>
          <p:nvPr/>
        </p:nvCxnSpPr>
        <p:spPr>
          <a:xfrm flipV="1">
            <a:off x="3752849" y="2127739"/>
            <a:ext cx="8763" cy="11814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10" name="Connector 709"/>
          <p:cNvCxnSpPr/>
          <p:nvPr/>
        </p:nvCxnSpPr>
        <p:spPr>
          <a:xfrm flipV="1">
            <a:off x="3752849" y="3072147"/>
            <a:ext cx="8763" cy="8805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1" name="Connector 710"/>
          <p:cNvCxnSpPr/>
          <p:nvPr/>
        </p:nvCxnSpPr>
        <p:spPr>
          <a:xfrm flipV="1">
            <a:off x="3761612" y="2090463"/>
            <a:ext cx="8763" cy="3727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12" name="Connector 711"/>
          <p:cNvCxnSpPr/>
          <p:nvPr/>
        </p:nvCxnSpPr>
        <p:spPr>
          <a:xfrm flipV="1">
            <a:off x="3761612" y="3011077"/>
            <a:ext cx="8763" cy="6107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3" name="Connector 712"/>
          <p:cNvCxnSpPr/>
          <p:nvPr/>
        </p:nvCxnSpPr>
        <p:spPr>
          <a:xfrm flipV="1">
            <a:off x="3770375" y="2075329"/>
            <a:ext cx="8764" cy="1513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14" name="Connector 713"/>
          <p:cNvCxnSpPr/>
          <p:nvPr/>
        </p:nvCxnSpPr>
        <p:spPr>
          <a:xfrm flipV="1">
            <a:off x="3770375" y="2999232"/>
            <a:ext cx="8764" cy="11845"/>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5" name="Connector 714"/>
          <p:cNvCxnSpPr/>
          <p:nvPr/>
        </p:nvCxnSpPr>
        <p:spPr>
          <a:xfrm>
            <a:off x="3779139" y="2075329"/>
            <a:ext cx="8763" cy="697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16" name="Connector 715"/>
          <p:cNvCxnSpPr/>
          <p:nvPr/>
        </p:nvCxnSpPr>
        <p:spPr>
          <a:xfrm>
            <a:off x="377913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7" name="Connector 716"/>
          <p:cNvCxnSpPr/>
          <p:nvPr/>
        </p:nvCxnSpPr>
        <p:spPr>
          <a:xfrm flipV="1">
            <a:off x="3787902" y="2069868"/>
            <a:ext cx="8763" cy="1243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18" name="Connector 717"/>
          <p:cNvCxnSpPr/>
          <p:nvPr/>
        </p:nvCxnSpPr>
        <p:spPr>
          <a:xfrm>
            <a:off x="378790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19" name="Connector 718"/>
          <p:cNvCxnSpPr/>
          <p:nvPr/>
        </p:nvCxnSpPr>
        <p:spPr>
          <a:xfrm>
            <a:off x="3796665" y="2069868"/>
            <a:ext cx="8763" cy="302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20" name="Connector 719"/>
          <p:cNvCxnSpPr/>
          <p:nvPr/>
        </p:nvCxnSpPr>
        <p:spPr>
          <a:xfrm>
            <a:off x="379666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21" name="Connector 720"/>
          <p:cNvCxnSpPr/>
          <p:nvPr/>
        </p:nvCxnSpPr>
        <p:spPr>
          <a:xfrm flipV="1">
            <a:off x="3805428" y="1994758"/>
            <a:ext cx="8762" cy="7813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22" name="Connector 721"/>
          <p:cNvCxnSpPr/>
          <p:nvPr/>
        </p:nvCxnSpPr>
        <p:spPr>
          <a:xfrm>
            <a:off x="3805428"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23" name="Connector 722"/>
          <p:cNvCxnSpPr/>
          <p:nvPr/>
        </p:nvCxnSpPr>
        <p:spPr>
          <a:xfrm>
            <a:off x="3814190" y="1994758"/>
            <a:ext cx="8764" cy="17387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24" name="Connector 723"/>
          <p:cNvCxnSpPr/>
          <p:nvPr/>
        </p:nvCxnSpPr>
        <p:spPr>
          <a:xfrm>
            <a:off x="3814190"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25" name="Connector 724"/>
          <p:cNvCxnSpPr/>
          <p:nvPr/>
        </p:nvCxnSpPr>
        <p:spPr>
          <a:xfrm>
            <a:off x="3822954" y="2168633"/>
            <a:ext cx="8762" cy="1121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26" name="Connector 725"/>
          <p:cNvCxnSpPr/>
          <p:nvPr/>
        </p:nvCxnSpPr>
        <p:spPr>
          <a:xfrm>
            <a:off x="3822954"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27" name="Connector 726"/>
          <p:cNvCxnSpPr/>
          <p:nvPr/>
        </p:nvCxnSpPr>
        <p:spPr>
          <a:xfrm flipV="1">
            <a:off x="3831716" y="2145011"/>
            <a:ext cx="8763" cy="3484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28" name="Connector 727"/>
          <p:cNvCxnSpPr/>
          <p:nvPr/>
        </p:nvCxnSpPr>
        <p:spPr>
          <a:xfrm>
            <a:off x="3831716"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29" name="Connector 728"/>
          <p:cNvCxnSpPr/>
          <p:nvPr/>
        </p:nvCxnSpPr>
        <p:spPr>
          <a:xfrm>
            <a:off x="3840479" y="2145011"/>
            <a:ext cx="8763" cy="1845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30" name="Connector 729"/>
          <p:cNvCxnSpPr/>
          <p:nvPr/>
        </p:nvCxnSpPr>
        <p:spPr>
          <a:xfrm>
            <a:off x="384047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1" name="Connector 730"/>
          <p:cNvCxnSpPr/>
          <p:nvPr/>
        </p:nvCxnSpPr>
        <p:spPr>
          <a:xfrm>
            <a:off x="3849242" y="2163468"/>
            <a:ext cx="8763" cy="5240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32" name="Connector 731"/>
          <p:cNvCxnSpPr/>
          <p:nvPr/>
        </p:nvCxnSpPr>
        <p:spPr>
          <a:xfrm>
            <a:off x="384924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3" name="Connector 732"/>
          <p:cNvCxnSpPr/>
          <p:nvPr/>
        </p:nvCxnSpPr>
        <p:spPr>
          <a:xfrm>
            <a:off x="3858005" y="2215877"/>
            <a:ext cx="8764" cy="5757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34" name="Connector 733"/>
          <p:cNvCxnSpPr/>
          <p:nvPr/>
        </p:nvCxnSpPr>
        <p:spPr>
          <a:xfrm>
            <a:off x="3858005"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5" name="Connector 734"/>
          <p:cNvCxnSpPr/>
          <p:nvPr/>
        </p:nvCxnSpPr>
        <p:spPr>
          <a:xfrm>
            <a:off x="3866769" y="2273451"/>
            <a:ext cx="8763" cy="3059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36" name="Connector 735"/>
          <p:cNvCxnSpPr/>
          <p:nvPr/>
        </p:nvCxnSpPr>
        <p:spPr>
          <a:xfrm>
            <a:off x="386676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7" name="Connector 736"/>
          <p:cNvCxnSpPr/>
          <p:nvPr/>
        </p:nvCxnSpPr>
        <p:spPr>
          <a:xfrm>
            <a:off x="3875532" y="2304048"/>
            <a:ext cx="8763" cy="5208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38" name="Connector 737"/>
          <p:cNvCxnSpPr/>
          <p:nvPr/>
        </p:nvCxnSpPr>
        <p:spPr>
          <a:xfrm>
            <a:off x="387553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39" name="Connector 738"/>
          <p:cNvCxnSpPr/>
          <p:nvPr/>
        </p:nvCxnSpPr>
        <p:spPr>
          <a:xfrm flipV="1">
            <a:off x="3884295" y="2350074"/>
            <a:ext cx="8762" cy="605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40" name="Connector 739"/>
          <p:cNvCxnSpPr/>
          <p:nvPr/>
        </p:nvCxnSpPr>
        <p:spPr>
          <a:xfrm>
            <a:off x="3884295"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41" name="Connector 740"/>
          <p:cNvCxnSpPr/>
          <p:nvPr/>
        </p:nvCxnSpPr>
        <p:spPr>
          <a:xfrm flipV="1">
            <a:off x="3893057" y="2319774"/>
            <a:ext cx="8763" cy="3030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42" name="Connector 741"/>
          <p:cNvCxnSpPr/>
          <p:nvPr/>
        </p:nvCxnSpPr>
        <p:spPr>
          <a:xfrm>
            <a:off x="3893057"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43" name="Connector 742"/>
          <p:cNvCxnSpPr/>
          <p:nvPr/>
        </p:nvCxnSpPr>
        <p:spPr>
          <a:xfrm flipV="1">
            <a:off x="3901820" y="2309476"/>
            <a:ext cx="8764" cy="1029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44" name="Connector 743"/>
          <p:cNvCxnSpPr/>
          <p:nvPr/>
        </p:nvCxnSpPr>
        <p:spPr>
          <a:xfrm>
            <a:off x="3901820"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45" name="Connector 744"/>
          <p:cNvCxnSpPr/>
          <p:nvPr/>
        </p:nvCxnSpPr>
        <p:spPr>
          <a:xfrm>
            <a:off x="3910584" y="2309476"/>
            <a:ext cx="8763" cy="638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46" name="Connector 745"/>
          <p:cNvCxnSpPr/>
          <p:nvPr/>
        </p:nvCxnSpPr>
        <p:spPr>
          <a:xfrm>
            <a:off x="391058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47" name="Connector 746"/>
          <p:cNvCxnSpPr/>
          <p:nvPr/>
        </p:nvCxnSpPr>
        <p:spPr>
          <a:xfrm>
            <a:off x="3919347" y="2315859"/>
            <a:ext cx="8763" cy="2937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48" name="Connector 747"/>
          <p:cNvCxnSpPr/>
          <p:nvPr/>
        </p:nvCxnSpPr>
        <p:spPr>
          <a:xfrm>
            <a:off x="3919347"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49" name="Connector 748"/>
          <p:cNvCxnSpPr/>
          <p:nvPr/>
        </p:nvCxnSpPr>
        <p:spPr>
          <a:xfrm>
            <a:off x="3928110" y="2345238"/>
            <a:ext cx="8762" cy="694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50" name="Connector 749"/>
          <p:cNvCxnSpPr/>
          <p:nvPr/>
        </p:nvCxnSpPr>
        <p:spPr>
          <a:xfrm>
            <a:off x="3928110"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1" name="Connector 750"/>
          <p:cNvCxnSpPr/>
          <p:nvPr/>
        </p:nvCxnSpPr>
        <p:spPr>
          <a:xfrm flipV="1">
            <a:off x="3936872" y="2345830"/>
            <a:ext cx="8763" cy="635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52" name="Connector 751"/>
          <p:cNvCxnSpPr/>
          <p:nvPr/>
        </p:nvCxnSpPr>
        <p:spPr>
          <a:xfrm>
            <a:off x="393687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3" name="Connector 752"/>
          <p:cNvCxnSpPr/>
          <p:nvPr/>
        </p:nvCxnSpPr>
        <p:spPr>
          <a:xfrm flipV="1">
            <a:off x="3945635" y="2237097"/>
            <a:ext cx="8763" cy="10873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54" name="Connector 753"/>
          <p:cNvCxnSpPr/>
          <p:nvPr/>
        </p:nvCxnSpPr>
        <p:spPr>
          <a:xfrm>
            <a:off x="394563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5" name="Connector 754"/>
          <p:cNvCxnSpPr/>
          <p:nvPr/>
        </p:nvCxnSpPr>
        <p:spPr>
          <a:xfrm>
            <a:off x="3954398" y="2237097"/>
            <a:ext cx="8764" cy="937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56" name="Connector 755"/>
          <p:cNvCxnSpPr/>
          <p:nvPr/>
        </p:nvCxnSpPr>
        <p:spPr>
          <a:xfrm>
            <a:off x="3954398"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7" name="Connector 756"/>
          <p:cNvCxnSpPr/>
          <p:nvPr/>
        </p:nvCxnSpPr>
        <p:spPr>
          <a:xfrm flipV="1">
            <a:off x="3963162" y="2121060"/>
            <a:ext cx="8763" cy="12541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58" name="Connector 757"/>
          <p:cNvCxnSpPr/>
          <p:nvPr/>
        </p:nvCxnSpPr>
        <p:spPr>
          <a:xfrm>
            <a:off x="396316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59" name="Connector 758"/>
          <p:cNvCxnSpPr/>
          <p:nvPr/>
        </p:nvCxnSpPr>
        <p:spPr>
          <a:xfrm>
            <a:off x="3971925" y="2121060"/>
            <a:ext cx="8763" cy="5938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60" name="Connector 759"/>
          <p:cNvCxnSpPr/>
          <p:nvPr/>
        </p:nvCxnSpPr>
        <p:spPr>
          <a:xfrm>
            <a:off x="397192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61" name="Connector 760"/>
          <p:cNvCxnSpPr/>
          <p:nvPr/>
        </p:nvCxnSpPr>
        <p:spPr>
          <a:xfrm>
            <a:off x="3980688" y="2180444"/>
            <a:ext cx="8762" cy="1089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62" name="Connector 761"/>
          <p:cNvCxnSpPr/>
          <p:nvPr/>
        </p:nvCxnSpPr>
        <p:spPr>
          <a:xfrm>
            <a:off x="3980688"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63" name="Connector 762"/>
          <p:cNvCxnSpPr/>
          <p:nvPr/>
        </p:nvCxnSpPr>
        <p:spPr>
          <a:xfrm flipV="1">
            <a:off x="3989450" y="2187418"/>
            <a:ext cx="8763" cy="391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64" name="Connector 763"/>
          <p:cNvCxnSpPr/>
          <p:nvPr/>
        </p:nvCxnSpPr>
        <p:spPr>
          <a:xfrm>
            <a:off x="3989450"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65" name="Connector 764"/>
          <p:cNvCxnSpPr/>
          <p:nvPr/>
        </p:nvCxnSpPr>
        <p:spPr>
          <a:xfrm>
            <a:off x="3998213" y="2187418"/>
            <a:ext cx="8764" cy="5270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66" name="Connector 765"/>
          <p:cNvCxnSpPr/>
          <p:nvPr/>
        </p:nvCxnSpPr>
        <p:spPr>
          <a:xfrm>
            <a:off x="3998213"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67" name="Connector 766"/>
          <p:cNvCxnSpPr/>
          <p:nvPr/>
        </p:nvCxnSpPr>
        <p:spPr>
          <a:xfrm>
            <a:off x="4006977" y="2240124"/>
            <a:ext cx="8762" cy="240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68" name="Connector 767"/>
          <p:cNvCxnSpPr/>
          <p:nvPr/>
        </p:nvCxnSpPr>
        <p:spPr>
          <a:xfrm>
            <a:off x="4006977"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69" name="Connector 768"/>
          <p:cNvCxnSpPr/>
          <p:nvPr/>
        </p:nvCxnSpPr>
        <p:spPr>
          <a:xfrm flipV="1">
            <a:off x="4015739" y="2239499"/>
            <a:ext cx="8763" cy="302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70" name="Connector 769"/>
          <p:cNvCxnSpPr/>
          <p:nvPr/>
        </p:nvCxnSpPr>
        <p:spPr>
          <a:xfrm>
            <a:off x="401573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1" name="Connector 770"/>
          <p:cNvCxnSpPr/>
          <p:nvPr/>
        </p:nvCxnSpPr>
        <p:spPr>
          <a:xfrm flipV="1">
            <a:off x="4024502" y="2238906"/>
            <a:ext cx="8763" cy="59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72" name="Connector 771"/>
          <p:cNvCxnSpPr/>
          <p:nvPr/>
        </p:nvCxnSpPr>
        <p:spPr>
          <a:xfrm>
            <a:off x="402450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3" name="Connector 772"/>
          <p:cNvCxnSpPr/>
          <p:nvPr/>
        </p:nvCxnSpPr>
        <p:spPr>
          <a:xfrm flipV="1">
            <a:off x="4033265" y="2238610"/>
            <a:ext cx="8763" cy="29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74" name="Connector 773"/>
          <p:cNvCxnSpPr/>
          <p:nvPr/>
        </p:nvCxnSpPr>
        <p:spPr>
          <a:xfrm>
            <a:off x="403326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5" name="Connector 774"/>
          <p:cNvCxnSpPr/>
          <p:nvPr/>
        </p:nvCxnSpPr>
        <p:spPr>
          <a:xfrm>
            <a:off x="4042028" y="2238610"/>
            <a:ext cx="8763" cy="1210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76" name="Connector 775"/>
          <p:cNvCxnSpPr/>
          <p:nvPr/>
        </p:nvCxnSpPr>
        <p:spPr>
          <a:xfrm>
            <a:off x="404202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7" name="Connector 776"/>
          <p:cNvCxnSpPr/>
          <p:nvPr/>
        </p:nvCxnSpPr>
        <p:spPr>
          <a:xfrm>
            <a:off x="4050791" y="2250717"/>
            <a:ext cx="8764" cy="5089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78" name="Connector 777"/>
          <p:cNvCxnSpPr/>
          <p:nvPr/>
        </p:nvCxnSpPr>
        <p:spPr>
          <a:xfrm>
            <a:off x="4050791"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79" name="Connector 778"/>
          <p:cNvCxnSpPr/>
          <p:nvPr/>
        </p:nvCxnSpPr>
        <p:spPr>
          <a:xfrm flipV="1">
            <a:off x="4059555" y="2290394"/>
            <a:ext cx="8763" cy="1121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80" name="Connector 779"/>
          <p:cNvCxnSpPr/>
          <p:nvPr/>
        </p:nvCxnSpPr>
        <p:spPr>
          <a:xfrm>
            <a:off x="405955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81" name="Connector 780"/>
          <p:cNvCxnSpPr/>
          <p:nvPr/>
        </p:nvCxnSpPr>
        <p:spPr>
          <a:xfrm>
            <a:off x="4068318" y="2290394"/>
            <a:ext cx="8763" cy="332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82" name="Connector 781"/>
          <p:cNvCxnSpPr/>
          <p:nvPr/>
        </p:nvCxnSpPr>
        <p:spPr>
          <a:xfrm>
            <a:off x="406831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83" name="Connector 782"/>
          <p:cNvCxnSpPr/>
          <p:nvPr/>
        </p:nvCxnSpPr>
        <p:spPr>
          <a:xfrm flipV="1">
            <a:off x="4077081" y="2291315"/>
            <a:ext cx="8763" cy="240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84" name="Connector 783"/>
          <p:cNvCxnSpPr/>
          <p:nvPr/>
        </p:nvCxnSpPr>
        <p:spPr>
          <a:xfrm>
            <a:off x="407708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85" name="Connector 784"/>
          <p:cNvCxnSpPr/>
          <p:nvPr/>
        </p:nvCxnSpPr>
        <p:spPr>
          <a:xfrm flipV="1">
            <a:off x="4085844" y="2103821"/>
            <a:ext cx="8762" cy="18749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86" name="Connector 785"/>
          <p:cNvCxnSpPr/>
          <p:nvPr/>
        </p:nvCxnSpPr>
        <p:spPr>
          <a:xfrm>
            <a:off x="4085844"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87" name="Connector 786"/>
          <p:cNvCxnSpPr/>
          <p:nvPr/>
        </p:nvCxnSpPr>
        <p:spPr>
          <a:xfrm flipV="1">
            <a:off x="4094606" y="2073224"/>
            <a:ext cx="8764" cy="3059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88" name="Connector 787"/>
          <p:cNvCxnSpPr/>
          <p:nvPr/>
        </p:nvCxnSpPr>
        <p:spPr>
          <a:xfrm>
            <a:off x="4094606"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89" name="Connector 788"/>
          <p:cNvCxnSpPr/>
          <p:nvPr/>
        </p:nvCxnSpPr>
        <p:spPr>
          <a:xfrm>
            <a:off x="4103370" y="2073224"/>
            <a:ext cx="8762" cy="4967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90" name="Connector 789"/>
          <p:cNvCxnSpPr/>
          <p:nvPr/>
        </p:nvCxnSpPr>
        <p:spPr>
          <a:xfrm>
            <a:off x="4103370"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1" name="Connector 790"/>
          <p:cNvCxnSpPr/>
          <p:nvPr/>
        </p:nvCxnSpPr>
        <p:spPr>
          <a:xfrm flipV="1">
            <a:off x="4112132" y="2082896"/>
            <a:ext cx="8763" cy="4000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411213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4120895" y="2082896"/>
            <a:ext cx="8763" cy="1908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94" name="Connector 793"/>
          <p:cNvCxnSpPr/>
          <p:nvPr/>
        </p:nvCxnSpPr>
        <p:spPr>
          <a:xfrm>
            <a:off x="412089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V="1">
            <a:off x="4129658" y="2092010"/>
            <a:ext cx="8763" cy="996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a:off x="412965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4138421" y="2037462"/>
            <a:ext cx="8764" cy="5454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798" name="Connector 797"/>
          <p:cNvCxnSpPr/>
          <p:nvPr/>
        </p:nvCxnSpPr>
        <p:spPr>
          <a:xfrm>
            <a:off x="4138421"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799" name="Connector 798"/>
          <p:cNvCxnSpPr/>
          <p:nvPr/>
        </p:nvCxnSpPr>
        <p:spPr>
          <a:xfrm>
            <a:off x="4147185" y="2037462"/>
            <a:ext cx="8763" cy="3273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00" name="Connector 799"/>
          <p:cNvCxnSpPr/>
          <p:nvPr/>
        </p:nvCxnSpPr>
        <p:spPr>
          <a:xfrm>
            <a:off x="414718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01" name="Connector 800"/>
          <p:cNvCxnSpPr/>
          <p:nvPr/>
        </p:nvCxnSpPr>
        <p:spPr>
          <a:xfrm>
            <a:off x="4155948" y="2070197"/>
            <a:ext cx="8763" cy="88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02" name="Connector 801"/>
          <p:cNvCxnSpPr/>
          <p:nvPr/>
        </p:nvCxnSpPr>
        <p:spPr>
          <a:xfrm>
            <a:off x="415594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03" name="Connector 802"/>
          <p:cNvCxnSpPr/>
          <p:nvPr/>
        </p:nvCxnSpPr>
        <p:spPr>
          <a:xfrm>
            <a:off x="4164711" y="2071085"/>
            <a:ext cx="8763" cy="1970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04" name="Connector 803"/>
          <p:cNvCxnSpPr/>
          <p:nvPr/>
        </p:nvCxnSpPr>
        <p:spPr>
          <a:xfrm>
            <a:off x="416471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05" name="Connector 804"/>
          <p:cNvCxnSpPr/>
          <p:nvPr/>
        </p:nvCxnSpPr>
        <p:spPr>
          <a:xfrm flipV="1">
            <a:off x="4173474" y="2072007"/>
            <a:ext cx="8763" cy="1878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06" name="Connector 805"/>
          <p:cNvCxnSpPr/>
          <p:nvPr/>
        </p:nvCxnSpPr>
        <p:spPr>
          <a:xfrm>
            <a:off x="417347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07" name="Connector 806"/>
          <p:cNvCxnSpPr/>
          <p:nvPr/>
        </p:nvCxnSpPr>
        <p:spPr>
          <a:xfrm>
            <a:off x="4182237" y="2072007"/>
            <a:ext cx="8762" cy="6027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08" name="Connector 807"/>
          <p:cNvCxnSpPr/>
          <p:nvPr/>
        </p:nvCxnSpPr>
        <p:spPr>
          <a:xfrm>
            <a:off x="4182237"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09" name="Connector 808"/>
          <p:cNvCxnSpPr/>
          <p:nvPr/>
        </p:nvCxnSpPr>
        <p:spPr>
          <a:xfrm flipV="1">
            <a:off x="4190999" y="2125008"/>
            <a:ext cx="8764" cy="727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10" name="Connector 809"/>
          <p:cNvCxnSpPr/>
          <p:nvPr/>
        </p:nvCxnSpPr>
        <p:spPr>
          <a:xfrm>
            <a:off x="4190999"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1" name="Connector 810"/>
          <p:cNvCxnSpPr/>
          <p:nvPr/>
        </p:nvCxnSpPr>
        <p:spPr>
          <a:xfrm>
            <a:off x="4199763" y="2125008"/>
            <a:ext cx="8762" cy="12024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12" name="Connector 811"/>
          <p:cNvCxnSpPr/>
          <p:nvPr/>
        </p:nvCxnSpPr>
        <p:spPr>
          <a:xfrm>
            <a:off x="4199763"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3" name="Connector 812"/>
          <p:cNvCxnSpPr/>
          <p:nvPr/>
        </p:nvCxnSpPr>
        <p:spPr>
          <a:xfrm flipV="1">
            <a:off x="4208525" y="2228313"/>
            <a:ext cx="8763" cy="1694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14" name="Connector 813"/>
          <p:cNvCxnSpPr/>
          <p:nvPr/>
        </p:nvCxnSpPr>
        <p:spPr>
          <a:xfrm>
            <a:off x="420852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5" name="Connector 814"/>
          <p:cNvCxnSpPr/>
          <p:nvPr/>
        </p:nvCxnSpPr>
        <p:spPr>
          <a:xfrm>
            <a:off x="4217288" y="2228313"/>
            <a:ext cx="8763" cy="3391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16" name="Connector 815"/>
          <p:cNvCxnSpPr/>
          <p:nvPr/>
        </p:nvCxnSpPr>
        <p:spPr>
          <a:xfrm>
            <a:off x="421728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7" name="Connector 816"/>
          <p:cNvCxnSpPr/>
          <p:nvPr/>
        </p:nvCxnSpPr>
        <p:spPr>
          <a:xfrm flipV="1">
            <a:off x="4226051" y="2197091"/>
            <a:ext cx="8764" cy="6514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18" name="Connector 817"/>
          <p:cNvCxnSpPr/>
          <p:nvPr/>
        </p:nvCxnSpPr>
        <p:spPr>
          <a:xfrm>
            <a:off x="4226051"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19" name="Connector 818"/>
          <p:cNvCxnSpPr/>
          <p:nvPr/>
        </p:nvCxnSpPr>
        <p:spPr>
          <a:xfrm>
            <a:off x="4234815" y="2197091"/>
            <a:ext cx="8763" cy="3424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20" name="Connector 819"/>
          <p:cNvCxnSpPr/>
          <p:nvPr/>
        </p:nvCxnSpPr>
        <p:spPr>
          <a:xfrm>
            <a:off x="423481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21" name="Connector 820"/>
          <p:cNvCxnSpPr/>
          <p:nvPr/>
        </p:nvCxnSpPr>
        <p:spPr>
          <a:xfrm flipV="1">
            <a:off x="4243578" y="2208902"/>
            <a:ext cx="8763" cy="2243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22" name="Connector 821"/>
          <p:cNvCxnSpPr/>
          <p:nvPr/>
        </p:nvCxnSpPr>
        <p:spPr>
          <a:xfrm>
            <a:off x="424357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23" name="Connector 822"/>
          <p:cNvCxnSpPr/>
          <p:nvPr/>
        </p:nvCxnSpPr>
        <p:spPr>
          <a:xfrm flipV="1">
            <a:off x="4252341" y="2199526"/>
            <a:ext cx="8763" cy="937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24" name="Connector 823"/>
          <p:cNvCxnSpPr/>
          <p:nvPr/>
        </p:nvCxnSpPr>
        <p:spPr>
          <a:xfrm>
            <a:off x="425234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25" name="Connector 824"/>
          <p:cNvCxnSpPr/>
          <p:nvPr/>
        </p:nvCxnSpPr>
        <p:spPr>
          <a:xfrm flipV="1">
            <a:off x="4261104" y="2113789"/>
            <a:ext cx="8762" cy="8573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26" name="Connector 825"/>
          <p:cNvCxnSpPr/>
          <p:nvPr/>
        </p:nvCxnSpPr>
        <p:spPr>
          <a:xfrm>
            <a:off x="4261104"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27" name="Connector 826"/>
          <p:cNvCxnSpPr/>
          <p:nvPr/>
        </p:nvCxnSpPr>
        <p:spPr>
          <a:xfrm>
            <a:off x="4269866" y="2113789"/>
            <a:ext cx="8764" cy="16420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28" name="Connector 827"/>
          <p:cNvCxnSpPr/>
          <p:nvPr/>
        </p:nvCxnSpPr>
        <p:spPr>
          <a:xfrm>
            <a:off x="4269866"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29" name="Connector 828"/>
          <p:cNvCxnSpPr/>
          <p:nvPr/>
        </p:nvCxnSpPr>
        <p:spPr>
          <a:xfrm>
            <a:off x="4278630" y="2277991"/>
            <a:ext cx="8762" cy="786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30" name="Connector 829"/>
          <p:cNvCxnSpPr/>
          <p:nvPr/>
        </p:nvCxnSpPr>
        <p:spPr>
          <a:xfrm>
            <a:off x="4278630"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1" name="Connector 830"/>
          <p:cNvCxnSpPr/>
          <p:nvPr/>
        </p:nvCxnSpPr>
        <p:spPr>
          <a:xfrm flipV="1">
            <a:off x="4287392" y="2278583"/>
            <a:ext cx="8763" cy="727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32" name="Connector 831"/>
          <p:cNvCxnSpPr/>
          <p:nvPr/>
        </p:nvCxnSpPr>
        <p:spPr>
          <a:xfrm>
            <a:off x="428739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3" name="Connector 832"/>
          <p:cNvCxnSpPr/>
          <p:nvPr/>
        </p:nvCxnSpPr>
        <p:spPr>
          <a:xfrm>
            <a:off x="4296155" y="2278583"/>
            <a:ext cx="8764" cy="2786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34" name="Connector 833"/>
          <p:cNvCxnSpPr/>
          <p:nvPr/>
        </p:nvCxnSpPr>
        <p:spPr>
          <a:xfrm>
            <a:off x="4296155"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5" name="Connector 834"/>
          <p:cNvCxnSpPr/>
          <p:nvPr/>
        </p:nvCxnSpPr>
        <p:spPr>
          <a:xfrm>
            <a:off x="4304919" y="2306449"/>
            <a:ext cx="8762" cy="332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36" name="Connector 835"/>
          <p:cNvCxnSpPr/>
          <p:nvPr/>
        </p:nvCxnSpPr>
        <p:spPr>
          <a:xfrm>
            <a:off x="4304919"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7" name="Connector 836"/>
          <p:cNvCxnSpPr/>
          <p:nvPr/>
        </p:nvCxnSpPr>
        <p:spPr>
          <a:xfrm>
            <a:off x="4313681" y="2309772"/>
            <a:ext cx="8764" cy="2576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38" name="Connector 837"/>
          <p:cNvCxnSpPr/>
          <p:nvPr/>
        </p:nvCxnSpPr>
        <p:spPr>
          <a:xfrm>
            <a:off x="4313681"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39" name="Connector 838"/>
          <p:cNvCxnSpPr/>
          <p:nvPr/>
        </p:nvCxnSpPr>
        <p:spPr>
          <a:xfrm flipV="1">
            <a:off x="4322445" y="2237097"/>
            <a:ext cx="8763" cy="9843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40" name="Connector 839"/>
          <p:cNvCxnSpPr/>
          <p:nvPr/>
        </p:nvCxnSpPr>
        <p:spPr>
          <a:xfrm>
            <a:off x="432244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41" name="Connector 840"/>
          <p:cNvCxnSpPr/>
          <p:nvPr/>
        </p:nvCxnSpPr>
        <p:spPr>
          <a:xfrm>
            <a:off x="4331208" y="2237097"/>
            <a:ext cx="8763" cy="2997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42" name="Connector 841"/>
          <p:cNvCxnSpPr/>
          <p:nvPr/>
        </p:nvCxnSpPr>
        <p:spPr>
          <a:xfrm>
            <a:off x="433120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43" name="Connector 842"/>
          <p:cNvCxnSpPr/>
          <p:nvPr/>
        </p:nvCxnSpPr>
        <p:spPr>
          <a:xfrm flipV="1">
            <a:off x="4339971" y="2255554"/>
            <a:ext cx="8763" cy="1151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44" name="Connector 843"/>
          <p:cNvCxnSpPr/>
          <p:nvPr/>
        </p:nvCxnSpPr>
        <p:spPr>
          <a:xfrm>
            <a:off x="433997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45" name="Connector 844"/>
          <p:cNvCxnSpPr/>
          <p:nvPr/>
        </p:nvCxnSpPr>
        <p:spPr>
          <a:xfrm flipV="1">
            <a:off x="4348734" y="2244368"/>
            <a:ext cx="8762" cy="1118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46" name="Connector 845"/>
          <p:cNvCxnSpPr/>
          <p:nvPr/>
        </p:nvCxnSpPr>
        <p:spPr>
          <a:xfrm>
            <a:off x="4348734"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47" name="Connector 846"/>
          <p:cNvCxnSpPr/>
          <p:nvPr/>
        </p:nvCxnSpPr>
        <p:spPr>
          <a:xfrm>
            <a:off x="4357496" y="2244368"/>
            <a:ext cx="8763" cy="2513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48" name="Connector 847"/>
          <p:cNvCxnSpPr/>
          <p:nvPr/>
        </p:nvCxnSpPr>
        <p:spPr>
          <a:xfrm>
            <a:off x="4357496"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49" name="Connector 848"/>
          <p:cNvCxnSpPr/>
          <p:nvPr/>
        </p:nvCxnSpPr>
        <p:spPr>
          <a:xfrm>
            <a:off x="4366259" y="2269503"/>
            <a:ext cx="8764" cy="5270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50" name="Connector 849"/>
          <p:cNvCxnSpPr/>
          <p:nvPr/>
        </p:nvCxnSpPr>
        <p:spPr>
          <a:xfrm>
            <a:off x="4366259"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1" name="Connector 850"/>
          <p:cNvCxnSpPr/>
          <p:nvPr/>
        </p:nvCxnSpPr>
        <p:spPr>
          <a:xfrm>
            <a:off x="4375023" y="2322208"/>
            <a:ext cx="8763" cy="2543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52" name="Connector 851"/>
          <p:cNvCxnSpPr/>
          <p:nvPr/>
        </p:nvCxnSpPr>
        <p:spPr>
          <a:xfrm>
            <a:off x="4375023"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4383786" y="2347640"/>
            <a:ext cx="8763" cy="4454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4383786"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5" name="Connector 854"/>
          <p:cNvCxnSpPr/>
          <p:nvPr/>
        </p:nvCxnSpPr>
        <p:spPr>
          <a:xfrm>
            <a:off x="4392549" y="2392186"/>
            <a:ext cx="8762" cy="121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56" name="Connector 855"/>
          <p:cNvCxnSpPr/>
          <p:nvPr/>
        </p:nvCxnSpPr>
        <p:spPr>
          <a:xfrm>
            <a:off x="4392549"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7" name="Connector 856"/>
          <p:cNvCxnSpPr/>
          <p:nvPr/>
        </p:nvCxnSpPr>
        <p:spPr>
          <a:xfrm>
            <a:off x="4401311" y="2393403"/>
            <a:ext cx="8763" cy="2845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58" name="Connector 857"/>
          <p:cNvCxnSpPr/>
          <p:nvPr/>
        </p:nvCxnSpPr>
        <p:spPr>
          <a:xfrm>
            <a:off x="440131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59" name="Connector 858"/>
          <p:cNvCxnSpPr/>
          <p:nvPr/>
        </p:nvCxnSpPr>
        <p:spPr>
          <a:xfrm>
            <a:off x="4410074" y="2421861"/>
            <a:ext cx="8764" cy="2878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60" name="Connector 859"/>
          <p:cNvCxnSpPr/>
          <p:nvPr/>
        </p:nvCxnSpPr>
        <p:spPr>
          <a:xfrm>
            <a:off x="4410074"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61" name="Connector 860"/>
          <p:cNvCxnSpPr/>
          <p:nvPr/>
        </p:nvCxnSpPr>
        <p:spPr>
          <a:xfrm>
            <a:off x="4418838" y="2450648"/>
            <a:ext cx="8763" cy="302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62" name="Connector 861"/>
          <p:cNvCxnSpPr/>
          <p:nvPr/>
        </p:nvCxnSpPr>
        <p:spPr>
          <a:xfrm>
            <a:off x="441883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63" name="Connector 862"/>
          <p:cNvCxnSpPr/>
          <p:nvPr/>
        </p:nvCxnSpPr>
        <p:spPr>
          <a:xfrm>
            <a:off x="4427601" y="2453675"/>
            <a:ext cx="8763" cy="6148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64" name="Connector 863"/>
          <p:cNvCxnSpPr/>
          <p:nvPr/>
        </p:nvCxnSpPr>
        <p:spPr>
          <a:xfrm>
            <a:off x="442760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65" name="Connector 864"/>
          <p:cNvCxnSpPr/>
          <p:nvPr/>
        </p:nvCxnSpPr>
        <p:spPr>
          <a:xfrm flipV="1">
            <a:off x="4436364" y="2512730"/>
            <a:ext cx="8763" cy="243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66" name="Connector 865"/>
          <p:cNvCxnSpPr/>
          <p:nvPr/>
        </p:nvCxnSpPr>
        <p:spPr>
          <a:xfrm>
            <a:off x="443636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67" name="Connector 866"/>
          <p:cNvCxnSpPr/>
          <p:nvPr/>
        </p:nvCxnSpPr>
        <p:spPr>
          <a:xfrm>
            <a:off x="4445127" y="2512730"/>
            <a:ext cx="8763" cy="4543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68" name="Connector 867"/>
          <p:cNvCxnSpPr/>
          <p:nvPr/>
        </p:nvCxnSpPr>
        <p:spPr>
          <a:xfrm>
            <a:off x="4445127"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69" name="Connector 868"/>
          <p:cNvCxnSpPr/>
          <p:nvPr/>
        </p:nvCxnSpPr>
        <p:spPr>
          <a:xfrm>
            <a:off x="4453890" y="2558164"/>
            <a:ext cx="8763" cy="3697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70" name="Connector 869"/>
          <p:cNvCxnSpPr/>
          <p:nvPr/>
        </p:nvCxnSpPr>
        <p:spPr>
          <a:xfrm>
            <a:off x="4453890"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1" name="Connector 870"/>
          <p:cNvCxnSpPr/>
          <p:nvPr/>
        </p:nvCxnSpPr>
        <p:spPr>
          <a:xfrm>
            <a:off x="4462653" y="2595143"/>
            <a:ext cx="8763" cy="542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72" name="Connector 871"/>
          <p:cNvCxnSpPr/>
          <p:nvPr/>
        </p:nvCxnSpPr>
        <p:spPr>
          <a:xfrm>
            <a:off x="4462653"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3" name="Connector 872"/>
          <p:cNvCxnSpPr/>
          <p:nvPr/>
        </p:nvCxnSpPr>
        <p:spPr>
          <a:xfrm flipV="1">
            <a:off x="4471416" y="2589386"/>
            <a:ext cx="8763" cy="1118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74" name="Connector 873"/>
          <p:cNvCxnSpPr/>
          <p:nvPr/>
        </p:nvCxnSpPr>
        <p:spPr>
          <a:xfrm>
            <a:off x="4471416"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5" name="Connector 874"/>
          <p:cNvCxnSpPr/>
          <p:nvPr/>
        </p:nvCxnSpPr>
        <p:spPr>
          <a:xfrm flipV="1">
            <a:off x="4480179" y="2483976"/>
            <a:ext cx="8763" cy="10541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76" name="Connector 875"/>
          <p:cNvCxnSpPr/>
          <p:nvPr/>
        </p:nvCxnSpPr>
        <p:spPr>
          <a:xfrm>
            <a:off x="448017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7" name="Connector 876"/>
          <p:cNvCxnSpPr/>
          <p:nvPr/>
        </p:nvCxnSpPr>
        <p:spPr>
          <a:xfrm flipV="1">
            <a:off x="4488942" y="2428540"/>
            <a:ext cx="8762" cy="5543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78" name="Connector 877"/>
          <p:cNvCxnSpPr/>
          <p:nvPr/>
        </p:nvCxnSpPr>
        <p:spPr>
          <a:xfrm>
            <a:off x="4488942"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79" name="Connector 878"/>
          <p:cNvCxnSpPr/>
          <p:nvPr/>
        </p:nvCxnSpPr>
        <p:spPr>
          <a:xfrm flipV="1">
            <a:off x="4497704" y="2428211"/>
            <a:ext cx="8763" cy="32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80" name="Connector 879"/>
          <p:cNvCxnSpPr/>
          <p:nvPr/>
        </p:nvCxnSpPr>
        <p:spPr>
          <a:xfrm>
            <a:off x="449770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81" name="Connector 880"/>
          <p:cNvCxnSpPr/>
          <p:nvPr/>
        </p:nvCxnSpPr>
        <p:spPr>
          <a:xfrm>
            <a:off x="4506467" y="2428211"/>
            <a:ext cx="8764" cy="3697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82" name="Connector 881"/>
          <p:cNvCxnSpPr/>
          <p:nvPr/>
        </p:nvCxnSpPr>
        <p:spPr>
          <a:xfrm>
            <a:off x="4506467"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83" name="Connector 882"/>
          <p:cNvCxnSpPr/>
          <p:nvPr/>
        </p:nvCxnSpPr>
        <p:spPr>
          <a:xfrm flipV="1">
            <a:off x="4515231" y="2455188"/>
            <a:ext cx="8763" cy="1000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84" name="Connector 883"/>
          <p:cNvCxnSpPr/>
          <p:nvPr/>
        </p:nvCxnSpPr>
        <p:spPr>
          <a:xfrm>
            <a:off x="451523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85" name="Connector 884"/>
          <p:cNvCxnSpPr/>
          <p:nvPr/>
        </p:nvCxnSpPr>
        <p:spPr>
          <a:xfrm flipV="1">
            <a:off x="4523994" y="2412781"/>
            <a:ext cx="8763" cy="4240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86" name="Connector 885"/>
          <p:cNvCxnSpPr/>
          <p:nvPr/>
        </p:nvCxnSpPr>
        <p:spPr>
          <a:xfrm>
            <a:off x="452399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87" name="Connector 886"/>
          <p:cNvCxnSpPr/>
          <p:nvPr/>
        </p:nvCxnSpPr>
        <p:spPr>
          <a:xfrm flipV="1">
            <a:off x="4532757" y="2397647"/>
            <a:ext cx="8762" cy="1513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88" name="Connector 887"/>
          <p:cNvCxnSpPr/>
          <p:nvPr/>
        </p:nvCxnSpPr>
        <p:spPr>
          <a:xfrm>
            <a:off x="4532757"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89" name="Connector 888"/>
          <p:cNvCxnSpPr/>
          <p:nvPr/>
        </p:nvCxnSpPr>
        <p:spPr>
          <a:xfrm flipV="1">
            <a:off x="4541519" y="2318556"/>
            <a:ext cx="8763" cy="7909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90" name="Connector 889"/>
          <p:cNvCxnSpPr/>
          <p:nvPr/>
        </p:nvCxnSpPr>
        <p:spPr>
          <a:xfrm>
            <a:off x="454151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1" name="Connector 890"/>
          <p:cNvCxnSpPr/>
          <p:nvPr/>
        </p:nvCxnSpPr>
        <p:spPr>
          <a:xfrm flipV="1">
            <a:off x="4550282" y="2287368"/>
            <a:ext cx="8764" cy="3118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92" name="Connector 891"/>
          <p:cNvCxnSpPr/>
          <p:nvPr/>
        </p:nvCxnSpPr>
        <p:spPr>
          <a:xfrm>
            <a:off x="4550282"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3" name="Connector 892"/>
          <p:cNvCxnSpPr/>
          <p:nvPr/>
        </p:nvCxnSpPr>
        <p:spPr>
          <a:xfrm>
            <a:off x="4559046" y="2287368"/>
            <a:ext cx="8763" cy="2727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94" name="Connector 893"/>
          <p:cNvCxnSpPr/>
          <p:nvPr/>
        </p:nvCxnSpPr>
        <p:spPr>
          <a:xfrm>
            <a:off x="4559046"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5" name="Connector 894"/>
          <p:cNvCxnSpPr/>
          <p:nvPr/>
        </p:nvCxnSpPr>
        <p:spPr>
          <a:xfrm>
            <a:off x="4567809" y="2314641"/>
            <a:ext cx="8763" cy="1059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96" name="Connector 895"/>
          <p:cNvCxnSpPr/>
          <p:nvPr/>
        </p:nvCxnSpPr>
        <p:spPr>
          <a:xfrm>
            <a:off x="456780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7" name="Connector 896"/>
          <p:cNvCxnSpPr/>
          <p:nvPr/>
        </p:nvCxnSpPr>
        <p:spPr>
          <a:xfrm>
            <a:off x="4576572" y="2325235"/>
            <a:ext cx="8763" cy="2000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898" name="Connector 897"/>
          <p:cNvCxnSpPr/>
          <p:nvPr/>
        </p:nvCxnSpPr>
        <p:spPr>
          <a:xfrm>
            <a:off x="457657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899" name="Connector 898"/>
          <p:cNvCxnSpPr/>
          <p:nvPr/>
        </p:nvCxnSpPr>
        <p:spPr>
          <a:xfrm flipV="1">
            <a:off x="4585335" y="2327341"/>
            <a:ext cx="8763" cy="1789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00" name="Connector 899"/>
          <p:cNvCxnSpPr/>
          <p:nvPr/>
        </p:nvCxnSpPr>
        <p:spPr>
          <a:xfrm>
            <a:off x="458533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01" name="Connector 900"/>
          <p:cNvCxnSpPr/>
          <p:nvPr/>
        </p:nvCxnSpPr>
        <p:spPr>
          <a:xfrm flipV="1">
            <a:off x="4594098" y="2314937"/>
            <a:ext cx="8763" cy="12404"/>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02" name="Connector 901"/>
          <p:cNvCxnSpPr/>
          <p:nvPr/>
        </p:nvCxnSpPr>
        <p:spPr>
          <a:xfrm>
            <a:off x="459409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03" name="Connector 902"/>
          <p:cNvCxnSpPr/>
          <p:nvPr/>
        </p:nvCxnSpPr>
        <p:spPr>
          <a:xfrm flipV="1">
            <a:off x="4602861" y="2268286"/>
            <a:ext cx="8763" cy="4665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04" name="Connector 903"/>
          <p:cNvCxnSpPr/>
          <p:nvPr/>
        </p:nvCxnSpPr>
        <p:spPr>
          <a:xfrm>
            <a:off x="4602861"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05" name="Connector 904"/>
          <p:cNvCxnSpPr/>
          <p:nvPr/>
        </p:nvCxnSpPr>
        <p:spPr>
          <a:xfrm flipV="1">
            <a:off x="4611624" y="2262528"/>
            <a:ext cx="8763" cy="575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06" name="Connector 905"/>
          <p:cNvCxnSpPr/>
          <p:nvPr/>
        </p:nvCxnSpPr>
        <p:spPr>
          <a:xfrm>
            <a:off x="461162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07" name="Connector 906"/>
          <p:cNvCxnSpPr/>
          <p:nvPr/>
        </p:nvCxnSpPr>
        <p:spPr>
          <a:xfrm>
            <a:off x="4620387" y="2262528"/>
            <a:ext cx="8763" cy="483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08" name="Connector 907"/>
          <p:cNvCxnSpPr/>
          <p:nvPr/>
        </p:nvCxnSpPr>
        <p:spPr>
          <a:xfrm>
            <a:off x="4620387"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09" name="Connector 908"/>
          <p:cNvCxnSpPr/>
          <p:nvPr/>
        </p:nvCxnSpPr>
        <p:spPr>
          <a:xfrm>
            <a:off x="4629150" y="2267365"/>
            <a:ext cx="8762" cy="3151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10" name="Connector 909"/>
          <p:cNvCxnSpPr/>
          <p:nvPr/>
        </p:nvCxnSpPr>
        <p:spPr>
          <a:xfrm>
            <a:off x="4629150"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1" name="Connector 910"/>
          <p:cNvCxnSpPr/>
          <p:nvPr/>
        </p:nvCxnSpPr>
        <p:spPr>
          <a:xfrm>
            <a:off x="4637912" y="2298882"/>
            <a:ext cx="8763" cy="697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12" name="Connector 911"/>
          <p:cNvCxnSpPr/>
          <p:nvPr/>
        </p:nvCxnSpPr>
        <p:spPr>
          <a:xfrm>
            <a:off x="463791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3" name="Connector 912"/>
          <p:cNvCxnSpPr/>
          <p:nvPr/>
        </p:nvCxnSpPr>
        <p:spPr>
          <a:xfrm flipV="1">
            <a:off x="4646675" y="2290098"/>
            <a:ext cx="8764" cy="1575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14" name="Connector 913"/>
          <p:cNvCxnSpPr/>
          <p:nvPr/>
        </p:nvCxnSpPr>
        <p:spPr>
          <a:xfrm>
            <a:off x="4646675"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5" name="Connector 914"/>
          <p:cNvCxnSpPr/>
          <p:nvPr/>
        </p:nvCxnSpPr>
        <p:spPr>
          <a:xfrm>
            <a:off x="4655439" y="2290098"/>
            <a:ext cx="8763" cy="1483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16" name="Connector 915"/>
          <p:cNvCxnSpPr/>
          <p:nvPr/>
        </p:nvCxnSpPr>
        <p:spPr>
          <a:xfrm>
            <a:off x="465543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7" name="Connector 916"/>
          <p:cNvCxnSpPr/>
          <p:nvPr/>
        </p:nvCxnSpPr>
        <p:spPr>
          <a:xfrm>
            <a:off x="4664202" y="2304936"/>
            <a:ext cx="8762" cy="62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18" name="Connector 917"/>
          <p:cNvCxnSpPr/>
          <p:nvPr/>
        </p:nvCxnSpPr>
        <p:spPr>
          <a:xfrm>
            <a:off x="4664202"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19" name="Connector 918"/>
          <p:cNvCxnSpPr/>
          <p:nvPr/>
        </p:nvCxnSpPr>
        <p:spPr>
          <a:xfrm>
            <a:off x="4672964" y="2305561"/>
            <a:ext cx="8763" cy="996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20" name="Connector 919"/>
          <p:cNvCxnSpPr/>
          <p:nvPr/>
        </p:nvCxnSpPr>
        <p:spPr>
          <a:xfrm>
            <a:off x="467296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21" name="Connector 920"/>
          <p:cNvCxnSpPr/>
          <p:nvPr/>
        </p:nvCxnSpPr>
        <p:spPr>
          <a:xfrm flipV="1">
            <a:off x="4681727" y="2313424"/>
            <a:ext cx="8763" cy="210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22" name="Connector 921"/>
          <p:cNvCxnSpPr/>
          <p:nvPr/>
        </p:nvCxnSpPr>
        <p:spPr>
          <a:xfrm>
            <a:off x="4681727"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23" name="Connector 922"/>
          <p:cNvCxnSpPr/>
          <p:nvPr/>
        </p:nvCxnSpPr>
        <p:spPr>
          <a:xfrm flipV="1">
            <a:off x="4690490" y="2307667"/>
            <a:ext cx="8764" cy="575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24" name="Connector 923"/>
          <p:cNvCxnSpPr/>
          <p:nvPr/>
        </p:nvCxnSpPr>
        <p:spPr>
          <a:xfrm>
            <a:off x="4690490"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25" name="Connector 924"/>
          <p:cNvCxnSpPr/>
          <p:nvPr/>
        </p:nvCxnSpPr>
        <p:spPr>
          <a:xfrm flipV="1">
            <a:off x="4699254" y="2281906"/>
            <a:ext cx="8763" cy="2576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26" name="Connector 925"/>
          <p:cNvCxnSpPr/>
          <p:nvPr/>
        </p:nvCxnSpPr>
        <p:spPr>
          <a:xfrm>
            <a:off x="4699254"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27" name="Connector 926"/>
          <p:cNvCxnSpPr/>
          <p:nvPr/>
        </p:nvCxnSpPr>
        <p:spPr>
          <a:xfrm>
            <a:off x="4708017" y="2281906"/>
            <a:ext cx="8763" cy="7484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28" name="Connector 927"/>
          <p:cNvCxnSpPr/>
          <p:nvPr/>
        </p:nvCxnSpPr>
        <p:spPr>
          <a:xfrm>
            <a:off x="4708017"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a:off x="4716780" y="2356753"/>
            <a:ext cx="8763" cy="151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4716780"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4725543" y="2358266"/>
            <a:ext cx="8762" cy="210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32" name="Connector 931"/>
          <p:cNvCxnSpPr/>
          <p:nvPr/>
        </p:nvCxnSpPr>
        <p:spPr>
          <a:xfrm>
            <a:off x="4725543"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3" name="Connector 932"/>
          <p:cNvCxnSpPr/>
          <p:nvPr/>
        </p:nvCxnSpPr>
        <p:spPr>
          <a:xfrm flipV="1">
            <a:off x="4734305" y="2357049"/>
            <a:ext cx="8764" cy="332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34" name="Connector 933"/>
          <p:cNvCxnSpPr/>
          <p:nvPr/>
        </p:nvCxnSpPr>
        <p:spPr>
          <a:xfrm>
            <a:off x="4734305"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5" name="Connector 934"/>
          <p:cNvCxnSpPr/>
          <p:nvPr/>
        </p:nvCxnSpPr>
        <p:spPr>
          <a:xfrm flipV="1">
            <a:off x="4743069" y="2305232"/>
            <a:ext cx="8763" cy="5181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36" name="Connector 935"/>
          <p:cNvCxnSpPr/>
          <p:nvPr/>
        </p:nvCxnSpPr>
        <p:spPr>
          <a:xfrm>
            <a:off x="474306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7" name="Connector 936"/>
          <p:cNvCxnSpPr/>
          <p:nvPr/>
        </p:nvCxnSpPr>
        <p:spPr>
          <a:xfrm flipV="1">
            <a:off x="4751832" y="2279505"/>
            <a:ext cx="8763" cy="2572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38" name="Connector 937"/>
          <p:cNvCxnSpPr/>
          <p:nvPr/>
        </p:nvCxnSpPr>
        <p:spPr>
          <a:xfrm>
            <a:off x="475183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39" name="Connector 938"/>
          <p:cNvCxnSpPr/>
          <p:nvPr/>
        </p:nvCxnSpPr>
        <p:spPr>
          <a:xfrm flipV="1">
            <a:off x="4760595" y="2263153"/>
            <a:ext cx="8763" cy="16352"/>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40" name="Connector 939"/>
          <p:cNvCxnSpPr/>
          <p:nvPr/>
        </p:nvCxnSpPr>
        <p:spPr>
          <a:xfrm>
            <a:off x="476059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41" name="Connector 940"/>
          <p:cNvCxnSpPr/>
          <p:nvPr/>
        </p:nvCxnSpPr>
        <p:spPr>
          <a:xfrm>
            <a:off x="4769358" y="2263153"/>
            <a:ext cx="8762" cy="0"/>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42" name="Connector 941"/>
          <p:cNvCxnSpPr/>
          <p:nvPr/>
        </p:nvCxnSpPr>
        <p:spPr>
          <a:xfrm>
            <a:off x="4769358"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43" name="Connector 942"/>
          <p:cNvCxnSpPr/>
          <p:nvPr/>
        </p:nvCxnSpPr>
        <p:spPr>
          <a:xfrm flipV="1">
            <a:off x="4778120" y="2247098"/>
            <a:ext cx="8763" cy="16055"/>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44" name="Connector 943"/>
          <p:cNvCxnSpPr/>
          <p:nvPr/>
        </p:nvCxnSpPr>
        <p:spPr>
          <a:xfrm>
            <a:off x="4778120"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45" name="Connector 944"/>
          <p:cNvCxnSpPr/>
          <p:nvPr/>
        </p:nvCxnSpPr>
        <p:spPr>
          <a:xfrm flipV="1">
            <a:off x="4786883" y="2204987"/>
            <a:ext cx="8764" cy="4211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46" name="Connector 945"/>
          <p:cNvCxnSpPr/>
          <p:nvPr/>
        </p:nvCxnSpPr>
        <p:spPr>
          <a:xfrm>
            <a:off x="4786883"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47" name="Connector 946"/>
          <p:cNvCxnSpPr/>
          <p:nvPr/>
        </p:nvCxnSpPr>
        <p:spPr>
          <a:xfrm flipV="1">
            <a:off x="4795647" y="2187418"/>
            <a:ext cx="8763" cy="1756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48" name="Connector 947"/>
          <p:cNvCxnSpPr/>
          <p:nvPr/>
        </p:nvCxnSpPr>
        <p:spPr>
          <a:xfrm>
            <a:off x="4795647"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49" name="Connector 948"/>
          <p:cNvCxnSpPr/>
          <p:nvPr/>
        </p:nvCxnSpPr>
        <p:spPr>
          <a:xfrm flipV="1">
            <a:off x="4804410" y="2186201"/>
            <a:ext cx="8762" cy="121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50" name="Connector 949"/>
          <p:cNvCxnSpPr/>
          <p:nvPr/>
        </p:nvCxnSpPr>
        <p:spPr>
          <a:xfrm>
            <a:off x="4804410"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1" name="Connector 950"/>
          <p:cNvCxnSpPr/>
          <p:nvPr/>
        </p:nvCxnSpPr>
        <p:spPr>
          <a:xfrm>
            <a:off x="4813172" y="2186201"/>
            <a:ext cx="8763" cy="2483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52" name="Connector 951"/>
          <p:cNvCxnSpPr/>
          <p:nvPr/>
        </p:nvCxnSpPr>
        <p:spPr>
          <a:xfrm>
            <a:off x="481317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3" name="Connector 952"/>
          <p:cNvCxnSpPr/>
          <p:nvPr/>
        </p:nvCxnSpPr>
        <p:spPr>
          <a:xfrm>
            <a:off x="4821935" y="2211040"/>
            <a:ext cx="8764" cy="9377"/>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54" name="Connector 953"/>
          <p:cNvCxnSpPr/>
          <p:nvPr/>
        </p:nvCxnSpPr>
        <p:spPr>
          <a:xfrm>
            <a:off x="4821935"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5" name="Connector 954"/>
          <p:cNvCxnSpPr/>
          <p:nvPr/>
        </p:nvCxnSpPr>
        <p:spPr>
          <a:xfrm flipV="1">
            <a:off x="4830699" y="2133496"/>
            <a:ext cx="8763" cy="8692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56" name="Connector 955"/>
          <p:cNvCxnSpPr/>
          <p:nvPr/>
        </p:nvCxnSpPr>
        <p:spPr>
          <a:xfrm>
            <a:off x="4830699"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7" name="Connector 956"/>
          <p:cNvCxnSpPr/>
          <p:nvPr/>
        </p:nvCxnSpPr>
        <p:spPr>
          <a:xfrm flipV="1">
            <a:off x="4839462" y="2128035"/>
            <a:ext cx="8763" cy="5461"/>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58" name="Connector 957"/>
          <p:cNvCxnSpPr/>
          <p:nvPr/>
        </p:nvCxnSpPr>
        <p:spPr>
          <a:xfrm>
            <a:off x="4839462"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59" name="Connector 958"/>
          <p:cNvCxnSpPr/>
          <p:nvPr/>
        </p:nvCxnSpPr>
        <p:spPr>
          <a:xfrm flipV="1">
            <a:off x="4848225" y="2070789"/>
            <a:ext cx="8763" cy="5724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60" name="Connector 959"/>
          <p:cNvCxnSpPr/>
          <p:nvPr/>
        </p:nvCxnSpPr>
        <p:spPr>
          <a:xfrm>
            <a:off x="4848225"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61" name="Connector 960"/>
          <p:cNvCxnSpPr/>
          <p:nvPr/>
        </p:nvCxnSpPr>
        <p:spPr>
          <a:xfrm flipV="1">
            <a:off x="4856988" y="2034731"/>
            <a:ext cx="8763" cy="36058"/>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62" name="Connector 961"/>
          <p:cNvCxnSpPr/>
          <p:nvPr/>
        </p:nvCxnSpPr>
        <p:spPr>
          <a:xfrm>
            <a:off x="4856988"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63" name="Connector 962"/>
          <p:cNvCxnSpPr/>
          <p:nvPr/>
        </p:nvCxnSpPr>
        <p:spPr>
          <a:xfrm flipV="1">
            <a:off x="4865751" y="2005352"/>
            <a:ext cx="8762" cy="29379"/>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64" name="Connector 963"/>
          <p:cNvCxnSpPr/>
          <p:nvPr/>
        </p:nvCxnSpPr>
        <p:spPr>
          <a:xfrm>
            <a:off x="4865751" y="2999232"/>
            <a:ext cx="8762"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65" name="Connector 964"/>
          <p:cNvCxnSpPr/>
          <p:nvPr/>
        </p:nvCxnSpPr>
        <p:spPr>
          <a:xfrm>
            <a:off x="4874513" y="2005352"/>
            <a:ext cx="8763" cy="3356"/>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66" name="Connector 965"/>
          <p:cNvCxnSpPr/>
          <p:nvPr/>
        </p:nvCxnSpPr>
        <p:spPr>
          <a:xfrm>
            <a:off x="4874513" y="2999232"/>
            <a:ext cx="8763"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67" name="Connector 966"/>
          <p:cNvCxnSpPr/>
          <p:nvPr/>
        </p:nvCxnSpPr>
        <p:spPr>
          <a:xfrm flipV="1">
            <a:off x="4883276" y="1986895"/>
            <a:ext cx="8764" cy="21813"/>
          </a:xfrm>
          <a:prstGeom prst="line">
            <a:avLst/>
          </a:prstGeom>
          <a:ln w="13970">
            <a:solidFill>
              <a:srgbClr val="FF7A85"/>
            </a:solidFill>
          </a:ln>
        </p:spPr>
        <p:style>
          <a:lnRef idx="2">
            <a:schemeClr val="accent1"/>
          </a:lnRef>
          <a:fillRef idx="0">
            <a:schemeClr val="accent1"/>
          </a:fillRef>
          <a:effectRef idx="1">
            <a:schemeClr val="accent1"/>
          </a:effectRef>
          <a:fontRef idx="minor">
            <a:schemeClr val="tx1"/>
          </a:fontRef>
        </p:style>
      </p:cxnSp>
      <p:cxnSp>
        <p:nvCxnSpPr>
          <p:cNvPr id="968" name="Connector 967"/>
          <p:cNvCxnSpPr/>
          <p:nvPr/>
        </p:nvCxnSpPr>
        <p:spPr>
          <a:xfrm>
            <a:off x="4883276" y="2999232"/>
            <a:ext cx="8764" cy="0"/>
          </a:xfrm>
          <a:prstGeom prst="line">
            <a:avLst/>
          </a:prstGeom>
          <a:ln w="15240">
            <a:solidFill>
              <a:srgbClr val="3DDC97"/>
            </a:solidFill>
          </a:ln>
        </p:spPr>
        <p:style>
          <a:lnRef idx="2">
            <a:schemeClr val="accent1"/>
          </a:lnRef>
          <a:fillRef idx="0">
            <a:schemeClr val="accent1"/>
          </a:fillRef>
          <a:effectRef idx="1">
            <a:schemeClr val="accent1"/>
          </a:effectRef>
          <a:fontRef idx="minor">
            <a:schemeClr val="tx1"/>
          </a:fontRef>
        </p:style>
      </p:cxnSp>
      <p:cxnSp>
        <p:nvCxnSpPr>
          <p:cNvPr id="969" name="Connector 968"/>
          <p:cNvCxnSpPr/>
          <p:nvPr/>
        </p:nvCxnSpPr>
        <p:spPr>
          <a:xfrm>
            <a:off x="685800" y="3452622"/>
            <a:ext cx="4206240" cy="0"/>
          </a:xfrm>
          <a:prstGeom prst="line">
            <a:avLst/>
          </a:prstGeom>
          <a:ln w="10160">
            <a:solidFill>
              <a:srgbClr val="9A9AA2"/>
            </a:solidFill>
            <a:prstDash val="dash"/>
          </a:ln>
        </p:spPr>
        <p:style>
          <a:lnRef idx="2">
            <a:schemeClr val="accent1"/>
          </a:lnRef>
          <a:fillRef idx="0">
            <a:schemeClr val="accent1"/>
          </a:fillRef>
          <a:effectRef idx="1">
            <a:schemeClr val="accent1"/>
          </a:effectRef>
          <a:fontRef idx="minor">
            <a:schemeClr val="tx1"/>
          </a:fontRef>
        </p:style>
      </p:cxnSp>
      <p:cxnSp>
        <p:nvCxnSpPr>
          <p:cNvPr id="970" name="Connector 969"/>
          <p:cNvCxnSpPr/>
          <p:nvPr/>
        </p:nvCxnSpPr>
        <p:spPr>
          <a:xfrm>
            <a:off x="3209544" y="1508760"/>
            <a:ext cx="0" cy="2331720"/>
          </a:xfrm>
          <a:prstGeom prst="line">
            <a:avLst/>
          </a:prstGeom>
          <a:ln w="12700">
            <a:solidFill>
              <a:srgbClr val="FF7A85"/>
            </a:solidFill>
            <a:prstDash val="dash"/>
          </a:ln>
        </p:spPr>
        <p:style>
          <a:lnRef idx="2">
            <a:schemeClr val="accent1"/>
          </a:lnRef>
          <a:fillRef idx="0">
            <a:schemeClr val="accent1"/>
          </a:fillRef>
          <a:effectRef idx="1">
            <a:schemeClr val="accent1"/>
          </a:effectRef>
          <a:fontRef idx="minor">
            <a:schemeClr val="tx1"/>
          </a:fontRef>
        </p:style>
      </p:cxnSp>
      <p:cxnSp>
        <p:nvCxnSpPr>
          <p:cNvPr id="971" name="Connector 970"/>
          <p:cNvCxnSpPr/>
          <p:nvPr/>
        </p:nvCxnSpPr>
        <p:spPr>
          <a:xfrm>
            <a:off x="3376040" y="1508760"/>
            <a:ext cx="0" cy="2331720"/>
          </a:xfrm>
          <a:prstGeom prst="line">
            <a:avLst/>
          </a:prstGeom>
          <a:ln w="12700">
            <a:solidFill>
              <a:srgbClr val="3DDC97"/>
            </a:solidFill>
            <a:prstDash val="dash"/>
          </a:ln>
        </p:spPr>
        <p:style>
          <a:lnRef idx="2">
            <a:schemeClr val="accent1"/>
          </a:lnRef>
          <a:fillRef idx="0">
            <a:schemeClr val="accent1"/>
          </a:fillRef>
          <a:effectRef idx="1">
            <a:schemeClr val="accent1"/>
          </a:effectRef>
          <a:fontRef idx="minor">
            <a:schemeClr val="tx1"/>
          </a:fontRef>
        </p:style>
      </p:cxnSp>
      <p:sp>
        <p:nvSpPr>
          <p:cNvPr id="972" name="text:simulated freeze"/>
          <p:cNvSpPr txBox="1"/>
          <p:nvPr/>
        </p:nvSpPr>
        <p:spPr>
          <a:xfrm>
            <a:off x="2157984" y="1554480"/>
            <a:ext cx="1005840" cy="146304"/>
          </a:xfrm>
          <a:prstGeom prst="rect">
            <a:avLst/>
          </a:prstGeom>
          <a:noFill/>
        </p:spPr>
        <p:txBody>
          <a:bodyPr wrap="square" lIns="9144" rIns="9144" tIns="0" bIns="0">
            <a:spAutoFit/>
          </a:bodyPr>
          <a:lstStyle/>
          <a:p>
            <a:pPr algn="r">
              <a:lnSpc>
                <a:spcPct val="106000"/>
              </a:lnSpc>
              <a:spcAft>
                <a:spcPts val="400"/>
              </a:spcAft>
              <a:defRPr sz="800" b="0">
                <a:solidFill>
                  <a:srgbClr val="FF7A85"/>
                </a:solidFill>
                <a:latin typeface="Helvetica Neue"/>
              </a:defRPr>
            </a:pPr>
            <a:r>
              <a:t>simulated freeze</a:t>
            </a:r>
          </a:p>
        </p:txBody>
      </p:sp>
      <p:sp>
        <p:nvSpPr>
          <p:cNvPr id="973" name="text:alarm"/>
          <p:cNvSpPr txBox="1"/>
          <p:nvPr/>
        </p:nvSpPr>
        <p:spPr>
          <a:xfrm>
            <a:off x="3421760" y="1554480"/>
            <a:ext cx="457200" cy="146304"/>
          </a:xfrm>
          <a:prstGeom prst="rect">
            <a:avLst/>
          </a:prstGeom>
          <a:noFill/>
        </p:spPr>
        <p:txBody>
          <a:bodyPr wrap="square" lIns="9144" rIns="9144" tIns="0" bIns="0">
            <a:spAutoFit/>
          </a:bodyPr>
          <a:lstStyle/>
          <a:p>
            <a:pPr>
              <a:lnSpc>
                <a:spcPct val="106000"/>
              </a:lnSpc>
              <a:spcAft>
                <a:spcPts val="400"/>
              </a:spcAft>
              <a:defRPr sz="800" b="0">
                <a:solidFill>
                  <a:srgbClr val="3DDC97"/>
                </a:solidFill>
                <a:latin typeface="Helvetica Neue"/>
              </a:defRPr>
            </a:pPr>
            <a:r>
              <a:t>alarm</a:t>
            </a:r>
          </a:p>
        </p:txBody>
      </p:sp>
      <p:sp>
        <p:nvSpPr>
          <p:cNvPr id="974" name="text:01:13"/>
          <p:cNvSpPr txBox="1"/>
          <p:nvPr/>
        </p:nvSpPr>
        <p:spPr>
          <a:xfrm>
            <a:off x="685800" y="3858768"/>
            <a:ext cx="548640" cy="146304"/>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01:13</a:t>
            </a:r>
          </a:p>
        </p:txBody>
      </p:sp>
      <p:sp>
        <p:nvSpPr>
          <p:cNvPr id="975" name="text:01:53 SGT"/>
          <p:cNvSpPr txBox="1"/>
          <p:nvPr/>
        </p:nvSpPr>
        <p:spPr>
          <a:xfrm>
            <a:off x="4251959" y="3858768"/>
            <a:ext cx="640080" cy="146304"/>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01:53 SGT</a:t>
            </a:r>
          </a:p>
        </p:txBody>
      </p:sp>
      <p:pic>
        <p:nvPicPr>
          <p:cNvPr id="976" name="Picture 975" descr="04-feed-break.png"/>
          <p:cNvPicPr>
            <a:picLocks noChangeAspect="1"/>
          </p:cNvPicPr>
          <p:nvPr/>
        </p:nvPicPr>
        <p:blipFill>
          <a:blip r:embed="rId3"/>
          <a:stretch>
            <a:fillRect/>
          </a:stretch>
        </p:blipFill>
        <p:spPr>
          <a:xfrm>
            <a:off x="5212080" y="1371885"/>
            <a:ext cx="3429000" cy="1928812"/>
          </a:xfrm>
          <a:prstGeom prst="roundRect">
            <a:avLst>
              <a:gd name="adj" fmla="val 5688"/>
            </a:avLst>
          </a:prstGeom>
        </p:spPr>
      </p:pic>
      <p:sp>
        <p:nvSpPr>
          <p:cNvPr id="977" name="Rounded Rectangle 976"/>
          <p:cNvSpPr/>
          <p:nvPr/>
        </p:nvSpPr>
        <p:spPr>
          <a:xfrm>
            <a:off x="5212080" y="1371885"/>
            <a:ext cx="3429000" cy="1928812"/>
          </a:xfrm>
          <a:prstGeom prst="roundRect">
            <a:avLst>
              <a:gd name="adj" fmla="val 56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text:Try it: https://nus-solana-demos.ver"/>
          <p:cNvSpPr txBox="1"/>
          <p:nvPr/>
        </p:nvSpPr>
        <p:spPr>
          <a:xfrm>
            <a:off x="5212080" y="3401568"/>
            <a:ext cx="3429000" cy="27432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https://nus-solana-demos.vercel.app/0007/04-feed-break.html</a:t>
            </a:r>
          </a:p>
        </p:txBody>
      </p:sp>
      <p:sp>
        <p:nvSpPr>
          <p:cNvPr id="979" name="text:Live mode: switch it on to watch rea"/>
          <p:cNvSpPr txBox="1"/>
          <p:nvPr/>
        </p:nvSpPr>
        <p:spPr>
          <a:xfrm>
            <a:off x="5212080" y="3675887"/>
            <a:ext cx="34290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980" name="Rounded Rectangle 979"/>
          <p:cNvSpPr/>
          <p:nvPr/>
        </p:nvSpPr>
        <p:spPr>
          <a:xfrm>
            <a:off x="548640" y="4005072"/>
            <a:ext cx="2578608" cy="621792"/>
          </a:xfrm>
          <a:prstGeom prst="roundRect">
            <a:avLst>
              <a:gd name="adj" fmla="val 20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text:BASELINE GAP"/>
          <p:cNvSpPr txBox="1"/>
          <p:nvPr/>
        </p:nvSpPr>
        <p:spPr>
          <a:xfrm>
            <a:off x="685800" y="4050791"/>
            <a:ext cx="1280160" cy="146304"/>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BASELINE GAP</a:t>
            </a:r>
          </a:p>
        </p:txBody>
      </p:sp>
      <p:sp>
        <p:nvSpPr>
          <p:cNvPr id="982" name="text:2.0 bps"/>
          <p:cNvSpPr txBox="1"/>
          <p:nvPr/>
        </p:nvSpPr>
        <p:spPr>
          <a:xfrm>
            <a:off x="685800" y="4224528"/>
            <a:ext cx="13716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2.0 bps</a:t>
            </a:r>
          </a:p>
        </p:txBody>
      </p:sp>
      <p:sp>
        <p:nvSpPr>
          <p:cNvPr id="983" name="text:sd 2.7 bps"/>
          <p:cNvSpPr txBox="1"/>
          <p:nvPr/>
        </p:nvSpPr>
        <p:spPr>
          <a:xfrm>
            <a:off x="1920240" y="4242816"/>
            <a:ext cx="1170432" cy="27432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sd 2.7 bps</a:t>
            </a:r>
          </a:p>
        </p:txBody>
      </p:sp>
      <p:sp>
        <p:nvSpPr>
          <p:cNvPr id="984" name="Rounded Rectangle 983"/>
          <p:cNvSpPr/>
          <p:nvPr/>
        </p:nvSpPr>
        <p:spPr>
          <a:xfrm>
            <a:off x="3264408" y="4005072"/>
            <a:ext cx="2578608" cy="621792"/>
          </a:xfrm>
          <a:prstGeom prst="roundRect">
            <a:avLst>
              <a:gd name="adj" fmla="val 20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text:HEALTHY FEED"/>
          <p:cNvSpPr txBox="1"/>
          <p:nvPr/>
        </p:nvSpPr>
        <p:spPr>
          <a:xfrm>
            <a:off x="3401568" y="4050791"/>
            <a:ext cx="1280160" cy="146304"/>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HEALTHY FEED</a:t>
            </a:r>
          </a:p>
        </p:txBody>
      </p:sp>
      <p:sp>
        <p:nvSpPr>
          <p:cNvPr id="986" name="text:no alarm"/>
          <p:cNvSpPr txBox="1"/>
          <p:nvPr/>
        </p:nvSpPr>
        <p:spPr>
          <a:xfrm>
            <a:off x="3401568" y="4224528"/>
            <a:ext cx="13716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no alarm</a:t>
            </a:r>
          </a:p>
        </p:txBody>
      </p:sp>
      <p:sp>
        <p:nvSpPr>
          <p:cNvPr id="987" name="text:across all 40 minutes"/>
          <p:cNvSpPr txBox="1"/>
          <p:nvPr/>
        </p:nvSpPr>
        <p:spPr>
          <a:xfrm>
            <a:off x="4636008" y="4242816"/>
            <a:ext cx="1170432" cy="27432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across all 40 minutes</a:t>
            </a:r>
          </a:p>
        </p:txBody>
      </p:sp>
      <p:sp>
        <p:nvSpPr>
          <p:cNvPr id="988" name="Rounded Rectangle 987"/>
          <p:cNvSpPr/>
          <p:nvPr/>
        </p:nvSpPr>
        <p:spPr>
          <a:xfrm>
            <a:off x="5980176" y="4005072"/>
            <a:ext cx="2578608" cy="621792"/>
          </a:xfrm>
          <a:prstGeom prst="roundRect">
            <a:avLst>
              <a:gd name="adj" fmla="val 20588"/>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text:SIMULATED FREEZE"/>
          <p:cNvSpPr txBox="1"/>
          <p:nvPr/>
        </p:nvSpPr>
        <p:spPr>
          <a:xfrm>
            <a:off x="6117336" y="4050791"/>
            <a:ext cx="1280160" cy="146304"/>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SIMULATED FREEZE</a:t>
            </a:r>
          </a:p>
        </p:txBody>
      </p:sp>
      <p:sp>
        <p:nvSpPr>
          <p:cNvPr id="990" name="text:95 s"/>
          <p:cNvSpPr txBox="1"/>
          <p:nvPr/>
        </p:nvSpPr>
        <p:spPr>
          <a:xfrm>
            <a:off x="6117336" y="4224528"/>
            <a:ext cx="13716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95 s</a:t>
            </a:r>
          </a:p>
        </p:txBody>
      </p:sp>
      <p:sp>
        <p:nvSpPr>
          <p:cNvPr id="991" name="text:from freeze to alarm"/>
          <p:cNvSpPr txBox="1"/>
          <p:nvPr/>
        </p:nvSpPr>
        <p:spPr>
          <a:xfrm>
            <a:off x="7351775" y="4242816"/>
            <a:ext cx="1170432" cy="27432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from freeze to alarm</a:t>
            </a:r>
          </a:p>
        </p:txBody>
      </p:sp>
      <p:sp>
        <p:nvSpPr>
          <p:cNvPr id="992" name="text:Source: code/out/breaks.json. The f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code/out/breaks.json. The freeze is SIMULATED; the venue price and the gap before it are real.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ive Solana failur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Five Solana failures</a:t>
            </a:r>
          </a:p>
        </p:txBody>
      </p:sp>
      <p:sp>
        <p:nvSpPr>
          <p:cNvPr id="3" name="text:We inject each one on top of real p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We inject each one on top of real prices. Nothing live is attacked.</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508760"/>
            <a:ext cx="1536192" cy="2240280"/>
          </a:xfrm>
          <a:prstGeom prst="roundRect">
            <a:avLst>
              <a:gd name="adj" fmla="val 8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685800" y="1600200"/>
            <a:ext cx="3657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a:t>
            </a:r>
          </a:p>
        </p:txBody>
      </p:sp>
      <p:sp>
        <p:nvSpPr>
          <p:cNvPr id="7" name="text:Stale oracle"/>
          <p:cNvSpPr txBox="1"/>
          <p:nvPr/>
        </p:nvSpPr>
        <p:spPr>
          <a:xfrm>
            <a:off x="685800" y="2148840"/>
            <a:ext cx="128016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Stale oracle</a:t>
            </a:r>
          </a:p>
        </p:txBody>
      </p:sp>
      <p:sp>
        <p:nvSpPr>
          <p:cNvPr id="8" name="text:The oracle stops updating while the "/>
          <p:cNvSpPr txBox="1"/>
          <p:nvPr/>
        </p:nvSpPr>
        <p:spPr>
          <a:xfrm>
            <a:off x="685800" y="2697480"/>
            <a:ext cx="1298448" cy="10058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The oracle stops updating while the market moves 80 bps.</a:t>
            </a:r>
          </a:p>
        </p:txBody>
      </p:sp>
      <p:sp>
        <p:nvSpPr>
          <p:cNvPr id="9" name="Rounded Rectangle 8"/>
          <p:cNvSpPr/>
          <p:nvPr/>
        </p:nvSpPr>
        <p:spPr>
          <a:xfrm>
            <a:off x="2185416" y="1508760"/>
            <a:ext cx="1536192" cy="2240280"/>
          </a:xfrm>
          <a:prstGeom prst="roundRect">
            <a:avLst>
              <a:gd name="adj" fmla="val 8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2322576" y="1600200"/>
            <a:ext cx="3657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2</a:t>
            </a:r>
          </a:p>
        </p:txBody>
      </p:sp>
      <p:sp>
        <p:nvSpPr>
          <p:cNvPr id="11" name="text:RPC outage"/>
          <p:cNvSpPr txBox="1"/>
          <p:nvPr/>
        </p:nvSpPr>
        <p:spPr>
          <a:xfrm>
            <a:off x="2322576" y="2148840"/>
            <a:ext cx="128016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RPC outage</a:t>
            </a:r>
          </a:p>
        </p:txBody>
      </p:sp>
      <p:sp>
        <p:nvSpPr>
          <p:cNvPr id="12" name="text:HTTP 429 for 5 minutes. The agent ke"/>
          <p:cNvSpPr txBox="1"/>
          <p:nvPr/>
        </p:nvSpPr>
        <p:spPr>
          <a:xfrm>
            <a:off x="2322576" y="2697480"/>
            <a:ext cx="1298448" cy="10058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HTTP 429 for 5 minutes. The agent keeps its last prices.</a:t>
            </a:r>
          </a:p>
        </p:txBody>
      </p:sp>
      <p:sp>
        <p:nvSpPr>
          <p:cNvPr id="13" name="Rounded Rectangle 12"/>
          <p:cNvSpPr/>
          <p:nvPr/>
        </p:nvSpPr>
        <p:spPr>
          <a:xfrm>
            <a:off x="3822191" y="1508760"/>
            <a:ext cx="1536192" cy="2240280"/>
          </a:xfrm>
          <a:prstGeom prst="roundRect">
            <a:avLst>
              <a:gd name="adj" fmla="val 8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3959352" y="1600200"/>
            <a:ext cx="3657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3</a:t>
            </a:r>
          </a:p>
        </p:txBody>
      </p:sp>
      <p:sp>
        <p:nvSpPr>
          <p:cNvPr id="15" name="text:Slippage shock"/>
          <p:cNvSpPr txBox="1"/>
          <p:nvPr/>
        </p:nvSpPr>
        <p:spPr>
          <a:xfrm>
            <a:off x="3959352" y="2148840"/>
            <a:ext cx="128016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Slippage shock</a:t>
            </a:r>
          </a:p>
        </p:txBody>
      </p:sp>
      <p:sp>
        <p:nvSpPr>
          <p:cNvPr id="16" name="text:Every fill is 40 bps worse than expe"/>
          <p:cNvSpPr txBox="1"/>
          <p:nvPr/>
        </p:nvSpPr>
        <p:spPr>
          <a:xfrm>
            <a:off x="3959352" y="2697480"/>
            <a:ext cx="1298448" cy="10058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Every fill is 40 bps worse than expected.</a:t>
            </a:r>
          </a:p>
        </p:txBody>
      </p:sp>
      <p:sp>
        <p:nvSpPr>
          <p:cNvPr id="17" name="Rounded Rectangle 16"/>
          <p:cNvSpPr/>
          <p:nvPr/>
        </p:nvSpPr>
        <p:spPr>
          <a:xfrm>
            <a:off x="5458968" y="1508760"/>
            <a:ext cx="1536192" cy="2240280"/>
          </a:xfrm>
          <a:prstGeom prst="roundRect">
            <a:avLst>
              <a:gd name="adj" fmla="val 8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4"/>
          <p:cNvSpPr txBox="1"/>
          <p:nvPr/>
        </p:nvSpPr>
        <p:spPr>
          <a:xfrm>
            <a:off x="5596128" y="1600200"/>
            <a:ext cx="3657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4</a:t>
            </a:r>
          </a:p>
        </p:txBody>
      </p:sp>
      <p:sp>
        <p:nvSpPr>
          <p:cNvPr id="19" name="text:Fee change"/>
          <p:cNvSpPr txBox="1"/>
          <p:nvPr/>
        </p:nvSpPr>
        <p:spPr>
          <a:xfrm>
            <a:off x="5596128" y="2148840"/>
            <a:ext cx="128016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Fee change</a:t>
            </a:r>
          </a:p>
        </p:txBody>
      </p:sp>
      <p:sp>
        <p:nvSpPr>
          <p:cNvPr id="20" name="text:Fee per leg jumps from 5 to 30 bps."/>
          <p:cNvSpPr txBox="1"/>
          <p:nvPr/>
        </p:nvSpPr>
        <p:spPr>
          <a:xfrm>
            <a:off x="5596128" y="2697480"/>
            <a:ext cx="1298448" cy="10058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Fee per leg jumps from 5 to 30 bps.</a:t>
            </a:r>
          </a:p>
        </p:txBody>
      </p:sp>
      <p:sp>
        <p:nvSpPr>
          <p:cNvPr id="21" name="Rounded Rectangle 20"/>
          <p:cNvSpPr/>
          <p:nvPr/>
        </p:nvSpPr>
        <p:spPr>
          <a:xfrm>
            <a:off x="7095744" y="1508760"/>
            <a:ext cx="1536192" cy="2240280"/>
          </a:xfrm>
          <a:prstGeom prst="roundRect">
            <a:avLst>
              <a:gd name="adj" fmla="val 8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5"/>
          <p:cNvSpPr txBox="1"/>
          <p:nvPr/>
        </p:nvSpPr>
        <p:spPr>
          <a:xfrm>
            <a:off x="7232904" y="1600200"/>
            <a:ext cx="3657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5</a:t>
            </a:r>
          </a:p>
        </p:txBody>
      </p:sp>
      <p:sp>
        <p:nvSpPr>
          <p:cNvPr id="23" name="text:Duplicate submission"/>
          <p:cNvSpPr txBox="1"/>
          <p:nvPr/>
        </p:nvSpPr>
        <p:spPr>
          <a:xfrm>
            <a:off x="7232904" y="2148840"/>
            <a:ext cx="1280160" cy="45720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Duplicate submission</a:t>
            </a:r>
          </a:p>
        </p:txBody>
      </p:sp>
      <p:sp>
        <p:nvSpPr>
          <p:cNvPr id="24" name="text:A timeout makes the agent send every"/>
          <p:cNvSpPr txBox="1"/>
          <p:nvPr/>
        </p:nvSpPr>
        <p:spPr>
          <a:xfrm>
            <a:off x="7232904" y="2697480"/>
            <a:ext cx="1298448" cy="10058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A timeout makes the agent send every order twice.</a:t>
            </a:r>
          </a:p>
        </p:txBody>
      </p:sp>
      <p:sp>
        <p:nvSpPr>
          <p:cNvPr id="25" name="Rounded Rectangle 24"/>
          <p:cNvSpPr/>
          <p:nvPr/>
        </p:nvSpPr>
        <p:spPr>
          <a:xfrm>
            <a:off x="548640" y="3886200"/>
            <a:ext cx="8092440" cy="685800"/>
          </a:xfrm>
          <a:prstGeom prst="roundRect">
            <a:avLst>
              <a:gd name="adj" fmla="val 18666"/>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A paper agent sends one 250 USD orde"/>
          <p:cNvSpPr txBox="1"/>
          <p:nvPr/>
        </p:nvSpPr>
        <p:spPr>
          <a:xfrm>
            <a:off x="713232" y="3886200"/>
            <a:ext cx="7772400" cy="685800"/>
          </a:xfrm>
          <a:prstGeom prst="rect">
            <a:avLst/>
          </a:prstGeom>
          <a:noFill/>
        </p:spPr>
        <p:txBody>
          <a:bodyPr wrap="square" lIns="9144" rIns="9144" tIns="0" bIns="0" anchor="ctr">
            <a:spAutoFit/>
          </a:bodyPr>
          <a:lstStyle/>
          <a:p>
            <a:pPr>
              <a:lnSpc>
                <a:spcPct val="106000"/>
              </a:lnSpc>
              <a:spcAft>
                <a:spcPts val="400"/>
              </a:spcAft>
              <a:defRPr sz="1050" b="0">
                <a:solidFill>
                  <a:srgbClr val="F2F5F8"/>
                </a:solidFill>
                <a:latin typeface="Helvetica Neue"/>
              </a:defRPr>
            </a:pPr>
            <a:r>
              <a:t>A paper agent sends one 250 USD order every 30 seconds through the build night 1 risk hook (limits 1000 USD, 50 bps from the oracle, oracle no older than 60 s). The fault lasts 5 minutes from 01:37 Singapore time.</a:t>
            </a:r>
          </a:p>
        </p:txBody>
      </p:sp>
      <p:sp>
        <p:nvSpPr>
          <p:cNvPr id="27" name="text:Source: code/src/faults.ts. Simulat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code/src/faults.ts. Simulated, on recorded data; not advice.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the hook caught and missed"/>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What the hook caught and missed</a:t>
            </a:r>
          </a:p>
        </p:txBody>
      </p:sp>
      <p:sp>
        <p:nvSpPr>
          <p:cNvPr id="3" name="text:The build night 1 risk hook, unchang"/>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build night 1 risk hook, unchanged, against each fault.</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text:FAULT"/>
          <p:cNvSpPr txBox="1"/>
          <p:nvPr/>
        </p:nvSpPr>
        <p:spPr>
          <a:xfrm>
            <a:off x="548640" y="1371600"/>
            <a:ext cx="182880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FAULT</a:t>
            </a:r>
          </a:p>
        </p:txBody>
      </p:sp>
      <p:sp>
        <p:nvSpPr>
          <p:cNvPr id="6" name="text:ORDERS"/>
          <p:cNvSpPr txBox="1"/>
          <p:nvPr/>
        </p:nvSpPr>
        <p:spPr>
          <a:xfrm>
            <a:off x="2468880" y="1371600"/>
            <a:ext cx="64008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ORDERS</a:t>
            </a:r>
          </a:p>
        </p:txBody>
      </p:sp>
      <p:sp>
        <p:nvSpPr>
          <p:cNvPr id="7" name="text:THE HOOK"/>
          <p:cNvSpPr txBox="1"/>
          <p:nvPr/>
        </p:nvSpPr>
        <p:spPr>
          <a:xfrm>
            <a:off x="3200400" y="1371600"/>
            <a:ext cx="155448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THE HOOK</a:t>
            </a:r>
          </a:p>
        </p:txBody>
      </p:sp>
      <p:sp>
        <p:nvSpPr>
          <p:cNvPr id="8" name="text:LOSS, HOOK"/>
          <p:cNvSpPr txBox="1"/>
          <p:nvPr/>
        </p:nvSpPr>
        <p:spPr>
          <a:xfrm>
            <a:off x="4846320" y="1371600"/>
            <a:ext cx="86868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LOSS, HOOK</a:t>
            </a:r>
          </a:p>
        </p:txBody>
      </p:sp>
      <p:sp>
        <p:nvSpPr>
          <p:cNvPr id="9" name="text:LOSS, NO HOOK"/>
          <p:cNvSpPr txBox="1"/>
          <p:nvPr/>
        </p:nvSpPr>
        <p:spPr>
          <a:xfrm>
            <a:off x="5760720" y="1371600"/>
            <a:ext cx="96012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LOSS, NO HOOK</a:t>
            </a:r>
          </a:p>
        </p:txBody>
      </p:sp>
      <p:sp>
        <p:nvSpPr>
          <p:cNvPr id="10" name="text:WITH EXTRA GUARD"/>
          <p:cNvSpPr txBox="1"/>
          <p:nvPr/>
        </p:nvSpPr>
        <p:spPr>
          <a:xfrm>
            <a:off x="6812280" y="1371600"/>
            <a:ext cx="182880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WITH EXTRA GUARD</a:t>
            </a:r>
          </a:p>
        </p:txBody>
      </p:sp>
      <p:sp>
        <p:nvSpPr>
          <p:cNvPr id="11" name="Rounded Rectangle 10"/>
          <p:cNvSpPr/>
          <p:nvPr/>
        </p:nvSpPr>
        <p:spPr>
          <a:xfrm>
            <a:off x="548640" y="1600200"/>
            <a:ext cx="8092440" cy="457200"/>
          </a:xfrm>
          <a:prstGeom prst="roundRect">
            <a:avLst>
              <a:gd name="adj" fmla="val 2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Stale oracle"/>
          <p:cNvSpPr txBox="1"/>
          <p:nvPr/>
        </p:nvSpPr>
        <p:spPr>
          <a:xfrm>
            <a:off x="658368" y="1600200"/>
            <a:ext cx="1737360" cy="45720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Stale oracle</a:t>
            </a:r>
          </a:p>
        </p:txBody>
      </p:sp>
      <p:sp>
        <p:nvSpPr>
          <p:cNvPr id="13" name="text:10"/>
          <p:cNvSpPr txBox="1"/>
          <p:nvPr/>
        </p:nvSpPr>
        <p:spPr>
          <a:xfrm>
            <a:off x="2468880" y="1600200"/>
            <a:ext cx="548640" cy="457200"/>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10</a:t>
            </a:r>
          </a:p>
        </p:txBody>
      </p:sp>
      <p:sp>
        <p:nvSpPr>
          <p:cNvPr id="14" name="Rounded Rectangle 13"/>
          <p:cNvSpPr/>
          <p:nvPr/>
        </p:nvSpPr>
        <p:spPr>
          <a:xfrm>
            <a:off x="3200400" y="1709928"/>
            <a:ext cx="1417320" cy="237744"/>
          </a:xfrm>
          <a:prstGeom prst="roundRect">
            <a:avLst>
              <a:gd name="adj" fmla="val 4615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CAUGHT 8 of 10"/>
          <p:cNvSpPr txBox="1"/>
          <p:nvPr/>
        </p:nvSpPr>
        <p:spPr>
          <a:xfrm>
            <a:off x="3200400" y="1728216"/>
            <a:ext cx="1417320" cy="219456"/>
          </a:xfrm>
          <a:prstGeom prst="rect">
            <a:avLst/>
          </a:prstGeom>
          <a:noFill/>
        </p:spPr>
        <p:txBody>
          <a:bodyPr wrap="square" lIns="9144" rIns="9144" tIns="0" bIns="0" anchor="ctr">
            <a:spAutoFit/>
          </a:bodyPr>
          <a:lstStyle/>
          <a:p>
            <a:pPr algn="ctr">
              <a:lnSpc>
                <a:spcPct val="106000"/>
              </a:lnSpc>
              <a:spcAft>
                <a:spcPts val="400"/>
              </a:spcAft>
              <a:defRPr sz="850" b="0">
                <a:solidFill>
                  <a:srgbClr val="3DDC97"/>
                </a:solidFill>
                <a:latin typeface="Helvetica Neue"/>
              </a:defRPr>
            </a:pPr>
            <a:r>
              <a:t>CAUGHT 8 of 10</a:t>
            </a:r>
          </a:p>
        </p:txBody>
      </p:sp>
      <p:sp>
        <p:nvSpPr>
          <p:cNvPr id="16" name="text:$2.02"/>
          <p:cNvSpPr txBox="1"/>
          <p:nvPr/>
        </p:nvSpPr>
        <p:spPr>
          <a:xfrm>
            <a:off x="4846320" y="1600200"/>
            <a:ext cx="896112"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$2.02</a:t>
            </a:r>
          </a:p>
        </p:txBody>
      </p:sp>
      <p:sp>
        <p:nvSpPr>
          <p:cNvPr id="17" name="text:$10.04"/>
          <p:cNvSpPr txBox="1"/>
          <p:nvPr/>
        </p:nvSpPr>
        <p:spPr>
          <a:xfrm>
            <a:off x="5760720" y="1600200"/>
            <a:ext cx="96012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$10.04</a:t>
            </a:r>
          </a:p>
        </p:txBody>
      </p:sp>
      <p:sp>
        <p:nvSpPr>
          <p:cNvPr id="18" name="text:no extra guard needed"/>
          <p:cNvSpPr txBox="1"/>
          <p:nvPr/>
        </p:nvSpPr>
        <p:spPr>
          <a:xfrm>
            <a:off x="6812280" y="1600200"/>
            <a:ext cx="1783080" cy="457200"/>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no extra guard needed</a:t>
            </a:r>
          </a:p>
        </p:txBody>
      </p:sp>
      <p:sp>
        <p:nvSpPr>
          <p:cNvPr id="19" name="Rounded Rectangle 18"/>
          <p:cNvSpPr/>
          <p:nvPr/>
        </p:nvSpPr>
        <p:spPr>
          <a:xfrm>
            <a:off x="548640" y="2148840"/>
            <a:ext cx="8092440" cy="457200"/>
          </a:xfrm>
          <a:prstGeom prst="roundRect">
            <a:avLst>
              <a:gd name="adj" fmla="val 2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RPC outage (429)"/>
          <p:cNvSpPr txBox="1"/>
          <p:nvPr/>
        </p:nvSpPr>
        <p:spPr>
          <a:xfrm>
            <a:off x="658368" y="2148840"/>
            <a:ext cx="1737360" cy="45720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RPC outage (429)</a:t>
            </a:r>
          </a:p>
        </p:txBody>
      </p:sp>
      <p:sp>
        <p:nvSpPr>
          <p:cNvPr id="21" name="text:10"/>
          <p:cNvSpPr txBox="1"/>
          <p:nvPr/>
        </p:nvSpPr>
        <p:spPr>
          <a:xfrm>
            <a:off x="2468880" y="2148840"/>
            <a:ext cx="548640" cy="457200"/>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10</a:t>
            </a:r>
          </a:p>
        </p:txBody>
      </p:sp>
      <p:sp>
        <p:nvSpPr>
          <p:cNvPr id="22" name="Rounded Rectangle 21"/>
          <p:cNvSpPr/>
          <p:nvPr/>
        </p:nvSpPr>
        <p:spPr>
          <a:xfrm>
            <a:off x="3200400" y="2258568"/>
            <a:ext cx="1417320" cy="237744"/>
          </a:xfrm>
          <a:prstGeom prst="roundRect">
            <a:avLst>
              <a:gd name="adj" fmla="val 4615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CAUGHT 8 of 10"/>
          <p:cNvSpPr txBox="1"/>
          <p:nvPr/>
        </p:nvSpPr>
        <p:spPr>
          <a:xfrm>
            <a:off x="3200400" y="2276856"/>
            <a:ext cx="1417320" cy="219456"/>
          </a:xfrm>
          <a:prstGeom prst="rect">
            <a:avLst/>
          </a:prstGeom>
          <a:noFill/>
        </p:spPr>
        <p:txBody>
          <a:bodyPr wrap="square" lIns="9144" rIns="9144" tIns="0" bIns="0" anchor="ctr">
            <a:spAutoFit/>
          </a:bodyPr>
          <a:lstStyle/>
          <a:p>
            <a:pPr algn="ctr">
              <a:lnSpc>
                <a:spcPct val="106000"/>
              </a:lnSpc>
              <a:spcAft>
                <a:spcPts val="400"/>
              </a:spcAft>
              <a:defRPr sz="850" b="0">
                <a:solidFill>
                  <a:srgbClr val="3DDC97"/>
                </a:solidFill>
                <a:latin typeface="Helvetica Neue"/>
              </a:defRPr>
            </a:pPr>
            <a:r>
              <a:t>CAUGHT 8 of 10</a:t>
            </a:r>
          </a:p>
        </p:txBody>
      </p:sp>
      <p:sp>
        <p:nvSpPr>
          <p:cNvPr id="24" name="text:$2.05"/>
          <p:cNvSpPr txBox="1"/>
          <p:nvPr/>
        </p:nvSpPr>
        <p:spPr>
          <a:xfrm>
            <a:off x="4846320" y="2148840"/>
            <a:ext cx="896112"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$2.05</a:t>
            </a:r>
          </a:p>
        </p:txBody>
      </p:sp>
      <p:sp>
        <p:nvSpPr>
          <p:cNvPr id="25" name="text:$10.17"/>
          <p:cNvSpPr txBox="1"/>
          <p:nvPr/>
        </p:nvSpPr>
        <p:spPr>
          <a:xfrm>
            <a:off x="5760720" y="2148840"/>
            <a:ext cx="96012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$10.17</a:t>
            </a:r>
          </a:p>
        </p:txBody>
      </p:sp>
      <p:sp>
        <p:nvSpPr>
          <p:cNvPr id="26" name="text:no extra guard needed"/>
          <p:cNvSpPr txBox="1"/>
          <p:nvPr/>
        </p:nvSpPr>
        <p:spPr>
          <a:xfrm>
            <a:off x="6812280" y="2148840"/>
            <a:ext cx="1783080" cy="457200"/>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no extra guard needed</a:t>
            </a:r>
          </a:p>
        </p:txBody>
      </p:sp>
      <p:sp>
        <p:nvSpPr>
          <p:cNvPr id="27" name="Rounded Rectangle 26"/>
          <p:cNvSpPr/>
          <p:nvPr/>
        </p:nvSpPr>
        <p:spPr>
          <a:xfrm>
            <a:off x="548640" y="2697480"/>
            <a:ext cx="8092440" cy="457200"/>
          </a:xfrm>
          <a:prstGeom prst="roundRect">
            <a:avLst>
              <a:gd name="adj" fmla="val 2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Slippage shock"/>
          <p:cNvSpPr txBox="1"/>
          <p:nvPr/>
        </p:nvSpPr>
        <p:spPr>
          <a:xfrm>
            <a:off x="658368" y="2697480"/>
            <a:ext cx="1737360" cy="45720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Slippage shock</a:t>
            </a:r>
          </a:p>
        </p:txBody>
      </p:sp>
      <p:sp>
        <p:nvSpPr>
          <p:cNvPr id="29" name="text:10"/>
          <p:cNvSpPr txBox="1"/>
          <p:nvPr/>
        </p:nvSpPr>
        <p:spPr>
          <a:xfrm>
            <a:off x="2468880" y="2697480"/>
            <a:ext cx="548640" cy="457200"/>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10</a:t>
            </a:r>
          </a:p>
        </p:txBody>
      </p:sp>
      <p:sp>
        <p:nvSpPr>
          <p:cNvPr id="30" name="Rounded Rectangle 29"/>
          <p:cNvSpPr/>
          <p:nvPr/>
        </p:nvSpPr>
        <p:spPr>
          <a:xfrm>
            <a:off x="3200400" y="2807208"/>
            <a:ext cx="1417320" cy="237744"/>
          </a:xfrm>
          <a:prstGeom prst="roundRect">
            <a:avLst>
              <a:gd name="adj" fmla="val 46153"/>
            </a:avLst>
          </a:prstGeom>
          <a:noFill/>
          <a:ln w="1016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MISSED ALL"/>
          <p:cNvSpPr txBox="1"/>
          <p:nvPr/>
        </p:nvSpPr>
        <p:spPr>
          <a:xfrm>
            <a:off x="3200400" y="2825496"/>
            <a:ext cx="1417320" cy="219456"/>
          </a:xfrm>
          <a:prstGeom prst="rect">
            <a:avLst/>
          </a:prstGeom>
          <a:noFill/>
        </p:spPr>
        <p:txBody>
          <a:bodyPr wrap="square" lIns="9144" rIns="9144" tIns="0" bIns="0" anchor="ctr">
            <a:spAutoFit/>
          </a:bodyPr>
          <a:lstStyle/>
          <a:p>
            <a:pPr algn="ctr">
              <a:lnSpc>
                <a:spcPct val="106000"/>
              </a:lnSpc>
              <a:spcAft>
                <a:spcPts val="400"/>
              </a:spcAft>
              <a:defRPr sz="850" b="0">
                <a:solidFill>
                  <a:srgbClr val="FF7A85"/>
                </a:solidFill>
                <a:latin typeface="Helvetica Neue"/>
              </a:defRPr>
            </a:pPr>
            <a:r>
              <a:t>MISSED ALL</a:t>
            </a:r>
          </a:p>
        </p:txBody>
      </p:sp>
      <p:sp>
        <p:nvSpPr>
          <p:cNvPr id="32" name="text:$10.00"/>
          <p:cNvSpPr txBox="1"/>
          <p:nvPr/>
        </p:nvSpPr>
        <p:spPr>
          <a:xfrm>
            <a:off x="4846320" y="2697480"/>
            <a:ext cx="896112"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$10.00</a:t>
            </a:r>
          </a:p>
        </p:txBody>
      </p:sp>
      <p:sp>
        <p:nvSpPr>
          <p:cNvPr id="33" name="text:$10.00"/>
          <p:cNvSpPr txBox="1"/>
          <p:nvPr/>
        </p:nvSpPr>
        <p:spPr>
          <a:xfrm>
            <a:off x="5760720" y="2697480"/>
            <a:ext cx="96012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$10.00</a:t>
            </a:r>
          </a:p>
        </p:txBody>
      </p:sp>
      <p:sp>
        <p:nvSpPr>
          <p:cNvPr id="34" name="text:breaker: 3 accepted, $3.00"/>
          <p:cNvSpPr txBox="1"/>
          <p:nvPr/>
        </p:nvSpPr>
        <p:spPr>
          <a:xfrm>
            <a:off x="6812280" y="2697480"/>
            <a:ext cx="17830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Helvetica Neue"/>
              </a:defRPr>
            </a:pPr>
            <a:r>
              <a:t>breaker: 3 accepted, $3.00</a:t>
            </a:r>
          </a:p>
        </p:txBody>
      </p:sp>
      <p:sp>
        <p:nvSpPr>
          <p:cNvPr id="35" name="Rounded Rectangle 34"/>
          <p:cNvSpPr/>
          <p:nvPr/>
        </p:nvSpPr>
        <p:spPr>
          <a:xfrm>
            <a:off x="548640" y="3246120"/>
            <a:ext cx="8092440" cy="457200"/>
          </a:xfrm>
          <a:prstGeom prst="roundRect">
            <a:avLst>
              <a:gd name="adj" fmla="val 2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Fee change"/>
          <p:cNvSpPr txBox="1"/>
          <p:nvPr/>
        </p:nvSpPr>
        <p:spPr>
          <a:xfrm>
            <a:off x="658368" y="3246120"/>
            <a:ext cx="1737360" cy="45720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Fee change</a:t>
            </a:r>
          </a:p>
        </p:txBody>
      </p:sp>
      <p:sp>
        <p:nvSpPr>
          <p:cNvPr id="37" name="text:10"/>
          <p:cNvSpPr txBox="1"/>
          <p:nvPr/>
        </p:nvSpPr>
        <p:spPr>
          <a:xfrm>
            <a:off x="2468880" y="3246120"/>
            <a:ext cx="548640" cy="457200"/>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10</a:t>
            </a:r>
          </a:p>
        </p:txBody>
      </p:sp>
      <p:sp>
        <p:nvSpPr>
          <p:cNvPr id="38" name="Rounded Rectangle 37"/>
          <p:cNvSpPr/>
          <p:nvPr/>
        </p:nvSpPr>
        <p:spPr>
          <a:xfrm>
            <a:off x="3200400" y="3355848"/>
            <a:ext cx="1417320" cy="237744"/>
          </a:xfrm>
          <a:prstGeom prst="roundRect">
            <a:avLst>
              <a:gd name="adj" fmla="val 46153"/>
            </a:avLst>
          </a:prstGeom>
          <a:noFill/>
          <a:ln w="1016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MISSED ALL"/>
          <p:cNvSpPr txBox="1"/>
          <p:nvPr/>
        </p:nvSpPr>
        <p:spPr>
          <a:xfrm>
            <a:off x="3200400" y="3374136"/>
            <a:ext cx="1417320" cy="219456"/>
          </a:xfrm>
          <a:prstGeom prst="rect">
            <a:avLst/>
          </a:prstGeom>
          <a:noFill/>
        </p:spPr>
        <p:txBody>
          <a:bodyPr wrap="square" lIns="9144" rIns="9144" tIns="0" bIns="0" anchor="ctr">
            <a:spAutoFit/>
          </a:bodyPr>
          <a:lstStyle/>
          <a:p>
            <a:pPr algn="ctr">
              <a:lnSpc>
                <a:spcPct val="106000"/>
              </a:lnSpc>
              <a:spcAft>
                <a:spcPts val="400"/>
              </a:spcAft>
              <a:defRPr sz="850" b="0">
                <a:solidFill>
                  <a:srgbClr val="FF7A85"/>
                </a:solidFill>
                <a:latin typeface="Helvetica Neue"/>
              </a:defRPr>
            </a:pPr>
            <a:r>
              <a:t>MISSED ALL</a:t>
            </a:r>
          </a:p>
        </p:txBody>
      </p:sp>
      <p:sp>
        <p:nvSpPr>
          <p:cNvPr id="40" name="text:$6.25"/>
          <p:cNvSpPr txBox="1"/>
          <p:nvPr/>
        </p:nvSpPr>
        <p:spPr>
          <a:xfrm>
            <a:off x="4846320" y="3246120"/>
            <a:ext cx="896112"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$6.25</a:t>
            </a:r>
          </a:p>
        </p:txBody>
      </p:sp>
      <p:sp>
        <p:nvSpPr>
          <p:cNvPr id="41" name="text:$6.25"/>
          <p:cNvSpPr txBox="1"/>
          <p:nvPr/>
        </p:nvSpPr>
        <p:spPr>
          <a:xfrm>
            <a:off x="5760720" y="3246120"/>
            <a:ext cx="96012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$6.25</a:t>
            </a:r>
          </a:p>
        </p:txBody>
      </p:sp>
      <p:sp>
        <p:nvSpPr>
          <p:cNvPr id="42" name="text:none yet: $6.25 extra fees"/>
          <p:cNvSpPr txBox="1"/>
          <p:nvPr/>
        </p:nvSpPr>
        <p:spPr>
          <a:xfrm>
            <a:off x="6812280" y="3246120"/>
            <a:ext cx="1783080" cy="457200"/>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none yet: $6.25 extra fees</a:t>
            </a:r>
          </a:p>
        </p:txBody>
      </p:sp>
      <p:sp>
        <p:nvSpPr>
          <p:cNvPr id="43" name="Rounded Rectangle 42"/>
          <p:cNvSpPr/>
          <p:nvPr/>
        </p:nvSpPr>
        <p:spPr>
          <a:xfrm>
            <a:off x="548640" y="3794760"/>
            <a:ext cx="8092440" cy="457200"/>
          </a:xfrm>
          <a:prstGeom prst="roundRect">
            <a:avLst>
              <a:gd name="adj" fmla="val 2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Duplicate submission"/>
          <p:cNvSpPr txBox="1"/>
          <p:nvPr/>
        </p:nvSpPr>
        <p:spPr>
          <a:xfrm>
            <a:off x="658368" y="3794760"/>
            <a:ext cx="1737360" cy="45720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Duplicate submission</a:t>
            </a:r>
          </a:p>
        </p:txBody>
      </p:sp>
      <p:sp>
        <p:nvSpPr>
          <p:cNvPr id="45" name="text:20"/>
          <p:cNvSpPr txBox="1"/>
          <p:nvPr/>
        </p:nvSpPr>
        <p:spPr>
          <a:xfrm>
            <a:off x="2468880" y="3794760"/>
            <a:ext cx="548640" cy="457200"/>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20</a:t>
            </a:r>
          </a:p>
        </p:txBody>
      </p:sp>
      <p:sp>
        <p:nvSpPr>
          <p:cNvPr id="46" name="Rounded Rectangle 45"/>
          <p:cNvSpPr/>
          <p:nvPr/>
        </p:nvSpPr>
        <p:spPr>
          <a:xfrm>
            <a:off x="3200400" y="3904488"/>
            <a:ext cx="1417320" cy="237744"/>
          </a:xfrm>
          <a:prstGeom prst="roundRect">
            <a:avLst>
              <a:gd name="adj" fmla="val 46153"/>
            </a:avLst>
          </a:prstGeom>
          <a:noFill/>
          <a:ln w="10160">
            <a:solidFill>
              <a:srgbClr val="FF7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MISSED ALL"/>
          <p:cNvSpPr txBox="1"/>
          <p:nvPr/>
        </p:nvSpPr>
        <p:spPr>
          <a:xfrm>
            <a:off x="3200400" y="3922776"/>
            <a:ext cx="1417320" cy="219456"/>
          </a:xfrm>
          <a:prstGeom prst="rect">
            <a:avLst/>
          </a:prstGeom>
          <a:noFill/>
        </p:spPr>
        <p:txBody>
          <a:bodyPr wrap="square" lIns="9144" rIns="9144" tIns="0" bIns="0" anchor="ctr">
            <a:spAutoFit/>
          </a:bodyPr>
          <a:lstStyle/>
          <a:p>
            <a:pPr algn="ctr">
              <a:lnSpc>
                <a:spcPct val="106000"/>
              </a:lnSpc>
              <a:spcAft>
                <a:spcPts val="400"/>
              </a:spcAft>
              <a:defRPr sz="850" b="0">
                <a:solidFill>
                  <a:srgbClr val="FF7A85"/>
                </a:solidFill>
                <a:latin typeface="Helvetica Neue"/>
              </a:defRPr>
            </a:pPr>
            <a:r>
              <a:t>MISSED ALL</a:t>
            </a:r>
          </a:p>
        </p:txBody>
      </p:sp>
      <p:sp>
        <p:nvSpPr>
          <p:cNvPr id="48" name="text:$5,000 exposed"/>
          <p:cNvSpPr txBox="1"/>
          <p:nvPr/>
        </p:nvSpPr>
        <p:spPr>
          <a:xfrm>
            <a:off x="4846320" y="3794760"/>
            <a:ext cx="896112" cy="457200"/>
          </a:xfrm>
          <a:prstGeom prst="rect">
            <a:avLst/>
          </a:prstGeom>
          <a:noFill/>
        </p:spPr>
        <p:txBody>
          <a:bodyPr wrap="square" lIns="9144" rIns="9144" tIns="0" bIns="0" anchor="ctr">
            <a:spAutoFit/>
          </a:bodyPr>
          <a:lstStyle/>
          <a:p>
            <a:pPr>
              <a:lnSpc>
                <a:spcPct val="106000"/>
              </a:lnSpc>
              <a:spcAft>
                <a:spcPts val="400"/>
              </a:spcAft>
              <a:defRPr sz="850" b="0">
                <a:solidFill>
                  <a:srgbClr val="F2F5F8"/>
                </a:solidFill>
                <a:latin typeface="Helvetica Neue"/>
              </a:defRPr>
            </a:pPr>
            <a:r>
              <a:t>$5,000 exposed</a:t>
            </a:r>
          </a:p>
        </p:txBody>
      </p:sp>
      <p:sp>
        <p:nvSpPr>
          <p:cNvPr id="49" name="text:$5,000 exposed"/>
          <p:cNvSpPr txBox="1"/>
          <p:nvPr/>
        </p:nvSpPr>
        <p:spPr>
          <a:xfrm>
            <a:off x="5760720" y="3794760"/>
            <a:ext cx="960120" cy="457200"/>
          </a:xfrm>
          <a:prstGeom prst="rect">
            <a:avLst/>
          </a:prstGeom>
          <a:noFill/>
        </p:spPr>
        <p:txBody>
          <a:bodyPr wrap="square" lIns="9144" rIns="9144" tIns="0" bIns="0" anchor="ctr">
            <a:spAutoFit/>
          </a:bodyPr>
          <a:lstStyle/>
          <a:p>
            <a:pPr>
              <a:lnSpc>
                <a:spcPct val="106000"/>
              </a:lnSpc>
              <a:spcAft>
                <a:spcPts val="400"/>
              </a:spcAft>
              <a:defRPr sz="850" b="0">
                <a:solidFill>
                  <a:srgbClr val="9A9AA2"/>
                </a:solidFill>
                <a:latin typeface="Helvetica Neue"/>
              </a:defRPr>
            </a:pPr>
            <a:r>
              <a:t>$5,000 exposed</a:t>
            </a:r>
          </a:p>
        </p:txBody>
      </p:sp>
      <p:sp>
        <p:nvSpPr>
          <p:cNvPr id="50" name="text:idempotency key: 10 accepted"/>
          <p:cNvSpPr txBox="1"/>
          <p:nvPr/>
        </p:nvSpPr>
        <p:spPr>
          <a:xfrm>
            <a:off x="6812280" y="3794760"/>
            <a:ext cx="1783080" cy="457200"/>
          </a:xfrm>
          <a:prstGeom prst="rect">
            <a:avLst/>
          </a:prstGeom>
          <a:noFill/>
        </p:spPr>
        <p:txBody>
          <a:bodyPr wrap="square" lIns="9144" rIns="9144" tIns="0" bIns="0" anchor="ctr">
            <a:spAutoFit/>
          </a:bodyPr>
          <a:lstStyle/>
          <a:p>
            <a:pPr>
              <a:lnSpc>
                <a:spcPct val="106000"/>
              </a:lnSpc>
              <a:spcAft>
                <a:spcPts val="400"/>
              </a:spcAft>
              <a:defRPr sz="900" b="0">
                <a:solidFill>
                  <a:srgbClr val="3DDC97"/>
                </a:solidFill>
                <a:latin typeface="Helvetica Neue"/>
              </a:defRPr>
            </a:pPr>
            <a:r>
              <a:t>idempotency key: 10 accepted</a:t>
            </a:r>
          </a:p>
        </p:txBody>
      </p:sp>
      <p:sp>
        <p:nvSpPr>
          <p:cNvPr id="51" name="text:Re-priced strategies (net, whole 40 "/>
          <p:cNvSpPr txBox="1"/>
          <p:nvPr/>
        </p:nvSpPr>
        <p:spPr>
          <a:xfrm>
            <a:off x="548640" y="4389120"/>
            <a:ext cx="8092440" cy="292608"/>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Re-priced strategies (net, whole 40 min): trend -89.4 USD at 40 bps slippage and -63.4 USD at a 30 bps fee; basis -169.7 and -120.3. HTTP 429 for 300 s: 300 calls with a 1 s retry, 14 with back-off.</a:t>
            </a:r>
          </a:p>
        </p:txBody>
      </p:sp>
      <p:sp>
        <p:nvSpPr>
          <p:cNvPr id="52" name="text:Source: code/out/faults.json. 10 or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code/out/faults.json. 10 orders of 250 USD in the 5-minute fault window (20 for duplicates). Simulated, on recorded data; not advice.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Demo: split leakag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split leakage</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Does a memoriser score higher with s"/>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Does a memoriser score higher with shuffled folds or with a purge, and by how many points?</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ccuracy for shuffled and contiguous"/>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accuracy for shuffled and contiguous folds</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raining moments purged and embargoe"/>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training moments purged and embargoed</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ata is the defau"/>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data is the default. No network needed.</a:t>
            </a:r>
          </a:p>
        </p:txBody>
      </p:sp>
      <p:pic>
        <p:nvPicPr>
          <p:cNvPr id="18" name="Picture 17" descr="01-split-leakage.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https://nus-solana-demos.vercel.app/0007/01-split-leakage.html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 Simulated, on recorded data; not advice.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many strategie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many strategies</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How much of the winner's score survi"/>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How much of the winner's score survives on data it never saw?</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seeds"/>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000" b="0">
                <a:solidFill>
                  <a:srgbClr val="3DDC97"/>
                </a:solidFill>
                <a:latin typeface="Menlo"/>
              </a:defRPr>
            </a:pPr>
            <a:r>
              <a:t>$ npm run demo -- --recorded --seeds 20</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the best in-sample dot, and where it"/>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best in-sample dot, and where it lands out-of-sample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luck benchmark rising with the n"/>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luck benchmark rising with the number of tries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50"/>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50 strategies come from a seed.</a:t>
            </a:r>
          </a:p>
        </p:txBody>
      </p:sp>
      <p:pic>
        <p:nvPicPr>
          <p:cNvPr id="18" name="Picture 17" descr="02-many-strategies.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https://nus-solana-demos.vercel.app/0007/02-many-strategies.html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 Simulated, on recorded data; not advice.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a:t>
            </a:r>
          </a:p>
        </p:txBody>
      </p:sp>
      <p:sp>
        <p:nvSpPr>
          <p:cNvPr id="3" name="text:Demo: failure injecto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failure injector</a:t>
            </a:r>
          </a:p>
        </p:txBody>
      </p:sp>
      <p:sp>
        <p:nvSpPr>
          <p:cNvPr id="4"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of the five faults does the ri"/>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Which of the five faults does the risk hook stop?</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each order accepted or rejected, wit"/>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each order accepted or rejected, with the rule</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loss with the hook and with no hook"/>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loss with the hook and with no hook</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ata. The fa"/>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faults are simulated on top of it.</a:t>
            </a:r>
          </a:p>
        </p:txBody>
      </p:sp>
      <p:pic>
        <p:nvPicPr>
          <p:cNvPr id="18" name="Picture 17" descr="03-failure-injector.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https://nus-solana-demos.ver"/>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https://nus-solana-demos.vercel.app/0007/03-failure-injector.html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 Simulated, on recorded data; not advice.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4" name="Rounded Rectangle 3"/>
          <p:cNvSpPr/>
          <p:nvPr/>
        </p:nvSpPr>
        <p:spPr>
          <a:xfrm>
            <a:off x="5394960" y="132588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demos-0007.png"/>
          <p:cNvPicPr>
            <a:picLocks noChangeAspect="1"/>
          </p:cNvPicPr>
          <p:nvPr/>
        </p:nvPicPr>
        <p:blipFill>
          <a:blip r:embed="rId3"/>
          <a:stretch>
            <a:fillRect/>
          </a:stretch>
        </p:blipFill>
        <p:spPr>
          <a:xfrm>
            <a:off x="5532120" y="1463040"/>
            <a:ext cx="2560320" cy="2560320"/>
          </a:xfrm>
          <a:prstGeom prst="rect">
            <a:avLst/>
          </a:prstGeom>
        </p:spPr>
      </p:pic>
      <p:sp>
        <p:nvSpPr>
          <p:cNvPr id="6" name="text:Scan to open the demos"/>
          <p:cNvSpPr txBox="1"/>
          <p:nvPr/>
        </p:nvSpPr>
        <p:spPr>
          <a:xfrm>
            <a:off x="5394960" y="425196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
        <p:nvSpPr>
          <p:cNvPr id="7" name="Rounded Rectangle 6"/>
          <p:cNvSpPr/>
          <p:nvPr/>
        </p:nvSpPr>
        <p:spPr>
          <a:xfrm>
            <a:off x="548640" y="1554480"/>
            <a:ext cx="448056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MOS"/>
          <p:cNvSpPr txBox="1"/>
          <p:nvPr/>
        </p:nvSpPr>
        <p:spPr>
          <a:xfrm>
            <a:off x="731520" y="162763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DEMOS</a:t>
            </a:r>
          </a:p>
        </p:txBody>
      </p:sp>
      <p:sp>
        <p:nvSpPr>
          <p:cNvPr id="9" name="text:nus-solana-demos.vercel.app/0007/"/>
          <p:cNvSpPr txBox="1"/>
          <p:nvPr/>
        </p:nvSpPr>
        <p:spPr>
          <a:xfrm>
            <a:off x="731520" y="1874519"/>
            <a:ext cx="4206240" cy="3200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Menlo"/>
              </a:defRPr>
            </a:pPr>
            <a:r>
              <a:t>nus-solana-demos.vercel.app/0007/</a:t>
            </a:r>
          </a:p>
        </p:txBody>
      </p:sp>
      <p:sp>
        <p:nvSpPr>
          <p:cNvPr id="10" name="text:Open on your laptop. Move the slider"/>
          <p:cNvSpPr txBox="1"/>
          <p:nvPr/>
        </p:nvSpPr>
        <p:spPr>
          <a:xfrm>
            <a:off x="548640" y="2651760"/>
            <a:ext cx="4480560" cy="91440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Open on your laptop. Move the sliders.</a:t>
            </a:r>
          </a:p>
        </p:txBody>
      </p:sp>
      <p:sp>
        <p:nvSpPr>
          <p:cNvPr id="11" name="text:No install. The same files are in th"/>
          <p:cNvSpPr txBox="1"/>
          <p:nvPr/>
        </p:nvSpPr>
        <p:spPr>
          <a:xfrm>
            <a:off x="548640" y="3749039"/>
            <a:ext cx="448056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No install. The same files are in the repo and open from disk.</a:t>
            </a:r>
          </a:p>
        </p:txBody>
      </p:sp>
      <p:sp>
        <p:nvSpPr>
          <p:cNvPr id="12" name="text:Source: demo-repo/lab (the four Lea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 (the four Learning Lab demos, deployed as static pages, recorded data)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Your missio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Your mission</a:t>
            </a:r>
          </a:p>
        </p:txBody>
      </p:sp>
      <p:sp>
        <p:nvSpPr>
          <p:cNvPr id="3" name="text:18:40 to 19:00. Twenty minut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18:40 to 19:00. Twenty minutes.</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Run"/>
          <p:cNvSpPr txBox="1"/>
          <p:nvPr/>
        </p:nvSpPr>
        <p:spPr>
          <a:xfrm>
            <a:off x="7315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Run</a:t>
            </a:r>
          </a:p>
        </p:txBody>
      </p:sp>
      <p:sp>
        <p:nvSpPr>
          <p:cNvPr id="8" name="text:The sample leaky strategy"/>
          <p:cNvSpPr txBox="1"/>
          <p:nvPr/>
        </p:nvSpPr>
        <p:spPr>
          <a:xfrm>
            <a:off x="7315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sample leaky strategy</a:t>
            </a:r>
          </a:p>
        </p:txBody>
      </p:sp>
      <p:cxnSp>
        <p:nvCxnSpPr>
          <p:cNvPr id="9" name="Connector 8"/>
          <p:cNvCxnSpPr/>
          <p:nvPr/>
        </p:nvCxnSpPr>
        <p:spPr>
          <a:xfrm>
            <a:off x="24963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Find"/>
          <p:cNvSpPr txBox="1"/>
          <p:nvPr/>
        </p:nvSpPr>
        <p:spPr>
          <a:xfrm>
            <a:off x="27889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Find</a:t>
            </a:r>
          </a:p>
        </p:txBody>
      </p:sp>
      <p:sp>
        <p:nvSpPr>
          <p:cNvPr id="13" name="text:The planted leak with the causality "/>
          <p:cNvSpPr txBox="1"/>
          <p:nvPr/>
        </p:nvSpPr>
        <p:spPr>
          <a:xfrm>
            <a:off x="27889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planted leak with the causality test</a:t>
            </a:r>
          </a:p>
        </p:txBody>
      </p:sp>
      <p:cxnSp>
        <p:nvCxnSpPr>
          <p:cNvPr id="14" name="Connector 13"/>
          <p:cNvCxnSpPr/>
          <p:nvPr/>
        </p:nvCxnSpPr>
        <p:spPr>
          <a:xfrm>
            <a:off x="45537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Fix"/>
          <p:cNvSpPr txBox="1"/>
          <p:nvPr/>
        </p:nvSpPr>
        <p:spPr>
          <a:xfrm>
            <a:off x="48463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Fix</a:t>
            </a:r>
          </a:p>
        </p:txBody>
      </p:sp>
      <p:sp>
        <p:nvSpPr>
          <p:cNvPr id="18" name="text:The leak, and score with a purged sp"/>
          <p:cNvSpPr txBox="1"/>
          <p:nvPr/>
        </p:nvSpPr>
        <p:spPr>
          <a:xfrm>
            <a:off x="48463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leak, and score with a purged split</a:t>
            </a:r>
          </a:p>
        </p:txBody>
      </p:sp>
      <p:cxnSp>
        <p:nvCxnSpPr>
          <p:cNvPr id="19" name="Connector 18"/>
          <p:cNvCxnSpPr/>
          <p:nvPr/>
        </p:nvCxnSpPr>
        <p:spPr>
          <a:xfrm>
            <a:off x="66111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Chart"/>
          <p:cNvSpPr txBox="1"/>
          <p:nvPr/>
        </p:nvSpPr>
        <p:spPr>
          <a:xfrm>
            <a:off x="69037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Chart</a:t>
            </a:r>
          </a:p>
        </p:txBody>
      </p:sp>
      <p:sp>
        <p:nvSpPr>
          <p:cNvPr id="23" name="text:The result, before and after"/>
          <p:cNvSpPr txBox="1"/>
          <p:nvPr/>
        </p:nvSpPr>
        <p:spPr>
          <a:xfrm>
            <a:off x="69037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The result, before and after</a:t>
            </a:r>
          </a:p>
        </p:txBody>
      </p:sp>
      <p:sp>
        <p:nvSpPr>
          <p:cNvPr id="24" name="Rounded Rectangle 23"/>
          <p:cNvSpPr/>
          <p:nvPr/>
        </p:nvSpPr>
        <p:spPr>
          <a:xfrm>
            <a:off x="548640" y="3977639"/>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Finish line: one chart with a before"/>
          <p:cNvSpPr txBox="1"/>
          <p:nvPr/>
        </p:nvSpPr>
        <p:spPr>
          <a:xfrm>
            <a:off x="731520" y="3977639"/>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Finish line: one chart with a before and an after.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uild menu"/>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Build menu</a:t>
            </a:r>
          </a:p>
        </p:txBody>
      </p:sp>
      <p:sp>
        <p:nvSpPr>
          <p:cNvPr id="3" name="text:19:00 to 19:50. Pick one, or bring 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19:00 to 19:50. Pick one, or bring your own project.</a:t>
            </a:r>
          </a:p>
        </p:txBody>
      </p:sp>
      <p:sp>
        <p:nvSpPr>
          <p:cNvPr id="4"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5" name="Rounded Rectangle 4"/>
          <p:cNvSpPr/>
          <p:nvPr/>
        </p:nvSpPr>
        <p:spPr>
          <a:xfrm>
            <a:off x="548640" y="1554480"/>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82495"/>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700784"/>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Audit your own project for a leak"/>
          <p:cNvSpPr txBox="1"/>
          <p:nvPr/>
        </p:nvSpPr>
        <p:spPr>
          <a:xfrm>
            <a:off x="1874519" y="1554480"/>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Audit your own project for a leak</a:t>
            </a:r>
          </a:p>
        </p:txBody>
      </p:sp>
      <p:sp>
        <p:nvSpPr>
          <p:cNvPr id="9" name="Rounded Rectangle 8"/>
          <p:cNvSpPr/>
          <p:nvPr/>
        </p:nvSpPr>
        <p:spPr>
          <a:xfrm>
            <a:off x="548640" y="2157984"/>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286000"/>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731520" y="2304288"/>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Purged split on your strategy"/>
          <p:cNvSpPr txBox="1"/>
          <p:nvPr/>
        </p:nvSpPr>
        <p:spPr>
          <a:xfrm>
            <a:off x="1874519" y="2157984"/>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Purged split on your strategy</a:t>
            </a:r>
          </a:p>
        </p:txBody>
      </p:sp>
      <p:sp>
        <p:nvSpPr>
          <p:cNvPr id="13" name="Rounded Rectangle 12"/>
          <p:cNvSpPr/>
          <p:nvPr/>
        </p:nvSpPr>
        <p:spPr>
          <a:xfrm>
            <a:off x="548640" y="2761488"/>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889504"/>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NDARD"/>
          <p:cNvSpPr txBox="1"/>
          <p:nvPr/>
        </p:nvSpPr>
        <p:spPr>
          <a:xfrm>
            <a:off x="731520" y="2907792"/>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6" name="text:A feed-health alert"/>
          <p:cNvSpPr txBox="1"/>
          <p:nvPr/>
        </p:nvSpPr>
        <p:spPr>
          <a:xfrm>
            <a:off x="1874519" y="2761488"/>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 feed-health alert</a:t>
            </a:r>
          </a:p>
        </p:txBody>
      </p:sp>
      <p:sp>
        <p:nvSpPr>
          <p:cNvPr id="17" name="Rounded Rectangle 16"/>
          <p:cNvSpPr/>
          <p:nvPr/>
        </p:nvSpPr>
        <p:spPr>
          <a:xfrm>
            <a:off x="548640" y="3364991"/>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9300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ADVANCED"/>
          <p:cNvSpPr txBox="1"/>
          <p:nvPr/>
        </p:nvSpPr>
        <p:spPr>
          <a:xfrm>
            <a:off x="731520" y="35112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0" name="text:A regression test for a failure you "/>
          <p:cNvSpPr txBox="1"/>
          <p:nvPr/>
        </p:nvSpPr>
        <p:spPr>
          <a:xfrm>
            <a:off x="1874519" y="3364991"/>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 regression test for a failure you injected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takeaway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takeaways</a:t>
            </a:r>
          </a:p>
        </p:txBody>
      </p:sp>
      <p:sp>
        <p:nvSpPr>
          <p:cNvPr id="3"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4" name="Rounded Rectangle 3"/>
          <p:cNvSpPr/>
          <p:nvPr/>
        </p:nvSpPr>
        <p:spPr>
          <a:xfrm>
            <a:off x="548640" y="1417320"/>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1"/>
          <p:cNvSpPr txBox="1"/>
          <p:nvPr/>
        </p:nvSpPr>
        <p:spPr>
          <a:xfrm>
            <a:off x="777240" y="1417320"/>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1</a:t>
            </a:r>
          </a:p>
        </p:txBody>
      </p:sp>
      <p:sp>
        <p:nvSpPr>
          <p:cNvPr id="6" name="text:Neighbouring moments leak: cut folds"/>
          <p:cNvSpPr txBox="1"/>
          <p:nvPr/>
        </p:nvSpPr>
        <p:spPr>
          <a:xfrm>
            <a:off x="1371600" y="1417320"/>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Neighbouring moments leak: cut folds by time, then purge and embargo.</a:t>
            </a:r>
          </a:p>
        </p:txBody>
      </p:sp>
      <p:sp>
        <p:nvSpPr>
          <p:cNvPr id="7" name="Rounded Rectangle 6"/>
          <p:cNvSpPr/>
          <p:nvPr/>
        </p:nvSpPr>
        <p:spPr>
          <a:xfrm>
            <a:off x="548640" y="2441448"/>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2"/>
          <p:cNvSpPr txBox="1"/>
          <p:nvPr/>
        </p:nvSpPr>
        <p:spPr>
          <a:xfrm>
            <a:off x="777240" y="2441448"/>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2</a:t>
            </a:r>
          </a:p>
        </p:txBody>
      </p:sp>
      <p:sp>
        <p:nvSpPr>
          <p:cNvPr id="9" name="text:The best of many tries is mostly luc"/>
          <p:cNvSpPr txBox="1"/>
          <p:nvPr/>
        </p:nvSpPr>
        <p:spPr>
          <a:xfrm>
            <a:off x="1371600" y="2441448"/>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The best of many tries is mostly luck: deflate it and test on fresh data.</a:t>
            </a:r>
          </a:p>
        </p:txBody>
      </p:sp>
      <p:sp>
        <p:nvSpPr>
          <p:cNvPr id="10" name="Rounded Rectangle 9"/>
          <p:cNvSpPr/>
          <p:nvPr/>
        </p:nvSpPr>
        <p:spPr>
          <a:xfrm>
            <a:off x="548640" y="3465576"/>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3"/>
          <p:cNvSpPr txBox="1"/>
          <p:nvPr/>
        </p:nvSpPr>
        <p:spPr>
          <a:xfrm>
            <a:off x="777240" y="3465576"/>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3</a:t>
            </a:r>
          </a:p>
        </p:txBody>
      </p:sp>
      <p:sp>
        <p:nvSpPr>
          <p:cNvPr id="12" name="text:Inject failures: the hook stopped th"/>
          <p:cNvSpPr txBox="1"/>
          <p:nvPr/>
        </p:nvSpPr>
        <p:spPr>
          <a:xfrm>
            <a:off x="1371600" y="3465576"/>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Inject failures: the hook stopped the stale data but not slippage, fees or duplicates.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After tonight, in your own ti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After tonight, in your own time.</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600200"/>
            <a:ext cx="2560320" cy="2377440"/>
          </a:xfrm>
          <a:prstGeom prst="roundRect">
            <a:avLst>
              <a:gd name="adj" fmla="val 538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Run the causality test on a signal f"/>
          <p:cNvSpPr txBox="1"/>
          <p:nvPr/>
        </p:nvSpPr>
        <p:spPr>
          <a:xfrm>
            <a:off x="74980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Run the causality test on a signal from your own project.</a:t>
            </a:r>
          </a:p>
        </p:txBody>
      </p:sp>
      <p:sp>
        <p:nvSpPr>
          <p:cNvPr id="9" name="Rounded Rectangle 8"/>
          <p:cNvSpPr/>
          <p:nvPr/>
        </p:nvSpPr>
        <p:spPr>
          <a:xfrm>
            <a:off x="3337560" y="1600200"/>
            <a:ext cx="2560320" cy="2377440"/>
          </a:xfrm>
          <a:prstGeom prst="roundRect">
            <a:avLst>
              <a:gd name="adj" fmla="val 538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Raise the number of tries from 10 to"/>
          <p:cNvSpPr txBox="1"/>
          <p:nvPr/>
        </p:nvSpPr>
        <p:spPr>
          <a:xfrm>
            <a:off x="353872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Raise the number of tries from 10 to 100 and chart the best score against the luck benchmark.</a:t>
            </a:r>
          </a:p>
        </p:txBody>
      </p:sp>
      <p:sp>
        <p:nvSpPr>
          <p:cNvPr id="13" name="Rounded Rectangle 12"/>
          <p:cNvSpPr/>
          <p:nvPr/>
        </p:nvSpPr>
        <p:spPr>
          <a:xfrm>
            <a:off x="6126479" y="1600200"/>
            <a:ext cx="2560320" cy="2377440"/>
          </a:xfrm>
          <a:prstGeom prst="roundRect">
            <a:avLst>
              <a:gd name="adj" fmla="val 538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Add a guard for a fault the hook mis"/>
          <p:cNvSpPr txBox="1"/>
          <p:nvPr/>
        </p:nvSpPr>
        <p:spPr>
          <a:xfrm>
            <a:off x="6327647"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Add a guard for a fault the hook missed, with a regression test that fails first.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Before you leave, and by next Thursd"/>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you leave, and by next Thursday.</a:t>
            </a:r>
          </a:p>
        </p:txBody>
      </p:sp>
      <p:sp>
        <p:nvSpPr>
          <p:cNvPr id="4"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ONIGHT"/>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TONIGHT</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Push your branch to your own repo."/>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Push your branch to your own repo.</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U 4 FEB"/>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4 FEB</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Bring one honest number to Workshop "/>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Bring one honest number to Workshop 4.</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NY TIME"/>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ANY TIME</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Send your repo link to the leads."/>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Send your repo link to the leads.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4" name="Rounded Rectangle 3"/>
          <p:cNvSpPr/>
          <p:nvPr/>
        </p:nvSpPr>
        <p:spPr>
          <a:xfrm>
            <a:off x="548640" y="1371600"/>
            <a:ext cx="4846320" cy="1051560"/>
          </a:xfrm>
          <a:prstGeom prst="roundRect">
            <a:avLst>
              <a:gd name="adj" fmla="val 1217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73352"/>
            <a:ext cx="45262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7-backtest-validation-fai"/>
          <p:cNvSpPr txBox="1"/>
          <p:nvPr/>
        </p:nvSpPr>
        <p:spPr>
          <a:xfrm>
            <a:off x="731520" y="2011680"/>
            <a:ext cx="4526280" cy="228600"/>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Menlo"/>
              </a:defRPr>
            </a:pPr>
            <a:r>
              <a:t>folder: 0007-backtest-validation-failure-testing/demo</a:t>
            </a:r>
          </a:p>
        </p:txBody>
      </p:sp>
      <p:sp>
        <p:nvSpPr>
          <p:cNvPr id="8" name="Rounded Rectangle 7"/>
          <p:cNvSpPr/>
          <p:nvPr/>
        </p:nvSpPr>
        <p:spPr>
          <a:xfrm>
            <a:off x="548640" y="260604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60604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npm install"/>
          <p:cNvSpPr txBox="1"/>
          <p:nvPr/>
        </p:nvSpPr>
        <p:spPr>
          <a:xfrm>
            <a:off x="1097280" y="260604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1" name="Rounded Rectangle 10"/>
          <p:cNvSpPr/>
          <p:nvPr/>
        </p:nvSpPr>
        <p:spPr>
          <a:xfrm>
            <a:off x="548640" y="3209544"/>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3209544"/>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run demo -- --recorded"/>
          <p:cNvSpPr txBox="1"/>
          <p:nvPr/>
        </p:nvSpPr>
        <p:spPr>
          <a:xfrm>
            <a:off x="1097280" y="3209544"/>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4" name="text:Run both from the demo/code folder. "/>
          <p:cNvSpPr txBox="1"/>
          <p:nvPr/>
        </p:nvSpPr>
        <p:spPr>
          <a:xfrm>
            <a:off x="548640" y="3931920"/>
            <a:ext cx="484632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both from the demo/code folder. Node 24. No keys, no AI credits. Recorded data is bundled.</a:t>
            </a:r>
          </a:p>
        </p:txBody>
      </p:sp>
      <p:sp>
        <p:nvSpPr>
          <p:cNvPr id="15" name="Rounded Rectangle 14"/>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github-0007.png"/>
          <p:cNvPicPr>
            <a:picLocks noChangeAspect="1"/>
          </p:cNvPicPr>
          <p:nvPr/>
        </p:nvPicPr>
        <p:blipFill>
          <a:blip r:embed="rId3"/>
          <a:stretch>
            <a:fillRect/>
          </a:stretch>
        </p:blipFill>
        <p:spPr>
          <a:xfrm>
            <a:off x="5943600" y="1508760"/>
            <a:ext cx="2560320" cy="2560320"/>
          </a:xfrm>
          <a:prstGeom prst="rect">
            <a:avLst/>
          </a:prstGeom>
        </p:spPr>
      </p:pic>
      <p:sp>
        <p:nvSpPr>
          <p:cNvPr id="17" name="text:Scan for this session's code"/>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this session's code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2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24</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